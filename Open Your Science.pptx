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0" r:id="rId1"/>
  </p:sldMasterIdLst>
  <p:notesMasterIdLst>
    <p:notesMasterId r:id="rId59"/>
  </p:notesMasterIdLst>
  <p:handoutMasterIdLst>
    <p:handoutMasterId r:id="rId60"/>
  </p:handoutMasterIdLst>
  <p:sldIdLst>
    <p:sldId id="275" r:id="rId2"/>
    <p:sldId id="389" r:id="rId3"/>
    <p:sldId id="399" r:id="rId4"/>
    <p:sldId id="404" r:id="rId5"/>
    <p:sldId id="390" r:id="rId6"/>
    <p:sldId id="391" r:id="rId7"/>
    <p:sldId id="392" r:id="rId8"/>
    <p:sldId id="393" r:id="rId9"/>
    <p:sldId id="394" r:id="rId10"/>
    <p:sldId id="395" r:id="rId11"/>
    <p:sldId id="397" r:id="rId12"/>
    <p:sldId id="396" r:id="rId13"/>
    <p:sldId id="408" r:id="rId14"/>
    <p:sldId id="407" r:id="rId15"/>
    <p:sldId id="398" r:id="rId16"/>
    <p:sldId id="401" r:id="rId17"/>
    <p:sldId id="406" r:id="rId18"/>
    <p:sldId id="305" r:id="rId19"/>
    <p:sldId id="400" r:id="rId20"/>
    <p:sldId id="384" r:id="rId21"/>
    <p:sldId id="316" r:id="rId22"/>
    <p:sldId id="380" r:id="rId23"/>
    <p:sldId id="321" r:id="rId24"/>
    <p:sldId id="302" r:id="rId25"/>
    <p:sldId id="330" r:id="rId26"/>
    <p:sldId id="346" r:id="rId27"/>
    <p:sldId id="388" r:id="rId28"/>
    <p:sldId id="365" r:id="rId29"/>
    <p:sldId id="367" r:id="rId30"/>
    <p:sldId id="320" r:id="rId31"/>
    <p:sldId id="385" r:id="rId32"/>
    <p:sldId id="372" r:id="rId33"/>
    <p:sldId id="386" r:id="rId34"/>
    <p:sldId id="374" r:id="rId35"/>
    <p:sldId id="334" r:id="rId36"/>
    <p:sldId id="383" r:id="rId37"/>
    <p:sldId id="347" r:id="rId38"/>
    <p:sldId id="337" r:id="rId39"/>
    <p:sldId id="333" r:id="rId40"/>
    <p:sldId id="339" r:id="rId41"/>
    <p:sldId id="358" r:id="rId42"/>
    <p:sldId id="375" r:id="rId43"/>
    <p:sldId id="324" r:id="rId44"/>
    <p:sldId id="325" r:id="rId45"/>
    <p:sldId id="326" r:id="rId46"/>
    <p:sldId id="328" r:id="rId47"/>
    <p:sldId id="355" r:id="rId48"/>
    <p:sldId id="341" r:id="rId49"/>
    <p:sldId id="402" r:id="rId50"/>
    <p:sldId id="403" r:id="rId51"/>
    <p:sldId id="262" r:id="rId52"/>
    <p:sldId id="264" r:id="rId53"/>
    <p:sldId id="274" r:id="rId54"/>
    <p:sldId id="405" r:id="rId55"/>
    <p:sldId id="271" r:id="rId56"/>
    <p:sldId id="268" r:id="rId57"/>
    <p:sldId id="270" r:id="rId58"/>
  </p:sldIdLst>
  <p:sldSz cx="12195175" cy="6858000"/>
  <p:notesSz cx="6858000" cy="9144000"/>
  <p:defaultTextStyle>
    <a:defPPr lvl="0">
      <a:defRPr lang="nl-NL"/>
    </a:defPPr>
    <a:lvl1pPr marL="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93" userDrawn="1">
          <p15:clr>
            <a:srgbClr val="A4A3A4"/>
          </p15:clr>
        </p15:guide>
        <p15:guide id="2" orient="horz" pos="4038">
          <p15:clr>
            <a:srgbClr val="A4A3A4"/>
          </p15:clr>
        </p15:guide>
        <p15:guide id="3" orient="horz" pos="989">
          <p15:clr>
            <a:srgbClr val="A4A3A4"/>
          </p15:clr>
        </p15:guide>
        <p15:guide id="4" orient="horz" pos="2682">
          <p15:clr>
            <a:srgbClr val="A4A3A4"/>
          </p15:clr>
        </p15:guide>
        <p15:guide id="5" orient="horz" pos="104">
          <p15:clr>
            <a:srgbClr val="A4A3A4"/>
          </p15:clr>
        </p15:guide>
        <p15:guide id="6" orient="horz" pos="3351">
          <p15:clr>
            <a:srgbClr val="A4A3A4"/>
          </p15:clr>
        </p15:guide>
        <p15:guide id="7" orient="horz" pos="3181">
          <p15:clr>
            <a:srgbClr val="A4A3A4"/>
          </p15:clr>
        </p15:guide>
        <p15:guide id="8" orient="horz" pos="1094" userDrawn="1">
          <p15:clr>
            <a:srgbClr val="A4A3A4"/>
          </p15:clr>
        </p15:guide>
        <p15:guide id="9" orient="horz" pos="3593">
          <p15:clr>
            <a:srgbClr val="A4A3A4"/>
          </p15:clr>
        </p15:guide>
        <p15:guide id="10" pos="3777">
          <p15:clr>
            <a:srgbClr val="A4A3A4"/>
          </p15:clr>
        </p15:guide>
        <p15:guide id="11" pos="739">
          <p15:clr>
            <a:srgbClr val="A4A3A4"/>
          </p15:clr>
        </p15:guide>
        <p15:guide id="12" pos="7273">
          <p15:clr>
            <a:srgbClr val="A4A3A4"/>
          </p15:clr>
        </p15:guide>
        <p15:guide id="13" pos="1604">
          <p15:clr>
            <a:srgbClr val="A4A3A4"/>
          </p15:clr>
        </p15:guide>
        <p15:guide id="14" pos="5145">
          <p15:clr>
            <a:srgbClr val="A4A3A4"/>
          </p15:clr>
        </p15:guide>
        <p15:guide id="15" pos="5282">
          <p15:clr>
            <a:srgbClr val="A4A3A4"/>
          </p15:clr>
        </p15:guide>
        <p15:guide id="16" pos="1447">
          <p15:clr>
            <a:srgbClr val="A4A3A4"/>
          </p15:clr>
        </p15:guide>
        <p15:guide id="17" pos="6651">
          <p15:clr>
            <a:srgbClr val="A4A3A4"/>
          </p15:clr>
        </p15:guide>
        <p15:guide id="18" pos="3614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87C3"/>
    <a:srgbClr val="BCE292"/>
    <a:srgbClr val="FF6161"/>
    <a:srgbClr val="FF9A47"/>
    <a:srgbClr val="633F2B"/>
    <a:srgbClr val="522980"/>
    <a:srgbClr val="171D42"/>
    <a:srgbClr val="63A593"/>
    <a:srgbClr val="921E56"/>
    <a:srgbClr val="DD956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F3960B7-23B2-783D-40F5-E6D81CC01695}" v="17" dt="2025-04-14T10:57:37.111"/>
    <p1510:client id="{7EED9D21-43E2-412A-AD71-DAF788C9E6F4}" v="25" dt="2025-04-15T10:16:35.192"/>
    <p1510:client id="{F63DF3C7-4B9A-6E0C-F830-5A238E3477FC}" v="1" dt="2025-04-14T11:00:08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2341" autoAdjust="0"/>
    <p:restoredTop sz="64389" autoAdjust="0"/>
  </p:normalViewPr>
  <p:slideViewPr>
    <p:cSldViewPr snapToGrid="0">
      <p:cViewPr varScale="1">
        <p:scale>
          <a:sx n="55" d="100"/>
          <a:sy n="55" d="100"/>
        </p:scale>
        <p:origin x="946" y="53"/>
      </p:cViewPr>
      <p:guideLst>
        <p:guide orient="horz" pos="1593"/>
        <p:guide orient="horz" pos="4038"/>
        <p:guide orient="horz" pos="989"/>
        <p:guide orient="horz" pos="2682"/>
        <p:guide orient="horz" pos="104"/>
        <p:guide orient="horz" pos="3351"/>
        <p:guide orient="horz" pos="3181"/>
        <p:guide orient="horz" pos="1094"/>
        <p:guide orient="horz" pos="3593"/>
        <p:guide pos="3777"/>
        <p:guide pos="739"/>
        <p:guide pos="7273"/>
        <p:guide pos="1604"/>
        <p:guide pos="5145"/>
        <p:guide pos="5282"/>
        <p:guide pos="1447"/>
        <p:guide pos="6651"/>
        <p:guide pos="361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nne" userId="e27d1978-6ace-4e0e-9109-4f58c8b6a455" providerId="ADAL" clId="{C1E481CA-41C9-4EC1-ABFC-FA4843BF3E03}"/>
    <pc:docChg chg="undo custSel addSld modSld sldOrd">
      <pc:chgData name="Hanne" userId="e27d1978-6ace-4e0e-9109-4f58c8b6a455" providerId="ADAL" clId="{C1E481CA-41C9-4EC1-ABFC-FA4843BF3E03}" dt="2025-04-14T11:37:21.374" v="299" actId="20577"/>
      <pc:docMkLst>
        <pc:docMk/>
      </pc:docMkLst>
      <pc:sldChg chg="modSp mod ord">
        <pc:chgData name="Hanne" userId="e27d1978-6ace-4e0e-9109-4f58c8b6a455" providerId="ADAL" clId="{C1E481CA-41C9-4EC1-ABFC-FA4843BF3E03}" dt="2025-04-14T11:11:31.789" v="118" actId="20577"/>
        <pc:sldMkLst>
          <pc:docMk/>
          <pc:sldMk cId="0" sldId="271"/>
        </pc:sldMkLst>
        <pc:spChg chg="mod">
          <ac:chgData name="Hanne" userId="e27d1978-6ace-4e0e-9109-4f58c8b6a455" providerId="ADAL" clId="{C1E481CA-41C9-4EC1-ABFC-FA4843BF3E03}" dt="2025-04-14T11:11:31.789" v="118" actId="20577"/>
          <ac:spMkLst>
            <pc:docMk/>
            <pc:sldMk cId="0" sldId="271"/>
            <ac:spMk id="4" creationId="{99DF0E75-B5C2-6B7B-CE49-4F85F43BA0E8}"/>
          </ac:spMkLst>
        </pc:spChg>
      </pc:sldChg>
      <pc:sldChg chg="modSp mod ord">
        <pc:chgData name="Hanne" userId="e27d1978-6ace-4e0e-9109-4f58c8b6a455" providerId="ADAL" clId="{C1E481CA-41C9-4EC1-ABFC-FA4843BF3E03}" dt="2025-04-14T11:11:24.237" v="101" actId="20577"/>
        <pc:sldMkLst>
          <pc:docMk/>
          <pc:sldMk cId="0" sldId="274"/>
        </pc:sldMkLst>
        <pc:spChg chg="mod">
          <ac:chgData name="Hanne" userId="e27d1978-6ace-4e0e-9109-4f58c8b6a455" providerId="ADAL" clId="{C1E481CA-41C9-4EC1-ABFC-FA4843BF3E03}" dt="2025-04-14T11:11:24.237" v="101" actId="20577"/>
          <ac:spMkLst>
            <pc:docMk/>
            <pc:sldMk cId="0" sldId="274"/>
            <ac:spMk id="4" creationId="{5D6EE1FD-DEA3-7BC2-277D-D8B1977F10F5}"/>
          </ac:spMkLst>
        </pc:spChg>
      </pc:sldChg>
      <pc:sldChg chg="modSp mod">
        <pc:chgData name="Hanne" userId="e27d1978-6ace-4e0e-9109-4f58c8b6a455" providerId="ADAL" clId="{C1E481CA-41C9-4EC1-ABFC-FA4843BF3E03}" dt="2025-04-14T11:01:45.706" v="0" actId="1076"/>
        <pc:sldMkLst>
          <pc:docMk/>
          <pc:sldMk cId="3368348150" sldId="275"/>
        </pc:sldMkLst>
        <pc:spChg chg="mod">
          <ac:chgData name="Hanne" userId="e27d1978-6ace-4e0e-9109-4f58c8b6a455" providerId="ADAL" clId="{C1E481CA-41C9-4EC1-ABFC-FA4843BF3E03}" dt="2025-04-14T11:01:45.706" v="0" actId="1076"/>
          <ac:spMkLst>
            <pc:docMk/>
            <pc:sldMk cId="3368348150" sldId="275"/>
            <ac:spMk id="7" creationId="{112FABDD-CFFF-1006-A592-AD6EDCF642D9}"/>
          </ac:spMkLst>
        </pc:spChg>
      </pc:sldChg>
      <pc:sldChg chg="mod modShow">
        <pc:chgData name="Hanne" userId="e27d1978-6ace-4e0e-9109-4f58c8b6a455" providerId="ADAL" clId="{C1E481CA-41C9-4EC1-ABFC-FA4843BF3E03}" dt="2025-04-14T11:09:30.760" v="30" actId="729"/>
        <pc:sldMkLst>
          <pc:docMk/>
          <pc:sldMk cId="3467063579" sldId="322"/>
        </pc:sldMkLst>
      </pc:sldChg>
      <pc:sldChg chg="modSp mod modShow">
        <pc:chgData name="Hanne" userId="e27d1978-6ace-4e0e-9109-4f58c8b6a455" providerId="ADAL" clId="{C1E481CA-41C9-4EC1-ABFC-FA4843BF3E03}" dt="2025-04-14T11:10:33.501" v="82" actId="729"/>
        <pc:sldMkLst>
          <pc:docMk/>
          <pc:sldMk cId="2875647884" sldId="379"/>
        </pc:sldMkLst>
        <pc:spChg chg="mod">
          <ac:chgData name="Hanne" userId="e27d1978-6ace-4e0e-9109-4f58c8b6a455" providerId="ADAL" clId="{C1E481CA-41C9-4EC1-ABFC-FA4843BF3E03}" dt="2025-04-14T11:09:42.604" v="32" actId="1076"/>
          <ac:spMkLst>
            <pc:docMk/>
            <pc:sldMk cId="2875647884" sldId="379"/>
            <ac:spMk id="5" creationId="{21430A6D-AD90-4A0C-A5D0-B1C8731AB45C}"/>
          </ac:spMkLst>
        </pc:spChg>
      </pc:sldChg>
      <pc:sldChg chg="modAnim">
        <pc:chgData name="Hanne" userId="e27d1978-6ace-4e0e-9109-4f58c8b6a455" providerId="ADAL" clId="{C1E481CA-41C9-4EC1-ABFC-FA4843BF3E03}" dt="2025-04-14T11:06:15.148" v="6"/>
        <pc:sldMkLst>
          <pc:docMk/>
          <pc:sldMk cId="1775612623" sldId="390"/>
        </pc:sldMkLst>
      </pc:sldChg>
      <pc:sldChg chg="modAnim">
        <pc:chgData name="Hanne" userId="e27d1978-6ace-4e0e-9109-4f58c8b6a455" providerId="ADAL" clId="{C1E481CA-41C9-4EC1-ABFC-FA4843BF3E03}" dt="2025-04-14T11:06:20.199" v="7"/>
        <pc:sldMkLst>
          <pc:docMk/>
          <pc:sldMk cId="680686472" sldId="391"/>
        </pc:sldMkLst>
      </pc:sldChg>
      <pc:sldChg chg="modAnim">
        <pc:chgData name="Hanne" userId="e27d1978-6ace-4e0e-9109-4f58c8b6a455" providerId="ADAL" clId="{C1E481CA-41C9-4EC1-ABFC-FA4843BF3E03}" dt="2025-04-14T11:06:24.968" v="8"/>
        <pc:sldMkLst>
          <pc:docMk/>
          <pc:sldMk cId="747249159" sldId="392"/>
        </pc:sldMkLst>
      </pc:sldChg>
      <pc:sldChg chg="modSp modAnim">
        <pc:chgData name="Hanne" userId="e27d1978-6ace-4e0e-9109-4f58c8b6a455" providerId="ADAL" clId="{C1E481CA-41C9-4EC1-ABFC-FA4843BF3E03}" dt="2025-04-14T11:32:55.601" v="140" actId="20577"/>
        <pc:sldMkLst>
          <pc:docMk/>
          <pc:sldMk cId="3650426334" sldId="393"/>
        </pc:sldMkLst>
        <pc:spChg chg="mod">
          <ac:chgData name="Hanne" userId="e27d1978-6ace-4e0e-9109-4f58c8b6a455" providerId="ADAL" clId="{C1E481CA-41C9-4EC1-ABFC-FA4843BF3E03}" dt="2025-04-14T11:32:55.601" v="140" actId="20577"/>
          <ac:spMkLst>
            <pc:docMk/>
            <pc:sldMk cId="3650426334" sldId="393"/>
            <ac:spMk id="3" creationId="{129D7BC1-F005-4C4B-A01F-6999A8776B7F}"/>
          </ac:spMkLst>
        </pc:spChg>
      </pc:sldChg>
      <pc:sldChg chg="modSp modAnim">
        <pc:chgData name="Hanne" userId="e27d1978-6ace-4e0e-9109-4f58c8b6a455" providerId="ADAL" clId="{C1E481CA-41C9-4EC1-ABFC-FA4843BF3E03}" dt="2025-04-14T11:36:32.976" v="210" actId="20577"/>
        <pc:sldMkLst>
          <pc:docMk/>
          <pc:sldMk cId="580642775" sldId="394"/>
        </pc:sldMkLst>
        <pc:spChg chg="mod">
          <ac:chgData name="Hanne" userId="e27d1978-6ace-4e0e-9109-4f58c8b6a455" providerId="ADAL" clId="{C1E481CA-41C9-4EC1-ABFC-FA4843BF3E03}" dt="2025-04-14T11:36:32.976" v="210" actId="20577"/>
          <ac:spMkLst>
            <pc:docMk/>
            <pc:sldMk cId="580642775" sldId="394"/>
            <ac:spMk id="2" creationId="{F3EC8BB6-3C86-4173-AEAB-E0CF986F5539}"/>
          </ac:spMkLst>
        </pc:spChg>
      </pc:sldChg>
      <pc:sldChg chg="modSp modAnim">
        <pc:chgData name="Hanne" userId="e27d1978-6ace-4e0e-9109-4f58c8b6a455" providerId="ADAL" clId="{C1E481CA-41C9-4EC1-ABFC-FA4843BF3E03}" dt="2025-04-14T11:37:21.374" v="299" actId="20577"/>
        <pc:sldMkLst>
          <pc:docMk/>
          <pc:sldMk cId="3911505780" sldId="395"/>
        </pc:sldMkLst>
        <pc:spChg chg="mod">
          <ac:chgData name="Hanne" userId="e27d1978-6ace-4e0e-9109-4f58c8b6a455" providerId="ADAL" clId="{C1E481CA-41C9-4EC1-ABFC-FA4843BF3E03}" dt="2025-04-14T11:37:21.374" v="299" actId="20577"/>
          <ac:spMkLst>
            <pc:docMk/>
            <pc:sldMk cId="3911505780" sldId="395"/>
            <ac:spMk id="2" creationId="{C8CC72D3-D0F5-4161-B51D-FAC1C095BFBC}"/>
          </ac:spMkLst>
        </pc:spChg>
      </pc:sldChg>
      <pc:sldChg chg="modAnim modNotesTx">
        <pc:chgData name="Hanne" userId="e27d1978-6ace-4e0e-9109-4f58c8b6a455" providerId="ADAL" clId="{C1E481CA-41C9-4EC1-ABFC-FA4843BF3E03}" dt="2025-04-14T11:09:17.646" v="29"/>
        <pc:sldMkLst>
          <pc:docMk/>
          <pc:sldMk cId="1017781994" sldId="396"/>
        </pc:sldMkLst>
      </pc:sldChg>
      <pc:sldChg chg="modAnim">
        <pc:chgData name="Hanne" userId="e27d1978-6ace-4e0e-9109-4f58c8b6a455" providerId="ADAL" clId="{C1E481CA-41C9-4EC1-ABFC-FA4843BF3E03}" dt="2025-04-14T11:06:40.035" v="12"/>
        <pc:sldMkLst>
          <pc:docMk/>
          <pc:sldMk cId="2974543147" sldId="397"/>
        </pc:sldMkLst>
      </pc:sldChg>
      <pc:sldChg chg="modAnim">
        <pc:chgData name="Hanne" userId="e27d1978-6ace-4e0e-9109-4f58c8b6a455" providerId="ADAL" clId="{C1E481CA-41C9-4EC1-ABFC-FA4843BF3E03}" dt="2025-04-14T11:06:48.663" v="14"/>
        <pc:sldMkLst>
          <pc:docMk/>
          <pc:sldMk cId="3133229969" sldId="398"/>
        </pc:sldMkLst>
      </pc:sldChg>
      <pc:sldChg chg="modAnim">
        <pc:chgData name="Hanne" userId="e27d1978-6ace-4e0e-9109-4f58c8b6a455" providerId="ADAL" clId="{C1E481CA-41C9-4EC1-ABFC-FA4843BF3E03}" dt="2025-04-14T11:07:01.518" v="17"/>
        <pc:sldMkLst>
          <pc:docMk/>
          <pc:sldMk cId="4056750062" sldId="401"/>
        </pc:sldMkLst>
      </pc:sldChg>
      <pc:sldChg chg="ord">
        <pc:chgData name="Hanne" userId="e27d1978-6ace-4e0e-9109-4f58c8b6a455" providerId="ADAL" clId="{C1E481CA-41C9-4EC1-ABFC-FA4843BF3E03}" dt="2025-04-14T11:11:05.373" v="84"/>
        <pc:sldMkLst>
          <pc:docMk/>
          <pc:sldMk cId="348632390" sldId="402"/>
        </pc:sldMkLst>
      </pc:sldChg>
      <pc:sldChg chg="ord">
        <pc:chgData name="Hanne" userId="e27d1978-6ace-4e0e-9109-4f58c8b6a455" providerId="ADAL" clId="{C1E481CA-41C9-4EC1-ABFC-FA4843BF3E03}" dt="2025-04-14T11:11:05.373" v="84"/>
        <pc:sldMkLst>
          <pc:docMk/>
          <pc:sldMk cId="3769442255" sldId="403"/>
        </pc:sldMkLst>
      </pc:sldChg>
      <pc:sldChg chg="ord">
        <pc:chgData name="Hanne" userId="e27d1978-6ace-4e0e-9109-4f58c8b6a455" providerId="ADAL" clId="{C1E481CA-41C9-4EC1-ABFC-FA4843BF3E03}" dt="2025-04-14T11:02:27.654" v="2"/>
        <pc:sldMkLst>
          <pc:docMk/>
          <pc:sldMk cId="0" sldId="405"/>
        </pc:sldMkLst>
      </pc:sldChg>
      <pc:sldChg chg="modSp add ord modAnim modNotesTx">
        <pc:chgData name="Hanne" userId="e27d1978-6ace-4e0e-9109-4f58c8b6a455" providerId="ADAL" clId="{C1E481CA-41C9-4EC1-ABFC-FA4843BF3E03}" dt="2025-04-14T11:32:10.019" v="123" actId="20577"/>
        <pc:sldMkLst>
          <pc:docMk/>
          <pc:sldMk cId="3363343944" sldId="406"/>
        </pc:sldMkLst>
        <pc:spChg chg="mod">
          <ac:chgData name="Hanne" userId="e27d1978-6ace-4e0e-9109-4f58c8b6a455" providerId="ADAL" clId="{C1E481CA-41C9-4EC1-ABFC-FA4843BF3E03}" dt="2025-04-14T11:32:10.019" v="123" actId="20577"/>
          <ac:spMkLst>
            <pc:docMk/>
            <pc:sldMk cId="3363343944" sldId="406"/>
            <ac:spMk id="3" creationId="{0387760D-02F0-4BFB-9042-E25474A5D677}"/>
          </ac:spMkLst>
        </pc:spChg>
      </pc:sldChg>
      <pc:sldChg chg="modSp add modAnim modNotesTx">
        <pc:chgData name="Hanne" userId="e27d1978-6ace-4e0e-9109-4f58c8b6a455" providerId="ADAL" clId="{C1E481CA-41C9-4EC1-ABFC-FA4843BF3E03}" dt="2025-04-14T11:10:23.113" v="81"/>
        <pc:sldMkLst>
          <pc:docMk/>
          <pc:sldMk cId="3818865473" sldId="407"/>
        </pc:sldMkLst>
        <pc:spChg chg="mod">
          <ac:chgData name="Hanne" userId="e27d1978-6ace-4e0e-9109-4f58c8b6a455" providerId="ADAL" clId="{C1E481CA-41C9-4EC1-ABFC-FA4843BF3E03}" dt="2025-04-14T11:10:15.480" v="80" actId="20577"/>
          <ac:spMkLst>
            <pc:docMk/>
            <pc:sldMk cId="3818865473" sldId="407"/>
            <ac:spMk id="2" creationId="{D206A4B5-C908-49F2-B0C7-A0B196986288}"/>
          </ac:spMkLst>
        </pc:spChg>
      </pc:sldChg>
    </pc:docChg>
  </pc:docChgLst>
  <pc:docChgLst>
    <pc:chgData name="Oberman, H.I. (Hanne)" userId="S::h.i.oberman@uu.nl::e27d1978-6ace-4e0e-9109-4f58c8b6a455" providerId="AD" clId="Web-{F63DF3C7-4B9A-6E0C-F830-5A238E3477FC}"/>
    <pc:docChg chg="sldOrd">
      <pc:chgData name="Oberman, H.I. (Hanne)" userId="S::h.i.oberman@uu.nl::e27d1978-6ace-4e0e-9109-4f58c8b6a455" providerId="AD" clId="Web-{F63DF3C7-4B9A-6E0C-F830-5A238E3477FC}" dt="2025-04-14T11:00:08.550" v="0"/>
      <pc:docMkLst>
        <pc:docMk/>
      </pc:docMkLst>
      <pc:sldChg chg="ord">
        <pc:chgData name="Oberman, H.I. (Hanne)" userId="S::h.i.oberman@uu.nl::e27d1978-6ace-4e0e-9109-4f58c8b6a455" providerId="AD" clId="Web-{F63DF3C7-4B9A-6E0C-F830-5A238E3477FC}" dt="2025-04-14T11:00:08.550" v="0"/>
        <pc:sldMkLst>
          <pc:docMk/>
          <pc:sldMk cId="0" sldId="405"/>
        </pc:sldMkLst>
      </pc:sldChg>
    </pc:docChg>
  </pc:docChgLst>
  <pc:docChgLst>
    <pc:chgData name="Oberman, H.I. (Hanne)" userId="e27d1978-6ace-4e0e-9109-4f58c8b6a455" providerId="ADAL" clId="{7EED9D21-43E2-412A-AD71-DAF788C9E6F4}"/>
    <pc:docChg chg="custSel addSld delSld modSld sldOrd">
      <pc:chgData name="Oberman, H.I. (Hanne)" userId="e27d1978-6ace-4e0e-9109-4f58c8b6a455" providerId="ADAL" clId="{7EED9D21-43E2-412A-AD71-DAF788C9E6F4}" dt="2025-04-15T10:16:41.715" v="330" actId="20577"/>
      <pc:docMkLst>
        <pc:docMk/>
      </pc:docMkLst>
      <pc:sldChg chg="addSp delSp modSp mod ord">
        <pc:chgData name="Oberman, H.I. (Hanne)" userId="e27d1978-6ace-4e0e-9109-4f58c8b6a455" providerId="ADAL" clId="{7EED9D21-43E2-412A-AD71-DAF788C9E6F4}" dt="2025-04-15T10:15:29.574" v="290" actId="20577"/>
        <pc:sldMkLst>
          <pc:docMk/>
          <pc:sldMk cId="0" sldId="262"/>
        </pc:sldMkLst>
        <pc:spChg chg="add mod">
          <ac:chgData name="Oberman, H.I. (Hanne)" userId="e27d1978-6ace-4e0e-9109-4f58c8b6a455" providerId="ADAL" clId="{7EED9D21-43E2-412A-AD71-DAF788C9E6F4}" dt="2025-04-15T10:15:29.574" v="290" actId="20577"/>
          <ac:spMkLst>
            <pc:docMk/>
            <pc:sldMk cId="0" sldId="262"/>
            <ac:spMk id="2" creationId="{3B61F465-EA23-6D17-66F3-90A12DE49618}"/>
          </ac:spMkLst>
        </pc:spChg>
        <pc:spChg chg="add del mod">
          <ac:chgData name="Oberman, H.I. (Hanne)" userId="e27d1978-6ace-4e0e-9109-4f58c8b6a455" providerId="ADAL" clId="{7EED9D21-43E2-412A-AD71-DAF788C9E6F4}" dt="2025-04-15T10:15:23.580" v="274" actId="478"/>
          <ac:spMkLst>
            <pc:docMk/>
            <pc:sldMk cId="0" sldId="262"/>
            <ac:spMk id="4" creationId="{D1DA4CE1-EC97-E45F-A498-E57C2A2C59DC}"/>
          </ac:spMkLst>
        </pc:spChg>
        <pc:spChg chg="del">
          <ac:chgData name="Oberman, H.I. (Hanne)" userId="e27d1978-6ace-4e0e-9109-4f58c8b6a455" providerId="ADAL" clId="{7EED9D21-43E2-412A-AD71-DAF788C9E6F4}" dt="2025-04-15T10:15:17.729" v="273" actId="478"/>
          <ac:spMkLst>
            <pc:docMk/>
            <pc:sldMk cId="0" sldId="262"/>
            <ac:spMk id="607" creationId="{00000000-0000-0000-0000-000000000000}"/>
          </ac:spMkLst>
        </pc:spChg>
      </pc:sldChg>
      <pc:sldChg chg="addSp delSp modSp mod ord">
        <pc:chgData name="Oberman, H.I. (Hanne)" userId="e27d1978-6ace-4e0e-9109-4f58c8b6a455" providerId="ADAL" clId="{7EED9D21-43E2-412A-AD71-DAF788C9E6F4}" dt="2025-04-15T10:16:11.579" v="304" actId="6549"/>
        <pc:sldMkLst>
          <pc:docMk/>
          <pc:sldMk cId="0" sldId="264"/>
        </pc:sldMkLst>
        <pc:spChg chg="add del mod">
          <ac:chgData name="Oberman, H.I. (Hanne)" userId="e27d1978-6ace-4e0e-9109-4f58c8b6a455" providerId="ADAL" clId="{7EED9D21-43E2-412A-AD71-DAF788C9E6F4}" dt="2025-04-15T10:15:44.564" v="292" actId="478"/>
          <ac:spMkLst>
            <pc:docMk/>
            <pc:sldMk cId="0" sldId="264"/>
            <ac:spMk id="3" creationId="{C55AC433-5084-D7E1-1215-E75CA7E756DA}"/>
          </ac:spMkLst>
        </pc:spChg>
        <pc:spChg chg="add mod">
          <ac:chgData name="Oberman, H.I. (Hanne)" userId="e27d1978-6ace-4e0e-9109-4f58c8b6a455" providerId="ADAL" clId="{7EED9D21-43E2-412A-AD71-DAF788C9E6F4}" dt="2025-04-15T10:16:11.579" v="304" actId="6549"/>
          <ac:spMkLst>
            <pc:docMk/>
            <pc:sldMk cId="0" sldId="264"/>
            <ac:spMk id="4" creationId="{D2F09CE4-3BC1-00C6-CC8F-A1A58B0146F5}"/>
          </ac:spMkLst>
        </pc:spChg>
        <pc:spChg chg="del">
          <ac:chgData name="Oberman, H.I. (Hanne)" userId="e27d1978-6ace-4e0e-9109-4f58c8b6a455" providerId="ADAL" clId="{7EED9D21-43E2-412A-AD71-DAF788C9E6F4}" dt="2025-04-15T10:15:40.994" v="291" actId="478"/>
          <ac:spMkLst>
            <pc:docMk/>
            <pc:sldMk cId="0" sldId="264"/>
            <ac:spMk id="637" creationId="{00000000-0000-0000-0000-000000000000}"/>
          </ac:spMkLst>
        </pc:spChg>
        <pc:spChg chg="mod">
          <ac:chgData name="Oberman, H.I. (Hanne)" userId="e27d1978-6ace-4e0e-9109-4f58c8b6a455" providerId="ADAL" clId="{7EED9D21-43E2-412A-AD71-DAF788C9E6F4}" dt="2025-04-15T09:52:48.850" v="9" actId="255"/>
          <ac:spMkLst>
            <pc:docMk/>
            <pc:sldMk cId="0" sldId="264"/>
            <ac:spMk id="639" creationId="{00000000-0000-0000-0000-000000000000}"/>
          </ac:spMkLst>
        </pc:spChg>
        <pc:spChg chg="mod">
          <ac:chgData name="Oberman, H.I. (Hanne)" userId="e27d1978-6ace-4e0e-9109-4f58c8b6a455" providerId="ADAL" clId="{7EED9D21-43E2-412A-AD71-DAF788C9E6F4}" dt="2025-04-15T09:53:07.602" v="13" actId="255"/>
          <ac:spMkLst>
            <pc:docMk/>
            <pc:sldMk cId="0" sldId="264"/>
            <ac:spMk id="640" creationId="{00000000-0000-0000-0000-000000000000}"/>
          </ac:spMkLst>
        </pc:spChg>
        <pc:spChg chg="mod">
          <ac:chgData name="Oberman, H.I. (Hanne)" userId="e27d1978-6ace-4e0e-9109-4f58c8b6a455" providerId="ADAL" clId="{7EED9D21-43E2-412A-AD71-DAF788C9E6F4}" dt="2025-04-15T09:52:58.142" v="11" actId="255"/>
          <ac:spMkLst>
            <pc:docMk/>
            <pc:sldMk cId="0" sldId="264"/>
            <ac:spMk id="641" creationId="{00000000-0000-0000-0000-000000000000}"/>
          </ac:spMkLst>
        </pc:spChg>
        <pc:spChg chg="mod">
          <ac:chgData name="Oberman, H.I. (Hanne)" userId="e27d1978-6ace-4e0e-9109-4f58c8b6a455" providerId="ADAL" clId="{7EED9D21-43E2-412A-AD71-DAF788C9E6F4}" dt="2025-04-15T09:52:25.207" v="7" actId="6549"/>
          <ac:spMkLst>
            <pc:docMk/>
            <pc:sldMk cId="0" sldId="264"/>
            <ac:spMk id="645" creationId="{00000000-0000-0000-0000-000000000000}"/>
          </ac:spMkLst>
        </pc:spChg>
      </pc:sldChg>
      <pc:sldChg chg="addSp delSp modSp mod ord">
        <pc:chgData name="Oberman, H.I. (Hanne)" userId="e27d1978-6ace-4e0e-9109-4f58c8b6a455" providerId="ADAL" clId="{7EED9D21-43E2-412A-AD71-DAF788C9E6F4}" dt="2025-04-15T10:16:27.353" v="322" actId="20577"/>
        <pc:sldMkLst>
          <pc:docMk/>
          <pc:sldMk cId="0" sldId="268"/>
        </pc:sldMkLst>
        <pc:spChg chg="add del mod">
          <ac:chgData name="Oberman, H.I. (Hanne)" userId="e27d1978-6ace-4e0e-9109-4f58c8b6a455" providerId="ADAL" clId="{7EED9D21-43E2-412A-AD71-DAF788C9E6F4}" dt="2025-04-15T10:16:20.940" v="306" actId="478"/>
          <ac:spMkLst>
            <pc:docMk/>
            <pc:sldMk cId="0" sldId="268"/>
            <ac:spMk id="3" creationId="{92840484-BA9C-36E8-FB97-25B4BA4472F6}"/>
          </ac:spMkLst>
        </pc:spChg>
        <pc:spChg chg="add mod">
          <ac:chgData name="Oberman, H.I. (Hanne)" userId="e27d1978-6ace-4e0e-9109-4f58c8b6a455" providerId="ADAL" clId="{7EED9D21-43E2-412A-AD71-DAF788C9E6F4}" dt="2025-04-15T10:16:27.353" v="322" actId="20577"/>
          <ac:spMkLst>
            <pc:docMk/>
            <pc:sldMk cId="0" sldId="268"/>
            <ac:spMk id="4" creationId="{0FBC771B-6CFF-81F9-5826-ECE24EB13745}"/>
          </ac:spMkLst>
        </pc:spChg>
        <pc:spChg chg="del">
          <ac:chgData name="Oberman, H.I. (Hanne)" userId="e27d1978-6ace-4e0e-9109-4f58c8b6a455" providerId="ADAL" clId="{7EED9D21-43E2-412A-AD71-DAF788C9E6F4}" dt="2025-04-15T10:16:19.054" v="305" actId="478"/>
          <ac:spMkLst>
            <pc:docMk/>
            <pc:sldMk cId="0" sldId="268"/>
            <ac:spMk id="694" creationId="{00000000-0000-0000-0000-000000000000}"/>
          </ac:spMkLst>
        </pc:spChg>
      </pc:sldChg>
      <pc:sldChg chg="addSp delSp modSp mod ord">
        <pc:chgData name="Oberman, H.I. (Hanne)" userId="e27d1978-6ace-4e0e-9109-4f58c8b6a455" providerId="ADAL" clId="{7EED9D21-43E2-412A-AD71-DAF788C9E6F4}" dt="2025-04-15T10:16:41.715" v="330" actId="20577"/>
        <pc:sldMkLst>
          <pc:docMk/>
          <pc:sldMk cId="0" sldId="270"/>
        </pc:sldMkLst>
        <pc:spChg chg="add del mod">
          <ac:chgData name="Oberman, H.I. (Hanne)" userId="e27d1978-6ace-4e0e-9109-4f58c8b6a455" providerId="ADAL" clId="{7EED9D21-43E2-412A-AD71-DAF788C9E6F4}" dt="2025-04-15T10:16:34.539" v="324" actId="478"/>
          <ac:spMkLst>
            <pc:docMk/>
            <pc:sldMk cId="0" sldId="270"/>
            <ac:spMk id="3" creationId="{C71C4C65-A3A7-570A-D758-F50803A886FB}"/>
          </ac:spMkLst>
        </pc:spChg>
        <pc:spChg chg="add mod">
          <ac:chgData name="Oberman, H.I. (Hanne)" userId="e27d1978-6ace-4e0e-9109-4f58c8b6a455" providerId="ADAL" clId="{7EED9D21-43E2-412A-AD71-DAF788C9E6F4}" dt="2025-04-15T10:16:41.715" v="330" actId="20577"/>
          <ac:spMkLst>
            <pc:docMk/>
            <pc:sldMk cId="0" sldId="270"/>
            <ac:spMk id="4" creationId="{880B656B-AF8F-EB84-2ED5-07A43C5DD1B1}"/>
          </ac:spMkLst>
        </pc:spChg>
        <pc:spChg chg="del">
          <ac:chgData name="Oberman, H.I. (Hanne)" userId="e27d1978-6ace-4e0e-9109-4f58c8b6a455" providerId="ADAL" clId="{7EED9D21-43E2-412A-AD71-DAF788C9E6F4}" dt="2025-04-15T10:16:31.686" v="323" actId="478"/>
          <ac:spMkLst>
            <pc:docMk/>
            <pc:sldMk cId="0" sldId="270"/>
            <ac:spMk id="744" creationId="{00000000-0000-0000-0000-000000000000}"/>
          </ac:spMkLst>
        </pc:spChg>
      </pc:sldChg>
      <pc:sldChg chg="ord">
        <pc:chgData name="Oberman, H.I. (Hanne)" userId="e27d1978-6ace-4e0e-9109-4f58c8b6a455" providerId="ADAL" clId="{7EED9D21-43E2-412A-AD71-DAF788C9E6F4}" dt="2025-04-15T09:53:56.656" v="17"/>
        <pc:sldMkLst>
          <pc:docMk/>
          <pc:sldMk cId="0" sldId="271"/>
        </pc:sldMkLst>
      </pc:sldChg>
      <pc:sldChg chg="ord">
        <pc:chgData name="Oberman, H.I. (Hanne)" userId="e27d1978-6ace-4e0e-9109-4f58c8b6a455" providerId="ADAL" clId="{7EED9D21-43E2-412A-AD71-DAF788C9E6F4}" dt="2025-04-15T09:53:56.656" v="17"/>
        <pc:sldMkLst>
          <pc:docMk/>
          <pc:sldMk cId="0" sldId="274"/>
        </pc:sldMkLst>
      </pc:sldChg>
      <pc:sldChg chg="modSp del mod modShow">
        <pc:chgData name="Oberman, H.I. (Hanne)" userId="e27d1978-6ace-4e0e-9109-4f58c8b6a455" providerId="ADAL" clId="{7EED9D21-43E2-412A-AD71-DAF788C9E6F4}" dt="2025-04-15T10:00:37.309" v="77" actId="2696"/>
        <pc:sldMkLst>
          <pc:docMk/>
          <pc:sldMk cId="682283607" sldId="302"/>
        </pc:sldMkLst>
        <pc:spChg chg="mod">
          <ac:chgData name="Oberman, H.I. (Hanne)" userId="e27d1978-6ace-4e0e-9109-4f58c8b6a455" providerId="ADAL" clId="{7EED9D21-43E2-412A-AD71-DAF788C9E6F4}" dt="2025-04-15T09:59:18.881" v="74" actId="20577"/>
          <ac:spMkLst>
            <pc:docMk/>
            <pc:sldMk cId="682283607" sldId="302"/>
            <ac:spMk id="13" creationId="{95D9E5B8-5D1A-4B1F-9E6A-DEE25D8DF657}"/>
          </ac:spMkLst>
        </pc:spChg>
      </pc:sldChg>
      <pc:sldChg chg="addSp modSp add mod">
        <pc:chgData name="Oberman, H.I. (Hanne)" userId="e27d1978-6ace-4e0e-9109-4f58c8b6a455" providerId="ADAL" clId="{7EED9D21-43E2-412A-AD71-DAF788C9E6F4}" dt="2025-04-15T10:02:52.770" v="208" actId="6549"/>
        <pc:sldMkLst>
          <pc:docMk/>
          <pc:sldMk cId="2618227454" sldId="302"/>
        </pc:sldMkLst>
        <pc:spChg chg="add">
          <ac:chgData name="Oberman, H.I. (Hanne)" userId="e27d1978-6ace-4e0e-9109-4f58c8b6a455" providerId="ADAL" clId="{7EED9D21-43E2-412A-AD71-DAF788C9E6F4}" dt="2025-04-15T10:01:29.579" v="80"/>
          <ac:spMkLst>
            <pc:docMk/>
            <pc:sldMk cId="2618227454" sldId="302"/>
            <ac:spMk id="2" creationId="{5D89BA0A-AC27-755A-9FC2-A66FD7E2885D}"/>
          </ac:spMkLst>
        </pc:spChg>
        <pc:spChg chg="mod">
          <ac:chgData name="Oberman, H.I. (Hanne)" userId="e27d1978-6ace-4e0e-9109-4f58c8b6a455" providerId="ADAL" clId="{7EED9D21-43E2-412A-AD71-DAF788C9E6F4}" dt="2025-04-15T10:02:52.770" v="208" actId="6549"/>
          <ac:spMkLst>
            <pc:docMk/>
            <pc:sldMk cId="2618227454" sldId="302"/>
            <ac:spMk id="3" creationId="{A615D466-C5E6-46E4-9CF4-EA516963DBE3}"/>
          </ac:spMkLst>
        </pc:spChg>
        <pc:spChg chg="mod">
          <ac:chgData name="Oberman, H.I. (Hanne)" userId="e27d1978-6ace-4e0e-9109-4f58c8b6a455" providerId="ADAL" clId="{7EED9D21-43E2-412A-AD71-DAF788C9E6F4}" dt="2025-04-15T10:01:12.122" v="79" actId="14100"/>
          <ac:spMkLst>
            <pc:docMk/>
            <pc:sldMk cId="2618227454" sldId="302"/>
            <ac:spMk id="9" creationId="{9D7576AD-3661-4A27-9143-6825D8F0914B}"/>
          </ac:spMkLst>
        </pc:spChg>
        <pc:spChg chg="mod">
          <ac:chgData name="Oberman, H.I. (Hanne)" userId="e27d1978-6ace-4e0e-9109-4f58c8b6a455" providerId="ADAL" clId="{7EED9D21-43E2-412A-AD71-DAF788C9E6F4}" dt="2025-04-15T10:01:40.917" v="84" actId="14100"/>
          <ac:spMkLst>
            <pc:docMk/>
            <pc:sldMk cId="2618227454" sldId="302"/>
            <ac:spMk id="16" creationId="{2D31257B-E30A-4D69-956A-120A0638648A}"/>
          </ac:spMkLst>
        </pc:spChg>
        <pc:picChg chg="add mod">
          <ac:chgData name="Oberman, H.I. (Hanne)" userId="e27d1978-6ace-4e0e-9109-4f58c8b6a455" providerId="ADAL" clId="{7EED9D21-43E2-412A-AD71-DAF788C9E6F4}" dt="2025-04-15T10:01:36.956" v="83" actId="1076"/>
          <ac:picMkLst>
            <pc:docMk/>
            <pc:sldMk cId="2618227454" sldId="302"/>
            <ac:picMk id="4" creationId="{0DCFCF79-EDAC-4324-AD3E-B7D24AE0533B}"/>
          </ac:picMkLst>
        </pc:picChg>
        <pc:picChg chg="mod">
          <ac:chgData name="Oberman, H.I. (Hanne)" userId="e27d1978-6ace-4e0e-9109-4f58c8b6a455" providerId="ADAL" clId="{7EED9D21-43E2-412A-AD71-DAF788C9E6F4}" dt="2025-04-15T10:01:49.362" v="86" actId="1076"/>
          <ac:picMkLst>
            <pc:docMk/>
            <pc:sldMk cId="2618227454" sldId="302"/>
            <ac:picMk id="11" creationId="{E9ED5A87-86C2-4114-9671-B697E98FF105}"/>
          </ac:picMkLst>
        </pc:picChg>
      </pc:sldChg>
      <pc:sldChg chg="ord">
        <pc:chgData name="Oberman, H.I. (Hanne)" userId="e27d1978-6ace-4e0e-9109-4f58c8b6a455" providerId="ADAL" clId="{7EED9D21-43E2-412A-AD71-DAF788C9E6F4}" dt="2025-04-15T09:54:07.582" v="19"/>
        <pc:sldMkLst>
          <pc:docMk/>
          <pc:sldMk cId="3485880078" sldId="305"/>
        </pc:sldMkLst>
      </pc:sldChg>
      <pc:sldChg chg="mod ord modShow">
        <pc:chgData name="Oberman, H.I. (Hanne)" userId="e27d1978-6ace-4e0e-9109-4f58c8b6a455" providerId="ADAL" clId="{7EED9D21-43E2-412A-AD71-DAF788C9E6F4}" dt="2025-04-15T09:55:38.189" v="28"/>
        <pc:sldMkLst>
          <pc:docMk/>
          <pc:sldMk cId="3890932836" sldId="316"/>
        </pc:sldMkLst>
      </pc:sldChg>
      <pc:sldChg chg="add">
        <pc:chgData name="Oberman, H.I. (Hanne)" userId="e27d1978-6ace-4e0e-9109-4f58c8b6a455" providerId="ADAL" clId="{7EED9D21-43E2-412A-AD71-DAF788C9E6F4}" dt="2025-04-15T10:07:06.437" v="227"/>
        <pc:sldMkLst>
          <pc:docMk/>
          <pc:sldMk cId="1020681439" sldId="320"/>
        </pc:sldMkLst>
      </pc:sldChg>
      <pc:sldChg chg="del mod ord modShow">
        <pc:chgData name="Oberman, H.I. (Hanne)" userId="e27d1978-6ace-4e0e-9109-4f58c8b6a455" providerId="ADAL" clId="{7EED9D21-43E2-412A-AD71-DAF788C9E6F4}" dt="2025-04-15T10:06:54.842" v="226" actId="2696"/>
        <pc:sldMkLst>
          <pc:docMk/>
          <pc:sldMk cId="3205921141" sldId="320"/>
        </pc:sldMkLst>
      </pc:sldChg>
      <pc:sldChg chg="mod ord modShow">
        <pc:chgData name="Oberman, H.I. (Hanne)" userId="e27d1978-6ace-4e0e-9109-4f58c8b6a455" providerId="ADAL" clId="{7EED9D21-43E2-412A-AD71-DAF788C9E6F4}" dt="2025-04-15T09:55:38.189" v="28"/>
        <pc:sldMkLst>
          <pc:docMk/>
          <pc:sldMk cId="1080742103" sldId="321"/>
        </pc:sldMkLst>
      </pc:sldChg>
      <pc:sldChg chg="del">
        <pc:chgData name="Oberman, H.I. (Hanne)" userId="e27d1978-6ace-4e0e-9109-4f58c8b6a455" providerId="ADAL" clId="{7EED9D21-43E2-412A-AD71-DAF788C9E6F4}" dt="2025-04-15T09:51:50.104" v="3" actId="2696"/>
        <pc:sldMkLst>
          <pc:docMk/>
          <pc:sldMk cId="3467063579" sldId="322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758756992" sldId="324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37675726" sldId="325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1497538642" sldId="326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2191313688" sldId="328"/>
        </pc:sldMkLst>
      </pc:sldChg>
      <pc:sldChg chg="add">
        <pc:chgData name="Oberman, H.I. (Hanne)" userId="e27d1978-6ace-4e0e-9109-4f58c8b6a455" providerId="ADAL" clId="{7EED9D21-43E2-412A-AD71-DAF788C9E6F4}" dt="2025-04-15T10:07:49.179" v="231"/>
        <pc:sldMkLst>
          <pc:docMk/>
          <pc:sldMk cId="286756081" sldId="330"/>
        </pc:sldMkLst>
      </pc:sldChg>
      <pc:sldChg chg="del mod ord modShow">
        <pc:chgData name="Oberman, H.I. (Hanne)" userId="e27d1978-6ace-4e0e-9109-4f58c8b6a455" providerId="ADAL" clId="{7EED9D21-43E2-412A-AD71-DAF788C9E6F4}" dt="2025-04-15T10:07:45.569" v="230" actId="2696"/>
        <pc:sldMkLst>
          <pc:docMk/>
          <pc:sldMk cId="2344650633" sldId="330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2506212504" sldId="333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443920485" sldId="334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422542579" sldId="337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3779219361" sldId="339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969038550" sldId="341"/>
        </pc:sldMkLst>
      </pc:sldChg>
      <pc:sldChg chg="del mod ord modShow">
        <pc:chgData name="Oberman, H.I. (Hanne)" userId="e27d1978-6ace-4e0e-9109-4f58c8b6a455" providerId="ADAL" clId="{7EED9D21-43E2-412A-AD71-DAF788C9E6F4}" dt="2025-04-15T10:03:55.441" v="213" actId="2696"/>
        <pc:sldMkLst>
          <pc:docMk/>
          <pc:sldMk cId="975686467" sldId="346"/>
        </pc:sldMkLst>
      </pc:sldChg>
      <pc:sldChg chg="add del ord">
        <pc:chgData name="Oberman, H.I. (Hanne)" userId="e27d1978-6ace-4e0e-9109-4f58c8b6a455" providerId="ADAL" clId="{7EED9D21-43E2-412A-AD71-DAF788C9E6F4}" dt="2025-04-15T10:07:45.569" v="230" actId="2696"/>
        <pc:sldMkLst>
          <pc:docMk/>
          <pc:sldMk cId="2322277063" sldId="346"/>
        </pc:sldMkLst>
      </pc:sldChg>
      <pc:sldChg chg="add">
        <pc:chgData name="Oberman, H.I. (Hanne)" userId="e27d1978-6ace-4e0e-9109-4f58c8b6a455" providerId="ADAL" clId="{7EED9D21-43E2-412A-AD71-DAF788C9E6F4}" dt="2025-04-15T10:07:49.179" v="231"/>
        <pc:sldMkLst>
          <pc:docMk/>
          <pc:sldMk cId="2681066036" sldId="346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2830289704" sldId="347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485955422" sldId="355"/>
        </pc:sldMkLst>
      </pc:sldChg>
      <pc:sldChg chg="del mod modShow">
        <pc:chgData name="Oberman, H.I. (Hanne)" userId="e27d1978-6ace-4e0e-9109-4f58c8b6a455" providerId="ADAL" clId="{7EED9D21-43E2-412A-AD71-DAF788C9E6F4}" dt="2025-04-15T10:15:06.449" v="271" actId="47"/>
        <pc:sldMkLst>
          <pc:docMk/>
          <pc:sldMk cId="2457348813" sldId="356"/>
        </pc:sldMkLst>
      </pc:sldChg>
      <pc:sldChg chg="del mod modShow">
        <pc:chgData name="Oberman, H.I. (Hanne)" userId="e27d1978-6ace-4e0e-9109-4f58c8b6a455" providerId="ADAL" clId="{7EED9D21-43E2-412A-AD71-DAF788C9E6F4}" dt="2025-04-15T10:15:05.412" v="270" actId="47"/>
        <pc:sldMkLst>
          <pc:docMk/>
          <pc:sldMk cId="1882211519" sldId="357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3954484243" sldId="358"/>
        </pc:sldMkLst>
      </pc:sldChg>
      <pc:sldChg chg="del mod ord modShow">
        <pc:chgData name="Oberman, H.I. (Hanne)" userId="e27d1978-6ace-4e0e-9109-4f58c8b6a455" providerId="ADAL" clId="{7EED9D21-43E2-412A-AD71-DAF788C9E6F4}" dt="2025-04-15T10:08:44.252" v="238" actId="2696"/>
        <pc:sldMkLst>
          <pc:docMk/>
          <pc:sldMk cId="1431752" sldId="362"/>
        </pc:sldMkLst>
      </pc:sldChg>
      <pc:sldChg chg="add ord">
        <pc:chgData name="Oberman, H.I. (Hanne)" userId="e27d1978-6ace-4e0e-9109-4f58c8b6a455" providerId="ADAL" clId="{7EED9D21-43E2-412A-AD71-DAF788C9E6F4}" dt="2025-04-15T10:14:39.725" v="269"/>
        <pc:sldMkLst>
          <pc:docMk/>
          <pc:sldMk cId="597324891" sldId="365"/>
        </pc:sldMkLst>
      </pc:sldChg>
      <pc:sldChg chg="del mod ord modShow">
        <pc:chgData name="Oberman, H.I. (Hanne)" userId="e27d1978-6ace-4e0e-9109-4f58c8b6a455" providerId="ADAL" clId="{7EED9D21-43E2-412A-AD71-DAF788C9E6F4}" dt="2025-04-15T10:08:34.414" v="236" actId="2696"/>
        <pc:sldMkLst>
          <pc:docMk/>
          <pc:sldMk cId="4060833012" sldId="365"/>
        </pc:sldMkLst>
      </pc:sldChg>
      <pc:sldChg chg="modSp add del mod ord">
        <pc:chgData name="Oberman, H.I. (Hanne)" userId="e27d1978-6ace-4e0e-9109-4f58c8b6a455" providerId="ADAL" clId="{7EED9D21-43E2-412A-AD71-DAF788C9E6F4}" dt="2025-04-15T10:14:17.961" v="266" actId="2696"/>
        <pc:sldMkLst>
          <pc:docMk/>
          <pc:sldMk cId="167202118" sldId="367"/>
        </pc:sldMkLst>
        <pc:spChg chg="mod">
          <ac:chgData name="Oberman, H.I. (Hanne)" userId="e27d1978-6ace-4e0e-9109-4f58c8b6a455" providerId="ADAL" clId="{7EED9D21-43E2-412A-AD71-DAF788C9E6F4}" dt="2025-04-15T10:13:48.919" v="263" actId="14100"/>
          <ac:spMkLst>
            <pc:docMk/>
            <pc:sldMk cId="167202118" sldId="367"/>
            <ac:spMk id="7" creationId="{FB2577CD-E6CB-4D57-AE04-E53687082688}"/>
          </ac:spMkLst>
        </pc:spChg>
      </pc:sldChg>
      <pc:sldChg chg="add">
        <pc:chgData name="Oberman, H.I. (Hanne)" userId="e27d1978-6ace-4e0e-9109-4f58c8b6a455" providerId="ADAL" clId="{7EED9D21-43E2-412A-AD71-DAF788C9E6F4}" dt="2025-04-15T10:14:21.284" v="267"/>
        <pc:sldMkLst>
          <pc:docMk/>
          <pc:sldMk cId="2737624277" sldId="367"/>
        </pc:sldMkLst>
      </pc:sldChg>
      <pc:sldChg chg="add del">
        <pc:chgData name="Oberman, H.I. (Hanne)" userId="e27d1978-6ace-4e0e-9109-4f58c8b6a455" providerId="ADAL" clId="{7EED9D21-43E2-412A-AD71-DAF788C9E6F4}" dt="2025-04-15T10:13:08.731" v="244" actId="2696"/>
        <pc:sldMkLst>
          <pc:docMk/>
          <pc:sldMk cId="2766582866" sldId="367"/>
        </pc:sldMkLst>
      </pc:sldChg>
      <pc:sldChg chg="del mod ord modShow">
        <pc:chgData name="Oberman, H.I. (Hanne)" userId="e27d1978-6ace-4e0e-9109-4f58c8b6a455" providerId="ADAL" clId="{7EED9D21-43E2-412A-AD71-DAF788C9E6F4}" dt="2025-04-15T10:09:02.819" v="240" actId="2696"/>
        <pc:sldMkLst>
          <pc:docMk/>
          <pc:sldMk cId="2790935621" sldId="367"/>
        </pc:sldMkLst>
      </pc:sldChg>
      <pc:sldChg chg="add del">
        <pc:chgData name="Oberman, H.I. (Hanne)" userId="e27d1978-6ace-4e0e-9109-4f58c8b6a455" providerId="ADAL" clId="{7EED9D21-43E2-412A-AD71-DAF788C9E6F4}" dt="2025-04-15T10:04:26.372" v="219" actId="2696"/>
        <pc:sldMkLst>
          <pc:docMk/>
          <pc:sldMk cId="1395448062" sldId="372"/>
        </pc:sldMkLst>
      </pc:sldChg>
      <pc:sldChg chg="add">
        <pc:chgData name="Oberman, H.I. (Hanne)" userId="e27d1978-6ace-4e0e-9109-4f58c8b6a455" providerId="ADAL" clId="{7EED9D21-43E2-412A-AD71-DAF788C9E6F4}" dt="2025-04-15T10:08:27.578" v="235"/>
        <pc:sldMkLst>
          <pc:docMk/>
          <pc:sldMk cId="1501346585" sldId="372"/>
        </pc:sldMkLst>
      </pc:sldChg>
      <pc:sldChg chg="modSp add del mod">
        <pc:chgData name="Oberman, H.I. (Hanne)" userId="e27d1978-6ace-4e0e-9109-4f58c8b6a455" providerId="ADAL" clId="{7EED9D21-43E2-412A-AD71-DAF788C9E6F4}" dt="2025-04-15T10:08:24.985" v="234" actId="2696"/>
        <pc:sldMkLst>
          <pc:docMk/>
          <pc:sldMk cId="2972862852" sldId="372"/>
        </pc:sldMkLst>
        <pc:spChg chg="mod">
          <ac:chgData name="Oberman, H.I. (Hanne)" userId="e27d1978-6ace-4e0e-9109-4f58c8b6a455" providerId="ADAL" clId="{7EED9D21-43E2-412A-AD71-DAF788C9E6F4}" dt="2025-04-15T10:04:34.041" v="221" actId="20577"/>
          <ac:spMkLst>
            <pc:docMk/>
            <pc:sldMk cId="2972862852" sldId="372"/>
            <ac:spMk id="2" creationId="{0A8ADDBC-8932-42EF-9781-B3B2594E8F5A}"/>
          </ac:spMkLst>
        </pc:spChg>
      </pc:sldChg>
      <pc:sldChg chg="del mod ord modShow">
        <pc:chgData name="Oberman, H.I. (Hanne)" userId="e27d1978-6ace-4e0e-9109-4f58c8b6a455" providerId="ADAL" clId="{7EED9D21-43E2-412A-AD71-DAF788C9E6F4}" dt="2025-04-15T10:03:55.441" v="213" actId="2696"/>
        <pc:sldMkLst>
          <pc:docMk/>
          <pc:sldMk cId="3146927335" sldId="372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704826256" sldId="374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720912831" sldId="375"/>
        </pc:sldMkLst>
      </pc:sldChg>
      <pc:sldChg chg="del">
        <pc:chgData name="Oberman, H.I. (Hanne)" userId="e27d1978-6ace-4e0e-9109-4f58c8b6a455" providerId="ADAL" clId="{7EED9D21-43E2-412A-AD71-DAF788C9E6F4}" dt="2025-04-15T09:51:52.561" v="4" actId="2696"/>
        <pc:sldMkLst>
          <pc:docMk/>
          <pc:sldMk cId="2875647884" sldId="379"/>
        </pc:sldMkLst>
      </pc:sldChg>
      <pc:sldChg chg="mod ord modShow">
        <pc:chgData name="Oberman, H.I. (Hanne)" userId="e27d1978-6ace-4e0e-9109-4f58c8b6a455" providerId="ADAL" clId="{7EED9D21-43E2-412A-AD71-DAF788C9E6F4}" dt="2025-04-15T09:55:38.189" v="28"/>
        <pc:sldMkLst>
          <pc:docMk/>
          <pc:sldMk cId="3722583697" sldId="380"/>
        </pc:sldMkLst>
      </pc:sldChg>
      <pc:sldChg chg="mod modShow">
        <pc:chgData name="Oberman, H.I. (Hanne)" userId="e27d1978-6ace-4e0e-9109-4f58c8b6a455" providerId="ADAL" clId="{7EED9D21-43E2-412A-AD71-DAF788C9E6F4}" dt="2025-04-15T09:55:06.741" v="25" actId="729"/>
        <pc:sldMkLst>
          <pc:docMk/>
          <pc:sldMk cId="3323283255" sldId="383"/>
        </pc:sldMkLst>
      </pc:sldChg>
      <pc:sldChg chg="modSp mod ord modShow">
        <pc:chgData name="Oberman, H.I. (Hanne)" userId="e27d1978-6ace-4e0e-9109-4f58c8b6a455" providerId="ADAL" clId="{7EED9D21-43E2-412A-AD71-DAF788C9E6F4}" dt="2025-04-15T09:56:51.351" v="66"/>
        <pc:sldMkLst>
          <pc:docMk/>
          <pc:sldMk cId="1607026279" sldId="384"/>
        </pc:sldMkLst>
        <pc:spChg chg="mod">
          <ac:chgData name="Oberman, H.I. (Hanne)" userId="e27d1978-6ace-4e0e-9109-4f58c8b6a455" providerId="ADAL" clId="{7EED9D21-43E2-412A-AD71-DAF788C9E6F4}" dt="2025-04-15T09:56:25.307" v="62" actId="20577"/>
          <ac:spMkLst>
            <pc:docMk/>
            <pc:sldMk cId="1607026279" sldId="384"/>
            <ac:spMk id="2" creationId="{2F17019E-8D20-4148-96C2-DFA0305742D9}"/>
          </ac:spMkLst>
        </pc:spChg>
      </pc:sldChg>
      <pc:sldChg chg="add del mod ord modShow">
        <pc:chgData name="Oberman, H.I. (Hanne)" userId="e27d1978-6ace-4e0e-9109-4f58c8b6a455" providerId="ADAL" clId="{7EED9D21-43E2-412A-AD71-DAF788C9E6F4}" dt="2025-04-15T10:13:08.731" v="244" actId="2696"/>
        <pc:sldMkLst>
          <pc:docMk/>
          <pc:sldMk cId="988321163" sldId="385"/>
        </pc:sldMkLst>
      </pc:sldChg>
      <pc:sldChg chg="add">
        <pc:chgData name="Oberman, H.I. (Hanne)" userId="e27d1978-6ace-4e0e-9109-4f58c8b6a455" providerId="ADAL" clId="{7EED9D21-43E2-412A-AD71-DAF788C9E6F4}" dt="2025-04-15T10:13:16.939" v="245"/>
        <pc:sldMkLst>
          <pc:docMk/>
          <pc:sldMk cId="1248725466" sldId="385"/>
        </pc:sldMkLst>
      </pc:sldChg>
      <pc:sldChg chg="add del mod ord modShow">
        <pc:chgData name="Oberman, H.I. (Hanne)" userId="e27d1978-6ace-4e0e-9109-4f58c8b6a455" providerId="ADAL" clId="{7EED9D21-43E2-412A-AD71-DAF788C9E6F4}" dt="2025-04-15T10:12:58.362" v="243"/>
        <pc:sldMkLst>
          <pc:docMk/>
          <pc:sldMk cId="763645582" sldId="386"/>
        </pc:sldMkLst>
      </pc:sldChg>
      <pc:sldChg chg="add del">
        <pc:chgData name="Oberman, H.I. (Hanne)" userId="e27d1978-6ace-4e0e-9109-4f58c8b6a455" providerId="ADAL" clId="{7EED9D21-43E2-412A-AD71-DAF788C9E6F4}" dt="2025-04-15T10:05:31.575" v="224" actId="2696"/>
        <pc:sldMkLst>
          <pc:docMk/>
          <pc:sldMk cId="2061622803" sldId="386"/>
        </pc:sldMkLst>
      </pc:sldChg>
      <pc:sldChg chg="add del">
        <pc:chgData name="Oberman, H.I. (Hanne)" userId="e27d1978-6ace-4e0e-9109-4f58c8b6a455" providerId="ADAL" clId="{7EED9D21-43E2-412A-AD71-DAF788C9E6F4}" dt="2025-04-15T10:05:12.661" v="222" actId="2696"/>
        <pc:sldMkLst>
          <pc:docMk/>
          <pc:sldMk cId="2880367751" sldId="386"/>
        </pc:sldMkLst>
      </pc:sldChg>
      <pc:sldChg chg="add del">
        <pc:chgData name="Oberman, H.I. (Hanne)" userId="e27d1978-6ace-4e0e-9109-4f58c8b6a455" providerId="ADAL" clId="{7EED9D21-43E2-412A-AD71-DAF788C9E6F4}" dt="2025-04-15T10:08:46.704" v="239" actId="2696"/>
        <pc:sldMkLst>
          <pc:docMk/>
          <pc:sldMk cId="4263596239" sldId="386"/>
        </pc:sldMkLst>
      </pc:sldChg>
      <pc:sldChg chg="del mod ord modShow">
        <pc:chgData name="Oberman, H.I. (Hanne)" userId="e27d1978-6ace-4e0e-9109-4f58c8b6a455" providerId="ADAL" clId="{7EED9D21-43E2-412A-AD71-DAF788C9E6F4}" dt="2025-04-15T10:04:10.140" v="217" actId="2696"/>
        <pc:sldMkLst>
          <pc:docMk/>
          <pc:sldMk cId="1997660975" sldId="388"/>
        </pc:sldMkLst>
      </pc:sldChg>
      <pc:sldChg chg="add ord">
        <pc:chgData name="Oberman, H.I. (Hanne)" userId="e27d1978-6ace-4e0e-9109-4f58c8b6a455" providerId="ADAL" clId="{7EED9D21-43E2-412A-AD71-DAF788C9E6F4}" dt="2025-04-15T10:07:54.510" v="233"/>
        <pc:sldMkLst>
          <pc:docMk/>
          <pc:sldMk cId="3562427663" sldId="388"/>
        </pc:sldMkLst>
      </pc:sldChg>
      <pc:sldChg chg="mod ord modShow">
        <pc:chgData name="Oberman, H.I. (Hanne)" userId="e27d1978-6ace-4e0e-9109-4f58c8b6a455" providerId="ADAL" clId="{7EED9D21-43E2-412A-AD71-DAF788C9E6F4}" dt="2025-04-15T09:54:21.761" v="22" actId="729"/>
        <pc:sldMkLst>
          <pc:docMk/>
          <pc:sldMk cId="1158288051" sldId="400"/>
        </pc:sldMkLst>
      </pc:sldChg>
      <pc:sldChg chg="ord">
        <pc:chgData name="Oberman, H.I. (Hanne)" userId="e27d1978-6ace-4e0e-9109-4f58c8b6a455" providerId="ADAL" clId="{7EED9D21-43E2-412A-AD71-DAF788C9E6F4}" dt="2025-04-15T09:54:43.652" v="24"/>
        <pc:sldMkLst>
          <pc:docMk/>
          <pc:sldMk cId="348632390" sldId="402"/>
        </pc:sldMkLst>
      </pc:sldChg>
      <pc:sldChg chg="ord">
        <pc:chgData name="Oberman, H.I. (Hanne)" userId="e27d1978-6ace-4e0e-9109-4f58c8b6a455" providerId="ADAL" clId="{7EED9D21-43E2-412A-AD71-DAF788C9E6F4}" dt="2025-04-15T09:54:43.652" v="24"/>
        <pc:sldMkLst>
          <pc:docMk/>
          <pc:sldMk cId="3769442255" sldId="403"/>
        </pc:sldMkLst>
      </pc:sldChg>
      <pc:sldChg chg="ord">
        <pc:chgData name="Oberman, H.I. (Hanne)" userId="e27d1978-6ace-4e0e-9109-4f58c8b6a455" providerId="ADAL" clId="{7EED9D21-43E2-412A-AD71-DAF788C9E6F4}" dt="2025-04-15T09:53:56.656" v="17"/>
        <pc:sldMkLst>
          <pc:docMk/>
          <pc:sldMk cId="0" sldId="405"/>
        </pc:sldMkLst>
      </pc:sldChg>
      <pc:sldChg chg="modSp add modAnim">
        <pc:chgData name="Oberman, H.I. (Hanne)" userId="e27d1978-6ace-4e0e-9109-4f58c8b6a455" providerId="ADAL" clId="{7EED9D21-43E2-412A-AD71-DAF788C9E6F4}" dt="2025-04-15T09:48:31.399" v="2" actId="20577"/>
        <pc:sldMkLst>
          <pc:docMk/>
          <pc:sldMk cId="2165457595" sldId="408"/>
        </pc:sldMkLst>
        <pc:spChg chg="mod">
          <ac:chgData name="Oberman, H.I. (Hanne)" userId="e27d1978-6ace-4e0e-9109-4f58c8b6a455" providerId="ADAL" clId="{7EED9D21-43E2-412A-AD71-DAF788C9E6F4}" dt="2025-04-15T09:48:31.399" v="2" actId="20577"/>
          <ac:spMkLst>
            <pc:docMk/>
            <pc:sldMk cId="2165457595" sldId="408"/>
            <ac:spMk id="2" creationId="{D206A4B5-C908-49F2-B0C7-A0B196986288}"/>
          </ac:spMkLst>
        </pc:spChg>
      </pc:sldChg>
    </pc:docChg>
  </pc:docChgLst>
  <pc:docChgLst>
    <pc:chgData name="Oberman, H.I. (Hanne)" userId="S::h.i.oberman@uu.nl::e27d1978-6ace-4e0e-9109-4f58c8b6a455" providerId="AD" clId="Web-{5F3960B7-23B2-783D-40F5-E6D81CC01695}"/>
    <pc:docChg chg="modSld">
      <pc:chgData name="Oberman, H.I. (Hanne)" userId="S::h.i.oberman@uu.nl::e27d1978-6ace-4e0e-9109-4f58c8b6a455" providerId="AD" clId="Web-{5F3960B7-23B2-783D-40F5-E6D81CC01695}" dt="2025-04-14T10:57:32.549" v="15" actId="20577"/>
      <pc:docMkLst>
        <pc:docMk/>
      </pc:docMkLst>
      <pc:sldChg chg="modSp">
        <pc:chgData name="Oberman, H.I. (Hanne)" userId="S::h.i.oberman@uu.nl::e27d1978-6ace-4e0e-9109-4f58c8b6a455" providerId="AD" clId="Web-{5F3960B7-23B2-783D-40F5-E6D81CC01695}" dt="2025-04-14T10:57:32.549" v="15" actId="20577"/>
        <pc:sldMkLst>
          <pc:docMk/>
          <pc:sldMk cId="3368348150" sldId="275"/>
        </pc:sldMkLst>
        <pc:spChg chg="mod">
          <ac:chgData name="Oberman, H.I. (Hanne)" userId="S::h.i.oberman@uu.nl::e27d1978-6ace-4e0e-9109-4f58c8b6a455" providerId="AD" clId="Web-{5F3960B7-23B2-783D-40F5-E6D81CC01695}" dt="2025-04-14T10:56:11.061" v="8" actId="20577"/>
          <ac:spMkLst>
            <pc:docMk/>
            <pc:sldMk cId="3368348150" sldId="275"/>
            <ac:spMk id="4" creationId="{94DB64B3-E50D-4E48-8A2B-AEF05305381F}"/>
          </ac:spMkLst>
        </pc:spChg>
        <pc:spChg chg="mod">
          <ac:chgData name="Oberman, H.I. (Hanne)" userId="S::h.i.oberman@uu.nl::e27d1978-6ace-4e0e-9109-4f58c8b6a455" providerId="AD" clId="Web-{5F3960B7-23B2-783D-40F5-E6D81CC01695}" dt="2025-04-14T10:55:55.014" v="5" actId="20577"/>
          <ac:spMkLst>
            <pc:docMk/>
            <pc:sldMk cId="3368348150" sldId="275"/>
            <ac:spMk id="5" creationId="{43EFAD46-0C01-8744-B2A5-529A1B461ECD}"/>
          </ac:spMkLst>
        </pc:spChg>
        <pc:spChg chg="mod">
          <ac:chgData name="Oberman, H.I. (Hanne)" userId="S::h.i.oberman@uu.nl::e27d1978-6ace-4e0e-9109-4f58c8b6a455" providerId="AD" clId="Web-{5F3960B7-23B2-783D-40F5-E6D81CC01695}" dt="2025-04-14T10:52:58.601" v="1" actId="20577"/>
          <ac:spMkLst>
            <pc:docMk/>
            <pc:sldMk cId="3368348150" sldId="275"/>
            <ac:spMk id="6" creationId="{3DC10616-FA6C-AB4C-8F84-7696C7142C5C}"/>
          </ac:spMkLst>
        </pc:spChg>
        <pc:spChg chg="mod">
          <ac:chgData name="Oberman, H.I. (Hanne)" userId="S::h.i.oberman@uu.nl::e27d1978-6ace-4e0e-9109-4f58c8b6a455" providerId="AD" clId="Web-{5F3960B7-23B2-783D-40F5-E6D81CC01695}" dt="2025-04-14T10:57:32.549" v="15" actId="20577"/>
          <ac:spMkLst>
            <pc:docMk/>
            <pc:sldMk cId="3368348150" sldId="275"/>
            <ac:spMk id="7" creationId="{112FABDD-CFFF-1006-A592-AD6EDCF642D9}"/>
          </ac:spMkLst>
        </pc:spChg>
      </pc:sldChg>
      <pc:sldChg chg="delAnim">
        <pc:chgData name="Oberman, H.I. (Hanne)" userId="S::h.i.oberman@uu.nl::e27d1978-6ace-4e0e-9109-4f58c8b6a455" providerId="AD" clId="Web-{5F3960B7-23B2-783D-40F5-E6D81CC01695}" dt="2025-04-14T10:55:06.246" v="2"/>
        <pc:sldMkLst>
          <pc:docMk/>
          <pc:sldMk cId="1775612623" sldId="390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D562E9-F970-40C5-8076-BA5383048925}" type="datetimeFigureOut">
              <a:rPr lang="en-GB" smtClean="0">
                <a:latin typeface="Merriweather Regular" panose="02060503050406030704" pitchFamily="18" charset="77"/>
              </a:rPr>
              <a:t>15/04/2025</a:t>
            </a:fld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>
              <a:latin typeface="Merriweather Regular" panose="02060503050406030704" pitchFamily="18" charset="77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17BDD4-EA2B-47CA-A27F-5DCC43F23FEF}" type="slidenum">
              <a:rPr lang="en-GB" smtClean="0">
                <a:latin typeface="Merriweather Regular" panose="02060503050406030704" pitchFamily="18" charset="77"/>
              </a:rPr>
              <a:t>‹#›</a:t>
            </a:fld>
            <a:endParaRPr lang="en-GB">
              <a:latin typeface="Merriweather Regular" panose="02060503050406030704" pitchFamily="18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6872606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Merriweather Regular" panose="02060503050406030704" pitchFamily="18" charset="77"/>
              </a:defRPr>
            </a:lvl1pPr>
          </a:lstStyle>
          <a:p>
            <a:endParaRPr lang="en-GB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Merriweather Regular" panose="02060503050406030704" pitchFamily="18" charset="77"/>
              </a:defRPr>
            </a:lvl1pPr>
          </a:lstStyle>
          <a:p>
            <a:fld id="{7CAC0B33-3943-42F1-973C-9CDD51C76BBD}" type="datetimeFigureOut">
              <a:rPr lang="en-GB" smtClean="0"/>
              <a:pPr/>
              <a:t>15/04/2025</a:t>
            </a:fld>
            <a:endParaRPr lang="en-GB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 err="1"/>
              <a:t>Klik</a:t>
            </a:r>
            <a:r>
              <a:rPr lang="en-GB"/>
              <a:t> om de </a:t>
            </a:r>
            <a:r>
              <a:rPr lang="en-GB" err="1"/>
              <a:t>modelstijlen</a:t>
            </a:r>
            <a:r>
              <a:rPr lang="en-GB"/>
              <a:t> </a:t>
            </a:r>
            <a:r>
              <a:rPr lang="en-GB" err="1"/>
              <a:t>te</a:t>
            </a:r>
            <a:r>
              <a:rPr lang="en-GB"/>
              <a:t> </a:t>
            </a:r>
            <a:r>
              <a:rPr lang="en-GB" err="1"/>
              <a:t>bewerken</a:t>
            </a:r>
            <a:endParaRPr lang="en-GB"/>
          </a:p>
          <a:p>
            <a:pPr lvl="1"/>
            <a:r>
              <a:rPr lang="en-GB" err="1"/>
              <a:t>Tweede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2"/>
            <a:r>
              <a:rPr lang="en-GB" err="1"/>
              <a:t>Derde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3"/>
            <a:r>
              <a:rPr lang="en-GB" err="1"/>
              <a:t>Vierde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  <a:p>
            <a:pPr lvl="4"/>
            <a:r>
              <a:rPr lang="en-GB" err="1"/>
              <a:t>Vijfde</a:t>
            </a:r>
            <a:r>
              <a:rPr lang="en-GB"/>
              <a:t> </a:t>
            </a:r>
            <a:r>
              <a:rPr lang="en-GB" err="1"/>
              <a:t>niveau</a:t>
            </a:r>
            <a:endParaRPr lang="en-GB"/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Merriweather Regular" panose="02060503050406030704" pitchFamily="18" charset="77"/>
              </a:defRPr>
            </a:lvl1pPr>
          </a:lstStyle>
          <a:p>
            <a:endParaRPr lang="en-GB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Merriweather Regular" panose="02060503050406030704" pitchFamily="18" charset="77"/>
              </a:defRPr>
            </a:lvl1pPr>
          </a:lstStyle>
          <a:p>
            <a:fld id="{697381A9-0C9E-4D3A-A28B-AC4E168A57BC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08937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1pPr>
    <a:lvl2pPr marL="4572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2pPr>
    <a:lvl3pPr marL="9144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3pPr>
    <a:lvl4pPr marL="13716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4pPr>
    <a:lvl5pPr marL="1828800" algn="l" defTabSz="914400" rtl="0" eaLnBrk="1" latinLnBrk="0" hangingPunct="1">
      <a:defRPr sz="1200" b="0" i="0" kern="1200">
        <a:solidFill>
          <a:schemeClr val="tx1"/>
        </a:solidFill>
        <a:latin typeface="Merriweather Regular" panose="02060503050406030704" pitchFamily="18" charset="77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Abductive_reasoning" TargetMode="External"/><Relationship Id="rId3" Type="http://schemas.openxmlformats.org/officeDocument/2006/relationships/hyperlink" Target="https://en.wikipedia.org/wiki/Observation" TargetMode="External"/><Relationship Id="rId7" Type="http://schemas.openxmlformats.org/officeDocument/2006/relationships/hyperlink" Target="https://en.wikipedia.org/wiki/Evaluation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6" Type="http://schemas.openxmlformats.org/officeDocument/2006/relationships/hyperlink" Target="https://en.wikipedia.org/wiki/Experiment" TargetMode="External"/><Relationship Id="rId5" Type="http://schemas.openxmlformats.org/officeDocument/2006/relationships/hyperlink" Target="https://en.wikipedia.org/wiki/Deductive_reasoning" TargetMode="External"/><Relationship Id="rId4" Type="http://schemas.openxmlformats.org/officeDocument/2006/relationships/hyperlink" Target="https://en.wikipedia.org/wiki/Inductive_reasoning" TargetMode="External"/><Relationship Id="rId9" Type="http://schemas.openxmlformats.org/officeDocument/2006/relationships/hyperlink" Target="https://en.wikipedia.org/wiki/Empirical_research" TargetMode="Externa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Update </a:t>
            </a:r>
            <a:r>
              <a:rPr lang="en-US" err="1"/>
              <a:t>alle</a:t>
            </a:r>
            <a:r>
              <a:rPr lang="en-US"/>
              <a:t> slides (circle appearance) a la the slides in de </a:t>
            </a:r>
            <a:r>
              <a:rPr lang="en-US" err="1"/>
              <a:t>docenten</a:t>
            </a:r>
            <a:r>
              <a:rPr lang="en-US"/>
              <a:t> </a:t>
            </a:r>
            <a:r>
              <a:rPr lang="en-US" err="1"/>
              <a:t>versie</a:t>
            </a:r>
            <a:r>
              <a:rPr lang="en-US"/>
              <a:t> – idem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materialen</a:t>
            </a:r>
            <a:r>
              <a:rPr lang="en-US"/>
              <a:t> </a:t>
            </a:r>
            <a:r>
              <a:rPr lang="en-US" err="1"/>
              <a:t>beschikbaar</a:t>
            </a:r>
            <a:r>
              <a:rPr lang="en-US"/>
              <a:t> </a:t>
            </a:r>
            <a:r>
              <a:rPr lang="en-US" err="1"/>
              <a:t>stellen</a:t>
            </a:r>
            <a:r>
              <a:rPr lang="en-US"/>
              <a:t> </a:t>
            </a:r>
            <a:r>
              <a:rPr lang="en-US" err="1"/>
              <a:t>en</a:t>
            </a:r>
            <a:r>
              <a:rPr lang="en-US"/>
              <a:t> ppt in de </a:t>
            </a:r>
            <a:r>
              <a:rPr lang="en-US" err="1"/>
              <a:t>niet-filmpje</a:t>
            </a:r>
            <a:r>
              <a:rPr lang="en-US"/>
              <a:t> versie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414850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/>
              <a:t>The EC was </a:t>
            </a:r>
            <a:r>
              <a:rPr lang="nl-NL" err="1"/>
              <a:t>developed</a:t>
            </a:r>
            <a:r>
              <a:rPr lang="nl-NL"/>
              <a:t> </a:t>
            </a:r>
            <a:r>
              <a:rPr lang="nl-NL" err="1"/>
              <a:t>by</a:t>
            </a:r>
            <a:r>
              <a:rPr lang="nl-NL"/>
              <a:t> </a:t>
            </a:r>
            <a:r>
              <a:rPr lang="nl-NL" err="1"/>
              <a:t>psychologist</a:t>
            </a:r>
            <a:r>
              <a:rPr lang="nl-NL"/>
              <a:t>/</a:t>
            </a:r>
            <a:r>
              <a:rPr lang="nl-NL" err="1"/>
              <a:t>chess</a:t>
            </a:r>
            <a:r>
              <a:rPr lang="nl-NL"/>
              <a:t> </a:t>
            </a:r>
            <a:r>
              <a:rPr lang="nl-NL" err="1"/>
              <a:t>player</a:t>
            </a:r>
            <a:r>
              <a:rPr lang="nl-NL"/>
              <a:t> 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Adriaan de Groot,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mid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20st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century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.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Schematic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overview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of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empirical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,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quantitative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research. But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not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how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science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works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 </a:t>
            </a:r>
            <a:r>
              <a:rPr lang="nl-NL" b="0" i="0" err="1">
                <a:solidFill>
                  <a:srgbClr val="101418"/>
                </a:solidFill>
                <a:effectLst/>
                <a:latin typeface="Linux Libertine"/>
              </a:rPr>
              <a:t>nowadays</a:t>
            </a:r>
            <a:r>
              <a:rPr lang="nl-NL" b="0" i="0">
                <a:solidFill>
                  <a:srgbClr val="101418"/>
                </a:solidFill>
                <a:effectLst/>
                <a:latin typeface="Linux Libertine"/>
              </a:rPr>
              <a:t>.</a:t>
            </a:r>
          </a:p>
          <a:p>
            <a:endParaRPr lang="nl-NL"/>
          </a:p>
          <a:p>
            <a:pPr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3" tooltip="Observation"/>
              </a:rPr>
              <a:t>Observation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The observation of a phenomenon and inquiry concerning its causes.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4" tooltip="Inductive reasoning"/>
              </a:rPr>
              <a:t>Induction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The formulation of hypotheses - generalized explanations for the phenomenon.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5" tooltip="Deductive reasoning"/>
              </a:rPr>
              <a:t>Deduction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The formulation of experiments that will test the hypotheses (i.e. confirm them if true, refute them if false).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6" tooltip="Experiment"/>
              </a:rPr>
              <a:t>Testing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The procedures by which the hypotheses are tested and data are collected.</a:t>
            </a:r>
          </a:p>
          <a:p>
            <a:pPr algn="l">
              <a:buFont typeface="+mj-lt"/>
              <a:buAutoNum type="arabicPeriod"/>
            </a:pP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7" tooltip="Evaluation"/>
              </a:rPr>
              <a:t>Evaluation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: The interpretation of the data and the formulation of a theory - an </a:t>
            </a:r>
            <a:r>
              <a:rPr lang="en-US" b="0" i="0" u="none" strike="noStrike">
                <a:solidFill>
                  <a:srgbClr val="3366CC"/>
                </a:solidFill>
                <a:effectLst/>
                <a:latin typeface="Arial" panose="020B0604020202020204" pitchFamily="34" charset="0"/>
                <a:hlinkClick r:id="rId8" tooltip="Abductive reasoning"/>
              </a:rPr>
              <a:t>abductive</a:t>
            </a:r>
            <a:r>
              <a:rPr lang="en-US" b="0" i="0">
                <a:solidFill>
                  <a:srgbClr val="202122"/>
                </a:solidFill>
                <a:effectLst/>
                <a:latin typeface="Arial" panose="020B0604020202020204" pitchFamily="34" charset="0"/>
              </a:rPr>
              <a:t> argument that presents the results of the experiment as the most reasonable explanation for the phenomenon.</a:t>
            </a:r>
          </a:p>
          <a:p>
            <a:endParaRPr lang="nl-NL"/>
          </a:p>
          <a:p>
            <a:r>
              <a:rPr lang="nl-NL"/>
              <a:t>Source: </a:t>
            </a:r>
            <a:r>
              <a:rPr lang="nl-NL" err="1">
                <a:hlinkClick r:id="rId9"/>
              </a:rPr>
              <a:t>Empirical</a:t>
            </a:r>
            <a:r>
              <a:rPr lang="nl-NL">
                <a:hlinkClick r:id="rId9"/>
              </a:rPr>
              <a:t> research - Wikipedia</a:t>
            </a:r>
            <a:endParaRPr lang="nl-NL"/>
          </a:p>
          <a:p>
            <a:r>
              <a:rPr lang="nl-NL"/>
              <a:t>Image </a:t>
            </a:r>
            <a:r>
              <a:rPr lang="nl-NL" err="1"/>
              <a:t>based</a:t>
            </a:r>
            <a:r>
              <a:rPr lang="nl-NL"/>
              <a:t> on Empirical_Cycle.png: </a:t>
            </a:r>
            <a:r>
              <a:rPr lang="nl-NL" err="1"/>
              <a:t>TesseUndDaanderivative</a:t>
            </a:r>
            <a:r>
              <a:rPr lang="nl-NL"/>
              <a:t> </a:t>
            </a:r>
            <a:r>
              <a:rPr lang="nl-NL" err="1"/>
              <a:t>work</a:t>
            </a:r>
            <a:r>
              <a:rPr lang="nl-NL"/>
              <a:t>: </a:t>
            </a:r>
            <a:r>
              <a:rPr lang="nl-NL" err="1"/>
              <a:t>Beao</a:t>
            </a:r>
            <a:r>
              <a:rPr lang="nl-NL"/>
              <a:t>, CC BY 3.0 &lt;https://creativecommons.org/licenses/by/3.0&gt;, via Wikimedia </a:t>
            </a:r>
            <a:r>
              <a:rPr lang="nl-NL" err="1"/>
              <a:t>Commons</a:t>
            </a:r>
            <a:endParaRPr lang="nl-NL"/>
          </a:p>
          <a:p>
            <a:endParaRPr lang="nl-N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47487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Most of the remainder of this presentation </a:t>
            </a:r>
          </a:p>
          <a:p>
            <a:pPr algn="ctr"/>
            <a:r>
              <a:rPr lang="en-US" dirty="0"/>
              <a:t>discusses how that can be achieved.</a:t>
            </a:r>
          </a:p>
          <a:p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Findable: </a:t>
            </a:r>
            <a:r>
              <a:rPr lang="en-US" dirty="0"/>
              <a:t>Place your data and analyses in a public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Accessible:</a:t>
            </a:r>
            <a:r>
              <a:rPr lang="en-US" dirty="0"/>
              <a:t> Make certain your data come with a codebook, and your analyses with annotations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Interoperable:</a:t>
            </a:r>
            <a:r>
              <a:rPr lang="en-US" dirty="0"/>
              <a:t> Ensure that data and analyses can be opened on different types of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Reusable: </a:t>
            </a:r>
            <a:r>
              <a:rPr lang="en-US" dirty="0"/>
              <a:t>Include a license, that is, make clear what others are (not) allowed to do with your</a:t>
            </a: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42895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dirty="0"/>
              <a:t>Most of the remainder of this presentation </a:t>
            </a:r>
          </a:p>
          <a:p>
            <a:pPr algn="ctr"/>
            <a:r>
              <a:rPr lang="en-US" dirty="0"/>
              <a:t>discusses how that can be achieved.</a:t>
            </a:r>
          </a:p>
          <a:p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Findable: </a:t>
            </a:r>
            <a:r>
              <a:rPr lang="en-US" dirty="0"/>
              <a:t>Place your data and analyses in a public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Accessible:</a:t>
            </a:r>
            <a:r>
              <a:rPr lang="en-US" dirty="0"/>
              <a:t> Make certain your data come with a codebook, and your analyses with annotations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Interoperable:</a:t>
            </a:r>
            <a:r>
              <a:rPr lang="en-US" dirty="0"/>
              <a:t> Ensure that data and analyses can be opened on different types of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Reusable: </a:t>
            </a:r>
            <a:r>
              <a:rPr lang="en-US" dirty="0"/>
              <a:t>Include a license, that is, make clear what others are (not) allowed to do with your</a:t>
            </a:r>
            <a:endParaRPr lang="nl-NL" dirty="0"/>
          </a:p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677834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274126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7809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94542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425856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671008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581472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99552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Laat</a:t>
            </a:r>
            <a:r>
              <a:rPr lang="en-US"/>
              <a:t> de </a:t>
            </a:r>
            <a:r>
              <a:rPr lang="en-US" err="1"/>
              <a:t>cirkels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verschijnen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11877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Laat</a:t>
            </a:r>
            <a:r>
              <a:rPr lang="en-US"/>
              <a:t> de </a:t>
            </a:r>
            <a:r>
              <a:rPr lang="en-US" err="1"/>
              <a:t>cirkels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verschjijnen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962946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 crash course is </a:t>
            </a:r>
            <a:r>
              <a:rPr lang="en-US" err="1"/>
              <a:t>er</a:t>
            </a:r>
            <a:r>
              <a:rPr lang="en-US"/>
              <a:t> </a:t>
            </a:r>
            <a:r>
              <a:rPr lang="en-US" err="1"/>
              <a:t>nog</a:t>
            </a:r>
            <a:r>
              <a:rPr lang="en-US"/>
              <a:t> </a:t>
            </a:r>
            <a:r>
              <a:rPr lang="en-US" err="1"/>
              <a:t>niet</a:t>
            </a:r>
            <a:r>
              <a:rPr lang="en-US"/>
              <a:t>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78788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550150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Laat</a:t>
            </a:r>
            <a:r>
              <a:rPr lang="en-US"/>
              <a:t> de </a:t>
            </a:r>
            <a:r>
              <a:rPr lang="en-US" err="1"/>
              <a:t>cirkels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verschijnen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105220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/>
              <a:t>Laat</a:t>
            </a:r>
            <a:r>
              <a:rPr lang="en-US"/>
              <a:t> de </a:t>
            </a:r>
            <a:r>
              <a:rPr lang="en-US" err="1"/>
              <a:t>cirkels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voor</a:t>
            </a:r>
            <a:r>
              <a:rPr lang="en-US"/>
              <a:t> </a:t>
            </a:r>
            <a:r>
              <a:rPr lang="en-US" err="1"/>
              <a:t>één</a:t>
            </a:r>
            <a:r>
              <a:rPr lang="en-US"/>
              <a:t> </a:t>
            </a:r>
            <a:r>
              <a:rPr lang="en-US" err="1"/>
              <a:t>verschijnen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80827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Pick up all my stuff from </a:t>
            </a:r>
            <a:r>
              <a:rPr lang="en-US" err="1"/>
              <a:t>osf</a:t>
            </a:r>
            <a:r>
              <a:rPr lang="en-US"/>
              <a:t> to try yourself.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97381A9-0C9E-4D3A-A28B-AC4E168A57BC}" type="slidenum">
              <a:rPr lang="en-GB" smtClean="0"/>
              <a:pPr/>
              <a:t>48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40262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119bf2f355d_0_18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4" name="Google Shape;604;g119bf2f355d_0_188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g119bf2f355d_0_188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51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19bf2f355d_0_19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34" name="Google Shape;634;g119bf2f355d_0_19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g119bf2f355d_0_191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fld id="{00000000-1234-1234-1234-123412341234}" type="slidenum">
              <a:rPr lang="en-GB" sz="13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52</a:t>
            </a:fld>
            <a:endParaRPr sz="13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6" name="Google Shape;866;g119bf2f355d_0_2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79413" y="684213"/>
            <a:ext cx="60991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67" name="Google Shape;867;g119bf2f355d_0_2137:notes"/>
          <p:cNvSpPr txBox="1">
            <a:spLocks noGrp="1"/>
          </p:cNvSpPr>
          <p:nvPr>
            <p:ph type="body" idx="1"/>
          </p:nvPr>
        </p:nvSpPr>
        <p:spPr>
          <a:xfrm>
            <a:off x="685802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00" tIns="47850" rIns="95700" bIns="4785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Simpel, kan nog simpeler, blijft model; werkelijk onderzoek nooit sequentieel</a:t>
            </a:r>
            <a:endParaRPr/>
          </a:p>
        </p:txBody>
      </p:sp>
      <p:sp>
        <p:nvSpPr>
          <p:cNvPr id="868" name="Google Shape;868;g119bf2f355d_0_2137:notes"/>
          <p:cNvSpPr txBox="1">
            <a:spLocks noGrp="1"/>
          </p:cNvSpPr>
          <p:nvPr>
            <p:ph type="sldNum" idx="12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5700" tIns="47850" rIns="95700" bIns="4785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rgbClr val="000000"/>
                </a:solidFill>
              </a:rPr>
              <a:t>53</a:t>
            </a:fld>
            <a:endParaRPr>
              <a:solidFill>
                <a:srgbClr val="000000"/>
              </a:solidFill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2" name="Google Shape;832;g119bf2f355d_0_2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3" name="Google Shape;833;g119bf2f355d_0_2104:notes"/>
          <p:cNvSpPr txBox="1">
            <a:spLocks noGrp="1"/>
          </p:cNvSpPr>
          <p:nvPr>
            <p:ph type="body" idx="1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00" tIns="46750" rIns="93500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Simpel, kan nog simpeler, blijft model; werkelijk onderzoek nooit sequentieel</a:t>
            </a:r>
            <a:endParaRPr sz="1400"/>
          </a:p>
        </p:txBody>
      </p:sp>
      <p:sp>
        <p:nvSpPr>
          <p:cNvPr id="834" name="Google Shape;834;g119bf2f355d_0_2104:notes"/>
          <p:cNvSpPr txBox="1">
            <a:spLocks noGrp="1"/>
          </p:cNvSpPr>
          <p:nvPr>
            <p:ph type="sldNum" idx="12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00" tIns="46750" rIns="93500" bIns="467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54</a:t>
            </a:fld>
            <a:endParaRPr sz="13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g119bf2f355d_0_20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8" name="Google Shape;748;g119bf2f355d_0_202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Simpel, kan nog simpeler, blijft model; werkelijk onderzoek nooit sequentieel</a:t>
            </a:r>
            <a:endParaRPr/>
          </a:p>
        </p:txBody>
      </p:sp>
      <p:sp>
        <p:nvSpPr>
          <p:cNvPr id="749" name="Google Shape;749;g119bf2f355d_0_202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55</a:t>
            </a:fld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1" name="Google Shape;691;g119bf2f355d_0_1968:notes"/>
          <p:cNvSpPr txBox="1">
            <a:spLocks noGrp="1"/>
          </p:cNvSpPr>
          <p:nvPr>
            <p:ph type="body" idx="1"/>
          </p:nvPr>
        </p:nvSpPr>
        <p:spPr>
          <a:xfrm>
            <a:off x="677581" y="4367086"/>
            <a:ext cx="5420700" cy="357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50" tIns="90550" rIns="90550" bIns="9055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g119bf2f355d_0_19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65163" y="1135063"/>
            <a:ext cx="5445125" cy="30622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0" name="Google Shape;740;g119bf2f355d_0_2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741" name="Google Shape;741;g119bf2f355d_0_2015:notes"/>
          <p:cNvSpPr txBox="1">
            <a:spLocks noGrp="1"/>
          </p:cNvSpPr>
          <p:nvPr>
            <p:ph type="body" idx="1"/>
          </p:nvPr>
        </p:nvSpPr>
        <p:spPr>
          <a:xfrm>
            <a:off x="685802" y="4400550"/>
            <a:ext cx="5486400" cy="3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00" tIns="46750" rIns="93500" bIns="4675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There are many aspects of open science……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2" name="Google Shape;742;g119bf2f355d_0_2015:notes"/>
          <p:cNvSpPr txBox="1">
            <a:spLocks noGrp="1"/>
          </p:cNvSpPr>
          <p:nvPr>
            <p:ph type="sldNum" idx="12"/>
          </p:nvPr>
        </p:nvSpPr>
        <p:spPr>
          <a:xfrm>
            <a:off x="3884620" y="8685214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500" tIns="46750" rIns="93500" bIns="4675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57</a:t>
            </a:fld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yellow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888EA3E1-C57B-354F-A509-7847EF0D89CA}" type="datetime1">
              <a:rPr lang="nl-NL" smtClean="0"/>
              <a:t>15-4-2025</a:t>
            </a:fld>
            <a:endParaRPr lang="en-GB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766916-94F7-0248-8885-8F8D13BD2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3" y="0"/>
            <a:ext cx="3198329" cy="1268759"/>
          </a:xfrm>
          <a:prstGeom prst="rect">
            <a:avLst/>
          </a:prstGeom>
          <a:ln>
            <a:noFill/>
          </a:ln>
        </p:spPr>
      </p:pic>
      <p:sp>
        <p:nvSpPr>
          <p:cNvPr id="31" name="Tijdelijke aanduiding voor tekst 30">
            <a:extLst>
              <a:ext uri="{FF2B5EF4-FFF2-40B4-BE49-F238E27FC236}">
                <a16:creationId xmlns:a16="http://schemas.microsoft.com/office/drawing/2014/main" id="{E6D5F428-993B-6A4C-A7CE-238F44C7C5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Name sub-</a:t>
            </a:r>
            <a:r>
              <a:rPr lang="nl-NL" err="1"/>
              <a:t>sender</a:t>
            </a:r>
            <a:endParaRPr lang="nl-NL"/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5177" y="5800328"/>
            <a:ext cx="5044821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5177" y="6017497"/>
            <a:ext cx="5044821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  <p:sp>
        <p:nvSpPr>
          <p:cNvPr id="41" name="Titel 1">
            <a:extLst>
              <a:ext uri="{FF2B5EF4-FFF2-40B4-BE49-F238E27FC236}">
                <a16:creationId xmlns:a16="http://schemas.microsoft.com/office/drawing/2014/main" id="{75804E32-4442-4548-B1CA-E4A4F92AB28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Place your attention-grabbing</a:t>
            </a:r>
            <a:br>
              <a:rPr lang="en-GB"/>
            </a:br>
            <a:r>
              <a:rPr lang="en-GB"/>
              <a:t>headline here</a:t>
            </a:r>
          </a:p>
        </p:txBody>
      </p:sp>
    </p:spTree>
    <p:extLst>
      <p:ext uri="{BB962C8B-B14F-4D97-AF65-F5344CB8AC3E}">
        <p14:creationId xmlns:p14="http://schemas.microsoft.com/office/powerpoint/2010/main" val="22342537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8" orient="horz" pos="754" userDrawn="1">
          <p15:clr>
            <a:srgbClr val="FBAE40"/>
          </p15:clr>
        </p15:guide>
        <p15:guide id="19" orient="horz" pos="2115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85375" y="512910"/>
            <a:ext cx="1853435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7921EB27-6C1B-D840-956D-529C87AC8247}" type="datetime1">
              <a:rPr lang="nl-NL" smtClean="0"/>
              <a:t>15-4-2025</a:t>
            </a:fld>
            <a:endParaRPr lang="en-GB"/>
          </a:p>
        </p:txBody>
      </p:sp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766916-94F7-0248-8885-8F8D13BD2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" y="0"/>
            <a:ext cx="3198332" cy="1268760"/>
          </a:xfrm>
          <a:prstGeom prst="rect">
            <a:avLst/>
          </a:prstGeom>
          <a:ln>
            <a:noFill/>
          </a:ln>
        </p:spPr>
      </p:pic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8214" y="5800328"/>
            <a:ext cx="5038747" cy="19972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8225" y="6017497"/>
            <a:ext cx="5038725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8D0FC209-A5EA-0147-8CC1-DEEC093C724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96750"/>
            <a:ext cx="11374639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Place your attention-grabbing</a:t>
            </a:r>
            <a:br>
              <a:rPr lang="en-GB"/>
            </a:br>
            <a:r>
              <a:rPr lang="en-GB"/>
              <a:t>headline here</a:t>
            </a:r>
          </a:p>
        </p:txBody>
      </p:sp>
      <p:sp>
        <p:nvSpPr>
          <p:cNvPr id="16" name="Tijdelijke aanduiding voor tekst 30">
            <a:extLst>
              <a:ext uri="{FF2B5EF4-FFF2-40B4-BE49-F238E27FC236}">
                <a16:creationId xmlns:a16="http://schemas.microsoft.com/office/drawing/2014/main" id="{18DC5878-969C-0849-B41E-F7CAD75B0E1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75859" y="501834"/>
            <a:ext cx="7008532" cy="227101"/>
          </a:xfrm>
          <a:prstGeom prst="rect">
            <a:avLst/>
          </a:prstGeom>
        </p:spPr>
        <p:txBody>
          <a:bodyPr/>
          <a:lstStyle>
            <a:lvl1pPr algn="ctr"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Name sub-</a:t>
            </a:r>
            <a:r>
              <a:rPr lang="nl-NL" err="1"/>
              <a:t>sender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92946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ver white +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jdelijke aanduiding voor datum 3">
            <a:extLst>
              <a:ext uri="{FF2B5EF4-FFF2-40B4-BE49-F238E27FC236}">
                <a16:creationId xmlns:a16="http://schemas.microsoft.com/office/drawing/2014/main" id="{9F183073-10E5-1148-8165-AEA6349E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71903" y="512910"/>
            <a:ext cx="1866907" cy="216025"/>
          </a:xfrm>
          <a:prstGeom prst="rect">
            <a:avLst/>
          </a:prstGeom>
        </p:spPr>
        <p:txBody>
          <a:bodyPr/>
          <a:lstStyle>
            <a:lvl1pPr algn="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fld id="{8D3462A6-C9E6-4047-B6F4-021B57F6E9D9}" type="datetime1">
              <a:rPr lang="nl-NL" smtClean="0"/>
              <a:t>15-4-2025</a:t>
            </a:fld>
            <a:endParaRPr lang="en-GB"/>
          </a:p>
        </p:txBody>
      </p:sp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3733" y="1196750"/>
            <a:ext cx="5584468" cy="4603578"/>
          </a:xfrm>
          <a:prstGeom prst="rect">
            <a:avLst/>
          </a:prstGeom>
        </p:spPr>
        <p:txBody>
          <a:bodyPr anchor="ctr" anchorCtr="0"/>
          <a:lstStyle>
            <a:lvl1pPr algn="ctr">
              <a:defRPr sz="4100" b="0" i="1"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Place your attention-grabbing headline here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732" y="6084055"/>
            <a:ext cx="5584468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6550" y="6309175"/>
            <a:ext cx="5581650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  <p:pic>
        <p:nvPicPr>
          <p:cNvPr id="10" name="Afbeelding 9">
            <a:extLst>
              <a:ext uri="{FF2B5EF4-FFF2-40B4-BE49-F238E27FC236}">
                <a16:creationId xmlns:a16="http://schemas.microsoft.com/office/drawing/2014/main" id="{A2CC677B-B7D7-DB49-BF89-96F1FEEBA2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2" y="0"/>
            <a:ext cx="3198332" cy="1268760"/>
          </a:xfrm>
          <a:prstGeom prst="rect">
            <a:avLst/>
          </a:prstGeom>
          <a:ln>
            <a:noFill/>
          </a:ln>
        </p:spPr>
      </p:pic>
      <p:sp>
        <p:nvSpPr>
          <p:cNvPr id="4" name="Tijdelijke aanduiding voor afbeelding 3">
            <a:extLst>
              <a:ext uri="{FF2B5EF4-FFF2-40B4-BE49-F238E27FC236}">
                <a16:creationId xmlns:a16="http://schemas.microsoft.com/office/drawing/2014/main" id="{0899AEA0-D03E-3444-8E81-C754D975C6B2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276975" y="1196751"/>
            <a:ext cx="5562600" cy="5292950"/>
          </a:xfrm>
          <a:prstGeom prst="rect">
            <a:avLst/>
          </a:prstGeom>
          <a:solidFill>
            <a:schemeClr val="bg1"/>
          </a:solidFill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13" name="Tijdelijke aanduiding voor tekst 30">
            <a:extLst>
              <a:ext uri="{FF2B5EF4-FFF2-40B4-BE49-F238E27FC236}">
                <a16:creationId xmlns:a16="http://schemas.microsoft.com/office/drawing/2014/main" id="{7D271618-79F1-014C-8317-A706919B0EA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2581835" y="501834"/>
            <a:ext cx="6996580" cy="227101"/>
          </a:xfrm>
          <a:prstGeom prst="rect">
            <a:avLst/>
          </a:prstGeom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1200" b="0" i="0" u="none" cap="all" spc="50" baseline="0">
                <a:solidFill>
                  <a:schemeClr val="tx2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Name sub-</a:t>
            </a:r>
            <a:r>
              <a:rPr lang="nl-NL" err="1"/>
              <a:t>sender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1322253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8" orient="horz" pos="754" userDrawn="1">
          <p15:clr>
            <a:srgbClr val="FBAE40"/>
          </p15:clr>
        </p15:guide>
        <p15:guide id="19" orient="horz" pos="2115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>
            <a:extLst>
              <a:ext uri="{FF2B5EF4-FFF2-40B4-BE49-F238E27FC236}">
                <a16:creationId xmlns:a16="http://schemas.microsoft.com/office/drawing/2014/main" id="{C1824C1D-4906-3A4A-B5A7-7CF6C4EB7B5A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317750" y="1196975"/>
            <a:ext cx="7559675" cy="1253617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5E1B5542-E518-FB47-95E8-2B71A026A2A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317750" y="2450593"/>
            <a:ext cx="7559675" cy="3443316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200" b="0" i="0" kern="1200" baseline="0" dirty="0" err="1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err="1"/>
              <a:t>Molorepudit</a:t>
            </a:r>
            <a:r>
              <a:rPr lang="nl-NL"/>
              <a:t> </a:t>
            </a:r>
            <a:r>
              <a:rPr lang="nl-NL" err="1"/>
              <a:t>ressimus</a:t>
            </a:r>
            <a:r>
              <a:rPr lang="nl-NL"/>
              <a:t> </a:t>
            </a:r>
            <a:r>
              <a:rPr lang="nl-NL" err="1"/>
              <a:t>exeri</a:t>
            </a:r>
            <a:r>
              <a:rPr lang="nl-NL"/>
              <a:t> </a:t>
            </a:r>
            <a:r>
              <a:rPr lang="nl-NL" err="1"/>
              <a:t>nus</a:t>
            </a:r>
            <a:r>
              <a:rPr lang="nl-NL"/>
              <a:t> et </a:t>
            </a:r>
            <a:r>
              <a:rPr lang="nl-NL" err="1"/>
              <a:t>ipienda</a:t>
            </a:r>
            <a:r>
              <a:rPr lang="nl-NL"/>
              <a:t> et </a:t>
            </a:r>
            <a:r>
              <a:rPr lang="nl-NL" err="1"/>
              <a:t>adiantot</a:t>
            </a:r>
            <a:r>
              <a:rPr lang="nl-NL"/>
              <a:t> </a:t>
            </a:r>
            <a:r>
              <a:rPr lang="nl-NL" err="1"/>
              <a:t>Ique</a:t>
            </a:r>
            <a:r>
              <a:rPr lang="nl-NL"/>
              <a:t> </a:t>
            </a:r>
            <a:r>
              <a:rPr lang="nl-NL" err="1"/>
              <a:t>niminti</a:t>
            </a:r>
            <a:r>
              <a:rPr lang="nl-NL"/>
              <a:t> </a:t>
            </a:r>
            <a:r>
              <a:rPr lang="nl-NL" err="1"/>
              <a:t>nonsendaecae</a:t>
            </a:r>
            <a:r>
              <a:rPr lang="nl-NL"/>
              <a:t> </a:t>
            </a:r>
            <a:r>
              <a:rPr lang="nl-NL" err="1"/>
              <a:t>volor</a:t>
            </a:r>
            <a:r>
              <a:rPr lang="nl-NL"/>
              <a:t> a ad et ut </a:t>
            </a:r>
            <a:r>
              <a:rPr lang="nl-NL" err="1"/>
              <a:t>eum</a:t>
            </a:r>
            <a:r>
              <a:rPr lang="nl-NL"/>
              <a:t> se pos mos </a:t>
            </a:r>
            <a:r>
              <a:rPr lang="nl-NL" err="1"/>
              <a:t>sed</a:t>
            </a:r>
            <a:r>
              <a:rPr lang="nl-NL"/>
              <a:t> </a:t>
            </a:r>
            <a:r>
              <a:rPr lang="nl-NL" err="1"/>
              <a:t>ulpa</a:t>
            </a:r>
            <a:r>
              <a:rPr lang="nl-NL"/>
              <a:t> </a:t>
            </a:r>
            <a:r>
              <a:rPr lang="nl-NL" err="1"/>
              <a:t>vitas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</a:t>
            </a:r>
            <a:r>
              <a:rPr lang="nl-NL" err="1"/>
              <a:t>quia</a:t>
            </a:r>
            <a:r>
              <a:rPr lang="nl-NL"/>
              <a:t> </a:t>
            </a:r>
            <a:r>
              <a:rPr lang="nl-NL" err="1"/>
              <a:t>doluptio</a:t>
            </a:r>
            <a:r>
              <a:rPr lang="nl-NL"/>
              <a:t> </a:t>
            </a:r>
            <a:r>
              <a:rPr lang="nl-NL" err="1"/>
              <a:t>iduciis</a:t>
            </a:r>
            <a:r>
              <a:rPr lang="nl-NL"/>
              <a:t> </a:t>
            </a:r>
            <a:r>
              <a:rPr lang="nl-NL" err="1"/>
              <a:t>sedis</a:t>
            </a:r>
            <a:r>
              <a:rPr lang="nl-NL"/>
              <a:t> </a:t>
            </a:r>
            <a:r>
              <a:rPr lang="nl-NL" err="1"/>
              <a:t>sitat</a:t>
            </a:r>
            <a:r>
              <a:rPr lang="nl-NL"/>
              <a:t> es </a:t>
            </a:r>
            <a:r>
              <a:rPr lang="nl-NL" err="1"/>
              <a:t>nihition</a:t>
            </a:r>
            <a:r>
              <a:rPr lang="nl-NL"/>
              <a:t> </a:t>
            </a:r>
            <a:r>
              <a:rPr lang="nl-NL" err="1"/>
              <a:t>nonsecturi</a:t>
            </a:r>
            <a:r>
              <a:rPr lang="nl-NL"/>
              <a:t> </a:t>
            </a:r>
            <a:r>
              <a:rPr lang="nl-NL" err="1"/>
              <a:t>officidis</a:t>
            </a:r>
            <a:r>
              <a:rPr lang="nl-NL"/>
              <a:t> ex et que </a:t>
            </a:r>
            <a:r>
              <a:rPr lang="nl-NL" err="1"/>
              <a:t>esecto</a:t>
            </a:r>
            <a:r>
              <a:rPr lang="nl-NL"/>
              <a:t> </a:t>
            </a:r>
            <a:r>
              <a:rPr lang="nl-NL" err="1"/>
              <a:t>dolorumenis</a:t>
            </a:r>
            <a:r>
              <a:rPr lang="nl-NL"/>
              <a:t> </a:t>
            </a:r>
            <a:r>
              <a:rPr lang="nl-NL" err="1"/>
              <a:t>aritat</a:t>
            </a:r>
            <a:r>
              <a:rPr lang="nl-NL"/>
              <a:t> et des </a:t>
            </a:r>
            <a:r>
              <a:rPr lang="nl-NL" err="1"/>
              <a:t>earcit</a:t>
            </a:r>
            <a:r>
              <a:rPr lang="nl-NL"/>
              <a:t>, </a:t>
            </a:r>
            <a:r>
              <a:rPr lang="nl-NL" err="1"/>
              <a:t>ium</a:t>
            </a:r>
            <a:r>
              <a:rPr lang="nl-NL"/>
              <a:t> ad </a:t>
            </a:r>
            <a:r>
              <a:rPr lang="nl-NL" err="1"/>
              <a:t>quam</a:t>
            </a:r>
            <a:r>
              <a:rPr lang="nl-NL"/>
              <a:t> </a:t>
            </a:r>
            <a:r>
              <a:rPr lang="nl-NL" err="1"/>
              <a:t>faccupt</a:t>
            </a:r>
            <a:r>
              <a:rPr lang="nl-NL"/>
              <a:t> </a:t>
            </a:r>
            <a:r>
              <a:rPr lang="nl-NL" err="1"/>
              <a:t>atiature</a:t>
            </a:r>
            <a:r>
              <a:rPr lang="nl-NL"/>
              <a:t>, </a:t>
            </a:r>
            <a:r>
              <a:rPr lang="nl-NL" err="1"/>
              <a:t>qui</a:t>
            </a:r>
            <a:r>
              <a:rPr lang="nl-NL"/>
              <a:t> </a:t>
            </a:r>
            <a:r>
              <a:rPr lang="nl-NL" err="1"/>
              <a:t>officipis</a:t>
            </a:r>
            <a:r>
              <a:rPr lang="nl-NL"/>
              <a:t> </a:t>
            </a:r>
            <a:r>
              <a:rPr lang="nl-NL" err="1"/>
              <a:t>dolupta</a:t>
            </a:r>
            <a:r>
              <a:rPr lang="nl-NL"/>
              <a:t> </a:t>
            </a:r>
            <a:r>
              <a:rPr lang="nl-NL" err="1"/>
              <a:t>spereium</a:t>
            </a:r>
            <a:r>
              <a:rPr lang="nl-NL"/>
              <a:t> </a:t>
            </a:r>
            <a:r>
              <a:rPr lang="nl-NL" err="1"/>
              <a:t>quias</a:t>
            </a:r>
            <a:r>
              <a:rPr lang="nl-NL"/>
              <a:t> </a:t>
            </a:r>
            <a:r>
              <a:rPr lang="nl-NL" err="1"/>
              <a:t>sum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min </a:t>
            </a:r>
            <a:r>
              <a:rPr lang="nl-NL" err="1"/>
              <a:t>prae</a:t>
            </a:r>
            <a:r>
              <a:rPr lang="nl-NL"/>
              <a:t> nam </a:t>
            </a:r>
            <a:r>
              <a:rPr lang="nl-NL" err="1"/>
              <a:t>aut</a:t>
            </a:r>
            <a:r>
              <a:rPr lang="nl-NL"/>
              <a:t> que </a:t>
            </a:r>
            <a:r>
              <a:rPr lang="nl-NL" err="1"/>
              <a:t>nobitatur</a:t>
            </a:r>
            <a:r>
              <a:rPr lang="nl-NL"/>
              <a:t>, </a:t>
            </a:r>
            <a:r>
              <a:rPr lang="nl-NL" err="1"/>
              <a:t>cus</a:t>
            </a:r>
            <a:r>
              <a:rPr lang="nl-NL"/>
              <a:t> </a:t>
            </a:r>
            <a:r>
              <a:rPr lang="nl-NL" err="1"/>
              <a:t>eario</a:t>
            </a:r>
            <a:r>
              <a:rPr lang="nl-NL"/>
              <a:t> </a:t>
            </a:r>
            <a:r>
              <a:rPr lang="nl-NL" err="1"/>
              <a:t>omnihic</a:t>
            </a:r>
            <a:r>
              <a:rPr lang="nl-NL"/>
              <a:t> </a:t>
            </a:r>
            <a:r>
              <a:rPr lang="nl-NL" err="1"/>
              <a:t>aeruptur</a:t>
            </a:r>
            <a:r>
              <a:rPr lang="nl-NL"/>
              <a:t>, </a:t>
            </a:r>
            <a:r>
              <a:rPr lang="nl-NL" err="1"/>
              <a:t>sunt</a:t>
            </a:r>
            <a:r>
              <a:rPr lang="nl-NL"/>
              <a:t> </a:t>
            </a:r>
            <a:r>
              <a:rPr lang="nl-NL" err="1"/>
              <a:t>eruptat</a:t>
            </a:r>
            <a:r>
              <a:rPr lang="nl-NL"/>
              <a:t> </a:t>
            </a:r>
            <a:r>
              <a:rPr lang="nl-NL" err="1"/>
              <a:t>volorep</a:t>
            </a:r>
            <a:r>
              <a:rPr lang="nl-NL"/>
              <a:t>. &lt;Max. 70 </a:t>
            </a:r>
            <a:r>
              <a:rPr lang="nl-NL" err="1"/>
              <a:t>words</a:t>
            </a:r>
            <a:r>
              <a:rPr lang="nl-NL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32029866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left,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4297363" y="368301"/>
            <a:ext cx="7561262" cy="61591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9" name="Titel 1">
            <a:extLst>
              <a:ext uri="{FF2B5EF4-FFF2-40B4-BE49-F238E27FC236}">
                <a16:creationId xmlns:a16="http://schemas.microsoft.com/office/drawing/2014/main" id="{A07AE5D3-2C03-CD49-8B96-489B7649C6D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138" y="371475"/>
            <a:ext cx="3635375" cy="108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10" name="Tijdelijke aanduiding voor tekst 2">
            <a:extLst>
              <a:ext uri="{FF2B5EF4-FFF2-40B4-BE49-F238E27FC236}">
                <a16:creationId xmlns:a16="http://schemas.microsoft.com/office/drawing/2014/main" id="{34EE854C-23EF-BD45-A084-2AE0D43591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37513" y="1664208"/>
            <a:ext cx="3636000" cy="4863201"/>
          </a:xfrm>
          <a:prstGeom prst="rect">
            <a:avLst/>
          </a:prstGeom>
        </p:spPr>
        <p:txBody>
          <a:bodyPr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2200" b="0" i="0" kern="1200" baseline="0" dirty="0">
                <a:solidFill>
                  <a:schemeClr val="tx1"/>
                </a:solidFill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err="1"/>
              <a:t>Molorepudit</a:t>
            </a:r>
            <a:r>
              <a:rPr lang="nl-NL"/>
              <a:t> </a:t>
            </a:r>
            <a:r>
              <a:rPr lang="nl-NL" err="1"/>
              <a:t>ressimus</a:t>
            </a:r>
            <a:r>
              <a:rPr lang="nl-NL"/>
              <a:t> </a:t>
            </a:r>
            <a:r>
              <a:rPr lang="nl-NL" err="1"/>
              <a:t>exeri</a:t>
            </a:r>
            <a:r>
              <a:rPr lang="nl-NL"/>
              <a:t> </a:t>
            </a:r>
            <a:r>
              <a:rPr lang="nl-NL" err="1"/>
              <a:t>nus</a:t>
            </a:r>
            <a:r>
              <a:rPr lang="nl-NL"/>
              <a:t> et </a:t>
            </a:r>
            <a:r>
              <a:rPr lang="nl-NL" err="1"/>
              <a:t>ipienda</a:t>
            </a:r>
            <a:r>
              <a:rPr lang="nl-NL"/>
              <a:t> et </a:t>
            </a:r>
            <a:r>
              <a:rPr lang="nl-NL" err="1"/>
              <a:t>adiantot</a:t>
            </a:r>
            <a:r>
              <a:rPr lang="nl-NL"/>
              <a:t> </a:t>
            </a:r>
            <a:r>
              <a:rPr lang="nl-NL" err="1"/>
              <a:t>Ique</a:t>
            </a:r>
            <a:r>
              <a:rPr lang="nl-NL"/>
              <a:t> </a:t>
            </a:r>
            <a:r>
              <a:rPr lang="nl-NL" err="1"/>
              <a:t>niminti</a:t>
            </a:r>
            <a:r>
              <a:rPr lang="nl-NL"/>
              <a:t> </a:t>
            </a:r>
            <a:r>
              <a:rPr lang="nl-NL" err="1"/>
              <a:t>nonsendaecae</a:t>
            </a:r>
            <a:r>
              <a:rPr lang="nl-NL"/>
              <a:t> </a:t>
            </a:r>
            <a:r>
              <a:rPr lang="nl-NL" err="1"/>
              <a:t>volor</a:t>
            </a:r>
            <a:r>
              <a:rPr lang="nl-NL"/>
              <a:t> a ad et ut </a:t>
            </a:r>
            <a:r>
              <a:rPr lang="nl-NL" err="1"/>
              <a:t>eum</a:t>
            </a:r>
            <a:r>
              <a:rPr lang="nl-NL"/>
              <a:t> se pos mos </a:t>
            </a:r>
            <a:r>
              <a:rPr lang="nl-NL" err="1"/>
              <a:t>sed</a:t>
            </a:r>
            <a:r>
              <a:rPr lang="nl-NL"/>
              <a:t> </a:t>
            </a:r>
            <a:r>
              <a:rPr lang="nl-NL" err="1"/>
              <a:t>ulpa</a:t>
            </a:r>
            <a:r>
              <a:rPr lang="nl-NL"/>
              <a:t> </a:t>
            </a:r>
            <a:r>
              <a:rPr lang="nl-NL" err="1"/>
              <a:t>vitas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</a:t>
            </a:r>
            <a:r>
              <a:rPr lang="nl-NL" err="1"/>
              <a:t>quia</a:t>
            </a:r>
            <a:r>
              <a:rPr lang="nl-NL"/>
              <a:t> </a:t>
            </a:r>
            <a:r>
              <a:rPr lang="nl-NL" err="1"/>
              <a:t>doluptio</a:t>
            </a:r>
            <a:r>
              <a:rPr lang="nl-NL"/>
              <a:t> </a:t>
            </a:r>
            <a:r>
              <a:rPr lang="nl-NL" err="1"/>
              <a:t>iduciis</a:t>
            </a:r>
            <a:r>
              <a:rPr lang="nl-NL"/>
              <a:t> </a:t>
            </a:r>
            <a:r>
              <a:rPr lang="nl-NL" err="1"/>
              <a:t>sedis</a:t>
            </a:r>
            <a:r>
              <a:rPr lang="nl-NL"/>
              <a:t> </a:t>
            </a:r>
            <a:r>
              <a:rPr lang="nl-NL" err="1"/>
              <a:t>sitat</a:t>
            </a:r>
            <a:r>
              <a:rPr lang="nl-NL"/>
              <a:t> es </a:t>
            </a:r>
            <a:r>
              <a:rPr lang="nl-NL" err="1"/>
              <a:t>nihition</a:t>
            </a:r>
            <a:r>
              <a:rPr lang="nl-NL"/>
              <a:t> </a:t>
            </a:r>
            <a:r>
              <a:rPr lang="nl-NL" err="1"/>
              <a:t>nonsecturi</a:t>
            </a:r>
            <a:r>
              <a:rPr lang="nl-NL"/>
              <a:t> </a:t>
            </a:r>
            <a:r>
              <a:rPr lang="nl-NL" err="1"/>
              <a:t>officidis</a:t>
            </a:r>
            <a:r>
              <a:rPr lang="nl-NL"/>
              <a:t> ex et que </a:t>
            </a:r>
            <a:r>
              <a:rPr lang="nl-NL" err="1"/>
              <a:t>esecto</a:t>
            </a:r>
            <a:r>
              <a:rPr lang="nl-NL"/>
              <a:t> </a:t>
            </a:r>
            <a:r>
              <a:rPr lang="nl-NL" err="1"/>
              <a:t>dolorumenis</a:t>
            </a:r>
            <a:r>
              <a:rPr lang="nl-NL"/>
              <a:t> </a:t>
            </a:r>
            <a:r>
              <a:rPr lang="nl-NL" err="1"/>
              <a:t>aritat</a:t>
            </a:r>
            <a:r>
              <a:rPr lang="nl-NL"/>
              <a:t> et. </a:t>
            </a:r>
            <a:br>
              <a:rPr lang="nl-NL"/>
            </a:br>
            <a:r>
              <a:rPr lang="nl-NL"/>
              <a:t>&lt;Max. 40 </a:t>
            </a:r>
            <a:r>
              <a:rPr lang="nl-NL" err="1"/>
              <a:t>words</a:t>
            </a:r>
            <a:r>
              <a:rPr lang="nl-NL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196399106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left, text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0" y="371475"/>
            <a:ext cx="7561262" cy="614186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8" name="Titel 1">
            <a:extLst>
              <a:ext uri="{FF2B5EF4-FFF2-40B4-BE49-F238E27FC236}">
                <a16:creationId xmlns:a16="http://schemas.microsoft.com/office/drawing/2014/main" id="{219C4ACB-0E7C-2E49-975D-15A9366B7B1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241243" y="371475"/>
            <a:ext cx="3616761" cy="108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2300" b="1" i="0" smtClean="0">
                <a:effectLst/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en-GB"/>
              <a:t>Title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82AB650-E7FC-9C49-B3D3-F486696077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8241242" y="1627632"/>
            <a:ext cx="3617383" cy="4885710"/>
          </a:xfrm>
          <a:prstGeom prst="rect">
            <a:avLst/>
          </a:prstGeom>
        </p:spPr>
        <p:txBody>
          <a:bodyPr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ct val="80000"/>
              <a:buFont typeface="Arial" panose="020B0604020202020204" pitchFamily="34" charset="0"/>
              <a:buNone/>
              <a:tabLst/>
              <a:defRPr lang="nl-NL" sz="2200" b="0" i="0" smtClean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Pos mos </a:t>
            </a:r>
            <a:r>
              <a:rPr lang="nl-NL" err="1"/>
              <a:t>sed</a:t>
            </a:r>
            <a:r>
              <a:rPr lang="nl-NL"/>
              <a:t> </a:t>
            </a:r>
            <a:r>
              <a:rPr lang="nl-NL" err="1"/>
              <a:t>ulpa</a:t>
            </a:r>
            <a:r>
              <a:rPr lang="nl-NL"/>
              <a:t> </a:t>
            </a:r>
            <a:r>
              <a:rPr lang="nl-NL" err="1"/>
              <a:t>vitas</a:t>
            </a:r>
            <a:br>
              <a:rPr lang="nl-NL"/>
            </a:br>
            <a:r>
              <a:rPr lang="nl-NL" err="1"/>
              <a:t>Volor</a:t>
            </a:r>
            <a:r>
              <a:rPr lang="nl-NL"/>
              <a:t> a ad et ut </a:t>
            </a:r>
            <a:r>
              <a:rPr lang="nl-NL" err="1"/>
              <a:t>eum</a:t>
            </a:r>
            <a:r>
              <a:rPr lang="nl-NL"/>
              <a:t> se pos mos </a:t>
            </a:r>
            <a:r>
              <a:rPr lang="nl-NL" err="1"/>
              <a:t>sed</a:t>
            </a:r>
            <a:r>
              <a:rPr lang="nl-NL"/>
              <a:t> </a:t>
            </a:r>
            <a:r>
              <a:rPr lang="nl-NL" err="1"/>
              <a:t>ulpa</a:t>
            </a:r>
            <a:r>
              <a:rPr lang="nl-NL"/>
              <a:t> </a:t>
            </a:r>
            <a:r>
              <a:rPr lang="nl-NL" err="1"/>
              <a:t>vitas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</a:t>
            </a:r>
            <a:r>
              <a:rPr lang="nl-NL" err="1"/>
              <a:t>quia</a:t>
            </a:r>
            <a:r>
              <a:rPr lang="nl-NL"/>
              <a:t> </a:t>
            </a:r>
            <a:r>
              <a:rPr lang="nl-NL" err="1"/>
              <a:t>doluptioMolorepudit</a:t>
            </a:r>
            <a:r>
              <a:rPr lang="nl-NL"/>
              <a:t> </a:t>
            </a:r>
            <a:r>
              <a:rPr lang="nl-NL" err="1"/>
              <a:t>ressimus</a:t>
            </a:r>
            <a:r>
              <a:rPr lang="nl-NL"/>
              <a:t> </a:t>
            </a:r>
            <a:r>
              <a:rPr lang="nl-NL" err="1"/>
              <a:t>exeri</a:t>
            </a:r>
            <a:r>
              <a:rPr lang="nl-NL"/>
              <a:t> </a:t>
            </a:r>
            <a:r>
              <a:rPr lang="nl-NL" err="1"/>
              <a:t>nus</a:t>
            </a:r>
            <a:r>
              <a:rPr lang="nl-NL"/>
              <a:t> et </a:t>
            </a:r>
            <a:r>
              <a:rPr lang="nl-NL" err="1"/>
              <a:t>ipiendaMos</a:t>
            </a:r>
            <a:r>
              <a:rPr lang="nl-NL"/>
              <a:t> </a:t>
            </a:r>
            <a:r>
              <a:rPr lang="nl-NL" err="1"/>
              <a:t>sed</a:t>
            </a:r>
            <a:r>
              <a:rPr lang="nl-NL"/>
              <a:t> </a:t>
            </a:r>
            <a:r>
              <a:rPr lang="nl-NL" err="1"/>
              <a:t>ulpa</a:t>
            </a:r>
            <a:r>
              <a:rPr lang="nl-NL"/>
              <a:t> </a:t>
            </a:r>
            <a:r>
              <a:rPr lang="nl-NL" err="1"/>
              <a:t>vitas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</a:t>
            </a:r>
            <a:r>
              <a:rPr lang="nl-NL" err="1"/>
              <a:t>quia</a:t>
            </a:r>
            <a:r>
              <a:rPr lang="nl-NL"/>
              <a:t> </a:t>
            </a:r>
            <a:r>
              <a:rPr lang="nl-NL" err="1"/>
              <a:t>doluptio</a:t>
            </a:r>
            <a:r>
              <a:rPr lang="nl-NL"/>
              <a:t> </a:t>
            </a:r>
            <a:r>
              <a:rPr lang="nl-NL" err="1"/>
              <a:t>iduciis</a:t>
            </a:r>
            <a:r>
              <a:rPr lang="nl-NL"/>
              <a:t> </a:t>
            </a:r>
            <a:r>
              <a:rPr lang="nl-NL" err="1"/>
              <a:t>sedis</a:t>
            </a:r>
            <a:r>
              <a:rPr lang="nl-NL"/>
              <a:t> </a:t>
            </a:r>
            <a:r>
              <a:rPr lang="nl-NL" err="1"/>
              <a:t>sitat</a:t>
            </a:r>
            <a:r>
              <a:rPr lang="nl-NL"/>
              <a:t> es </a:t>
            </a:r>
            <a:r>
              <a:rPr lang="nl-NL" err="1"/>
              <a:t>nihition</a:t>
            </a:r>
            <a:r>
              <a:rPr lang="nl-NL"/>
              <a:t> </a:t>
            </a:r>
            <a:r>
              <a:rPr lang="nl-NL" err="1"/>
              <a:t>nonsecturi</a:t>
            </a:r>
            <a:r>
              <a:rPr lang="nl-NL"/>
              <a:t> </a:t>
            </a:r>
            <a:r>
              <a:rPr lang="nl-NL" err="1"/>
              <a:t>officidis</a:t>
            </a:r>
            <a:r>
              <a:rPr lang="nl-NL"/>
              <a:t> ex et que </a:t>
            </a:r>
            <a:r>
              <a:rPr lang="nl-NL" err="1"/>
              <a:t>esect</a:t>
            </a:r>
            <a:r>
              <a:rPr lang="nl-NL"/>
              <a:t>. &lt;Max. 40 </a:t>
            </a:r>
            <a:r>
              <a:rPr lang="nl-NL" err="1"/>
              <a:t>words</a:t>
            </a:r>
            <a:r>
              <a:rPr lang="nl-NL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42902400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1" y="368300"/>
            <a:ext cx="11522074" cy="6121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</p:spTree>
    <p:extLst>
      <p:ext uri="{BB962C8B-B14F-4D97-AF65-F5344CB8AC3E}">
        <p14:creationId xmlns:p14="http://schemas.microsoft.com/office/powerpoint/2010/main" val="1664076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ull screen image + caption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1" y="368300"/>
            <a:ext cx="11522074" cy="5580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2644E85E-CA6A-F844-A413-BC9479C4FF2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36550" y="5948300"/>
            <a:ext cx="11522075" cy="541399"/>
          </a:xfrm>
          <a:prstGeom prst="rect">
            <a:avLst/>
          </a:prstGeom>
        </p:spPr>
        <p:txBody>
          <a:bodyPr lIns="0" bIns="0" anchor="b" anchorCtr="0"/>
          <a:lstStyle>
            <a:lvl1pPr marL="0" marR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lang="nl-NL" sz="1200" b="0" i="0" smtClean="0">
                <a:effectLst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 err="1"/>
              <a:t>Itasita</a:t>
            </a:r>
            <a:r>
              <a:rPr lang="nl-NL"/>
              <a:t> </a:t>
            </a:r>
            <a:r>
              <a:rPr lang="nl-NL" err="1"/>
              <a:t>sima</a:t>
            </a:r>
            <a:r>
              <a:rPr lang="nl-NL"/>
              <a:t> </a:t>
            </a:r>
            <a:r>
              <a:rPr lang="nl-NL" err="1"/>
              <a:t>dolor</a:t>
            </a:r>
            <a:r>
              <a:rPr lang="nl-NL"/>
              <a:t> min </a:t>
            </a:r>
            <a:r>
              <a:rPr lang="nl-NL" err="1"/>
              <a:t>evellor</a:t>
            </a:r>
            <a:r>
              <a:rPr lang="nl-NL"/>
              <a:t> </a:t>
            </a:r>
            <a:r>
              <a:rPr lang="nl-NL" err="1"/>
              <a:t>ratum</a:t>
            </a:r>
            <a:r>
              <a:rPr lang="nl-NL"/>
              <a:t> </a:t>
            </a:r>
            <a:r>
              <a:rPr lang="nl-NL" err="1"/>
              <a:t>laciis</a:t>
            </a:r>
            <a:r>
              <a:rPr lang="nl-NL"/>
              <a:t> et </a:t>
            </a:r>
            <a:r>
              <a:rPr lang="nl-NL" err="1"/>
              <a:t>quam</a:t>
            </a:r>
            <a:r>
              <a:rPr lang="nl-NL"/>
              <a:t> </a:t>
            </a:r>
            <a:r>
              <a:rPr lang="nl-NL" err="1"/>
              <a:t>voluptat</a:t>
            </a:r>
            <a:r>
              <a:rPr lang="nl-NL"/>
              <a:t> ut </a:t>
            </a:r>
            <a:r>
              <a:rPr lang="nl-NL" err="1"/>
              <a:t>lanis</a:t>
            </a:r>
            <a:r>
              <a:rPr lang="nl-NL"/>
              <a:t> </a:t>
            </a:r>
            <a:r>
              <a:rPr lang="nl-NL" err="1"/>
              <a:t>nit</a:t>
            </a:r>
            <a:r>
              <a:rPr lang="nl-NL"/>
              <a:t>, </a:t>
            </a:r>
            <a:r>
              <a:rPr lang="nl-NL" err="1"/>
              <a:t>eium</a:t>
            </a:r>
            <a:r>
              <a:rPr lang="nl-NL"/>
              <a:t> </a:t>
            </a:r>
            <a:r>
              <a:rPr lang="nl-NL" err="1"/>
              <a:t>quidus</a:t>
            </a:r>
            <a:r>
              <a:rPr lang="nl-NL"/>
              <a:t>, </a:t>
            </a:r>
            <a:r>
              <a:rPr lang="nl-NL" err="1"/>
              <a:t>quas</a:t>
            </a:r>
            <a:r>
              <a:rPr lang="nl-NL"/>
              <a:t> </a:t>
            </a:r>
            <a:r>
              <a:rPr lang="nl-NL" err="1"/>
              <a:t>nobis</a:t>
            </a:r>
            <a:r>
              <a:rPr lang="nl-NL"/>
              <a:t> </a:t>
            </a:r>
            <a:r>
              <a:rPr lang="nl-NL" err="1"/>
              <a:t>inusam</a:t>
            </a:r>
            <a:r>
              <a:rPr lang="nl-NL"/>
              <a:t> </a:t>
            </a:r>
            <a:r>
              <a:rPr lang="nl-NL" err="1"/>
              <a:t>cuptate</a:t>
            </a:r>
            <a:r>
              <a:rPr lang="nl-NL"/>
              <a:t> </a:t>
            </a:r>
            <a:r>
              <a:rPr lang="nl-NL" err="1"/>
              <a:t>mper</a:t>
            </a:r>
            <a:r>
              <a:rPr lang="nl-NL"/>
              <a:t> </a:t>
            </a:r>
            <a:r>
              <a:rPr lang="nl-NL" err="1"/>
              <a:t>nobit</a:t>
            </a:r>
            <a:r>
              <a:rPr lang="nl-NL"/>
              <a:t> hit </a:t>
            </a:r>
            <a:r>
              <a:rPr lang="nl-NL" err="1"/>
              <a:t>eliquam</a:t>
            </a:r>
            <a:r>
              <a:rPr lang="nl-NL"/>
              <a:t> </a:t>
            </a:r>
            <a:r>
              <a:rPr lang="nl-NL" err="1"/>
              <a:t>cori</a:t>
            </a:r>
            <a:r>
              <a:rPr lang="nl-NL"/>
              <a:t> </a:t>
            </a:r>
            <a:r>
              <a:rPr lang="nl-NL" err="1"/>
              <a:t>voloreicid</a:t>
            </a:r>
            <a:r>
              <a:rPr lang="nl-NL"/>
              <a:t> </a:t>
            </a:r>
            <a:r>
              <a:rPr lang="nl-NL" err="1"/>
              <a:t>mil</a:t>
            </a:r>
            <a:r>
              <a:rPr lang="nl-NL"/>
              <a:t> </a:t>
            </a:r>
            <a:r>
              <a:rPr lang="nl-NL" err="1"/>
              <a:t>minihilis</a:t>
            </a:r>
            <a:r>
              <a:rPr lang="nl-NL"/>
              <a:t> </a:t>
            </a:r>
            <a:r>
              <a:rPr lang="nl-NL" err="1"/>
              <a:t>aut</a:t>
            </a:r>
            <a:r>
              <a:rPr lang="nl-NL"/>
              <a:t> </a:t>
            </a:r>
            <a:r>
              <a:rPr lang="nl-NL" err="1"/>
              <a:t>milit</a:t>
            </a:r>
            <a:r>
              <a:rPr lang="nl-NL"/>
              <a:t> es </a:t>
            </a:r>
            <a:r>
              <a:rPr lang="nl-NL" err="1"/>
              <a:t>sum</a:t>
            </a:r>
            <a:r>
              <a:rPr lang="nl-NL"/>
              <a:t> </a:t>
            </a:r>
            <a:r>
              <a:rPr lang="nl-NL" err="1"/>
              <a:t>eicatet</a:t>
            </a:r>
            <a:r>
              <a:rPr lang="nl-NL"/>
              <a:t> ad mi, </a:t>
            </a:r>
            <a:r>
              <a:rPr lang="nl-NL" err="1"/>
              <a:t>unt</a:t>
            </a:r>
            <a:r>
              <a:rPr lang="nl-NL"/>
              <a:t> </a:t>
            </a:r>
            <a:r>
              <a:rPr lang="nl-NL" err="1"/>
              <a:t>qui</a:t>
            </a:r>
            <a:r>
              <a:rPr lang="nl-NL"/>
              <a:t> </a:t>
            </a:r>
            <a:r>
              <a:rPr lang="nl-NL" err="1"/>
              <a:t>dionseq</a:t>
            </a:r>
            <a:r>
              <a:rPr lang="nl-NL"/>
              <a:t> </a:t>
            </a:r>
            <a:r>
              <a:rPr lang="nl-NL" err="1"/>
              <a:t>uatusae</a:t>
            </a:r>
            <a:r>
              <a:rPr lang="nl-NL"/>
              <a:t> </a:t>
            </a:r>
            <a:r>
              <a:rPr lang="nl-NL" err="1"/>
              <a:t>verferf</a:t>
            </a:r>
            <a:r>
              <a:rPr lang="nl-NL"/>
              <a:t> </a:t>
            </a:r>
            <a:r>
              <a:rPr lang="nl-NL" err="1"/>
              <a:t>erumquunt</a:t>
            </a:r>
            <a:r>
              <a:rPr lang="nl-NL"/>
              <a:t>. &lt; Max. 40 </a:t>
            </a:r>
            <a:r>
              <a:rPr lang="nl-NL" err="1"/>
              <a:t>words</a:t>
            </a:r>
            <a:r>
              <a:rPr lang="nl-NL"/>
              <a:t>&gt; </a:t>
            </a:r>
          </a:p>
        </p:txBody>
      </p:sp>
    </p:spTree>
    <p:extLst>
      <p:ext uri="{BB962C8B-B14F-4D97-AF65-F5344CB8AC3E}">
        <p14:creationId xmlns:p14="http://schemas.microsoft.com/office/powerpoint/2010/main" val="3828969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93291" y="1180848"/>
            <a:ext cx="11374640" cy="4726372"/>
          </a:xfrm>
          <a:prstGeom prst="rect">
            <a:avLst/>
          </a:prstGeom>
        </p:spPr>
        <p:txBody>
          <a:bodyPr anchor="ctr" anchorCtr="0"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100" b="0" i="1"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Chapter title or Quote slide.</a:t>
            </a:r>
            <a:br>
              <a:rPr lang="en-GB"/>
            </a:br>
            <a:r>
              <a:rPr lang="en-GB"/>
              <a:t>(Leave Name </a:t>
            </a:r>
            <a:r>
              <a:rPr lang="en-GB" err="1"/>
              <a:t>Lastname</a:t>
            </a:r>
            <a:r>
              <a:rPr lang="en-GB"/>
              <a:t> and Job title</a:t>
            </a:r>
            <a:br>
              <a:rPr lang="en-GB"/>
            </a:br>
            <a:r>
              <a:rPr lang="en-GB"/>
              <a:t>empty in case of chapter slide.)</a:t>
            </a:r>
          </a:p>
        </p:txBody>
      </p:sp>
      <p:sp>
        <p:nvSpPr>
          <p:cNvPr id="33" name="Tijdelijke aanduiding voor tekst 32">
            <a:extLst>
              <a:ext uri="{FF2B5EF4-FFF2-40B4-BE49-F238E27FC236}">
                <a16:creationId xmlns:a16="http://schemas.microsoft.com/office/drawing/2014/main" id="{509A3404-C322-574D-996D-93CFC22960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8225" y="5915171"/>
            <a:ext cx="5038725" cy="217169"/>
          </a:xfrm>
          <a:prstGeom prst="rect">
            <a:avLst/>
          </a:prstGeom>
        </p:spPr>
        <p:txBody>
          <a:bodyPr/>
          <a:lstStyle>
            <a:lvl1pPr algn="ctr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35" name="Tijdelijke aanduiding voor tekst 34">
            <a:extLst>
              <a:ext uri="{FF2B5EF4-FFF2-40B4-BE49-F238E27FC236}">
                <a16:creationId xmlns:a16="http://schemas.microsoft.com/office/drawing/2014/main" id="{D6F025CA-08AA-BB4D-A7AA-3CD26CC85FA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8225" y="6140291"/>
            <a:ext cx="5038725" cy="270592"/>
          </a:xfrm>
          <a:prstGeom prst="rect">
            <a:avLst/>
          </a:prstGeom>
        </p:spPr>
        <p:txBody>
          <a:bodyPr/>
          <a:lstStyle>
            <a:lvl1pPr algn="ctr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10959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11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4998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 + image righ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38138" y="371475"/>
            <a:ext cx="5580062" cy="432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4100" b="0" i="1" smtClean="0">
                <a:effectLst/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Chapter title or Quote slide. (Leave Name </a:t>
            </a:r>
            <a:r>
              <a:rPr lang="en-GB" err="1"/>
              <a:t>Lastname</a:t>
            </a:r>
            <a:r>
              <a:rPr lang="en-GB"/>
              <a:t> and Job title empty in case of chapter slide.)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276975" y="368301"/>
            <a:ext cx="5581650" cy="61169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6" name="Tijdelijke aanduiding voor tekst 32">
            <a:extLst>
              <a:ext uri="{FF2B5EF4-FFF2-40B4-BE49-F238E27FC236}">
                <a16:creationId xmlns:a16="http://schemas.microsoft.com/office/drawing/2014/main" id="{8A6E6E10-CABC-FF47-8209-224B9E9C5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8138" y="5997445"/>
            <a:ext cx="5580062" cy="217169"/>
          </a:xfrm>
          <a:prstGeom prst="rect">
            <a:avLst/>
          </a:prstGeom>
        </p:spPr>
        <p:txBody>
          <a:bodyPr/>
          <a:lstStyle>
            <a:lvl1pPr algn="l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7" name="Tijdelijke aanduiding voor tekst 34">
            <a:extLst>
              <a:ext uri="{FF2B5EF4-FFF2-40B4-BE49-F238E27FC236}">
                <a16:creationId xmlns:a16="http://schemas.microsoft.com/office/drawing/2014/main" id="{79749A39-F36C-EA43-9B19-3B58CEBDFC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8138" y="6214614"/>
            <a:ext cx="5580062" cy="270592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79999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/ quote + image lef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el 1">
            <a:extLst>
              <a:ext uri="{FF2B5EF4-FFF2-40B4-BE49-F238E27FC236}">
                <a16:creationId xmlns:a16="http://schemas.microsoft.com/office/drawing/2014/main" id="{2133EB5A-69B9-1740-8101-0C004BB7DA6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278563" y="371475"/>
            <a:ext cx="5580062" cy="4320000"/>
          </a:xfrm>
          <a:prstGeom prst="rect">
            <a:avLst/>
          </a:prstGeom>
        </p:spPr>
        <p:txBody>
          <a:bodyPr anchor="t" anchorCtr="0"/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nl-NL" sz="4100" b="0" i="1" smtClean="0">
                <a:effectLst/>
                <a:latin typeface="Merriweather Light" panose="02060503050406030704" pitchFamily="18" charset="77"/>
              </a:defRPr>
            </a:lvl1pPr>
          </a:lstStyle>
          <a:p>
            <a:r>
              <a:rPr lang="en-GB"/>
              <a:t>Chapter title or Quote slide. (Leave Name </a:t>
            </a:r>
            <a:r>
              <a:rPr lang="en-GB" err="1"/>
              <a:t>Lastname</a:t>
            </a:r>
            <a:r>
              <a:rPr lang="en-GB"/>
              <a:t> and Job title empty in case of chapter slide.)</a:t>
            </a:r>
          </a:p>
        </p:txBody>
      </p:sp>
      <p:sp>
        <p:nvSpPr>
          <p:cNvPr id="5" name="Tijdelijke aanduiding voor afbeelding 4">
            <a:extLst>
              <a:ext uri="{FF2B5EF4-FFF2-40B4-BE49-F238E27FC236}">
                <a16:creationId xmlns:a16="http://schemas.microsoft.com/office/drawing/2014/main" id="{6BA2A577-21F1-7046-AA42-DF49AEC8BCF0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36550" y="368300"/>
            <a:ext cx="5581650" cy="60887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anchor="ctr" anchorCtr="0"/>
          <a:lstStyle>
            <a:lvl1pPr algn="ctr">
              <a:defRPr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Click icon </a:t>
            </a:r>
            <a:r>
              <a:rPr lang="nl-NL" err="1"/>
              <a:t>to</a:t>
            </a:r>
            <a:r>
              <a:rPr lang="nl-NL"/>
              <a:t> </a:t>
            </a:r>
            <a:r>
              <a:rPr lang="nl-NL" err="1"/>
              <a:t>add</a:t>
            </a:r>
            <a:r>
              <a:rPr lang="nl-NL"/>
              <a:t> </a:t>
            </a:r>
            <a:r>
              <a:rPr lang="nl-NL" err="1"/>
              <a:t>an</a:t>
            </a:r>
            <a:r>
              <a:rPr lang="nl-NL"/>
              <a:t> image</a:t>
            </a:r>
          </a:p>
        </p:txBody>
      </p:sp>
      <p:sp>
        <p:nvSpPr>
          <p:cNvPr id="6" name="Tijdelijke aanduiding voor tekst 32">
            <a:extLst>
              <a:ext uri="{FF2B5EF4-FFF2-40B4-BE49-F238E27FC236}">
                <a16:creationId xmlns:a16="http://schemas.microsoft.com/office/drawing/2014/main" id="{8A6E6E10-CABC-FF47-8209-224B9E9C5A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78563" y="5969310"/>
            <a:ext cx="5580062" cy="217169"/>
          </a:xfrm>
          <a:prstGeom prst="rect">
            <a:avLst/>
          </a:prstGeom>
        </p:spPr>
        <p:txBody>
          <a:bodyPr/>
          <a:lstStyle>
            <a:lvl1pPr algn="l">
              <a:defRPr sz="1200" b="1" i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r>
              <a:rPr lang="nl-NL"/>
              <a:t>Name </a:t>
            </a:r>
            <a:r>
              <a:rPr lang="nl-NL" err="1"/>
              <a:t>Lastname</a:t>
            </a:r>
            <a:endParaRPr lang="nl-NL"/>
          </a:p>
        </p:txBody>
      </p:sp>
      <p:sp>
        <p:nvSpPr>
          <p:cNvPr id="7" name="Tijdelijke aanduiding voor tekst 34">
            <a:extLst>
              <a:ext uri="{FF2B5EF4-FFF2-40B4-BE49-F238E27FC236}">
                <a16:creationId xmlns:a16="http://schemas.microsoft.com/office/drawing/2014/main" id="{79749A39-F36C-EA43-9B19-3B58CEBDFCD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78563" y="6186479"/>
            <a:ext cx="5580062" cy="270592"/>
          </a:xfrm>
          <a:prstGeom prst="rect">
            <a:avLst/>
          </a:prstGeom>
        </p:spPr>
        <p:txBody>
          <a:bodyPr/>
          <a:lstStyle>
            <a:lvl1pPr algn="l">
              <a:defRPr sz="1200" b="0" i="0"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defRPr>
            </a:lvl1pPr>
          </a:lstStyle>
          <a:p>
            <a:r>
              <a:rPr lang="nl-NL"/>
              <a:t>Job </a:t>
            </a:r>
            <a:r>
              <a:rPr lang="nl-NL" err="1"/>
              <a:t>title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54809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79">
          <p15:clr>
            <a:srgbClr val="FBAE40"/>
          </p15:clr>
        </p15:guide>
        <p15:guide id="7" pos="6222">
          <p15:clr>
            <a:srgbClr val="FBAE40"/>
          </p15:clr>
        </p15:guide>
        <p15:guide id="8" pos="6426">
          <p15:clr>
            <a:srgbClr val="FBAE40"/>
          </p15:clr>
        </p15:guide>
        <p15:guide id="9" pos="4975">
          <p15:clr>
            <a:srgbClr val="FBAE40"/>
          </p15:clr>
        </p15:guide>
        <p15:guide id="10" pos="3954">
          <p15:clr>
            <a:srgbClr val="FBAE40"/>
          </p15:clr>
        </p15:guide>
        <p15:guide id="11" pos="3728">
          <p15:clr>
            <a:srgbClr val="FBAE40"/>
          </p15:clr>
        </p15:guide>
        <p15:guide id="12" pos="2707">
          <p15:clr>
            <a:srgbClr val="FBAE40"/>
          </p15:clr>
        </p15:guide>
        <p15:guide id="13" pos="2503">
          <p15:clr>
            <a:srgbClr val="FBAE40"/>
          </p15:clr>
        </p15:guide>
        <p15:guide id="14" pos="1460">
          <p15:clr>
            <a:srgbClr val="FBAE40"/>
          </p15:clr>
        </p15:guide>
        <p15:guide id="15" pos="1256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75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claimer">
    <p:bg bwMode="gray"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Afbeelding 10">
            <a:extLst>
              <a:ext uri="{FF2B5EF4-FFF2-40B4-BE49-F238E27FC236}">
                <a16:creationId xmlns:a16="http://schemas.microsoft.com/office/drawing/2014/main" id="{DA766916-94F7-0248-8885-8F8D13BD27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13" y="0"/>
            <a:ext cx="3198329" cy="1268759"/>
          </a:xfrm>
          <a:prstGeom prst="rect">
            <a:avLst/>
          </a:prstGeom>
          <a:ln>
            <a:noFill/>
          </a:ln>
        </p:spPr>
      </p:pic>
      <p:sp>
        <p:nvSpPr>
          <p:cNvPr id="10" name="Tekstvak 9">
            <a:extLst>
              <a:ext uri="{FF2B5EF4-FFF2-40B4-BE49-F238E27FC236}">
                <a16:creationId xmlns:a16="http://schemas.microsoft.com/office/drawing/2014/main" id="{37E8D211-6E90-204B-950B-E915A871758A}"/>
              </a:ext>
            </a:extLst>
          </p:cNvPr>
          <p:cNvSpPr txBox="1"/>
          <p:nvPr userDrawn="1"/>
        </p:nvSpPr>
        <p:spPr>
          <a:xfrm>
            <a:off x="4315333" y="5861671"/>
            <a:ext cx="3529584" cy="19210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nl-NL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© Utrecht University</a:t>
            </a:r>
          </a:p>
        </p:txBody>
      </p:sp>
      <p:sp>
        <p:nvSpPr>
          <p:cNvPr id="12" name="Rechthoek 11">
            <a:extLst>
              <a:ext uri="{FF2B5EF4-FFF2-40B4-BE49-F238E27FC236}">
                <a16:creationId xmlns:a16="http://schemas.microsoft.com/office/drawing/2014/main" id="{BC7B9BD2-976D-E04A-9A75-DBA8D8F0D8AC}"/>
              </a:ext>
            </a:extLst>
          </p:cNvPr>
          <p:cNvSpPr/>
          <p:nvPr userDrawn="1"/>
        </p:nvSpPr>
        <p:spPr>
          <a:xfrm>
            <a:off x="2317751" y="3267706"/>
            <a:ext cx="7524749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The information in this presentation has been compiled with the utmost care, </a:t>
            </a:r>
            <a:b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</a:br>
            <a:r>
              <a:rPr kumimoji="0" lang="en-GB" sz="12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but no rights can be derived from its contents.</a:t>
            </a:r>
            <a:endParaRPr lang="nl-NL" sz="1200" b="0" i="0">
              <a:solidFill>
                <a:schemeClr val="bg1"/>
              </a:solidFill>
              <a:latin typeface="Open Sans Light" panose="020B0306030504020204" pitchFamily="34" charset="0"/>
              <a:ea typeface="Open Sans Light" panose="020B0306030504020204" pitchFamily="34" charset="0"/>
              <a:cs typeface="Open Sans Light" panose="020B0306030504020204" pitchFamily="34" charset="0"/>
            </a:endParaRPr>
          </a:p>
        </p:txBody>
      </p:sp>
      <p:sp>
        <p:nvSpPr>
          <p:cNvPr id="13" name="Rechthoek 12">
            <a:extLst>
              <a:ext uri="{FF2B5EF4-FFF2-40B4-BE49-F238E27FC236}">
                <a16:creationId xmlns:a16="http://schemas.microsoft.com/office/drawing/2014/main" id="{84A2E9C7-F151-1949-9BE7-F58EEB1BFCBA}"/>
              </a:ext>
            </a:extLst>
          </p:cNvPr>
          <p:cNvSpPr/>
          <p:nvPr userDrawn="1"/>
        </p:nvSpPr>
        <p:spPr>
          <a:xfrm>
            <a:off x="10305288" y="521643"/>
            <a:ext cx="155308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r"/>
            <a:r>
              <a:rPr lang="en-GB" sz="1200" b="0" i="0" u="none" kern="1200" cap="all" baseline="0" noProof="0">
                <a:solidFill>
                  <a:schemeClr val="bg1"/>
                </a:solidFill>
                <a:latin typeface="Open Sans Light" panose="020B0306030504020204" pitchFamily="34" charset="0"/>
                <a:ea typeface="Open Sans Light" panose="020B0306030504020204" pitchFamily="34" charset="0"/>
                <a:cs typeface="Open Sans Light" panose="020B0306030504020204" pitchFamily="34" charset="0"/>
              </a:rPr>
              <a:t>DISCLAIMER</a:t>
            </a:r>
          </a:p>
        </p:txBody>
      </p:sp>
    </p:spTree>
    <p:extLst>
      <p:ext uri="{BB962C8B-B14F-4D97-AF65-F5344CB8AC3E}">
        <p14:creationId xmlns:p14="http://schemas.microsoft.com/office/powerpoint/2010/main" val="31505451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9" pos="5134" userDrawn="1">
          <p15:clr>
            <a:srgbClr val="FBAE40"/>
          </p15:clr>
        </p15:guide>
        <p15:guide id="20" pos="5043" userDrawn="1">
          <p15:clr>
            <a:srgbClr val="FBAE40"/>
          </p15:clr>
        </p15:guide>
        <p15:guide id="21" orient="horz" pos="377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eeg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0861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2">
          <p15:clr>
            <a:srgbClr val="FBAE40"/>
          </p15:clr>
        </p15:guide>
        <p15:guide id="2" pos="212">
          <p15:clr>
            <a:srgbClr val="FBAE40"/>
          </p15:clr>
        </p15:guide>
        <p15:guide id="3" pos="7470">
          <p15:clr>
            <a:srgbClr val="FBAE40"/>
          </p15:clr>
        </p15:guide>
        <p15:guide id="4" orient="horz" pos="436">
          <p15:clr>
            <a:srgbClr val="FBAE40"/>
          </p15:clr>
        </p15:guide>
        <p15:guide id="5" orient="horz" pos="4088">
          <p15:clr>
            <a:srgbClr val="FBAE40"/>
          </p15:clr>
        </p15:guide>
        <p15:guide id="6" pos="5134">
          <p15:clr>
            <a:srgbClr val="FBAE40"/>
          </p15:clr>
        </p15:guide>
        <p15:guide id="7" pos="6200">
          <p15:clr>
            <a:srgbClr val="FBAE40"/>
          </p15:clr>
        </p15:guide>
        <p15:guide id="8" pos="6290">
          <p15:clr>
            <a:srgbClr val="FBAE40"/>
          </p15:clr>
        </p15:guide>
        <p15:guide id="9" pos="5043">
          <p15:clr>
            <a:srgbClr val="FBAE40"/>
          </p15:clr>
        </p15:guide>
        <p15:guide id="10" pos="3864">
          <p15:clr>
            <a:srgbClr val="FBAE40"/>
          </p15:clr>
        </p15:guide>
        <p15:guide id="11" pos="3773">
          <p15:clr>
            <a:srgbClr val="FBAE40"/>
          </p15:clr>
        </p15:guide>
        <p15:guide id="12" pos="2662">
          <p15:clr>
            <a:srgbClr val="FBAE40"/>
          </p15:clr>
        </p15:guide>
        <p15:guide id="13" pos="2571">
          <p15:clr>
            <a:srgbClr val="FBAE40"/>
          </p15:clr>
        </p15:guide>
        <p15:guide id="14" pos="1460">
          <p15:clr>
            <a:srgbClr val="FBAE40"/>
          </p15:clr>
        </p15:guide>
        <p15:guide id="15" pos="1346">
          <p15:clr>
            <a:srgbClr val="FBAE40"/>
          </p15:clr>
        </p15:guide>
        <p15:guide id="16" orient="horz" pos="754">
          <p15:clr>
            <a:srgbClr val="FBAE40"/>
          </p15:clr>
        </p15:guide>
        <p15:guide id="17" orient="horz" pos="2115">
          <p15:clr>
            <a:srgbClr val="FBAE40"/>
          </p15:clr>
        </p15:guide>
        <p15:guide id="18" orient="horz" pos="377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Title and Content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1"/>
          <p:cNvSpPr txBox="1">
            <a:spLocks noGrp="1"/>
          </p:cNvSpPr>
          <p:nvPr>
            <p:ph type="title"/>
          </p:nvPr>
        </p:nvSpPr>
        <p:spPr>
          <a:xfrm>
            <a:off x="838419" y="365125"/>
            <a:ext cx="10518338" cy="1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2pPr>
            <a:lvl3pPr lvl="2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3pPr>
            <a:lvl4pPr lvl="3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4pPr>
            <a:lvl5pPr lvl="4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5pPr>
            <a:lvl6pPr lvl="5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6pPr>
            <a:lvl7pPr lvl="6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7pPr>
            <a:lvl8pPr lvl="7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8pPr>
            <a:lvl9pPr lvl="8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/>
            </a:lvl9pPr>
          </a:lstStyle>
          <a:p>
            <a:endParaRPr/>
          </a:p>
        </p:txBody>
      </p:sp>
      <p:sp>
        <p:nvSpPr>
          <p:cNvPr id="161" name="Google Shape;161;p21"/>
          <p:cNvSpPr txBox="1">
            <a:spLocks noGrp="1"/>
          </p:cNvSpPr>
          <p:nvPr>
            <p:ph type="body" idx="1"/>
          </p:nvPr>
        </p:nvSpPr>
        <p:spPr>
          <a:xfrm>
            <a:off x="838419" y="1825625"/>
            <a:ext cx="10518338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>
            <a:lvl1pPr marL="609585" marR="0" lvl="0" indent="-482588" algn="l" rtl="0">
              <a:lnSpc>
                <a:spcPct val="90000"/>
              </a:lnSpc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219170" marR="0" lvl="1" indent="-4571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828754" marR="0" lvl="2" indent="-431789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438339" marR="0" lvl="3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3047924" marR="0" lvl="4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657509" marR="0" lvl="5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4267093" marR="0" lvl="6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876678" marR="0" lvl="7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486263" marR="0" lvl="8" indent="-423323" algn="l" rtl="0">
              <a:lnSpc>
                <a:spcPct val="90000"/>
              </a:lnSpc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dt" idx="10"/>
          </p:nvPr>
        </p:nvSpPr>
        <p:spPr>
          <a:xfrm>
            <a:off x="838418" y="6356351"/>
            <a:ext cx="2743914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ftr" idx="11"/>
          </p:nvPr>
        </p:nvSpPr>
        <p:spPr>
          <a:xfrm>
            <a:off x="4039652" y="6356351"/>
            <a:ext cx="4115872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867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ldNum" idx="12"/>
          </p:nvPr>
        </p:nvSpPr>
        <p:spPr>
          <a:xfrm>
            <a:off x="8612843" y="6356351"/>
            <a:ext cx="2743914" cy="36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6673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5971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2100" b="0" i="0" kern="1200">
          <a:solidFill>
            <a:schemeClr val="tx1"/>
          </a:solidFill>
          <a:latin typeface="Merriweather Regular" panose="02060503050406030704" pitchFamily="18" charset="77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1pPr>
      <a:lvl2pPr marL="0" indent="0" algn="l" defTabSz="914400" rtl="0" eaLnBrk="1" latinLnBrk="0" hangingPunct="1">
        <a:lnSpc>
          <a:spcPct val="110000"/>
        </a:lnSpc>
        <a:spcBef>
          <a:spcPts val="0"/>
        </a:spcBef>
        <a:buFont typeface="Arial" pitchFamily="34" charset="0"/>
        <a:buNone/>
        <a:defRPr sz="1600" b="1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2pPr>
      <a:lvl3pPr marL="270000" indent="-270000" algn="l" defTabSz="914400" rtl="0" eaLnBrk="1" latinLnBrk="0" hangingPunct="1">
        <a:lnSpc>
          <a:spcPct val="110000"/>
        </a:lnSpc>
        <a:spcBef>
          <a:spcPts val="2100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3pPr>
      <a:lvl4pPr marL="270000" indent="-270000" algn="l" defTabSz="914400" rtl="0" eaLnBrk="1" latinLnBrk="0" hangingPunct="1">
        <a:lnSpc>
          <a:spcPct val="110000"/>
        </a:lnSpc>
        <a:spcBef>
          <a:spcPts val="2100"/>
        </a:spcBef>
        <a:buFont typeface="Verdana" pitchFamily="34" charset="0"/>
        <a:buChar char="•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4pPr>
      <a:lvl5pPr marL="810000" indent="-270000" algn="l" defTabSz="914400" rtl="0" eaLnBrk="1" latinLnBrk="0" hangingPunct="1">
        <a:lnSpc>
          <a:spcPct val="110000"/>
        </a:lnSpc>
        <a:spcBef>
          <a:spcPts val="0"/>
        </a:spcBef>
        <a:buFont typeface="Verdana" pitchFamily="34" charset="0"/>
        <a:buChar char="–"/>
        <a:defRPr sz="1600" b="0" i="0" kern="1200" baseline="0">
          <a:solidFill>
            <a:schemeClr val="tx1"/>
          </a:solidFill>
          <a:latin typeface="Open Sans" panose="020B0606030504020204" pitchFamily="34" charset="0"/>
          <a:ea typeface="Open Sans" panose="020B0606030504020204" pitchFamily="34" charset="0"/>
          <a:cs typeface="Open Sans" panose="020B060603050402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uu.nl/en/research/yoda" TargetMode="External"/><Relationship Id="rId13" Type="http://schemas.openxmlformats.org/officeDocument/2006/relationships/hyperlink" Target="https://www.uu.nl/en/research/research-data-management/tools/fair-cheatsheets-to-publish-your-research-data-and-software-fair" TargetMode="External"/><Relationship Id="rId3" Type="http://schemas.openxmlformats.org/officeDocument/2006/relationships/image" Target="../media/image8.svg"/><Relationship Id="rId7" Type="http://schemas.openxmlformats.org/officeDocument/2006/relationships/hyperlink" Target="https://osf.io/" TargetMode="External"/><Relationship Id="rId12" Type="http://schemas.openxmlformats.org/officeDocument/2006/relationships/hyperlink" Target="https://www.uu.nl/en/research/research-data-management/guides/handling-personal-data" TargetMode="External"/><Relationship Id="rId2" Type="http://schemas.openxmlformats.org/officeDocument/2006/relationships/image" Target="../media/image7.png"/><Relationship Id="rId16" Type="http://schemas.openxmlformats.org/officeDocument/2006/relationships/hyperlink" Target="https://utrechtsummerschool.nl/courses/data-science/open-science-bootcamp" TargetMode="Externa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jasp-stats.org/how-to-use-jasp/" TargetMode="External"/><Relationship Id="rId11" Type="http://schemas.openxmlformats.org/officeDocument/2006/relationships/hyperlink" Target="https://www.uu.nl/en/research/research-data-management/guides/how-to-make-your-data-fair" TargetMode="External"/><Relationship Id="rId5" Type="http://schemas.openxmlformats.org/officeDocument/2006/relationships/hyperlink" Target="https://osf.io/z7tbg/" TargetMode="External"/><Relationship Id="rId15" Type="http://schemas.openxmlformats.org/officeDocument/2006/relationships/hyperlink" Target="https://openscience-utrecht.com/" TargetMode="External"/><Relationship Id="rId10" Type="http://schemas.openxmlformats.org/officeDocument/2006/relationships/hyperlink" Target="https://www.openaire.eu/how-do-i-license-my-research-data" TargetMode="External"/><Relationship Id="rId4" Type="http://schemas.openxmlformats.org/officeDocument/2006/relationships/image" Target="../media/image9.png"/><Relationship Id="rId9" Type="http://schemas.openxmlformats.org/officeDocument/2006/relationships/hyperlink" Target="https://creativecommons.org/publicdomain/zero/1.0/deed.en" TargetMode="External"/><Relationship Id="rId14" Type="http://schemas.openxmlformats.org/officeDocument/2006/relationships/hyperlink" Target="https://gdpr-info.eu/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sf.io/z7tbg/" TargetMode="External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osf.io/a78bm/" TargetMode="External"/><Relationship Id="rId4" Type="http://schemas.openxmlformats.org/officeDocument/2006/relationships/image" Target="../media/image8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osf.io/ezcuj/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rathenau.nl/en/science-figures/impact/trust-science/public-trust-science" TargetMode="External"/><Relationship Id="rId5" Type="http://schemas.openxmlformats.org/officeDocument/2006/relationships/hyperlink" Target="https://www.volkskrant.nl/columns-opinie/is-psychologie-wel-een-echte-wetenschap~b9978e6c" TargetMode="External"/><Relationship Id="rId4" Type="http://schemas.openxmlformats.org/officeDocument/2006/relationships/hyperlink" Target="https://elifesciences.org/collections/9b1e83d1/reproducibility-project-cancer-biology" TargetMode="Externa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jasp-stats.org/how-to-use-jasp/" TargetMode="External"/><Relationship Id="rId5" Type="http://schemas.openxmlformats.org/officeDocument/2006/relationships/hyperlink" Target="https://osf.io/z7tbg/" TargetMode="External"/><Relationship Id="rId4" Type="http://schemas.openxmlformats.org/officeDocument/2006/relationships/image" Target="../media/image8.sv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creativecommons.org/publicdomain/zero/1.0/" TargetMode="External"/><Relationship Id="rId1" Type="http://schemas.openxmlformats.org/officeDocument/2006/relationships/slideLayout" Target="../slideLayouts/slideLayout1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3.xml"/><Relationship Id="rId1" Type="http://schemas.openxmlformats.org/officeDocument/2006/relationships/tags" Target="../tags/tag1.xml"/><Relationship Id="rId6" Type="http://schemas.openxmlformats.org/officeDocument/2006/relationships/image" Target="../media/image15.png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jasp-stats.org/download/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8.sv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jasp-stats.org/how-to-use-jasp/" TargetMode="External"/><Relationship Id="rId4" Type="http://schemas.openxmlformats.org/officeDocument/2006/relationships/hyperlink" Target="https://osf.io/z7tbg/" TargetMode="Externa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3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s://gdpr-info.eu/" TargetMode="External"/><Relationship Id="rId2" Type="http://schemas.openxmlformats.org/officeDocument/2006/relationships/hyperlink" Target="https://www.uu.nl/en/research/research-data-management/training-workshops/handling-personal-data-in-research" TargetMode="External"/><Relationship Id="rId1" Type="http://schemas.openxmlformats.org/officeDocument/2006/relationships/slideLayout" Target="../slideLayouts/slideLayout13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openaire.eu/how-do-i-license-my-research-data" TargetMode="External"/><Relationship Id="rId1" Type="http://schemas.openxmlformats.org/officeDocument/2006/relationships/slideLayout" Target="../slideLayouts/slideLayout13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hyperlink" Target="https://im2punt0.wordpress.com/2017/03/27/defining-open-science-definition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4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B10FE16A-3EC4-1A49-BFF7-C234B97B9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1BEBD0-F76D-5747-A0AD-B9B876916FA5}" type="datetime1">
              <a:rPr lang="nl-NL" smtClean="0"/>
              <a:t>15-4-2025</a:t>
            </a:fld>
            <a:endParaRPr lang="en-GB"/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5DC2DE01-7D0F-7B47-8160-8B9C9A0E9B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90764" y="522753"/>
            <a:ext cx="7008532" cy="227101"/>
          </a:xfrm>
        </p:spPr>
        <p:txBody>
          <a:bodyPr/>
          <a:lstStyle/>
          <a:p>
            <a:r>
              <a:rPr lang="en-US"/>
              <a:t>Section methodology and statistics/faculty social and behavioral sciences</a:t>
            </a:r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4DB64B3-E50D-4E48-8A2B-AEF05305381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lIns="91440" tIns="45720" rIns="91440" bIns="45720" anchor="t"/>
          <a:lstStyle/>
          <a:p>
            <a:r>
              <a:rPr lang="en-US" dirty="0">
                <a:latin typeface="Open Sans"/>
                <a:ea typeface="Open Sans"/>
                <a:cs typeface="Open Sans"/>
              </a:rPr>
              <a:t>Hanne </a:t>
            </a:r>
            <a:r>
              <a:rPr lang="en-US" dirty="0" err="1">
                <a:latin typeface="Open Sans"/>
                <a:ea typeface="Open Sans"/>
                <a:cs typeface="Open Sans"/>
              </a:rPr>
              <a:t>Oberman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43EFAD46-0C01-8744-B2A5-529A1B461EC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lIns="91440" tIns="45720" rIns="91440" bIns="45720" anchor="t"/>
          <a:lstStyle/>
          <a:p>
            <a:endParaRPr lang="en-US"/>
          </a:p>
          <a:p>
            <a:endParaRPr lang="nl-NL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3DC10616-FA6C-AB4C-8F84-7696C7142C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291" y="1196750"/>
            <a:ext cx="11374639" cy="4662512"/>
          </a:xfrm>
        </p:spPr>
        <p:txBody>
          <a:bodyPr lIns="91440" tIns="45720" rIns="91440" bIns="45720" anchor="ctr" anchorCtr="0"/>
          <a:lstStyle/>
          <a:p>
            <a:r>
              <a:rPr lang="en-US" sz="6600">
                <a:latin typeface="Merriweather Light"/>
              </a:rPr>
              <a:t>Open Science </a:t>
            </a:r>
            <a:br>
              <a:rPr lang="en-US">
                <a:latin typeface="Merriweather Light"/>
              </a:rPr>
            </a:br>
            <a:r>
              <a:rPr lang="en-US">
                <a:latin typeface="Merriweather Light"/>
              </a:rPr>
              <a:t>The Open Empirical Cycle</a:t>
            </a:r>
            <a:br>
              <a:rPr lang="en-US"/>
            </a:br>
            <a:endParaRPr lang="nl-NL"/>
          </a:p>
        </p:txBody>
      </p:sp>
      <p:sp>
        <p:nvSpPr>
          <p:cNvPr id="7" name="Tijdelijke aanduiding voor tekst 3">
            <a:extLst>
              <a:ext uri="{FF2B5EF4-FFF2-40B4-BE49-F238E27FC236}">
                <a16:creationId xmlns:a16="http://schemas.microsoft.com/office/drawing/2014/main" id="{112FABDD-CFFF-1006-A592-AD6EDCF642D9}"/>
              </a:ext>
            </a:extLst>
          </p:cNvPr>
          <p:cNvSpPr txBox="1">
            <a:spLocks/>
          </p:cNvSpPr>
          <p:nvPr/>
        </p:nvSpPr>
        <p:spPr>
          <a:xfrm>
            <a:off x="1965770" y="6010066"/>
            <a:ext cx="8263633" cy="270592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2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0" indent="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Arial" pitchFamily="34" charset="0"/>
              <a:buNone/>
              <a:defRPr sz="1600" b="1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270000" indent="-270000" algn="l" defTabSz="914400" rtl="0" eaLnBrk="1" latinLnBrk="0" hangingPunct="1">
              <a:lnSpc>
                <a:spcPct val="110000"/>
              </a:lnSpc>
              <a:spcBef>
                <a:spcPts val="2100"/>
              </a:spcBef>
              <a:buFont typeface="Verdana" pitchFamily="34" charset="0"/>
              <a:buChar char="•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810000" indent="-270000" algn="l" defTabSz="914400" rtl="0" eaLnBrk="1" latinLnBrk="0" hangingPunct="1">
              <a:lnSpc>
                <a:spcPct val="110000"/>
              </a:lnSpc>
              <a:spcBef>
                <a:spcPts val="0"/>
              </a:spcBef>
              <a:buFont typeface="Verdana" pitchFamily="34" charset="0"/>
              <a:buChar char="–"/>
              <a:defRPr sz="1600" b="0" i="0" kern="1200" baseline="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0" dirty="0">
                <a:latin typeface="Open Sans"/>
                <a:ea typeface="Open Sans"/>
                <a:cs typeface="Open Sans"/>
              </a:rPr>
              <a:t>Materials by Herbert </a:t>
            </a:r>
            <a:r>
              <a:rPr lang="en-US" b="0" dirty="0" err="1">
                <a:latin typeface="Open Sans"/>
                <a:ea typeface="Open Sans"/>
                <a:cs typeface="Open Sans"/>
              </a:rPr>
              <a:t>Hoijtink</a:t>
            </a:r>
            <a:r>
              <a:rPr lang="en-US" b="0" dirty="0">
                <a:latin typeface="Open Sans"/>
                <a:ea typeface="Open Sans"/>
                <a:cs typeface="Open Sans"/>
              </a:rPr>
              <a:t>, Bianca Kramer &amp; Jeroen Bosman; re-use license: CC BY</a:t>
            </a:r>
            <a:endParaRPr lang="nl-NL" b="0" dirty="0">
              <a:latin typeface="Open Sans"/>
              <a:ea typeface="Open Sans"/>
              <a:cs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68348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EA5F-8F52-49FB-8FAB-CF455EEAB354}"/>
              </a:ext>
            </a:extLst>
          </p:cNvPr>
          <p:cNvSpPr/>
          <p:nvPr/>
        </p:nvSpPr>
        <p:spPr>
          <a:xfrm>
            <a:off x="973061" y="1030665"/>
            <a:ext cx="10249051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nl-NL"/>
              <a:t> 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87760D-02F0-4BFB-9042-E25474A5D677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>
                <a:solidFill>
                  <a:schemeClr val="tx1"/>
                </a:solidFill>
              </a:rPr>
              <a:t>The Empirical Cycle</a:t>
            </a:r>
            <a:endParaRPr lang="nl-NL" sz="3200" kern="1200">
              <a:solidFill>
                <a:schemeClr val="tx1"/>
              </a:solidFill>
            </a:endParaRPr>
          </a:p>
        </p:txBody>
      </p:sp>
      <p:sp>
        <p:nvSpPr>
          <p:cNvPr id="6" name="Google Shape;752;p96">
            <a:extLst>
              <a:ext uri="{FF2B5EF4-FFF2-40B4-BE49-F238E27FC236}">
                <a16:creationId xmlns:a16="http://schemas.microsoft.com/office/drawing/2014/main" id="{40F553E4-9469-46E8-F46A-09EA37323394}"/>
              </a:ext>
            </a:extLst>
          </p:cNvPr>
          <p:cNvSpPr>
            <a:spLocks noChangeAspect="1"/>
          </p:cNvSpPr>
          <p:nvPr/>
        </p:nvSpPr>
        <p:spPr>
          <a:xfrm rot="14618728">
            <a:off x="3579535" y="1528400"/>
            <a:ext cx="4694387" cy="475200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4" y="63169"/>
                </a:moveTo>
                <a:cubicBezTo>
                  <a:pt x="110459" y="90156"/>
                  <a:pt x="88555" y="111443"/>
                  <a:pt x="61579" y="112261"/>
                </a:cubicBezTo>
                <a:cubicBezTo>
                  <a:pt x="34604" y="113079"/>
                  <a:pt x="11454" y="93159"/>
                  <a:pt x="8192" y="66320"/>
                </a:cubicBezTo>
                <a:cubicBezTo>
                  <a:pt x="4930" y="39481"/>
                  <a:pt x="22631" y="14577"/>
                  <a:pt x="49015" y="8886"/>
                </a:cubicBezTo>
                <a:cubicBezTo>
                  <a:pt x="75398" y="3195"/>
                  <a:pt x="101761" y="18594"/>
                  <a:pt x="109813" y="44400"/>
                </a:cubicBezTo>
                <a:lnTo>
                  <a:pt x="117500" y="43501"/>
                </a:lnTo>
                <a:lnTo>
                  <a:pt x="108026" y="54380"/>
                </a:lnTo>
                <a:lnTo>
                  <a:pt x="94365" y="46208"/>
                </a:lnTo>
                <a:lnTo>
                  <a:pt x="102040" y="45310"/>
                </a:lnTo>
                <a:lnTo>
                  <a:pt x="102040" y="45310"/>
                </a:lnTo>
                <a:cubicBezTo>
                  <a:pt x="94520" y="23607"/>
                  <a:pt x="71839" y="11165"/>
                  <a:pt x="49591" y="16539"/>
                </a:cubicBezTo>
                <a:cubicBezTo>
                  <a:pt x="27343" y="21912"/>
                  <a:pt x="12776" y="43350"/>
                  <a:pt x="15905" y="66113"/>
                </a:cubicBezTo>
                <a:cubicBezTo>
                  <a:pt x="19035" y="88876"/>
                  <a:pt x="38841" y="105549"/>
                  <a:pt x="61706" y="104668"/>
                </a:cubicBezTo>
                <a:cubicBezTo>
                  <a:pt x="84572" y="103787"/>
                  <a:pt x="103048" y="85640"/>
                  <a:pt x="104431" y="627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D89CCF-38CE-88BD-AC7C-7AB5877B2B99}"/>
              </a:ext>
            </a:extLst>
          </p:cNvPr>
          <p:cNvSpPr/>
          <p:nvPr/>
        </p:nvSpPr>
        <p:spPr>
          <a:xfrm>
            <a:off x="5012327" y="1763940"/>
            <a:ext cx="1784505" cy="565587"/>
          </a:xfrm>
          <a:prstGeom prst="roundRect">
            <a:avLst/>
          </a:prstGeom>
          <a:solidFill>
            <a:srgbClr val="FF616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lang="en-GB" sz="11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DC25BC-9E07-8669-3E8C-5BF5085EA0DF}"/>
              </a:ext>
            </a:extLst>
          </p:cNvPr>
          <p:cNvSpPr/>
          <p:nvPr/>
        </p:nvSpPr>
        <p:spPr>
          <a:xfrm>
            <a:off x="3066720" y="3093034"/>
            <a:ext cx="1784505" cy="565587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1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E0D9FB-17F7-1E6D-A7F0-5719A4CAFBB6}"/>
              </a:ext>
            </a:extLst>
          </p:cNvPr>
          <p:cNvSpPr/>
          <p:nvPr/>
        </p:nvSpPr>
        <p:spPr>
          <a:xfrm>
            <a:off x="3380222" y="4846989"/>
            <a:ext cx="1784505" cy="565587"/>
          </a:xfrm>
          <a:prstGeom prst="roundRect">
            <a:avLst/>
          </a:prstGeom>
          <a:solidFill>
            <a:srgbClr val="BCE292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lang="en-GB" sz="11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451110-5D31-CE35-7A8F-F834BB6F3BCC}"/>
              </a:ext>
            </a:extLst>
          </p:cNvPr>
          <p:cNvSpPr/>
          <p:nvPr/>
        </p:nvSpPr>
        <p:spPr>
          <a:xfrm>
            <a:off x="6493805" y="4846990"/>
            <a:ext cx="1784505" cy="5655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1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169084-09F1-1EEF-E973-5FD3A73FF2BB}"/>
              </a:ext>
            </a:extLst>
          </p:cNvPr>
          <p:cNvSpPr/>
          <p:nvPr/>
        </p:nvSpPr>
        <p:spPr>
          <a:xfrm>
            <a:off x="6946749" y="3093034"/>
            <a:ext cx="1784505" cy="565587"/>
          </a:xfrm>
          <a:prstGeom prst="roundRect">
            <a:avLst/>
          </a:prstGeom>
          <a:solidFill>
            <a:srgbClr val="FF9A47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</a:t>
            </a:r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30232076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4" grpId="0" animBg="1"/>
      <p:bldP spid="15" grpId="0" animBg="1"/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EA5F-8F52-49FB-8FAB-CF455EEAB354}"/>
              </a:ext>
            </a:extLst>
          </p:cNvPr>
          <p:cNvSpPr/>
          <p:nvPr/>
        </p:nvSpPr>
        <p:spPr>
          <a:xfrm>
            <a:off x="973061" y="1030665"/>
            <a:ext cx="10249051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87760D-02F0-4BFB-9042-E25474A5D677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>
                <a:solidFill>
                  <a:schemeClr val="tx1"/>
                </a:solidFill>
              </a:rPr>
              <a:t>The Empirical Cycle in Practice</a:t>
            </a:r>
            <a:endParaRPr lang="nl-NL" sz="3200" kern="120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8CCC06-7FB4-4258-A1A9-ABAAC400FB8E}"/>
              </a:ext>
            </a:extLst>
          </p:cNvPr>
          <p:cNvSpPr txBox="1">
            <a:spLocks/>
          </p:cNvSpPr>
          <p:nvPr/>
        </p:nvSpPr>
        <p:spPr>
          <a:xfrm>
            <a:off x="2784817" y="1129637"/>
            <a:ext cx="8673846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effectLst/>
              </a:rPr>
              <a:t>Step 1: Preparation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2: Formulate research </a:t>
            </a:r>
            <a:r>
              <a:rPr lang="en-US" dirty="0"/>
              <a:t>h</a:t>
            </a:r>
            <a:r>
              <a:rPr lang="en-US" dirty="0">
                <a:effectLst/>
              </a:rPr>
              <a:t>ypotheses 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3: Planning of data </a:t>
            </a:r>
            <a:r>
              <a:rPr lang="en-US" dirty="0"/>
              <a:t>c</a:t>
            </a:r>
            <a:r>
              <a:rPr lang="en-US" dirty="0">
                <a:effectLst/>
              </a:rPr>
              <a:t>ollection and </a:t>
            </a:r>
            <a:r>
              <a:rPr lang="en-US" dirty="0"/>
              <a:t>analysis; write Data Management Plan</a:t>
            </a:r>
            <a:endParaRPr lang="en-US" dirty="0">
              <a:effectLst/>
            </a:endParaRP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4: Get approval from the (medical) ethical </a:t>
            </a:r>
            <a:r>
              <a:rPr lang="en-US" dirty="0"/>
              <a:t>t</a:t>
            </a:r>
            <a:r>
              <a:rPr lang="en-US" dirty="0">
                <a:effectLst/>
              </a:rPr>
              <a:t>esting </a:t>
            </a:r>
            <a:r>
              <a:rPr lang="en-US" dirty="0"/>
              <a:t>c</a:t>
            </a:r>
            <a:r>
              <a:rPr lang="en-US" dirty="0">
                <a:effectLst/>
              </a:rPr>
              <a:t>ommittee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5: Pre-registration (or registered </a:t>
            </a:r>
            <a:r>
              <a:rPr lang="en-US" dirty="0"/>
              <a:t>r</a:t>
            </a:r>
            <a:r>
              <a:rPr lang="en-US" dirty="0">
                <a:effectLst/>
              </a:rPr>
              <a:t>eport)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6: Execution of data </a:t>
            </a:r>
            <a:r>
              <a:rPr lang="en-US" dirty="0"/>
              <a:t>c</a:t>
            </a:r>
            <a:r>
              <a:rPr lang="en-US" dirty="0">
                <a:effectLst/>
              </a:rPr>
              <a:t>ollection and analyses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7: </a:t>
            </a:r>
            <a:r>
              <a:rPr lang="en-US" dirty="0"/>
              <a:t>Write report; publish pre-print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8: </a:t>
            </a:r>
            <a:r>
              <a:rPr lang="en-US" dirty="0"/>
              <a:t>Publish (meta-)data and analyses</a:t>
            </a:r>
          </a:p>
          <a:p>
            <a:endParaRPr lang="en-US" dirty="0">
              <a:effectLst/>
            </a:endParaRPr>
          </a:p>
          <a:p>
            <a:r>
              <a:rPr lang="en-US" dirty="0">
                <a:effectLst/>
              </a:rPr>
              <a:t>Step 9: Having your </a:t>
            </a:r>
            <a:r>
              <a:rPr lang="en-US" dirty="0"/>
              <a:t>r</a:t>
            </a:r>
            <a:r>
              <a:rPr lang="en-US" dirty="0">
                <a:effectLst/>
              </a:rPr>
              <a:t>eport </a:t>
            </a:r>
            <a:r>
              <a:rPr lang="en-US" dirty="0"/>
              <a:t>r</a:t>
            </a:r>
            <a:r>
              <a:rPr lang="en-US" dirty="0">
                <a:effectLst/>
              </a:rPr>
              <a:t>eviewed</a:t>
            </a:r>
          </a:p>
          <a:p>
            <a:endParaRPr lang="en-US" dirty="0"/>
          </a:p>
          <a:p>
            <a:r>
              <a:rPr lang="en-US" dirty="0">
                <a:effectLst/>
              </a:rPr>
              <a:t>Step 10: Publish open access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900647B5-8238-81EA-634B-3D99EEF4A7A2}"/>
              </a:ext>
            </a:extLst>
          </p:cNvPr>
          <p:cNvSpPr/>
          <p:nvPr/>
        </p:nvSpPr>
        <p:spPr>
          <a:xfrm>
            <a:off x="1221376" y="1163249"/>
            <a:ext cx="1377715" cy="323044"/>
          </a:xfrm>
          <a:prstGeom prst="roundRect">
            <a:avLst/>
          </a:prstGeom>
          <a:solidFill>
            <a:srgbClr val="FF616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lang="en-GB" sz="100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D7B167D-39FF-B0E8-16AF-0735DF589AA1}"/>
              </a:ext>
            </a:extLst>
          </p:cNvPr>
          <p:cNvSpPr/>
          <p:nvPr/>
        </p:nvSpPr>
        <p:spPr>
          <a:xfrm>
            <a:off x="1221376" y="1723331"/>
            <a:ext cx="1377715" cy="323044"/>
          </a:xfrm>
          <a:prstGeom prst="roundRect">
            <a:avLst/>
          </a:prstGeom>
          <a:solidFill>
            <a:srgbClr val="FF9A47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</a:t>
            </a:r>
            <a:endParaRPr lang="en-GB" sz="100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6F46EF8-2897-CB31-88EF-D65A61AC5389}"/>
              </a:ext>
            </a:extLst>
          </p:cNvPr>
          <p:cNvSpPr/>
          <p:nvPr/>
        </p:nvSpPr>
        <p:spPr>
          <a:xfrm>
            <a:off x="1221376" y="2283413"/>
            <a:ext cx="1377715" cy="3230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00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FF5C5E-8894-618F-F5F2-7A140DFF48EC}"/>
              </a:ext>
            </a:extLst>
          </p:cNvPr>
          <p:cNvSpPr/>
          <p:nvPr/>
        </p:nvSpPr>
        <p:spPr>
          <a:xfrm>
            <a:off x="1221375" y="3924128"/>
            <a:ext cx="1377715" cy="323044"/>
          </a:xfrm>
          <a:prstGeom prst="roundRect">
            <a:avLst/>
          </a:prstGeom>
          <a:solidFill>
            <a:srgbClr val="BCE292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lang="en-GB" sz="100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305A185-67B7-096D-BB1E-22F44804731E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536471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uiExpand="1" build="p"/>
      <p:bldP spid="2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851042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6A4B5-C908-49F2-B0C7-A0B196986288}"/>
              </a:ext>
            </a:extLst>
          </p:cNvPr>
          <p:cNvSpPr/>
          <p:nvPr/>
        </p:nvSpPr>
        <p:spPr>
          <a:xfrm>
            <a:off x="3351499" y="523324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  <a:p>
            <a:endParaRPr lang="en-US" dirty="0"/>
          </a:p>
          <a:p>
            <a:r>
              <a:rPr lang="en-US" dirty="0"/>
              <a:t>Reviewing: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Review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Gaps in the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Quality of the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Variables that are not covered in the literature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Writing: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Writing it up sharpens thoughts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Write down you research questions: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New questions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Replication studies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US" dirty="0"/>
              <a:t>Exploratory studies</a:t>
            </a:r>
          </a:p>
          <a:p>
            <a:endParaRPr lang="en-US" dirty="0"/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275011A-97B1-4DE3-9DE1-467D52B05CE5}"/>
              </a:ext>
            </a:extLst>
          </p:cNvPr>
          <p:cNvSpPr/>
          <p:nvPr/>
        </p:nvSpPr>
        <p:spPr>
          <a:xfrm>
            <a:off x="3831964" y="287164"/>
            <a:ext cx="4354589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rgbClr val="FF616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1: Preparation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CA85776-659D-0B08-CC32-646AB04C440F}"/>
              </a:ext>
            </a:extLst>
          </p:cNvPr>
          <p:cNvSpPr/>
          <p:nvPr/>
        </p:nvSpPr>
        <p:spPr>
          <a:xfrm>
            <a:off x="1221376" y="1163249"/>
            <a:ext cx="1377715" cy="323044"/>
          </a:xfrm>
          <a:prstGeom prst="roundRect">
            <a:avLst/>
          </a:prstGeom>
          <a:solidFill>
            <a:srgbClr val="FF616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177561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EC8BB6-3C86-4173-AEAB-E0CF986F5539}"/>
              </a:ext>
            </a:extLst>
          </p:cNvPr>
          <p:cNvSpPr/>
          <p:nvPr/>
        </p:nvSpPr>
        <p:spPr>
          <a:xfrm>
            <a:off x="3593751" y="458010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pPr algn="ctr"/>
            <a:r>
              <a:rPr lang="en-US"/>
              <a:t>A research hypothesis is </a:t>
            </a:r>
          </a:p>
          <a:p>
            <a:pPr algn="ctr"/>
            <a:r>
              <a:rPr lang="en-US"/>
              <a:t>a verbal representation </a:t>
            </a:r>
          </a:p>
          <a:p>
            <a:pPr algn="ctr"/>
            <a:r>
              <a:rPr lang="en-US"/>
              <a:t>of the expected relations </a:t>
            </a:r>
          </a:p>
          <a:p>
            <a:pPr algn="ctr"/>
            <a:r>
              <a:rPr lang="en-US"/>
              <a:t>between the variables </a:t>
            </a:r>
          </a:p>
          <a:p>
            <a:pPr algn="ctr"/>
            <a:r>
              <a:rPr lang="en-US"/>
              <a:t>resulting from Step 1.</a:t>
            </a:r>
          </a:p>
          <a:p>
            <a:endParaRPr lang="en-US"/>
          </a:p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0419C38-07DD-4557-89FB-CD88CAEF6B1E}"/>
              </a:ext>
            </a:extLst>
          </p:cNvPr>
          <p:cNvSpPr/>
          <p:nvPr/>
        </p:nvSpPr>
        <p:spPr>
          <a:xfrm>
            <a:off x="2379306" y="221850"/>
            <a:ext cx="774440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rgbClr val="FF9A47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2: Formulate Research Hypotheses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A66DC02-1499-1C88-797E-85B7C78B87BE}"/>
              </a:ext>
            </a:extLst>
          </p:cNvPr>
          <p:cNvSpPr/>
          <p:nvPr/>
        </p:nvSpPr>
        <p:spPr>
          <a:xfrm>
            <a:off x="1221376" y="1723331"/>
            <a:ext cx="1377715" cy="323044"/>
          </a:xfrm>
          <a:prstGeom prst="roundRect">
            <a:avLst/>
          </a:prstGeom>
          <a:solidFill>
            <a:srgbClr val="FF9A47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6806864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C72D3-D0F5-4161-B51D-FAC1C095BFBC}"/>
              </a:ext>
            </a:extLst>
          </p:cNvPr>
          <p:cNvSpPr/>
          <p:nvPr/>
        </p:nvSpPr>
        <p:spPr>
          <a:xfrm>
            <a:off x="3866143" y="681944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  <a:p>
            <a:endParaRPr lang="en-US"/>
          </a:p>
          <a:p>
            <a:r>
              <a:rPr lang="en-US"/>
              <a:t>Design: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Describe research design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Exploration?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Replication?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Data: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Describe population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Describe variables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Derived variables?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Analyses: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Statistical model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Formal hypotheses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Power analyses or updating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Missing data?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exclusion?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>
                <a:sym typeface="Wingdings" panose="05000000000000000000" pitchFamily="2" charset="2"/>
              </a:rPr>
              <a:t> Data Management Plan</a:t>
            </a:r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94276A9-8F4D-4100-899A-9849CB8C9638}"/>
              </a:ext>
            </a:extLst>
          </p:cNvPr>
          <p:cNvSpPr/>
          <p:nvPr/>
        </p:nvSpPr>
        <p:spPr>
          <a:xfrm>
            <a:off x="1875454" y="445784"/>
            <a:ext cx="9296896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nl-NL" sz="3600">
                <a:solidFill>
                  <a:schemeClr val="tx1"/>
                </a:solidFill>
              </a:rPr>
              <a:t>Step 3: Planning of Data Collection and Analysis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7235BE-8BD6-CE7F-CDCF-EDD752427819}"/>
              </a:ext>
            </a:extLst>
          </p:cNvPr>
          <p:cNvSpPr/>
          <p:nvPr/>
        </p:nvSpPr>
        <p:spPr>
          <a:xfrm>
            <a:off x="1221376" y="2283413"/>
            <a:ext cx="1377715" cy="3230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000" dirty="0"/>
          </a:p>
        </p:txBody>
      </p:sp>
    </p:spTree>
    <p:extLst>
      <p:ext uri="{BB962C8B-B14F-4D97-AF65-F5344CB8AC3E}">
        <p14:creationId xmlns:p14="http://schemas.microsoft.com/office/powerpoint/2010/main" val="747249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6A4B5-C908-49F2-B0C7-A0B196986288}"/>
              </a:ext>
            </a:extLst>
          </p:cNvPr>
          <p:cNvSpPr/>
          <p:nvPr/>
        </p:nvSpPr>
        <p:spPr>
          <a:xfrm>
            <a:off x="3742802" y="778005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Much of the previous three steps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Data management plan (e.g., data storage)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Informed consent forms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Privacy regulations (e.g., GDPR)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9D7BC1-F005-4C4B-A01F-6999A8776B7F}"/>
              </a:ext>
            </a:extLst>
          </p:cNvPr>
          <p:cNvSpPr/>
          <p:nvPr/>
        </p:nvSpPr>
        <p:spPr>
          <a:xfrm>
            <a:off x="2103888" y="467300"/>
            <a:ext cx="8378889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dirty="0">
                <a:solidFill>
                  <a:schemeClr val="tx1"/>
                </a:solidFill>
              </a:rPr>
              <a:t>Step 4: Get (M)ETC Approval</a:t>
            </a:r>
            <a:endParaRPr lang="nl-NL" sz="3600" kern="1200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4D94492-66A6-E28B-2263-F515234BDF1D}"/>
              </a:ext>
            </a:extLst>
          </p:cNvPr>
          <p:cNvSpPr/>
          <p:nvPr/>
        </p:nvSpPr>
        <p:spPr>
          <a:xfrm>
            <a:off x="1221376" y="2283413"/>
            <a:ext cx="1377715" cy="3230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365042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EC8BB6-3C86-4173-AEAB-E0CF986F5539}"/>
              </a:ext>
            </a:extLst>
          </p:cNvPr>
          <p:cNvSpPr/>
          <p:nvPr/>
        </p:nvSpPr>
        <p:spPr>
          <a:xfrm>
            <a:off x="3523771" y="75642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endParaRPr lang="en-US" dirty="0"/>
          </a:p>
          <a:p>
            <a:pPr algn="ctr"/>
            <a:r>
              <a:rPr lang="en-US" dirty="0"/>
              <a:t>This is the </a:t>
            </a:r>
          </a:p>
          <a:p>
            <a:pPr algn="ctr"/>
            <a:r>
              <a:rPr lang="en-US" dirty="0"/>
              <a:t>pre-data-</a:t>
            </a:r>
            <a:r>
              <a:rPr lang="en-US" i="1" dirty="0"/>
              <a:t>collection</a:t>
            </a:r>
            <a:r>
              <a:rPr lang="en-US" dirty="0"/>
              <a:t> </a:t>
            </a:r>
          </a:p>
          <a:p>
            <a:pPr algn="ctr"/>
            <a:r>
              <a:rPr lang="en-US" dirty="0"/>
              <a:t>(or pre-data-</a:t>
            </a:r>
            <a:r>
              <a:rPr lang="en-US" i="1" dirty="0"/>
              <a:t>access</a:t>
            </a:r>
            <a:r>
              <a:rPr lang="en-US" dirty="0"/>
              <a:t>)</a:t>
            </a:r>
          </a:p>
          <a:p>
            <a:pPr algn="ctr"/>
            <a:r>
              <a:rPr lang="en-US" dirty="0"/>
              <a:t>account </a:t>
            </a:r>
          </a:p>
          <a:p>
            <a:pPr algn="ctr"/>
            <a:r>
              <a:rPr lang="en-US" dirty="0"/>
              <a:t>of all that has been covered </a:t>
            </a:r>
          </a:p>
          <a:p>
            <a:pPr algn="ctr"/>
            <a:r>
              <a:rPr lang="en-US" dirty="0"/>
              <a:t>in the previous four steps.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6FE8D1B8-1F92-4650-9D80-CE9AE1483938}"/>
              </a:ext>
            </a:extLst>
          </p:cNvPr>
          <p:cNvSpPr/>
          <p:nvPr/>
        </p:nvSpPr>
        <p:spPr>
          <a:xfrm>
            <a:off x="1427584" y="520262"/>
            <a:ext cx="9507893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5: Pre-registration or Registered Report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BD9F5CE-6801-BA46-F412-C5705F4A5455}"/>
              </a:ext>
            </a:extLst>
          </p:cNvPr>
          <p:cNvSpPr/>
          <p:nvPr/>
        </p:nvSpPr>
        <p:spPr>
          <a:xfrm>
            <a:off x="1221376" y="2283413"/>
            <a:ext cx="1377715" cy="323044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5806427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C72D3-D0F5-4161-B51D-FAC1C095BFBC}"/>
              </a:ext>
            </a:extLst>
          </p:cNvPr>
          <p:cNvSpPr/>
          <p:nvPr/>
        </p:nvSpPr>
        <p:spPr>
          <a:xfrm>
            <a:off x="3603082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algn="ctr"/>
            <a:r>
              <a:rPr lang="en-US" dirty="0"/>
              <a:t>Execute steps in pre-registration</a:t>
            </a:r>
          </a:p>
          <a:p>
            <a:pPr algn="ctr"/>
            <a:r>
              <a:rPr lang="en-US" dirty="0"/>
              <a:t>after data </a:t>
            </a:r>
            <a:r>
              <a:rPr lang="en-US" i="1" dirty="0"/>
              <a:t>collection</a:t>
            </a:r>
            <a:r>
              <a:rPr lang="en-US" dirty="0"/>
              <a:t> (or </a:t>
            </a:r>
            <a:r>
              <a:rPr lang="en-US" i="1" dirty="0"/>
              <a:t>access</a:t>
            </a:r>
            <a:r>
              <a:rPr lang="en-US" dirty="0"/>
              <a:t>).</a:t>
            </a:r>
          </a:p>
          <a:p>
            <a:pPr algn="ctr"/>
            <a:endParaRPr lang="en-US" dirty="0"/>
          </a:p>
          <a:p>
            <a:pPr algn="ctr"/>
            <a:r>
              <a:rPr lang="en-US" dirty="0"/>
              <a:t>Keep note of </a:t>
            </a:r>
          </a:p>
          <a:p>
            <a:pPr algn="ctr"/>
            <a:r>
              <a:rPr lang="en-US" dirty="0"/>
              <a:t>any necessary deviations </a:t>
            </a:r>
          </a:p>
          <a:p>
            <a:pPr algn="ctr"/>
            <a:r>
              <a:rPr lang="en-US" dirty="0"/>
              <a:t>from the pre-registration.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2584A51-3023-4E31-9E25-2B66FD797C88}"/>
              </a:ext>
            </a:extLst>
          </p:cNvPr>
          <p:cNvSpPr/>
          <p:nvPr/>
        </p:nvSpPr>
        <p:spPr>
          <a:xfrm>
            <a:off x="1548882" y="520262"/>
            <a:ext cx="942391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rgbClr val="BCE292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6: Execution of Data Collection and Analysis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AEAD0F8-7BA6-2E18-22D2-471D08656050}"/>
              </a:ext>
            </a:extLst>
          </p:cNvPr>
          <p:cNvSpPr/>
          <p:nvPr/>
        </p:nvSpPr>
        <p:spPr>
          <a:xfrm>
            <a:off x="1221375" y="3924128"/>
            <a:ext cx="1377715" cy="323044"/>
          </a:xfrm>
          <a:prstGeom prst="roundRect">
            <a:avLst/>
          </a:prstGeom>
          <a:solidFill>
            <a:srgbClr val="BCE292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3911505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EC8BB6-3C86-4173-AEAB-E0CF986F5539}"/>
              </a:ext>
            </a:extLst>
          </p:cNvPr>
          <p:cNvSpPr/>
          <p:nvPr/>
        </p:nvSpPr>
        <p:spPr>
          <a:xfrm>
            <a:off x="3888253" y="65237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pPr algn="l"/>
            <a:endParaRPr lang="en-US" sz="1800" b="0" i="0" u="none" strike="noStrike" baseline="0">
              <a:latin typeface="LMRoman12-Regular"/>
            </a:endParaRP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/>
              <a:t>Write a reproducible report.</a:t>
            </a:r>
          </a:p>
          <a:p>
            <a:pPr algn="ctr"/>
            <a:endParaRPr lang="en-US"/>
          </a:p>
          <a:p>
            <a:pPr algn="ctr"/>
            <a:r>
              <a:rPr lang="en-US"/>
              <a:t>Include a link to your </a:t>
            </a:r>
          </a:p>
          <a:p>
            <a:pPr algn="ctr"/>
            <a:r>
              <a:rPr lang="en-US"/>
              <a:t>pre-registration (Step 5).</a:t>
            </a:r>
          </a:p>
          <a:p>
            <a:pPr algn="ctr"/>
            <a:endParaRPr lang="en-US"/>
          </a:p>
          <a:p>
            <a:pPr algn="ctr"/>
            <a:r>
              <a:rPr lang="en-US"/>
              <a:t>Include a link to your </a:t>
            </a:r>
          </a:p>
          <a:p>
            <a:pPr algn="ctr"/>
            <a:r>
              <a:rPr lang="en-US"/>
              <a:t>data-analyses repository (Step 8).</a:t>
            </a:r>
          </a:p>
          <a:p>
            <a:pPr algn="ctr"/>
            <a:endParaRPr lang="en-US"/>
          </a:p>
          <a:p>
            <a:pPr algn="ctr"/>
            <a:r>
              <a:rPr lang="en-US"/>
              <a:t>Publish pre-print.</a:t>
            </a:r>
          </a:p>
          <a:p>
            <a:pPr algn="l"/>
            <a:endParaRPr lang="en-US" sz="1800" b="0" i="0" u="none" strike="noStrike" baseline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A55EF451-BD9C-46D8-B887-F61BAEA5DE8B}"/>
              </a:ext>
            </a:extLst>
          </p:cNvPr>
          <p:cNvSpPr/>
          <p:nvPr/>
        </p:nvSpPr>
        <p:spPr>
          <a:xfrm>
            <a:off x="3079670" y="408462"/>
            <a:ext cx="7216169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7: Write Report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1BBE7FA-95E5-7A07-25DD-121586FC8C05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29745431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6A4B5-C908-49F2-B0C7-A0B196986288}"/>
              </a:ext>
            </a:extLst>
          </p:cNvPr>
          <p:cNvSpPr/>
          <p:nvPr/>
        </p:nvSpPr>
        <p:spPr>
          <a:xfrm>
            <a:off x="3439828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/>
              <a:t>Data and analyses should be accessible to all interested parties, or </a:t>
            </a:r>
            <a:r>
              <a:rPr lang="en-US" b="1"/>
              <a:t>FAIR</a:t>
            </a:r>
            <a:r>
              <a:rPr lang="en-US"/>
              <a:t>:</a:t>
            </a:r>
          </a:p>
          <a:p>
            <a:pPr algn="ctr"/>
            <a:r>
              <a:rPr lang="en-US" b="1"/>
              <a:t>F</a:t>
            </a:r>
            <a:r>
              <a:rPr lang="en-US"/>
              <a:t>indable, </a:t>
            </a:r>
          </a:p>
          <a:p>
            <a:pPr algn="ctr"/>
            <a:r>
              <a:rPr lang="en-US" b="1"/>
              <a:t>A</a:t>
            </a:r>
            <a:r>
              <a:rPr lang="en-US"/>
              <a:t>ccessible, </a:t>
            </a:r>
          </a:p>
          <a:p>
            <a:pPr algn="ctr"/>
            <a:r>
              <a:rPr lang="en-US" b="1"/>
              <a:t>I</a:t>
            </a:r>
            <a:r>
              <a:rPr lang="en-US"/>
              <a:t>nteroperable,</a:t>
            </a:r>
          </a:p>
          <a:p>
            <a:pPr algn="ctr"/>
            <a:r>
              <a:rPr lang="en-US" b="1"/>
              <a:t>R</a:t>
            </a:r>
            <a:r>
              <a:rPr lang="en-US"/>
              <a:t>eusable.</a:t>
            </a:r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C46CB9D-EFFD-4418-A2F4-C1ABD4F6FD34}"/>
              </a:ext>
            </a:extLst>
          </p:cNvPr>
          <p:cNvSpPr/>
          <p:nvPr/>
        </p:nvSpPr>
        <p:spPr>
          <a:xfrm>
            <a:off x="2727433" y="520262"/>
            <a:ext cx="674030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8: Publish Data and Analyses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82A71-FE9A-3B6F-4FC1-66C7547201EC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1017781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6A4B5-C908-49F2-B0C7-A0B196986288}"/>
              </a:ext>
            </a:extLst>
          </p:cNvPr>
          <p:cNvSpPr/>
          <p:nvPr/>
        </p:nvSpPr>
        <p:spPr>
          <a:xfrm>
            <a:off x="3439828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Findable: </a:t>
            </a:r>
            <a:r>
              <a:rPr lang="en-US" dirty="0"/>
              <a:t>Place your data and analyses in a public repository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Accessible:</a:t>
            </a:r>
            <a:r>
              <a:rPr lang="en-US" dirty="0"/>
              <a:t> Make certain your data come with a codebook, and your analyses with annotations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Interoperable:</a:t>
            </a:r>
            <a:r>
              <a:rPr lang="en-US" dirty="0"/>
              <a:t> Ensure that data and analyses can be opened on different types of computers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Reusable: </a:t>
            </a:r>
            <a:r>
              <a:rPr lang="en-US" dirty="0"/>
              <a:t>Include a license, that is, make clear what others are (not) allowed to do with your data</a:t>
            </a:r>
          </a:p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C46CB9D-EFFD-4418-A2F4-C1ABD4F6FD34}"/>
              </a:ext>
            </a:extLst>
          </p:cNvPr>
          <p:cNvSpPr/>
          <p:nvPr/>
        </p:nvSpPr>
        <p:spPr>
          <a:xfrm>
            <a:off x="2727433" y="520262"/>
            <a:ext cx="674030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8: Publish Data and Analyses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82A71-FE9A-3B6F-4FC1-66C7547201EC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21654575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206A4B5-C908-49F2-B0C7-A0B196986288}"/>
              </a:ext>
            </a:extLst>
          </p:cNvPr>
          <p:cNvSpPr/>
          <p:nvPr/>
        </p:nvSpPr>
        <p:spPr>
          <a:xfrm>
            <a:off x="3439828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r>
              <a:rPr lang="en-US" dirty="0"/>
              <a:t>With open data &amp; analyses, others can:</a:t>
            </a:r>
          </a:p>
          <a:p>
            <a:r>
              <a:rPr lang="en-US" dirty="0"/>
              <a:t>- Inspect your data</a:t>
            </a:r>
          </a:p>
          <a:p>
            <a:r>
              <a:rPr lang="en-US" dirty="0"/>
              <a:t>- Reproduce your analyses </a:t>
            </a:r>
          </a:p>
          <a:p>
            <a:r>
              <a:rPr lang="en-US" dirty="0"/>
              <a:t>- Read your interpretation of the analyses</a:t>
            </a:r>
          </a:p>
          <a:p>
            <a:r>
              <a:rPr lang="en-US" dirty="0"/>
              <a:t>- Data are available for meta-analyses and “null-findings” become accessible</a:t>
            </a:r>
          </a:p>
          <a:p>
            <a:endParaRPr lang="en-US" dirty="0"/>
          </a:p>
          <a:p>
            <a:r>
              <a:rPr lang="en-US" dirty="0"/>
              <a:t>Being open will add to the trust in your research, that of the group to which you belong, and science in general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C46CB9D-EFFD-4418-A2F4-C1ABD4F6FD34}"/>
              </a:ext>
            </a:extLst>
          </p:cNvPr>
          <p:cNvSpPr/>
          <p:nvPr/>
        </p:nvSpPr>
        <p:spPr>
          <a:xfrm>
            <a:off x="2727433" y="520262"/>
            <a:ext cx="674030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8: Publish Data and Analyses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EA82A71-FE9A-3B6F-4FC1-66C7547201EC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3818865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C72D3-D0F5-4161-B51D-FAC1C095BFBC}"/>
              </a:ext>
            </a:extLst>
          </p:cNvPr>
          <p:cNvSpPr/>
          <p:nvPr/>
        </p:nvSpPr>
        <p:spPr>
          <a:xfrm>
            <a:off x="3911661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US"/>
              <a:t>May lead to </a:t>
            </a:r>
          </a:p>
          <a:p>
            <a:pPr algn="ctr"/>
            <a:r>
              <a:rPr lang="en-US"/>
              <a:t>changes in your report </a:t>
            </a:r>
          </a:p>
          <a:p>
            <a:pPr algn="ctr"/>
            <a:r>
              <a:rPr lang="en-US"/>
              <a:t>and possibly </a:t>
            </a:r>
          </a:p>
          <a:p>
            <a:pPr algn="ctr"/>
            <a:r>
              <a:rPr lang="en-US"/>
              <a:t>deviations from your pre-registration.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/>
              <a:t>These deviations can be highlighted </a:t>
            </a:r>
          </a:p>
          <a:p>
            <a:pPr algn="ctr"/>
            <a:r>
              <a:rPr lang="en-US"/>
              <a:t>in your report using footnotes.</a:t>
            </a:r>
          </a:p>
          <a:p>
            <a:pPr algn="ctr"/>
            <a:endParaRPr lang="en-US"/>
          </a:p>
          <a:p>
            <a:pPr algn="ctr"/>
            <a:endParaRPr lang="en-US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FB2111C-8809-4997-A72E-15661777812E}"/>
              </a:ext>
            </a:extLst>
          </p:cNvPr>
          <p:cNvSpPr/>
          <p:nvPr/>
        </p:nvSpPr>
        <p:spPr>
          <a:xfrm>
            <a:off x="3093666" y="520262"/>
            <a:ext cx="7188177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9: Having your Report Reviewed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13DAD7C0-E4C4-53F5-5512-D104450411E2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31332299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8CC72D3-D0F5-4161-B51D-FAC1C095BFBC}"/>
              </a:ext>
            </a:extLst>
          </p:cNvPr>
          <p:cNvSpPr/>
          <p:nvPr/>
        </p:nvSpPr>
        <p:spPr>
          <a:xfrm>
            <a:off x="3911661" y="784482"/>
            <a:ext cx="5315518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r>
              <a:rPr lang="en-US" dirty="0"/>
              <a:t>Publishing open access is an important feature of open science. </a:t>
            </a:r>
          </a:p>
          <a:p>
            <a:endParaRPr lang="en-US" dirty="0"/>
          </a:p>
          <a:p>
            <a:r>
              <a:rPr lang="en-US" dirty="0"/>
              <a:t>Being able to </a:t>
            </a:r>
            <a:r>
              <a:rPr lang="en-US" dirty="0" err="1"/>
              <a:t>unobstructedly</a:t>
            </a:r>
            <a:r>
              <a:rPr lang="en-US" dirty="0"/>
              <a:t> obtain everything (also the report) related to a research project will enable </a:t>
            </a:r>
            <a:br>
              <a:rPr lang="en-US" dirty="0"/>
            </a:br>
            <a:r>
              <a:rPr lang="en-US" dirty="0"/>
              <a:t>anyone to: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benefit from your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reuse (parts) of your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engage in a fully informed discussion about your research.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dirty="0"/>
              <a:t>This should both increase the impact of your research and increase the trust in your research and the trust in science in general.</a:t>
            </a:r>
          </a:p>
          <a:p>
            <a:pPr algn="ctr"/>
            <a:endParaRPr lang="en-US" dirty="0"/>
          </a:p>
          <a:p>
            <a:pPr algn="ctr"/>
            <a:endParaRPr lang="en-US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FB2111C-8809-4997-A72E-15661777812E}"/>
              </a:ext>
            </a:extLst>
          </p:cNvPr>
          <p:cNvSpPr/>
          <p:nvPr/>
        </p:nvSpPr>
        <p:spPr>
          <a:xfrm>
            <a:off x="3093666" y="520262"/>
            <a:ext cx="7188177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solidFill>
            <a:schemeClr val="accent5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Step 10: Publish Open Access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B6F9CD-0431-8FD5-C84E-C528E4C319FB}"/>
              </a:ext>
            </a:extLst>
          </p:cNvPr>
          <p:cNvSpPr/>
          <p:nvPr/>
        </p:nvSpPr>
        <p:spPr>
          <a:xfrm>
            <a:off x="1221375" y="4468618"/>
            <a:ext cx="1377715" cy="323044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000"/>
          </a:p>
        </p:txBody>
      </p:sp>
    </p:spTree>
    <p:extLst>
      <p:ext uri="{BB962C8B-B14F-4D97-AF65-F5344CB8AC3E}">
        <p14:creationId xmlns:p14="http://schemas.microsoft.com/office/powerpoint/2010/main" val="4056750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76EEA5F-8F52-49FB-8FAB-CF455EEAB354}"/>
              </a:ext>
            </a:extLst>
          </p:cNvPr>
          <p:cNvSpPr/>
          <p:nvPr/>
        </p:nvSpPr>
        <p:spPr>
          <a:xfrm>
            <a:off x="973061" y="1030665"/>
            <a:ext cx="10249051" cy="555325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r>
              <a:rPr lang="nl-NL"/>
              <a:t> </a:t>
            </a: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387760D-02F0-4BFB-9042-E25474A5D677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The Open Empirical Cycle</a:t>
            </a:r>
            <a:endParaRPr lang="nl-NL" sz="3200" kern="1200" dirty="0">
              <a:solidFill>
                <a:schemeClr val="tx1"/>
              </a:solidFill>
            </a:endParaRPr>
          </a:p>
        </p:txBody>
      </p:sp>
      <p:sp>
        <p:nvSpPr>
          <p:cNvPr id="6" name="Google Shape;752;p96">
            <a:extLst>
              <a:ext uri="{FF2B5EF4-FFF2-40B4-BE49-F238E27FC236}">
                <a16:creationId xmlns:a16="http://schemas.microsoft.com/office/drawing/2014/main" id="{40F553E4-9469-46E8-F46A-09EA37323394}"/>
              </a:ext>
            </a:extLst>
          </p:cNvPr>
          <p:cNvSpPr>
            <a:spLocks noChangeAspect="1"/>
          </p:cNvSpPr>
          <p:nvPr/>
        </p:nvSpPr>
        <p:spPr>
          <a:xfrm rot="14618728">
            <a:off x="3579535" y="1528400"/>
            <a:ext cx="4694387" cy="4752003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4" y="63169"/>
                </a:moveTo>
                <a:cubicBezTo>
                  <a:pt x="110459" y="90156"/>
                  <a:pt x="88555" y="111443"/>
                  <a:pt x="61579" y="112261"/>
                </a:cubicBezTo>
                <a:cubicBezTo>
                  <a:pt x="34604" y="113079"/>
                  <a:pt x="11454" y="93159"/>
                  <a:pt x="8192" y="66320"/>
                </a:cubicBezTo>
                <a:cubicBezTo>
                  <a:pt x="4930" y="39481"/>
                  <a:pt x="22631" y="14577"/>
                  <a:pt x="49015" y="8886"/>
                </a:cubicBezTo>
                <a:cubicBezTo>
                  <a:pt x="75398" y="3195"/>
                  <a:pt x="101761" y="18594"/>
                  <a:pt x="109813" y="44400"/>
                </a:cubicBezTo>
                <a:lnTo>
                  <a:pt x="117500" y="43501"/>
                </a:lnTo>
                <a:lnTo>
                  <a:pt x="108026" y="54380"/>
                </a:lnTo>
                <a:lnTo>
                  <a:pt x="94365" y="46208"/>
                </a:lnTo>
                <a:lnTo>
                  <a:pt x="102040" y="45310"/>
                </a:lnTo>
                <a:lnTo>
                  <a:pt x="102040" y="45310"/>
                </a:lnTo>
                <a:cubicBezTo>
                  <a:pt x="94520" y="23607"/>
                  <a:pt x="71839" y="11165"/>
                  <a:pt x="49591" y="16539"/>
                </a:cubicBezTo>
                <a:cubicBezTo>
                  <a:pt x="27343" y="21912"/>
                  <a:pt x="12776" y="43350"/>
                  <a:pt x="15905" y="66113"/>
                </a:cubicBezTo>
                <a:cubicBezTo>
                  <a:pt x="19035" y="88876"/>
                  <a:pt x="38841" y="105549"/>
                  <a:pt x="61706" y="104668"/>
                </a:cubicBezTo>
                <a:cubicBezTo>
                  <a:pt x="84572" y="103787"/>
                  <a:pt x="103048" y="85640"/>
                  <a:pt x="104431" y="627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20D89CCF-38CE-88BD-AC7C-7AB5877B2B99}"/>
              </a:ext>
            </a:extLst>
          </p:cNvPr>
          <p:cNvSpPr/>
          <p:nvPr/>
        </p:nvSpPr>
        <p:spPr>
          <a:xfrm>
            <a:off x="5012327" y="1763940"/>
            <a:ext cx="1784505" cy="565587"/>
          </a:xfrm>
          <a:prstGeom prst="roundRect">
            <a:avLst/>
          </a:prstGeom>
          <a:solidFill>
            <a:srgbClr val="FF6161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observation</a:t>
            </a:r>
            <a:endParaRPr lang="en-GB" sz="110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DC25BC-9E07-8669-3E8C-5BF5085EA0DF}"/>
              </a:ext>
            </a:extLst>
          </p:cNvPr>
          <p:cNvSpPr/>
          <p:nvPr/>
        </p:nvSpPr>
        <p:spPr>
          <a:xfrm>
            <a:off x="3066720" y="3093034"/>
            <a:ext cx="1784505" cy="565587"/>
          </a:xfrm>
          <a:prstGeom prst="roundRect">
            <a:avLst/>
          </a:prstGeom>
          <a:solidFill>
            <a:schemeClr val="accent5">
              <a:lumMod val="25000"/>
              <a:lumOff val="75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evaluation</a:t>
            </a:r>
            <a:endParaRPr lang="en-GB" sz="110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8CE0D9FB-17F7-1E6D-A7F0-5719A4CAFBB6}"/>
              </a:ext>
            </a:extLst>
          </p:cNvPr>
          <p:cNvSpPr/>
          <p:nvPr/>
        </p:nvSpPr>
        <p:spPr>
          <a:xfrm>
            <a:off x="3380222" y="4846989"/>
            <a:ext cx="1784505" cy="565587"/>
          </a:xfrm>
          <a:prstGeom prst="roundRect">
            <a:avLst/>
          </a:prstGeom>
          <a:solidFill>
            <a:srgbClr val="BCE292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testing</a:t>
            </a:r>
            <a:endParaRPr lang="en-GB" sz="11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1451110-5D31-CE35-7A8F-F834BB6F3BCC}"/>
              </a:ext>
            </a:extLst>
          </p:cNvPr>
          <p:cNvSpPr/>
          <p:nvPr/>
        </p:nvSpPr>
        <p:spPr>
          <a:xfrm>
            <a:off x="6493805" y="4846990"/>
            <a:ext cx="1784505" cy="56558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deduction</a:t>
            </a:r>
            <a:endParaRPr lang="en-GB" sz="1100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5169084-09F1-1EEF-E973-5FD3A73FF2BB}"/>
              </a:ext>
            </a:extLst>
          </p:cNvPr>
          <p:cNvSpPr/>
          <p:nvPr/>
        </p:nvSpPr>
        <p:spPr>
          <a:xfrm>
            <a:off x="6946749" y="3093034"/>
            <a:ext cx="1784505" cy="565587"/>
          </a:xfrm>
          <a:prstGeom prst="roundRect">
            <a:avLst/>
          </a:prstGeom>
          <a:solidFill>
            <a:srgbClr val="FF9A47"/>
          </a:solidFill>
          <a:ln/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spcFirstLastPara="1" wrap="square" lIns="68575" tIns="34275" rIns="68575" bIns="34275" rtlCol="0" anchor="ctr" anchorCtr="0">
            <a:noAutofit/>
          </a:bodyPr>
          <a:lstStyle/>
          <a:p>
            <a:pPr algn="ctr"/>
            <a:r>
              <a:rPr lang="en-GB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induction</a:t>
            </a:r>
            <a:endParaRPr lang="en-GB" sz="1100"/>
          </a:p>
        </p:txBody>
      </p:sp>
    </p:spTree>
    <p:extLst>
      <p:ext uri="{BB962C8B-B14F-4D97-AF65-F5344CB8AC3E}">
        <p14:creationId xmlns:p14="http://schemas.microsoft.com/office/powerpoint/2010/main" val="3363343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CEB7FF-BF40-4E6A-B63E-FBD3A60396B7}"/>
              </a:ext>
            </a:extLst>
          </p:cNvPr>
          <p:cNvSpPr/>
          <p:nvPr/>
        </p:nvSpPr>
        <p:spPr>
          <a:xfrm>
            <a:off x="2987421" y="488575"/>
            <a:ext cx="8269463" cy="62333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Graphic 11" descr="Cat">
            <a:extLst>
              <a:ext uri="{FF2B5EF4-FFF2-40B4-BE49-F238E27FC236}">
                <a16:creationId xmlns:a16="http://schemas.microsoft.com/office/drawing/2014/main" id="{1340B94A-C891-462D-A50C-51A3DDCE4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56" y="5197089"/>
            <a:ext cx="914400" cy="914400"/>
          </a:xfrm>
          <a:prstGeom prst="rect">
            <a:avLst/>
          </a:prstGeom>
        </p:spPr>
      </p:pic>
      <p:pic>
        <p:nvPicPr>
          <p:cNvPr id="14" name="Picture 13" descr="A picture containing clock&#10;&#10;Description automatically generated">
            <a:extLst>
              <a:ext uri="{FF2B5EF4-FFF2-40B4-BE49-F238E27FC236}">
                <a16:creationId xmlns:a16="http://schemas.microsoft.com/office/drawing/2014/main" id="{1BCAFFAF-8034-4611-90D4-576D5657F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4582" y="5530067"/>
            <a:ext cx="4108712" cy="162153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BDF63D7-D3EA-43A7-B402-C895353CE678}"/>
              </a:ext>
            </a:extLst>
          </p:cNvPr>
          <p:cNvSpPr/>
          <p:nvPr/>
        </p:nvSpPr>
        <p:spPr>
          <a:xfrm>
            <a:off x="3071672" y="65374"/>
            <a:ext cx="2583572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>
                <a:solidFill>
                  <a:schemeClr val="tx1"/>
                </a:solidFill>
              </a:rPr>
              <a:t>Links to …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278B-5F7B-43C5-A0CA-3564967C63CC}"/>
              </a:ext>
            </a:extLst>
          </p:cNvPr>
          <p:cNvSpPr txBox="1"/>
          <p:nvPr/>
        </p:nvSpPr>
        <p:spPr>
          <a:xfrm>
            <a:off x="3338002" y="592423"/>
            <a:ext cx="8185212" cy="581697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/>
              <a:t>JASP</a:t>
            </a:r>
          </a:p>
          <a:p>
            <a:pPr algn="ctr"/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Crash Course into JASP </a:t>
            </a:r>
            <a:endParaRPr lang="en-US"/>
          </a:p>
          <a:p>
            <a:pPr algn="ctr"/>
            <a:r>
              <a:rPr lang="en-US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JASP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b="1"/>
              <a:t>REPOSITORIES</a:t>
            </a:r>
          </a:p>
          <a:p>
            <a:pPr algn="ctr"/>
            <a:r>
              <a:rPr lang="en-US"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 Foundation</a:t>
            </a:r>
            <a:endParaRPr lang="en-US"/>
          </a:p>
          <a:p>
            <a:pPr algn="ctr"/>
            <a:r>
              <a:rPr lang="en-US"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Yoda (Utrecht University)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b="1"/>
              <a:t>LICENCES </a:t>
            </a:r>
          </a:p>
          <a:p>
            <a:pPr algn="ctr"/>
            <a:r>
              <a:rPr lang="en-US"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Creative Commons</a:t>
            </a:r>
            <a:endParaRPr lang="en-US"/>
          </a:p>
          <a:p>
            <a:pPr algn="ctr"/>
            <a:r>
              <a:rPr lang="en-US" err="1"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OpenAIRE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b="1"/>
              <a:t>ANONIMIZED AND FAIR DATA</a:t>
            </a:r>
          </a:p>
          <a:p>
            <a:pPr algn="ctr"/>
            <a:r>
              <a:rPr lang="en-US"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Make you Data FAIR </a:t>
            </a:r>
            <a:endParaRPr lang="en-US"/>
          </a:p>
          <a:p>
            <a:pPr algn="ctr"/>
            <a:r>
              <a:rPr lang="en-US">
                <a:hlinkClick r:id="rId12"/>
              </a:rPr>
              <a:t>Handling Personal Data</a:t>
            </a:r>
            <a:endParaRPr lang="en-US"/>
          </a:p>
          <a:p>
            <a:pPr algn="ctr"/>
            <a:r>
              <a:rPr lang="en-US">
                <a:hlinkClick r:id="rId13"/>
              </a:rPr>
              <a:t>FAIR </a:t>
            </a:r>
            <a:r>
              <a:rPr lang="en-US" err="1">
                <a:hlinkClick r:id="rId13"/>
              </a:rPr>
              <a:t>Cheatsheets</a:t>
            </a:r>
            <a:endParaRPr lang="en-US"/>
          </a:p>
          <a:p>
            <a:pPr algn="ctr"/>
            <a:r>
              <a:rPr lang="en-US">
                <a:hlinkClick r:id="rId1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General Data Protection Regulation</a:t>
            </a:r>
            <a:endParaRPr lang="en-US"/>
          </a:p>
          <a:p>
            <a:pPr algn="ctr"/>
            <a:endParaRPr lang="en-US"/>
          </a:p>
          <a:p>
            <a:pPr algn="ctr"/>
            <a:r>
              <a:rPr lang="en-US" b="1"/>
              <a:t>OPEN SCIENCE</a:t>
            </a:r>
          </a:p>
          <a:p>
            <a:pPr algn="ctr"/>
            <a:r>
              <a:rPr lang="en-US">
                <a:hlinkClick r:id="rId1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Science Community Utrecht </a:t>
            </a:r>
            <a:endParaRPr lang="en-US"/>
          </a:p>
          <a:p>
            <a:pPr algn="ctr"/>
            <a:r>
              <a:rPr lang="en-US">
                <a:hlinkClick r:id="rId16"/>
              </a:rPr>
              <a:t>Summer school ‘Open Science Bootcamp’</a:t>
            </a:r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DE3F7-CBB3-451E-B1AF-4C0B24847519}"/>
              </a:ext>
            </a:extLst>
          </p:cNvPr>
          <p:cNvSpPr txBox="1"/>
          <p:nvPr/>
        </p:nvSpPr>
        <p:spPr>
          <a:xfrm>
            <a:off x="8425086" y="5289421"/>
            <a:ext cx="65" cy="276999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8588007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21CEB7FF-BF40-4E6A-B63E-FBD3A60396B7}"/>
              </a:ext>
            </a:extLst>
          </p:cNvPr>
          <p:cNvSpPr/>
          <p:nvPr/>
        </p:nvSpPr>
        <p:spPr>
          <a:xfrm>
            <a:off x="2987421" y="488575"/>
            <a:ext cx="8269463" cy="6233336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12" name="Graphic 11" descr="Cat">
            <a:extLst>
              <a:ext uri="{FF2B5EF4-FFF2-40B4-BE49-F238E27FC236}">
                <a16:creationId xmlns:a16="http://schemas.microsoft.com/office/drawing/2014/main" id="{1340B94A-C891-462D-A50C-51A3DDCE49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756" y="5197089"/>
            <a:ext cx="914400" cy="914400"/>
          </a:xfrm>
          <a:prstGeom prst="rect">
            <a:avLst/>
          </a:prstGeom>
        </p:spPr>
      </p:pic>
      <p:pic>
        <p:nvPicPr>
          <p:cNvPr id="14" name="Picture 13" descr="A picture containing clock&#10;&#10;Description automatically generated">
            <a:extLst>
              <a:ext uri="{FF2B5EF4-FFF2-40B4-BE49-F238E27FC236}">
                <a16:creationId xmlns:a16="http://schemas.microsoft.com/office/drawing/2014/main" id="{1BCAFFAF-8034-4611-90D4-576D5657F4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84582" y="5530067"/>
            <a:ext cx="4108712" cy="1621539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CBDF63D7-D3EA-43A7-B402-C895353CE678}"/>
              </a:ext>
            </a:extLst>
          </p:cNvPr>
          <p:cNvSpPr/>
          <p:nvPr/>
        </p:nvSpPr>
        <p:spPr>
          <a:xfrm>
            <a:off x="3071672" y="65374"/>
            <a:ext cx="2583572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>
                <a:solidFill>
                  <a:schemeClr val="tx1"/>
                </a:solidFill>
              </a:rPr>
              <a:t>Links to …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73278B-5F7B-43C5-A0CA-3564967C63CC}"/>
              </a:ext>
            </a:extLst>
          </p:cNvPr>
          <p:cNvSpPr txBox="1"/>
          <p:nvPr/>
        </p:nvSpPr>
        <p:spPr>
          <a:xfrm>
            <a:off x="3338002" y="592423"/>
            <a:ext cx="818521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 b="1"/>
              <a:t>THE WORKSHOP MATERIALS</a:t>
            </a:r>
          </a:p>
          <a:p>
            <a:pPr algn="ctr"/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your Course/Bachelor Thesis</a:t>
            </a:r>
            <a:endParaRPr lang="en-US"/>
          </a:p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FDE3F7-CBB3-451E-B1AF-4C0B24847519}"/>
              </a:ext>
            </a:extLst>
          </p:cNvPr>
          <p:cNvSpPr txBox="1"/>
          <p:nvPr/>
        </p:nvSpPr>
        <p:spPr>
          <a:xfrm>
            <a:off x="8425086" y="5289421"/>
            <a:ext cx="65" cy="276999"/>
          </a:xfrm>
          <a:prstGeom prst="rect">
            <a:avLst/>
          </a:prstGeom>
          <a:solidFill>
            <a:srgbClr val="FF0000"/>
          </a:solidFill>
        </p:spPr>
        <p:txBody>
          <a:bodyPr wrap="none" lIns="0" tIns="0" rIns="0" bIns="0" rtlCol="0">
            <a:spAutoFit/>
          </a:bodyPr>
          <a:lstStyle/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582880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17019E-8D20-4148-96C2-DFA0305742D9}"/>
              </a:ext>
            </a:extLst>
          </p:cNvPr>
          <p:cNvSpPr/>
          <p:nvPr/>
        </p:nvSpPr>
        <p:spPr>
          <a:xfrm>
            <a:off x="577195" y="2721957"/>
            <a:ext cx="11040784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How to Open your Data &amp; Analyses</a:t>
            </a:r>
            <a:endParaRPr lang="nl-NL" sz="3600" kern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0262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0038C379-91DA-438E-B0FB-0898B19E8A7A}"/>
              </a:ext>
            </a:extLst>
          </p:cNvPr>
          <p:cNvSpPr/>
          <p:nvPr/>
        </p:nvSpPr>
        <p:spPr>
          <a:xfrm>
            <a:off x="460734" y="1432979"/>
            <a:ext cx="4654291" cy="152435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FA93530-03E8-4E47-A951-DC87EBA3C527}"/>
              </a:ext>
            </a:extLst>
          </p:cNvPr>
          <p:cNvSpPr/>
          <p:nvPr/>
        </p:nvSpPr>
        <p:spPr>
          <a:xfrm>
            <a:off x="553482" y="334958"/>
            <a:ext cx="11088209" cy="566470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>
                <a:solidFill>
                  <a:schemeClr val="tx1"/>
                </a:solidFill>
              </a:rPr>
              <a:t>An Experiment and its Replication</a:t>
            </a:r>
            <a:endParaRPr lang="nl-NL" sz="3600" kern="1200">
              <a:solidFill>
                <a:schemeClr val="tx1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B841DC-B158-4F6E-AFBF-0078089E5D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530" y="3076772"/>
            <a:ext cx="4838700" cy="362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B735B04F-473E-444E-83E7-9D8DFED8DB4E}"/>
              </a:ext>
            </a:extLst>
          </p:cNvPr>
          <p:cNvSpPr/>
          <p:nvPr/>
        </p:nvSpPr>
        <p:spPr>
          <a:xfrm>
            <a:off x="3201880" y="4618378"/>
            <a:ext cx="133165" cy="14204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DC09956-C901-49D4-BBEF-B76AFBC7A5B2}"/>
              </a:ext>
            </a:extLst>
          </p:cNvPr>
          <p:cNvSpPr/>
          <p:nvPr/>
        </p:nvSpPr>
        <p:spPr>
          <a:xfrm>
            <a:off x="2894966" y="4341691"/>
            <a:ext cx="133165" cy="14204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6A5FAE2-16E0-4B70-B049-2BAF16EFA285}"/>
              </a:ext>
            </a:extLst>
          </p:cNvPr>
          <p:cNvSpPr/>
          <p:nvPr/>
        </p:nvSpPr>
        <p:spPr>
          <a:xfrm>
            <a:off x="3645564" y="4618377"/>
            <a:ext cx="133165" cy="14204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6A1E71F-4BCA-46FA-B9D1-270784A2871A}"/>
              </a:ext>
            </a:extLst>
          </p:cNvPr>
          <p:cNvSpPr/>
          <p:nvPr/>
        </p:nvSpPr>
        <p:spPr>
          <a:xfrm>
            <a:off x="4265324" y="3358820"/>
            <a:ext cx="133165" cy="14204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6C56018A-97B7-42FE-BBA8-698F384C8C28}"/>
              </a:ext>
            </a:extLst>
          </p:cNvPr>
          <p:cNvSpPr/>
          <p:nvPr/>
        </p:nvSpPr>
        <p:spPr>
          <a:xfrm>
            <a:off x="3338791" y="3992921"/>
            <a:ext cx="133165" cy="142043"/>
          </a:xfrm>
          <a:prstGeom prst="ellipse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4244CE1-E1AD-407D-A0CF-74C0FD781A1E}"/>
              </a:ext>
            </a:extLst>
          </p:cNvPr>
          <p:cNvSpPr/>
          <p:nvPr/>
        </p:nvSpPr>
        <p:spPr>
          <a:xfrm>
            <a:off x="4580284" y="3657911"/>
            <a:ext cx="133165" cy="142043"/>
          </a:xfrm>
          <a:prstGeom prst="ellipse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CA6ECAE-A0BD-4F48-B8E5-8B579E812E95}"/>
              </a:ext>
            </a:extLst>
          </p:cNvPr>
          <p:cNvSpPr txBox="1"/>
          <p:nvPr/>
        </p:nvSpPr>
        <p:spPr>
          <a:xfrm>
            <a:off x="5851594" y="6151799"/>
            <a:ext cx="6249315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/>
              <a:t>The description given here is a modification of and inspired by the actual experiment executed by</a:t>
            </a:r>
          </a:p>
          <a:p>
            <a:r>
              <a:rPr lang="en-US" sz="1200"/>
              <a:t>Williams, L.E. and </a:t>
            </a:r>
            <a:r>
              <a:rPr lang="en-US" sz="1200" err="1"/>
              <a:t>Bargh</a:t>
            </a:r>
            <a:r>
              <a:rPr lang="en-US" sz="1200"/>
              <a:t>, J.A. (2008). Keeping One’s Distance. The Influence of Spatial Distance Cues on Affect and Evaluation. </a:t>
            </a:r>
            <a:r>
              <a:rPr lang="en-US" sz="1200" i="1"/>
              <a:t>Psychological Science, 19,</a:t>
            </a:r>
            <a:r>
              <a:rPr lang="en-US" sz="1200"/>
              <a:t> 302-308.</a:t>
            </a:r>
          </a:p>
        </p:txBody>
      </p:sp>
      <p:pic>
        <p:nvPicPr>
          <p:cNvPr id="23" name="Graphic 22" descr="Cat">
            <a:extLst>
              <a:ext uri="{FF2B5EF4-FFF2-40B4-BE49-F238E27FC236}">
                <a16:creationId xmlns:a16="http://schemas.microsoft.com/office/drawing/2014/main" id="{358EECC4-C2AE-4257-83C2-F65A2A809C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19358" y="4618377"/>
            <a:ext cx="508773" cy="461665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410B0A80-5EE7-4114-A7BE-30DE67756BCD}"/>
              </a:ext>
            </a:extLst>
          </p:cNvPr>
          <p:cNvGrpSpPr/>
          <p:nvPr/>
        </p:nvGrpSpPr>
        <p:grpSpPr>
          <a:xfrm>
            <a:off x="863528" y="1826383"/>
            <a:ext cx="4552101" cy="899978"/>
            <a:chOff x="1425143" y="1729623"/>
            <a:chExt cx="4552101" cy="913575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A3501F0F-DCEB-44F8-902F-10A15A52B5D7}"/>
                </a:ext>
              </a:extLst>
            </p:cNvPr>
            <p:cNvSpPr txBox="1"/>
            <p:nvPr/>
          </p:nvSpPr>
          <p:spPr>
            <a:xfrm>
              <a:off x="1849127" y="1729623"/>
              <a:ext cx="412811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The “close” condition </a:t>
              </a:r>
              <a:endParaRPr lang="nl-NL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B272470-7897-4FCD-9B5C-B80676C84591}"/>
                </a:ext>
              </a:extLst>
            </p:cNvPr>
            <p:cNvSpPr txBox="1"/>
            <p:nvPr/>
          </p:nvSpPr>
          <p:spPr>
            <a:xfrm>
              <a:off x="1849127" y="2023442"/>
              <a:ext cx="4128117" cy="208114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The “intermediate” condition </a:t>
              </a:r>
              <a:endParaRPr lang="nl-NL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DF4422A-E1F6-4A28-8DD9-EC52F007C981}"/>
                </a:ext>
              </a:extLst>
            </p:cNvPr>
            <p:cNvSpPr txBox="1"/>
            <p:nvPr/>
          </p:nvSpPr>
          <p:spPr>
            <a:xfrm>
              <a:off x="1849127" y="2366199"/>
              <a:ext cx="4128117" cy="276999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/>
                <a:t>The “distant” condition </a:t>
              </a:r>
              <a:endParaRPr lang="nl-NL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648001B-F1AE-4DC4-91E4-FB553D6C751C}"/>
                </a:ext>
              </a:extLst>
            </p:cNvPr>
            <p:cNvSpPr/>
            <p:nvPr/>
          </p:nvSpPr>
          <p:spPr>
            <a:xfrm>
              <a:off x="1425143" y="1797100"/>
              <a:ext cx="133165" cy="142043"/>
            </a:xfrm>
            <a:prstGeom prst="ellipse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8F18E639-E175-43B2-8D9B-F76E92AECA96}"/>
                </a:ext>
              </a:extLst>
            </p:cNvPr>
            <p:cNvSpPr/>
            <p:nvPr/>
          </p:nvSpPr>
          <p:spPr>
            <a:xfrm>
              <a:off x="1434179" y="2123058"/>
              <a:ext cx="133165" cy="142043"/>
            </a:xfrm>
            <a:prstGeom prst="ellipse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55982E6E-557A-4E46-B020-BBF2C673EF20}"/>
                </a:ext>
              </a:extLst>
            </p:cNvPr>
            <p:cNvSpPr/>
            <p:nvPr/>
          </p:nvSpPr>
          <p:spPr>
            <a:xfrm>
              <a:off x="1434179" y="2419752"/>
              <a:ext cx="133165" cy="142043"/>
            </a:xfrm>
            <a:prstGeom prst="ellipse">
              <a:avLst/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0700949D-0EDE-4043-8B70-63F6893266B2}"/>
              </a:ext>
            </a:extLst>
          </p:cNvPr>
          <p:cNvSpPr/>
          <p:nvPr/>
        </p:nvSpPr>
        <p:spPr>
          <a:xfrm>
            <a:off x="6776878" y="1444173"/>
            <a:ext cx="4654291" cy="380169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5EF611E6-0B57-4A82-B624-B9F3F73C018F}"/>
              </a:ext>
            </a:extLst>
          </p:cNvPr>
          <p:cNvSpPr/>
          <p:nvPr/>
        </p:nvSpPr>
        <p:spPr>
          <a:xfrm>
            <a:off x="7326277" y="1178839"/>
            <a:ext cx="2106448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Participants Rated: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36832CC-B69C-434D-A737-B79D19F3B58F}"/>
              </a:ext>
            </a:extLst>
          </p:cNvPr>
          <p:cNvSpPr txBox="1"/>
          <p:nvPr/>
        </p:nvSpPr>
        <p:spPr>
          <a:xfrm>
            <a:off x="8316445" y="1790320"/>
            <a:ext cx="1413592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/>
              <a:t>Attachment 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Siblings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Parents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Home-town</a:t>
            </a:r>
            <a:endParaRPr lang="nl-NL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69E249D-D2E3-4177-A490-5FBDF79608CC}"/>
              </a:ext>
            </a:extLst>
          </p:cNvPr>
          <p:cNvSpPr txBox="1"/>
          <p:nvPr/>
        </p:nvSpPr>
        <p:spPr>
          <a:xfrm>
            <a:off x="6819748" y="3128688"/>
            <a:ext cx="4367682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/>
              <a:t>on a</a:t>
            </a:r>
          </a:p>
          <a:p>
            <a:pPr algn="ctr"/>
            <a:r>
              <a:rPr lang="en-US"/>
              <a:t>1 (not at all strong) – 7 (extremely strong)</a:t>
            </a:r>
          </a:p>
          <a:p>
            <a:pPr algn="ctr"/>
            <a:r>
              <a:rPr lang="en-US"/>
              <a:t>Likert scale</a:t>
            </a:r>
            <a:endParaRPr lang="nl-NL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4198445-7DEB-4CAB-8D6A-748BF9C37BE7}"/>
              </a:ext>
            </a:extLst>
          </p:cNvPr>
          <p:cNvSpPr txBox="1"/>
          <p:nvPr/>
        </p:nvSpPr>
        <p:spPr>
          <a:xfrm flipH="1">
            <a:off x="7075187" y="4202878"/>
            <a:ext cx="4166815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/>
              <a:t>which are averaged to obtain </a:t>
            </a:r>
          </a:p>
          <a:p>
            <a:pPr algn="ctr"/>
            <a:r>
              <a:rPr lang="en-US"/>
              <a:t>the dependent variable</a:t>
            </a:r>
          </a:p>
          <a:p>
            <a:pPr algn="ctr"/>
            <a:r>
              <a:rPr lang="en-US"/>
              <a:t>attachment</a:t>
            </a:r>
            <a:endParaRPr lang="nl-NL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C4102285-B143-4C10-8A99-2B149B15BD76}"/>
              </a:ext>
            </a:extLst>
          </p:cNvPr>
          <p:cNvSpPr/>
          <p:nvPr/>
        </p:nvSpPr>
        <p:spPr>
          <a:xfrm>
            <a:off x="781902" y="1178532"/>
            <a:ext cx="3918823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An experiment with three conditions:</a:t>
            </a:r>
            <a:endParaRPr lang="nl-NL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09328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D621E382-2D9C-4321-818E-F3D47BB23A4E}"/>
              </a:ext>
            </a:extLst>
          </p:cNvPr>
          <p:cNvGrpSpPr/>
          <p:nvPr/>
        </p:nvGrpSpPr>
        <p:grpSpPr>
          <a:xfrm>
            <a:off x="191903" y="536151"/>
            <a:ext cx="5315518" cy="5801587"/>
            <a:chOff x="2457812" y="1308025"/>
            <a:chExt cx="7279550" cy="4927354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6495049-47C0-46C6-927A-1066BACD4EC7}"/>
                </a:ext>
              </a:extLst>
            </p:cNvPr>
            <p:cNvSpPr/>
            <p:nvPr/>
          </p:nvSpPr>
          <p:spPr>
            <a:xfrm>
              <a:off x="2457812" y="1518935"/>
              <a:ext cx="7279550" cy="4716444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37279C5C-1EC7-40DD-BD28-A2156257802B}"/>
                </a:ext>
              </a:extLst>
            </p:cNvPr>
            <p:cNvSpPr/>
            <p:nvPr/>
          </p:nvSpPr>
          <p:spPr>
            <a:xfrm>
              <a:off x="2892611" y="1308025"/>
              <a:ext cx="4887192" cy="472320"/>
            </a:xfrm>
            <a:custGeom>
              <a:avLst/>
              <a:gdLst>
                <a:gd name="connsiteX0" fmla="*/ 0 w 3816647"/>
                <a:gd name="connsiteY0" fmla="*/ 78722 h 472320"/>
                <a:gd name="connsiteX1" fmla="*/ 78722 w 3816647"/>
                <a:gd name="connsiteY1" fmla="*/ 0 h 472320"/>
                <a:gd name="connsiteX2" fmla="*/ 3737925 w 3816647"/>
                <a:gd name="connsiteY2" fmla="*/ 0 h 472320"/>
                <a:gd name="connsiteX3" fmla="*/ 3816647 w 3816647"/>
                <a:gd name="connsiteY3" fmla="*/ 78722 h 472320"/>
                <a:gd name="connsiteX4" fmla="*/ 3816647 w 3816647"/>
                <a:gd name="connsiteY4" fmla="*/ 393598 h 472320"/>
                <a:gd name="connsiteX5" fmla="*/ 3737925 w 3816647"/>
                <a:gd name="connsiteY5" fmla="*/ 472320 h 472320"/>
                <a:gd name="connsiteX6" fmla="*/ 78722 w 3816647"/>
                <a:gd name="connsiteY6" fmla="*/ 472320 h 472320"/>
                <a:gd name="connsiteX7" fmla="*/ 0 w 3816647"/>
                <a:gd name="connsiteY7" fmla="*/ 393598 h 472320"/>
                <a:gd name="connsiteX8" fmla="*/ 0 w 3816647"/>
                <a:gd name="connsiteY8" fmla="*/ 78722 h 47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6647" h="472320">
                  <a:moveTo>
                    <a:pt x="0" y="78722"/>
                  </a:moveTo>
                  <a:cubicBezTo>
                    <a:pt x="0" y="35245"/>
                    <a:pt x="35245" y="0"/>
                    <a:pt x="78722" y="0"/>
                  </a:cubicBezTo>
                  <a:lnTo>
                    <a:pt x="3737925" y="0"/>
                  </a:lnTo>
                  <a:cubicBezTo>
                    <a:pt x="3781402" y="0"/>
                    <a:pt x="3816647" y="35245"/>
                    <a:pt x="3816647" y="78722"/>
                  </a:cubicBezTo>
                  <a:lnTo>
                    <a:pt x="3816647" y="393598"/>
                  </a:lnTo>
                  <a:cubicBezTo>
                    <a:pt x="3816647" y="437075"/>
                    <a:pt x="3781402" y="472320"/>
                    <a:pt x="3737925" y="472320"/>
                  </a:cubicBezTo>
                  <a:lnTo>
                    <a:pt x="78722" y="472320"/>
                  </a:lnTo>
                  <a:cubicBezTo>
                    <a:pt x="35245" y="472320"/>
                    <a:pt x="0" y="437075"/>
                    <a:pt x="0" y="393598"/>
                  </a:cubicBezTo>
                  <a:lnTo>
                    <a:pt x="0" y="7872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7317" tIns="23057" rIns="167317" bIns="23057" numCol="1" spcCol="1270" anchor="ctr" anchorCtr="0">
              <a:no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Williams and </a:t>
              </a:r>
              <a:r>
                <a:rPr lang="en-US" err="1">
                  <a:solidFill>
                    <a:schemeClr val="tx1"/>
                  </a:solidFill>
                </a:rPr>
                <a:t>Bargh</a:t>
              </a:r>
              <a:r>
                <a:rPr lang="en-US">
                  <a:solidFill>
                    <a:schemeClr val="tx1"/>
                  </a:solidFill>
                </a:rPr>
                <a:t> (2008) tested: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89E283D6-4BB9-4DCB-B9F7-53960B4F8960}"/>
              </a:ext>
            </a:extLst>
          </p:cNvPr>
          <p:cNvSpPr txBox="1"/>
          <p:nvPr/>
        </p:nvSpPr>
        <p:spPr>
          <a:xfrm flipH="1">
            <a:off x="191902" y="1308522"/>
            <a:ext cx="5294473" cy="498598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r>
              <a:rPr lang="en-US"/>
              <a:t>H</a:t>
            </a:r>
            <a:r>
              <a:rPr lang="en-US" baseline="-25000"/>
              <a:t>0</a:t>
            </a:r>
            <a:r>
              <a:rPr lang="en-US"/>
              <a:t>: µ</a:t>
            </a:r>
            <a:r>
              <a:rPr lang="en-US" baseline="-25000"/>
              <a:t>close</a:t>
            </a:r>
            <a:r>
              <a:rPr lang="en-US"/>
              <a:t>=</a:t>
            </a:r>
            <a:r>
              <a:rPr lang="en-US" baseline="-25000"/>
              <a:t> </a:t>
            </a:r>
            <a:r>
              <a:rPr lang="en-US"/>
              <a:t>µ</a:t>
            </a:r>
            <a:r>
              <a:rPr lang="en-US" baseline="-25000"/>
              <a:t>intermediate</a:t>
            </a:r>
            <a:r>
              <a:rPr lang="en-US"/>
              <a:t> = µ</a:t>
            </a:r>
            <a:r>
              <a:rPr lang="en-US" baseline="-25000"/>
              <a:t>distant </a:t>
            </a:r>
            <a:r>
              <a:rPr lang="en-US"/>
              <a:t>, </a:t>
            </a:r>
          </a:p>
          <a:p>
            <a:pPr algn="ctr"/>
            <a:r>
              <a:rPr lang="en-US"/>
              <a:t>that is, the three means are equal</a:t>
            </a:r>
          </a:p>
          <a:p>
            <a:pPr algn="ctr"/>
            <a:endParaRPr lang="en-US"/>
          </a:p>
          <a:p>
            <a:pPr algn="ctr"/>
            <a:r>
              <a:rPr lang="en-US"/>
              <a:t>rendering</a:t>
            </a:r>
          </a:p>
          <a:p>
            <a:pPr algn="ctr"/>
            <a:endParaRPr lang="en-US"/>
          </a:p>
          <a:p>
            <a:pPr algn="ctr"/>
            <a:r>
              <a:rPr lang="en-US"/>
              <a:t>p-value = .01, that is, smaller than .05, </a:t>
            </a:r>
          </a:p>
          <a:p>
            <a:pPr algn="ctr"/>
            <a:r>
              <a:rPr lang="en-US"/>
              <a:t>that is, the means are significantly different</a:t>
            </a:r>
          </a:p>
          <a:p>
            <a:pPr algn="ctr"/>
            <a:endParaRPr lang="en-US"/>
          </a:p>
          <a:p>
            <a:pPr algn="ctr"/>
            <a:r>
              <a:rPr lang="en-US"/>
              <a:t>with</a:t>
            </a:r>
          </a:p>
          <a:p>
            <a:pPr algn="ctr"/>
            <a:endParaRPr lang="en-US"/>
          </a:p>
          <a:p>
            <a:pPr algn="ctr"/>
            <a:r>
              <a:rPr lang="en-US" err="1"/>
              <a:t>m</a:t>
            </a:r>
            <a:r>
              <a:rPr lang="en-US" baseline="-25000" err="1"/>
              <a:t>close</a:t>
            </a:r>
            <a:r>
              <a:rPr lang="en-US" baseline="-25000"/>
              <a:t> </a:t>
            </a:r>
            <a:r>
              <a:rPr lang="en-US"/>
              <a:t>= 5.61 , m</a:t>
            </a:r>
            <a:r>
              <a:rPr lang="en-US" baseline="-25000"/>
              <a:t>intermediate </a:t>
            </a:r>
            <a:r>
              <a:rPr lang="en-US"/>
              <a:t> =       , </a:t>
            </a:r>
            <a:r>
              <a:rPr lang="en-US" err="1"/>
              <a:t>m</a:t>
            </a:r>
            <a:r>
              <a:rPr lang="en-US" baseline="-25000" err="1"/>
              <a:t>distant</a:t>
            </a:r>
            <a:r>
              <a:rPr lang="en-US"/>
              <a:t> = 4.86</a:t>
            </a:r>
          </a:p>
          <a:p>
            <a:pPr algn="ctr"/>
            <a:endParaRPr lang="en-US"/>
          </a:p>
          <a:p>
            <a:pPr algn="ctr"/>
            <a:r>
              <a:rPr lang="en-US"/>
              <a:t>and</a:t>
            </a:r>
          </a:p>
          <a:p>
            <a:pPr algn="ctr"/>
            <a:endParaRPr lang="en-US"/>
          </a:p>
          <a:p>
            <a:pPr algn="ctr"/>
            <a:r>
              <a:rPr lang="el-GR"/>
              <a:t>η</a:t>
            </a:r>
            <a:r>
              <a:rPr lang="en-US" baseline="30000"/>
              <a:t>2</a:t>
            </a:r>
            <a:r>
              <a:rPr lang="en-US"/>
              <a:t> = .11 , </a:t>
            </a:r>
          </a:p>
          <a:p>
            <a:pPr algn="ctr"/>
            <a:r>
              <a:rPr lang="en-US"/>
              <a:t>that is, the three conditions explain </a:t>
            </a:r>
          </a:p>
          <a:p>
            <a:pPr algn="ctr"/>
            <a:r>
              <a:rPr lang="en-US"/>
              <a:t>11% of the variation in attachment, </a:t>
            </a:r>
          </a:p>
          <a:p>
            <a:pPr algn="ctr"/>
            <a:r>
              <a:rPr lang="en-US"/>
              <a:t>which is a medium to strong effect of condition</a:t>
            </a:r>
          </a:p>
        </p:txBody>
      </p:sp>
      <p:pic>
        <p:nvPicPr>
          <p:cNvPr id="12" name="Graphic 11" descr="Cat">
            <a:extLst>
              <a:ext uri="{FF2B5EF4-FFF2-40B4-BE49-F238E27FC236}">
                <a16:creationId xmlns:a16="http://schemas.microsoft.com/office/drawing/2014/main" id="{9776E1BD-4B78-4521-813A-224FB0B56E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68585" y="3882987"/>
            <a:ext cx="508773" cy="461665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DA2F202-D94C-48DD-9D75-EA6E9462F77A}"/>
              </a:ext>
            </a:extLst>
          </p:cNvPr>
          <p:cNvGrpSpPr/>
          <p:nvPr/>
        </p:nvGrpSpPr>
        <p:grpSpPr>
          <a:xfrm>
            <a:off x="6370264" y="520262"/>
            <a:ext cx="5315518" cy="5801587"/>
            <a:chOff x="2457812" y="1308025"/>
            <a:chExt cx="7279550" cy="4927354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C2A18EDB-5164-4A0B-A8CD-203EB1923F3C}"/>
                </a:ext>
              </a:extLst>
            </p:cNvPr>
            <p:cNvSpPr/>
            <p:nvPr/>
          </p:nvSpPr>
          <p:spPr>
            <a:xfrm>
              <a:off x="2457812" y="1518935"/>
              <a:ext cx="7279550" cy="4716444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NL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45379B22-E0E7-46F6-9B51-7084C7708563}"/>
                </a:ext>
              </a:extLst>
            </p:cNvPr>
            <p:cNvSpPr/>
            <p:nvPr/>
          </p:nvSpPr>
          <p:spPr>
            <a:xfrm>
              <a:off x="2892611" y="1308025"/>
              <a:ext cx="6659989" cy="472320"/>
            </a:xfrm>
            <a:custGeom>
              <a:avLst/>
              <a:gdLst>
                <a:gd name="connsiteX0" fmla="*/ 0 w 3816647"/>
                <a:gd name="connsiteY0" fmla="*/ 78722 h 472320"/>
                <a:gd name="connsiteX1" fmla="*/ 78722 w 3816647"/>
                <a:gd name="connsiteY1" fmla="*/ 0 h 472320"/>
                <a:gd name="connsiteX2" fmla="*/ 3737925 w 3816647"/>
                <a:gd name="connsiteY2" fmla="*/ 0 h 472320"/>
                <a:gd name="connsiteX3" fmla="*/ 3816647 w 3816647"/>
                <a:gd name="connsiteY3" fmla="*/ 78722 h 472320"/>
                <a:gd name="connsiteX4" fmla="*/ 3816647 w 3816647"/>
                <a:gd name="connsiteY4" fmla="*/ 393598 h 472320"/>
                <a:gd name="connsiteX5" fmla="*/ 3737925 w 3816647"/>
                <a:gd name="connsiteY5" fmla="*/ 472320 h 472320"/>
                <a:gd name="connsiteX6" fmla="*/ 78722 w 3816647"/>
                <a:gd name="connsiteY6" fmla="*/ 472320 h 472320"/>
                <a:gd name="connsiteX7" fmla="*/ 0 w 3816647"/>
                <a:gd name="connsiteY7" fmla="*/ 393598 h 472320"/>
                <a:gd name="connsiteX8" fmla="*/ 0 w 3816647"/>
                <a:gd name="connsiteY8" fmla="*/ 78722 h 47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6647" h="472320">
                  <a:moveTo>
                    <a:pt x="0" y="78722"/>
                  </a:moveTo>
                  <a:cubicBezTo>
                    <a:pt x="0" y="35245"/>
                    <a:pt x="35245" y="0"/>
                    <a:pt x="78722" y="0"/>
                  </a:cubicBezTo>
                  <a:lnTo>
                    <a:pt x="3737925" y="0"/>
                  </a:lnTo>
                  <a:cubicBezTo>
                    <a:pt x="3781402" y="0"/>
                    <a:pt x="3816647" y="35245"/>
                    <a:pt x="3816647" y="78722"/>
                  </a:cubicBezTo>
                  <a:lnTo>
                    <a:pt x="3816647" y="393598"/>
                  </a:lnTo>
                  <a:cubicBezTo>
                    <a:pt x="3816647" y="437075"/>
                    <a:pt x="3781402" y="472320"/>
                    <a:pt x="3737925" y="472320"/>
                  </a:cubicBezTo>
                  <a:lnTo>
                    <a:pt x="78722" y="472320"/>
                  </a:lnTo>
                  <a:cubicBezTo>
                    <a:pt x="35245" y="472320"/>
                    <a:pt x="0" y="437075"/>
                    <a:pt x="0" y="393598"/>
                  </a:cubicBezTo>
                  <a:lnTo>
                    <a:pt x="0" y="7872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7317" tIns="23057" rIns="167317" bIns="23057" numCol="1" spcCol="1270" anchor="ctr" anchorCtr="0">
              <a:noAutofit/>
            </a:bodyPr>
            <a:lstStyle/>
            <a:p>
              <a:r>
                <a:rPr lang="en-US">
                  <a:solidFill>
                    <a:schemeClr val="tx1"/>
                  </a:solidFill>
                </a:rPr>
                <a:t>The replication by Joy-Gaba, Clay, and Cleary (2016) rendered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5AF8BB68-FA07-47E1-98AD-B4D6F6C340EE}"/>
              </a:ext>
            </a:extLst>
          </p:cNvPr>
          <p:cNvSpPr txBox="1"/>
          <p:nvPr/>
        </p:nvSpPr>
        <p:spPr>
          <a:xfrm flipH="1">
            <a:off x="6370263" y="1292633"/>
            <a:ext cx="5294473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n-US"/>
              <a:t>p-value = .79 </a:t>
            </a:r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r>
              <a:rPr lang="el-GR"/>
              <a:t>η</a:t>
            </a:r>
            <a:r>
              <a:rPr lang="en-US" baseline="30000"/>
              <a:t>2</a:t>
            </a:r>
            <a:r>
              <a:rPr lang="en-US"/>
              <a:t> = .00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B1CD98-9B52-4F86-A95A-5699208E22B0}"/>
              </a:ext>
            </a:extLst>
          </p:cNvPr>
          <p:cNvSpPr/>
          <p:nvPr/>
        </p:nvSpPr>
        <p:spPr>
          <a:xfrm>
            <a:off x="6581700" y="5447245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n-US" sz="1200"/>
              <a:t>Joy-Gaba, J., Clay, R., and Cleary, H. (2016). Replication of keeping one’s </a:t>
            </a:r>
          </a:p>
          <a:p>
            <a:pPr algn="just"/>
            <a:r>
              <a:rPr lang="en-US" sz="1200"/>
              <a:t>distance: The influence of spatial distance cues on affect and evaluation by </a:t>
            </a:r>
          </a:p>
          <a:p>
            <a:pPr algn="just"/>
            <a:r>
              <a:rPr lang="en-US" sz="1200"/>
              <a:t>Williams L.E. and </a:t>
            </a:r>
            <a:r>
              <a:rPr lang="en-US" sz="1200" err="1"/>
              <a:t>Bargh</a:t>
            </a:r>
            <a:r>
              <a:rPr lang="en-US" sz="1200"/>
              <a:t> J.A. (2008) </a:t>
            </a:r>
            <a:r>
              <a:rPr lang="en-US" sz="1200" i="1"/>
              <a:t>Psychological Science, 19, </a:t>
            </a:r>
            <a:r>
              <a:rPr lang="en-US" sz="1200"/>
              <a:t>302-308). </a:t>
            </a:r>
          </a:p>
          <a:p>
            <a:pPr algn="just"/>
            <a:r>
              <a:rPr lang="en-US" sz="1200"/>
              <a:t>Retrieved from </a:t>
            </a:r>
            <a:r>
              <a:rPr lang="en-US" sz="1200">
                <a:hlinkClick r:id="rId5"/>
              </a:rPr>
              <a:t>https://osf.io/a78bm/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3722583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22" grpId="0"/>
      <p:bldP spid="11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6583A27-5AE0-4289-8EA7-9A8546AE751C}"/>
              </a:ext>
            </a:extLst>
          </p:cNvPr>
          <p:cNvSpPr/>
          <p:nvPr/>
        </p:nvSpPr>
        <p:spPr>
          <a:xfrm>
            <a:off x="2681633" y="1031187"/>
            <a:ext cx="6776975" cy="1651808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D451C3F-4F1F-4D2C-8A8E-309C97E93F66}"/>
              </a:ext>
            </a:extLst>
          </p:cNvPr>
          <p:cNvSpPr txBox="1"/>
          <p:nvPr/>
        </p:nvSpPr>
        <p:spPr>
          <a:xfrm>
            <a:off x="2839793" y="1160850"/>
            <a:ext cx="6618815" cy="138499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This is only one of 100 psychological experiments of which </a:t>
            </a:r>
            <a:br>
              <a:rPr lang="en-US"/>
            </a:br>
            <a:r>
              <a:rPr lang="en-US"/>
              <a:t>only about 33% were successfully replicated (OSC, 2015).</a:t>
            </a:r>
          </a:p>
          <a:p>
            <a:endParaRPr lang="en-US"/>
          </a:p>
          <a:p>
            <a:r>
              <a:rPr lang="en-US"/>
              <a:t>This resulted in a reduced trust in science by scientists and society: </a:t>
            </a:r>
            <a:br>
              <a:rPr lang="en-US"/>
            </a:br>
            <a:r>
              <a:rPr lang="en-US"/>
              <a:t>The replication crisis was born.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4D746D9-A349-4FE1-8D4F-BC593EE515AF}"/>
              </a:ext>
            </a:extLst>
          </p:cNvPr>
          <p:cNvSpPr/>
          <p:nvPr/>
        </p:nvSpPr>
        <p:spPr>
          <a:xfrm>
            <a:off x="420317" y="3414228"/>
            <a:ext cx="5452353" cy="1675151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59610444-8C40-4F05-960F-77675A87BE78}"/>
              </a:ext>
            </a:extLst>
          </p:cNvPr>
          <p:cNvSpPr/>
          <p:nvPr/>
        </p:nvSpPr>
        <p:spPr>
          <a:xfrm>
            <a:off x="987298" y="3189935"/>
            <a:ext cx="252305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Scientists are alerted: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0A072D0-BAEF-44BB-B4C6-F25AF06A6E5E}"/>
              </a:ext>
            </a:extLst>
          </p:cNvPr>
          <p:cNvSpPr txBox="1"/>
          <p:nvPr/>
        </p:nvSpPr>
        <p:spPr>
          <a:xfrm>
            <a:off x="420317" y="5666575"/>
            <a:ext cx="10584513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sz="1200"/>
              <a:t>Open Science Collaboration. (2015). Estimating the reproducibility of psychological science. </a:t>
            </a:r>
            <a:r>
              <a:rPr lang="fr-FR" sz="1200" i="1"/>
              <a:t>Science, 349</a:t>
            </a:r>
            <a:r>
              <a:rPr lang="fr-FR" sz="1200"/>
              <a:t>, 6251. </a:t>
            </a:r>
            <a:r>
              <a:rPr lang="fr-FR" sz="1200">
                <a:hlinkClick r:id="rId3"/>
              </a:rPr>
              <a:t>https://osf.io/ezcuj/</a:t>
            </a:r>
            <a:endParaRPr lang="fr-FR" sz="1200"/>
          </a:p>
          <a:p>
            <a:r>
              <a:rPr lang="fr-FR" sz="1200" err="1"/>
              <a:t>Errington</a:t>
            </a:r>
            <a:r>
              <a:rPr lang="fr-FR" sz="1200"/>
              <a:t>, T.M., </a:t>
            </a:r>
            <a:r>
              <a:rPr lang="fr-FR" sz="1200" err="1"/>
              <a:t>Iorns</a:t>
            </a:r>
            <a:r>
              <a:rPr lang="fr-FR" sz="1200"/>
              <a:t>, E., Gunn, W., Tan, F.E., Lomax, J., and </a:t>
            </a:r>
            <a:r>
              <a:rPr lang="fr-FR" sz="1200" err="1"/>
              <a:t>Nosek</a:t>
            </a:r>
            <a:r>
              <a:rPr lang="fr-FR" sz="1200"/>
              <a:t>, B.A. (2014). An open investigation of the </a:t>
            </a:r>
            <a:r>
              <a:rPr lang="fr-FR" sz="1200" err="1"/>
              <a:t>reproducibilty</a:t>
            </a:r>
            <a:r>
              <a:rPr lang="fr-FR" sz="1200"/>
              <a:t> of cancer </a:t>
            </a:r>
            <a:r>
              <a:rPr lang="fr-FR" sz="1200" err="1"/>
              <a:t>biology</a:t>
            </a:r>
            <a:r>
              <a:rPr lang="fr-FR" sz="1200"/>
              <a:t> </a:t>
            </a:r>
            <a:r>
              <a:rPr lang="fr-FR" sz="1200" err="1"/>
              <a:t>research</a:t>
            </a:r>
            <a:r>
              <a:rPr lang="fr-FR" sz="1200"/>
              <a:t>. </a:t>
            </a:r>
            <a:r>
              <a:rPr lang="fr-FR" sz="1200" i="1" err="1"/>
              <a:t>eLIFE</a:t>
            </a:r>
            <a:r>
              <a:rPr lang="fr-FR" sz="1200" i="1"/>
              <a:t>, </a:t>
            </a:r>
            <a:r>
              <a:rPr lang="pt-BR" sz="1200" i="1"/>
              <a:t>3</a:t>
            </a:r>
            <a:r>
              <a:rPr lang="pt-BR" sz="1200"/>
              <a:t>, e04333. 	</a:t>
            </a:r>
            <a:r>
              <a:rPr lang="pt-BR" sz="1200">
                <a:hlinkClick r:id="rId4"/>
              </a:rPr>
              <a:t>h</a:t>
            </a:r>
            <a:r>
              <a:rPr lang="fr-FR" sz="1200">
                <a:hlinkClick r:id="rId4"/>
              </a:rPr>
              <a:t>ttps://elifesciences.org/collections/9b1e83d1/reproducibility-project-cancer-biology</a:t>
            </a:r>
            <a:endParaRPr lang="fr-FR" sz="1200"/>
          </a:p>
          <a:p>
            <a:r>
              <a:rPr lang="fr-FR" sz="1200" err="1"/>
              <a:t>Volkskrant</a:t>
            </a:r>
            <a:r>
              <a:rPr lang="fr-FR" sz="1200"/>
              <a:t> (2016). </a:t>
            </a:r>
            <a:r>
              <a:rPr lang="fr-FR" sz="1200">
                <a:hlinkClick r:id="rId5"/>
              </a:rPr>
              <a:t>https://www.volkskrant.nl/columns-opinie/is-psychologie-wel-een-echte-wetenschap~b9978e6c</a:t>
            </a:r>
            <a:endParaRPr lang="fr-FR" sz="1200"/>
          </a:p>
          <a:p>
            <a:r>
              <a:rPr lang="nl-NL" sz="1200" err="1"/>
              <a:t>Rathenau</a:t>
            </a:r>
            <a:r>
              <a:rPr lang="nl-NL" sz="1200"/>
              <a:t> Instituut (2018). Public Trust in </a:t>
            </a:r>
            <a:r>
              <a:rPr lang="nl-NL" sz="1200" err="1"/>
              <a:t>Science</a:t>
            </a:r>
            <a:r>
              <a:rPr lang="nl-NL" sz="1200"/>
              <a:t>. </a:t>
            </a:r>
            <a:r>
              <a:rPr lang="nl-NL" sz="1200">
                <a:hlinkClick r:id="rId6"/>
              </a:rPr>
              <a:t>https://www.rathenau.nl/en/science-figures/impact/trust-science/public-trust-science</a:t>
            </a:r>
            <a:endParaRPr lang="nl-NL" sz="120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FDA3B5D-685F-4091-A055-87A3043C5768}"/>
              </a:ext>
            </a:extLst>
          </p:cNvPr>
          <p:cNvSpPr/>
          <p:nvPr/>
        </p:nvSpPr>
        <p:spPr>
          <a:xfrm>
            <a:off x="6380587" y="3429000"/>
            <a:ext cx="5452353" cy="1651808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A7E9F903-FFD1-440A-B9C2-3739A2C4796E}"/>
              </a:ext>
            </a:extLst>
          </p:cNvPr>
          <p:cNvSpPr/>
          <p:nvPr/>
        </p:nvSpPr>
        <p:spPr>
          <a:xfrm>
            <a:off x="6823077" y="3127739"/>
            <a:ext cx="2523056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“Society” is alerted: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FC04CE4-95E0-474E-8A13-52AF333EFD73}"/>
              </a:ext>
            </a:extLst>
          </p:cNvPr>
          <p:cNvSpPr txBox="1"/>
          <p:nvPr/>
        </p:nvSpPr>
        <p:spPr>
          <a:xfrm>
            <a:off x="6542170" y="3821819"/>
            <a:ext cx="5129186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Is psychology a real science? (Is </a:t>
            </a:r>
            <a:r>
              <a:rPr lang="en-US" err="1"/>
              <a:t>psychologie</a:t>
            </a:r>
            <a:r>
              <a:rPr lang="en-US"/>
              <a:t> </a:t>
            </a:r>
            <a:r>
              <a:rPr lang="en-US" err="1"/>
              <a:t>wel</a:t>
            </a:r>
            <a:r>
              <a:rPr lang="en-US"/>
              <a:t> </a:t>
            </a:r>
            <a:r>
              <a:rPr lang="en-US" err="1"/>
              <a:t>een</a:t>
            </a:r>
            <a:r>
              <a:rPr lang="en-US"/>
              <a:t> </a:t>
            </a:r>
            <a:r>
              <a:rPr lang="en-US" err="1"/>
              <a:t>echte</a:t>
            </a:r>
            <a:r>
              <a:rPr lang="en-US"/>
              <a:t> </a:t>
            </a:r>
            <a:r>
              <a:rPr lang="en-US" err="1"/>
              <a:t>wetenschap</a:t>
            </a:r>
            <a:r>
              <a:rPr lang="en-US"/>
              <a:t>, </a:t>
            </a:r>
            <a:r>
              <a:rPr lang="en-US" err="1"/>
              <a:t>Volkskrant</a:t>
            </a:r>
            <a:r>
              <a:rPr lang="en-US"/>
              <a:t>, 12-8-2016)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Public Trust in Science (Rathenau </a:t>
            </a:r>
            <a:r>
              <a:rPr lang="en-US" err="1"/>
              <a:t>Instituut</a:t>
            </a:r>
            <a:r>
              <a:rPr lang="en-US"/>
              <a:t>, August 28, 2018)</a:t>
            </a:r>
            <a:endParaRPr lang="nl-NL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9C1F4E5-D6DF-4D6C-9B27-0CC1BE5A0ADB}"/>
              </a:ext>
            </a:extLst>
          </p:cNvPr>
          <p:cNvSpPr txBox="1"/>
          <p:nvPr/>
        </p:nvSpPr>
        <p:spPr>
          <a:xfrm>
            <a:off x="735050" y="3821819"/>
            <a:ext cx="486968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Estimating the reproducibility of psychological science (OSC, 2015)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 open investigation of the reproducibility of cancer biology research (Errington et al., 2014)</a:t>
            </a:r>
            <a:endParaRPr lang="nl-NL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9DE5DB5-EEA2-4515-85DC-0959342BE369}"/>
              </a:ext>
            </a:extLst>
          </p:cNvPr>
          <p:cNvSpPr/>
          <p:nvPr/>
        </p:nvSpPr>
        <p:spPr>
          <a:xfrm>
            <a:off x="3831964" y="287164"/>
            <a:ext cx="4354589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The Replication Crisis</a:t>
            </a:r>
            <a:endParaRPr lang="nl-NL" sz="3600" kern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07421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2" grpId="0"/>
      <p:bldP spid="24" grpId="0" animBg="1"/>
      <p:bldP spid="25" grpId="0"/>
      <p:bldP spid="26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D7576AD-3661-4A27-9143-6825D8F0914B}"/>
              </a:ext>
            </a:extLst>
          </p:cNvPr>
          <p:cNvSpPr/>
          <p:nvPr/>
        </p:nvSpPr>
        <p:spPr>
          <a:xfrm>
            <a:off x="1142477" y="2233350"/>
            <a:ext cx="4808618" cy="3682541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0BDC0DD-DE55-45A0-9E0D-66D20AB18ED3}"/>
              </a:ext>
            </a:extLst>
          </p:cNvPr>
          <p:cNvSpPr/>
          <p:nvPr/>
        </p:nvSpPr>
        <p:spPr>
          <a:xfrm>
            <a:off x="1432849" y="1997190"/>
            <a:ext cx="3085093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… can easily be done using: 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95D9E5B8-5D1A-4B1F-9E6A-DEE25D8DF657}"/>
              </a:ext>
            </a:extLst>
          </p:cNvPr>
          <p:cNvSpPr/>
          <p:nvPr/>
        </p:nvSpPr>
        <p:spPr>
          <a:xfrm>
            <a:off x="553480" y="580219"/>
            <a:ext cx="11088209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dirty="0">
                <a:solidFill>
                  <a:schemeClr val="tx1"/>
                </a:solidFill>
              </a:rPr>
              <a:t>FAIR Data Analyses of your Thesis </a:t>
            </a:r>
            <a:endParaRPr lang="nl-NL" sz="3600" kern="1200" dirty="0">
              <a:solidFill>
                <a:schemeClr val="tx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D31257B-E30A-4D69-956A-120A0638648A}"/>
              </a:ext>
            </a:extLst>
          </p:cNvPr>
          <p:cNvSpPr/>
          <p:nvPr/>
        </p:nvSpPr>
        <p:spPr>
          <a:xfrm>
            <a:off x="7230268" y="2235189"/>
            <a:ext cx="3067829" cy="3680702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2A412BB5-F4AD-416A-9191-C886FDF6F029}"/>
              </a:ext>
            </a:extLst>
          </p:cNvPr>
          <p:cNvSpPr/>
          <p:nvPr/>
        </p:nvSpPr>
        <p:spPr>
          <a:xfrm>
            <a:off x="7520641" y="1999029"/>
            <a:ext cx="1665793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… applies to: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11" name="Picture 10" descr="Logo&#10;&#10;Description automatically generated">
            <a:extLst>
              <a:ext uri="{FF2B5EF4-FFF2-40B4-BE49-F238E27FC236}">
                <a16:creationId xmlns:a16="http://schemas.microsoft.com/office/drawing/2014/main" id="{E9ED5A87-86C2-4114-9671-B697E98FF1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3310" y="2886498"/>
            <a:ext cx="2506951" cy="101225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615D466-C5E6-46E4-9CF4-EA516963DBE3}"/>
              </a:ext>
            </a:extLst>
          </p:cNvPr>
          <p:cNvSpPr txBox="1"/>
          <p:nvPr/>
        </p:nvSpPr>
        <p:spPr>
          <a:xfrm>
            <a:off x="7363995" y="2886498"/>
            <a:ext cx="2854203" cy="276998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All research based on quantitative data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Any file type related to your research (e.g., dataset, pre-registration, tutorial, video, etc.)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CFCF79-EDAC-4324-AD3E-B7D24AE0533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3310" y="4451870"/>
            <a:ext cx="2506952" cy="943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22745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DBABB5F7-D7BC-4DDB-A860-4DFAEC2AE667}"/>
              </a:ext>
            </a:extLst>
          </p:cNvPr>
          <p:cNvSpPr/>
          <p:nvPr/>
        </p:nvSpPr>
        <p:spPr>
          <a:xfrm>
            <a:off x="553482" y="219874"/>
            <a:ext cx="11088209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Interoperable</a:t>
            </a:r>
            <a:endParaRPr lang="nl-NL" sz="3600" kern="1200">
              <a:solidFill>
                <a:schemeClr val="tx1"/>
              </a:solidFill>
            </a:endParaRPr>
          </a:p>
        </p:txBody>
      </p:sp>
      <p:pic>
        <p:nvPicPr>
          <p:cNvPr id="5" name="Picture 4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406F4238-46A1-4619-A5E7-C6C946FD92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482" y="1217209"/>
            <a:ext cx="8882283" cy="5290953"/>
          </a:xfrm>
          <a:prstGeom prst="rect">
            <a:avLst/>
          </a:prstGeom>
        </p:spPr>
      </p:pic>
      <p:pic>
        <p:nvPicPr>
          <p:cNvPr id="4" name="Graphic 3" descr="Cat">
            <a:extLst>
              <a:ext uri="{FF2B5EF4-FFF2-40B4-BE49-F238E27FC236}">
                <a16:creationId xmlns:a16="http://schemas.microsoft.com/office/drawing/2014/main" id="{A5A3BD3C-58E8-4BEC-9C81-BEC98B7EDB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97277" y="5943600"/>
            <a:ext cx="914400" cy="914400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8059A444-0248-4E84-8C1C-B9D965C1582E}"/>
              </a:ext>
            </a:extLst>
          </p:cNvPr>
          <p:cNvSpPr/>
          <p:nvPr/>
        </p:nvSpPr>
        <p:spPr>
          <a:xfrm>
            <a:off x="4994623" y="3605233"/>
            <a:ext cx="2325949" cy="51490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FF06C5D-D1A4-4403-B523-6717F634C666}"/>
              </a:ext>
            </a:extLst>
          </p:cNvPr>
          <p:cNvSpPr/>
          <p:nvPr/>
        </p:nvSpPr>
        <p:spPr>
          <a:xfrm>
            <a:off x="8922175" y="5650914"/>
            <a:ext cx="295614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 Crash Course into JASP </a:t>
            </a:r>
            <a:endParaRPr lang="en-US"/>
          </a:p>
          <a:p>
            <a:pPr algn="ctr"/>
            <a:r>
              <a:rPr lang="en-US"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JASP</a:t>
            </a:r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A0F9A8-9FCE-465D-8F6C-47669D6EAD11}"/>
              </a:ext>
            </a:extLst>
          </p:cNvPr>
          <p:cNvSpPr/>
          <p:nvPr/>
        </p:nvSpPr>
        <p:spPr>
          <a:xfrm>
            <a:off x="8922176" y="5419226"/>
            <a:ext cx="2956147" cy="10120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7560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6C13B85-EE42-4063-929D-40B3C0E1C576}"/>
              </a:ext>
            </a:extLst>
          </p:cNvPr>
          <p:cNvSpPr/>
          <p:nvPr/>
        </p:nvSpPr>
        <p:spPr>
          <a:xfrm>
            <a:off x="436526" y="2635792"/>
            <a:ext cx="11345662" cy="2556601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4D316F3-AAEB-423B-8756-E3AEA1F6427A}"/>
              </a:ext>
            </a:extLst>
          </p:cNvPr>
          <p:cNvSpPr/>
          <p:nvPr/>
        </p:nvSpPr>
        <p:spPr>
          <a:xfrm>
            <a:off x="617448" y="2365497"/>
            <a:ext cx="7718684" cy="54059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Fully Open Data Analyses: Include the CC0 1.0 Universal License With Your Data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E258B3B-B8ED-4228-9FF6-12EEAAA1A80C}"/>
              </a:ext>
            </a:extLst>
          </p:cNvPr>
          <p:cNvSpPr txBox="1"/>
          <p:nvPr/>
        </p:nvSpPr>
        <p:spPr>
          <a:xfrm>
            <a:off x="617147" y="3218243"/>
            <a:ext cx="10984421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The license can be included in your </a:t>
            </a:r>
            <a:r>
              <a:rPr lang="en-US" err="1"/>
              <a:t>mydata.jasp</a:t>
            </a:r>
            <a:r>
              <a:rPr lang="en-US"/>
              <a:t> file. </a:t>
            </a:r>
          </a:p>
          <a:p>
            <a:endParaRPr lang="en-US"/>
          </a:p>
          <a:p>
            <a:r>
              <a:rPr lang="en-US"/>
              <a:t>The CC0 1.0 Universal Public Domain Dedication: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Is truly open, that is, anybody can use your data for whatever purpose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If you include a reference to a paper or your contact information in the </a:t>
            </a:r>
            <a:r>
              <a:rPr lang="en-US" err="1"/>
              <a:t>mydata.jasp</a:t>
            </a:r>
            <a:r>
              <a:rPr lang="en-US"/>
              <a:t> file, </a:t>
            </a:r>
            <a:br>
              <a:rPr lang="en-US"/>
            </a:br>
            <a:r>
              <a:rPr lang="en-US"/>
              <a:t>anybody using your data can refer to you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5A930F0-CBAB-4397-BBCA-630738C79731}"/>
              </a:ext>
            </a:extLst>
          </p:cNvPr>
          <p:cNvSpPr/>
          <p:nvPr/>
        </p:nvSpPr>
        <p:spPr>
          <a:xfrm>
            <a:off x="312241" y="5414927"/>
            <a:ext cx="912011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/>
              <a:t>The CC0 1.0 Universal Public Domain Dedication: </a:t>
            </a:r>
            <a:r>
              <a:rPr lang="nl-NL" sz="1200">
                <a:hlinkClick r:id="rId2"/>
              </a:rPr>
              <a:t>https://creativecommons.org/publicdomain/zero/1.0/</a:t>
            </a:r>
            <a:endParaRPr lang="nl-NL" sz="1200"/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63F5351F-7035-4ED9-946B-4CD01C3D1746}"/>
              </a:ext>
            </a:extLst>
          </p:cNvPr>
          <p:cNvSpPr/>
          <p:nvPr/>
        </p:nvSpPr>
        <p:spPr>
          <a:xfrm>
            <a:off x="615625" y="402036"/>
            <a:ext cx="11088209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Reusable</a:t>
            </a:r>
            <a:endParaRPr lang="nl-NL" sz="3600" kern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6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FDCE7AB-D3F7-410B-AE8D-88C3A0A28A16}"/>
              </a:ext>
            </a:extLst>
          </p:cNvPr>
          <p:cNvSpPr/>
          <p:nvPr/>
        </p:nvSpPr>
        <p:spPr>
          <a:xfrm>
            <a:off x="2812252" y="2520449"/>
            <a:ext cx="7279550" cy="129694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90A489BB-FD9C-46B4-A422-3870CE9AA33E}"/>
              </a:ext>
            </a:extLst>
          </p:cNvPr>
          <p:cNvSpPr/>
          <p:nvPr/>
        </p:nvSpPr>
        <p:spPr>
          <a:xfrm>
            <a:off x="3582559" y="2194739"/>
            <a:ext cx="4741637" cy="651419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r>
              <a:rPr lang="en-US">
                <a:solidFill>
                  <a:schemeClr val="tx1"/>
                </a:solidFill>
              </a:rPr>
              <a:t>Joy-Gaba, Clay, and Cleary (2016) replicated </a:t>
            </a:r>
            <a:r>
              <a:rPr lang="en-US" err="1">
                <a:solidFill>
                  <a:schemeClr val="tx1"/>
                </a:solidFill>
              </a:rPr>
              <a:t>Willams</a:t>
            </a:r>
            <a:r>
              <a:rPr lang="en-US">
                <a:solidFill>
                  <a:schemeClr val="tx1"/>
                </a:solidFill>
              </a:rPr>
              <a:t> and </a:t>
            </a:r>
            <a:r>
              <a:rPr lang="en-US" err="1">
                <a:solidFill>
                  <a:schemeClr val="tx1"/>
                </a:solidFill>
              </a:rPr>
              <a:t>Bargh</a:t>
            </a:r>
            <a:r>
              <a:rPr lang="en-US">
                <a:solidFill>
                  <a:schemeClr val="tx1"/>
                </a:solidFill>
              </a:rPr>
              <a:t> (2008)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E7D12E-C9E5-4F03-96CD-F5C526CF6163}"/>
              </a:ext>
            </a:extLst>
          </p:cNvPr>
          <p:cNvSpPr txBox="1"/>
          <p:nvPr/>
        </p:nvSpPr>
        <p:spPr>
          <a:xfrm>
            <a:off x="3355097" y="4181822"/>
            <a:ext cx="6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8B9DC3-F94F-4E87-A19E-A85CF85B3632}"/>
              </a:ext>
            </a:extLst>
          </p:cNvPr>
          <p:cNvSpPr txBox="1"/>
          <p:nvPr/>
        </p:nvSpPr>
        <p:spPr>
          <a:xfrm>
            <a:off x="3036293" y="3235305"/>
            <a:ext cx="67399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The replication data and analyses are contained in </a:t>
            </a:r>
            <a:r>
              <a:rPr lang="en-US" err="1"/>
              <a:t>openJoyGaba.jasp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122A6960-42BC-4A0C-AF39-8C9C54B672B3}"/>
              </a:ext>
            </a:extLst>
          </p:cNvPr>
          <p:cNvSpPr/>
          <p:nvPr/>
        </p:nvSpPr>
        <p:spPr>
          <a:xfrm>
            <a:off x="691288" y="329855"/>
            <a:ext cx="11088209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Accessible</a:t>
            </a:r>
            <a:endParaRPr lang="nl-NL" sz="3600" kern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24276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3807"/>
    </mc:Choice>
    <mc:Fallback>
      <p:transition spd="slow" advTm="3807"/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F7ED6-1BCB-445F-85BD-851CB284C999}"/>
              </a:ext>
            </a:extLst>
          </p:cNvPr>
          <p:cNvSpPr/>
          <p:nvPr/>
        </p:nvSpPr>
        <p:spPr>
          <a:xfrm>
            <a:off x="1059033" y="453911"/>
            <a:ext cx="10996843" cy="628690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3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34D3AEC0-2C86-4424-813D-D0FB113D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8371" y="799148"/>
            <a:ext cx="10774748" cy="5826592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2C39B67-45D2-4A3E-AB63-9745A2914229}"/>
              </a:ext>
            </a:extLst>
          </p:cNvPr>
          <p:cNvSpPr/>
          <p:nvPr/>
        </p:nvSpPr>
        <p:spPr>
          <a:xfrm>
            <a:off x="1420427" y="211749"/>
            <a:ext cx="5539666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>
                <a:solidFill>
                  <a:schemeClr val="tx1"/>
                </a:solidFill>
              </a:rPr>
              <a:t>The Data Collected by Joy-Gaba, Clay, and Cleary (2016)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6" name="Graphic 5" descr="Cat">
            <a:extLst>
              <a:ext uri="{FF2B5EF4-FFF2-40B4-BE49-F238E27FC236}">
                <a16:creationId xmlns:a16="http://schemas.microsoft.com/office/drawing/2014/main" id="{F9FCA468-DA60-47C2-B782-16B73AFB8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AD764A7-B1DC-4AF4-9C9E-1517272A759C}"/>
              </a:ext>
            </a:extLst>
          </p:cNvPr>
          <p:cNvSpPr/>
          <p:nvPr/>
        </p:nvSpPr>
        <p:spPr>
          <a:xfrm>
            <a:off x="11668016" y="3804407"/>
            <a:ext cx="430207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973248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3963943-3EE9-4BA9-B088-97922568CA54}"/>
              </a:ext>
            </a:extLst>
          </p:cNvPr>
          <p:cNvSpPr/>
          <p:nvPr/>
        </p:nvSpPr>
        <p:spPr>
          <a:xfrm>
            <a:off x="3082277" y="2486697"/>
            <a:ext cx="5851865" cy="1539488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FB2577CD-E6CB-4D57-AE04-E53687082688}"/>
              </a:ext>
            </a:extLst>
          </p:cNvPr>
          <p:cNvSpPr/>
          <p:nvPr/>
        </p:nvSpPr>
        <p:spPr>
          <a:xfrm>
            <a:off x="3410316" y="2191028"/>
            <a:ext cx="5262629" cy="54059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 dirty="0">
                <a:solidFill>
                  <a:schemeClr val="tx1"/>
                </a:solidFill>
              </a:rPr>
              <a:t>Include a Codebook &amp; Annotations of your Analyses</a:t>
            </a:r>
            <a:endParaRPr lang="nl-NL" kern="1200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3E2A92-5FFF-4C27-9F09-53D69433CD22}"/>
              </a:ext>
            </a:extLst>
          </p:cNvPr>
          <p:cNvSpPr txBox="1"/>
          <p:nvPr/>
        </p:nvSpPr>
        <p:spPr>
          <a:xfrm>
            <a:off x="3449316" y="2976539"/>
            <a:ext cx="5117789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Explain using annotations which analyses were executed and what your interpretation of the outcomes was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7376242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F97931-AE26-47F1-9FE7-C3EF8B5A3C9A}"/>
              </a:ext>
            </a:extLst>
          </p:cNvPr>
          <p:cNvSpPr/>
          <p:nvPr/>
        </p:nvSpPr>
        <p:spPr>
          <a:xfrm>
            <a:off x="1059033" y="453911"/>
            <a:ext cx="10996843" cy="628690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9" name="Graphic 8" descr="Cat">
            <a:extLst>
              <a:ext uri="{FF2B5EF4-FFF2-40B4-BE49-F238E27FC236}">
                <a16:creationId xmlns:a16="http://schemas.microsoft.com/office/drawing/2014/main" id="{979CC908-DCD7-49D8-A89A-4B05D818400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4501A830-D4F5-418F-B5E1-86B7FCFE4DA5}"/>
              </a:ext>
            </a:extLst>
          </p:cNvPr>
          <p:cNvGrpSpPr/>
          <p:nvPr/>
        </p:nvGrpSpPr>
        <p:grpSpPr>
          <a:xfrm>
            <a:off x="1148286" y="817564"/>
            <a:ext cx="9898602" cy="5789760"/>
            <a:chOff x="1731146" y="850738"/>
            <a:chExt cx="9898602" cy="5789760"/>
          </a:xfrm>
        </p:grpSpPr>
        <p:pic>
          <p:nvPicPr>
            <p:cNvPr id="6" name="Picture 5" descr="Graphical user interface, text, application&#10;&#10;Description automatically generated">
              <a:extLst>
                <a:ext uri="{FF2B5EF4-FFF2-40B4-BE49-F238E27FC236}">
                  <a16:creationId xmlns:a16="http://schemas.microsoft.com/office/drawing/2014/main" id="{3A52DD50-38AB-4B55-8259-924968DB1C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r="18831" b="12206"/>
            <a:stretch/>
          </p:blipFill>
          <p:spPr>
            <a:xfrm>
              <a:off x="1731146" y="850738"/>
              <a:ext cx="9898602" cy="5789760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585759AB-6D24-4BDE-8822-49EF8CC17810}"/>
                </a:ext>
              </a:extLst>
            </p:cNvPr>
            <p:cNvSpPr/>
            <p:nvPr/>
          </p:nvSpPr>
          <p:spPr>
            <a:xfrm>
              <a:off x="6019060" y="1904585"/>
              <a:ext cx="1322773" cy="3994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9C7DECE-491B-4F7F-8C93-89390E60AC67}"/>
                </a:ext>
              </a:extLst>
            </p:cNvPr>
            <p:cNvSpPr/>
            <p:nvPr/>
          </p:nvSpPr>
          <p:spPr>
            <a:xfrm>
              <a:off x="6019060" y="2652530"/>
              <a:ext cx="1322773" cy="3994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D28BC51-E553-475E-A0E5-DD9AD18FF525}"/>
                </a:ext>
              </a:extLst>
            </p:cNvPr>
            <p:cNvSpPr/>
            <p:nvPr/>
          </p:nvSpPr>
          <p:spPr>
            <a:xfrm>
              <a:off x="6019059" y="3190901"/>
              <a:ext cx="1322773" cy="3994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B5ABE848-99A0-4AB0-9027-9D4672714236}"/>
                </a:ext>
              </a:extLst>
            </p:cNvPr>
            <p:cNvSpPr/>
            <p:nvPr/>
          </p:nvSpPr>
          <p:spPr>
            <a:xfrm>
              <a:off x="6047532" y="3512697"/>
              <a:ext cx="1322773" cy="3994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6E6D3C2-8C92-4F4B-935E-4B26D78B2E39}"/>
                </a:ext>
              </a:extLst>
            </p:cNvPr>
            <p:cNvSpPr/>
            <p:nvPr/>
          </p:nvSpPr>
          <p:spPr>
            <a:xfrm>
              <a:off x="6019059" y="5192440"/>
              <a:ext cx="1322773" cy="399495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" name="Oval 11">
            <a:extLst>
              <a:ext uri="{FF2B5EF4-FFF2-40B4-BE49-F238E27FC236}">
                <a16:creationId xmlns:a16="http://schemas.microsoft.com/office/drawing/2014/main" id="{CDC9F20D-3318-4E4E-8897-B197E2E4F2AB}"/>
              </a:ext>
            </a:extLst>
          </p:cNvPr>
          <p:cNvSpPr/>
          <p:nvPr/>
        </p:nvSpPr>
        <p:spPr>
          <a:xfrm>
            <a:off x="1318333" y="1494549"/>
            <a:ext cx="1549154" cy="5681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D324B284-5BC1-4D93-BB7C-D7F267D9733C}"/>
              </a:ext>
            </a:extLst>
          </p:cNvPr>
          <p:cNvSpPr/>
          <p:nvPr/>
        </p:nvSpPr>
        <p:spPr>
          <a:xfrm>
            <a:off x="1218257" y="4821322"/>
            <a:ext cx="1549154" cy="5681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D36487D-8F94-472C-9727-9D2AD7E436E8}"/>
              </a:ext>
            </a:extLst>
          </p:cNvPr>
          <p:cNvSpPr/>
          <p:nvPr/>
        </p:nvSpPr>
        <p:spPr>
          <a:xfrm>
            <a:off x="1059033" y="425631"/>
            <a:ext cx="10996843" cy="628690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22" name="Picture 21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D4D7724C-B8CF-435D-9227-FA2C6749EC4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18831" b="12206"/>
          <a:stretch/>
        </p:blipFill>
        <p:spPr>
          <a:xfrm>
            <a:off x="1078316" y="870172"/>
            <a:ext cx="9898602" cy="5789760"/>
          </a:xfrm>
          <a:prstGeom prst="rect">
            <a:avLst/>
          </a:prstGeom>
        </p:spPr>
      </p:pic>
      <p:sp>
        <p:nvSpPr>
          <p:cNvPr id="23" name="Oval 22">
            <a:extLst>
              <a:ext uri="{FF2B5EF4-FFF2-40B4-BE49-F238E27FC236}">
                <a16:creationId xmlns:a16="http://schemas.microsoft.com/office/drawing/2014/main" id="{43025180-5DC2-40E8-9653-4CE24DB360DF}"/>
              </a:ext>
            </a:extLst>
          </p:cNvPr>
          <p:cNvSpPr/>
          <p:nvPr/>
        </p:nvSpPr>
        <p:spPr>
          <a:xfrm>
            <a:off x="5420866" y="1910338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84CF7DF4-5DDD-41DC-BC40-2304B4CE701E}"/>
              </a:ext>
            </a:extLst>
          </p:cNvPr>
          <p:cNvSpPr/>
          <p:nvPr/>
        </p:nvSpPr>
        <p:spPr>
          <a:xfrm>
            <a:off x="5420866" y="2658283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1F66C593-4D93-453C-8201-2C9DEF4F755E}"/>
              </a:ext>
            </a:extLst>
          </p:cNvPr>
          <p:cNvSpPr/>
          <p:nvPr/>
        </p:nvSpPr>
        <p:spPr>
          <a:xfrm>
            <a:off x="5420865" y="3196654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745461DB-C943-455B-AD9A-1D234E201609}"/>
              </a:ext>
            </a:extLst>
          </p:cNvPr>
          <p:cNvSpPr/>
          <p:nvPr/>
        </p:nvSpPr>
        <p:spPr>
          <a:xfrm>
            <a:off x="5449338" y="3518450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2B3793ED-CA49-4C05-85B4-4ACC409C811E}"/>
              </a:ext>
            </a:extLst>
          </p:cNvPr>
          <p:cNvSpPr/>
          <p:nvPr/>
        </p:nvSpPr>
        <p:spPr>
          <a:xfrm>
            <a:off x="5420865" y="5198193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A3DF047-7A41-42FC-9131-DD3A4A10A023}"/>
              </a:ext>
            </a:extLst>
          </p:cNvPr>
          <p:cNvSpPr/>
          <p:nvPr/>
        </p:nvSpPr>
        <p:spPr>
          <a:xfrm>
            <a:off x="1318333" y="1466269"/>
            <a:ext cx="1549154" cy="56817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EB7D63E-3AA2-4C21-A7BE-C1ECFA358E73}"/>
              </a:ext>
            </a:extLst>
          </p:cNvPr>
          <p:cNvSpPr/>
          <p:nvPr/>
        </p:nvSpPr>
        <p:spPr>
          <a:xfrm>
            <a:off x="1420427" y="211749"/>
            <a:ext cx="7954392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kern="1200">
                <a:solidFill>
                  <a:schemeClr val="tx1"/>
                </a:solidFill>
              </a:rPr>
              <a:t>Data collected by, License, Data </a:t>
            </a:r>
            <a:r>
              <a:rPr lang="en-US">
                <a:solidFill>
                  <a:schemeClr val="tx1"/>
                </a:solidFill>
              </a:rPr>
              <a:t>analyzed</a:t>
            </a:r>
            <a:r>
              <a:rPr lang="en-US" kern="1200">
                <a:solidFill>
                  <a:schemeClr val="tx1"/>
                </a:solidFill>
              </a:rPr>
              <a:t> by, Code book, and Descriptive Statistics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FB181AF1-145C-478B-9C1B-6261CDAE5047}"/>
              </a:ext>
            </a:extLst>
          </p:cNvPr>
          <p:cNvSpPr/>
          <p:nvPr/>
        </p:nvSpPr>
        <p:spPr>
          <a:xfrm>
            <a:off x="3364390" y="1834692"/>
            <a:ext cx="1322773" cy="97952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8445B7B7-F871-4127-9D79-BCD639C42664}"/>
              </a:ext>
            </a:extLst>
          </p:cNvPr>
          <p:cNvSpPr/>
          <p:nvPr/>
        </p:nvSpPr>
        <p:spPr>
          <a:xfrm>
            <a:off x="1528193" y="1092245"/>
            <a:ext cx="726736" cy="5341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0C9BC7D5-896F-4B29-9DB2-288C57CCEDC3}"/>
              </a:ext>
            </a:extLst>
          </p:cNvPr>
          <p:cNvSpPr/>
          <p:nvPr/>
        </p:nvSpPr>
        <p:spPr>
          <a:xfrm>
            <a:off x="5415966" y="1497439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7DCABBDB-8E84-49B1-AAF0-5358AEBADC4C}"/>
              </a:ext>
            </a:extLst>
          </p:cNvPr>
          <p:cNvSpPr/>
          <p:nvPr/>
        </p:nvSpPr>
        <p:spPr>
          <a:xfrm>
            <a:off x="2620364" y="1058093"/>
            <a:ext cx="726736" cy="53416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206814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118118"/>
    </mc:Choice>
    <mc:Fallback>
      <p:transition spd="slow" advTm="118118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43"/>
            </p:par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EFFF57-A9F4-4837-9F39-F82DCE3DCFB1}"/>
              </a:ext>
            </a:extLst>
          </p:cNvPr>
          <p:cNvSpPr/>
          <p:nvPr/>
        </p:nvSpPr>
        <p:spPr>
          <a:xfrm>
            <a:off x="1059033" y="453911"/>
            <a:ext cx="10996843" cy="628690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53560419-1F15-4886-BF3C-5891FEB80E0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850" r="18250" b="4397"/>
          <a:stretch/>
        </p:blipFill>
        <p:spPr>
          <a:xfrm>
            <a:off x="1171852" y="539007"/>
            <a:ext cx="9969623" cy="6116715"/>
          </a:xfrm>
          <a:prstGeom prst="rect">
            <a:avLst/>
          </a:prstGeom>
        </p:spPr>
      </p:pic>
      <p:pic>
        <p:nvPicPr>
          <p:cNvPr id="5" name="Graphic 4" descr="Cat">
            <a:extLst>
              <a:ext uri="{FF2B5EF4-FFF2-40B4-BE49-F238E27FC236}">
                <a16:creationId xmlns:a16="http://schemas.microsoft.com/office/drawing/2014/main" id="{71861AF0-4FA6-4DE8-862B-12660143C0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0116A6D8-DCC7-4124-B507-3B1E8AC59B40}"/>
              </a:ext>
            </a:extLst>
          </p:cNvPr>
          <p:cNvSpPr/>
          <p:nvPr/>
        </p:nvSpPr>
        <p:spPr>
          <a:xfrm>
            <a:off x="5402386" y="4185753"/>
            <a:ext cx="5620937" cy="10277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12377D1-9ACE-4640-B67F-77B1C305AA84}"/>
              </a:ext>
            </a:extLst>
          </p:cNvPr>
          <p:cNvSpPr/>
          <p:nvPr/>
        </p:nvSpPr>
        <p:spPr>
          <a:xfrm>
            <a:off x="8332053" y="3597364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6AD9772-8413-4536-82DD-ED51BC5831CD}"/>
              </a:ext>
            </a:extLst>
          </p:cNvPr>
          <p:cNvSpPr/>
          <p:nvPr/>
        </p:nvSpPr>
        <p:spPr>
          <a:xfrm>
            <a:off x="1420427" y="211749"/>
            <a:ext cx="2246051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lvl="0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dirty="0">
                <a:solidFill>
                  <a:schemeClr val="tx1"/>
                </a:solidFill>
              </a:rPr>
              <a:t>Annotated Analyses</a:t>
            </a:r>
            <a:endParaRPr lang="nl-NL" kern="1200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86C554-B29F-4AA1-8E25-1FAA8D0B7634}"/>
              </a:ext>
            </a:extLst>
          </p:cNvPr>
          <p:cNvSpPr/>
          <p:nvPr/>
        </p:nvSpPr>
        <p:spPr>
          <a:xfrm>
            <a:off x="1171852" y="1441570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F83DA2F-C124-46F6-BA12-F738543DF8F3}"/>
              </a:ext>
            </a:extLst>
          </p:cNvPr>
          <p:cNvSpPr/>
          <p:nvPr/>
        </p:nvSpPr>
        <p:spPr>
          <a:xfrm>
            <a:off x="3353160" y="1643241"/>
            <a:ext cx="1322773" cy="84887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733DE35E-6A38-4E11-9318-5344CD474E06}"/>
              </a:ext>
            </a:extLst>
          </p:cNvPr>
          <p:cNvSpPr/>
          <p:nvPr/>
        </p:nvSpPr>
        <p:spPr>
          <a:xfrm>
            <a:off x="1171851" y="4300153"/>
            <a:ext cx="1526961" cy="91339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0AFD00F-2D10-435A-9CAC-3CE9931BD0D6}"/>
              </a:ext>
            </a:extLst>
          </p:cNvPr>
          <p:cNvSpPr/>
          <p:nvPr/>
        </p:nvSpPr>
        <p:spPr>
          <a:xfrm>
            <a:off x="5402385" y="2903675"/>
            <a:ext cx="5620937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DF81A572-E11D-494C-9930-74AFF54811A0}"/>
              </a:ext>
            </a:extLst>
          </p:cNvPr>
          <p:cNvSpPr/>
          <p:nvPr/>
        </p:nvSpPr>
        <p:spPr>
          <a:xfrm>
            <a:off x="5402384" y="6236025"/>
            <a:ext cx="5620937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92CA948-CDB7-4F88-8990-841C386158D0}"/>
              </a:ext>
            </a:extLst>
          </p:cNvPr>
          <p:cNvSpPr/>
          <p:nvPr/>
        </p:nvSpPr>
        <p:spPr>
          <a:xfrm>
            <a:off x="2801565" y="539007"/>
            <a:ext cx="551595" cy="62464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48725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0A8ADDBC-8932-42EF-9781-B3B2594E8F5A}"/>
              </a:ext>
            </a:extLst>
          </p:cNvPr>
          <p:cNvSpPr/>
          <p:nvPr/>
        </p:nvSpPr>
        <p:spPr>
          <a:xfrm>
            <a:off x="679605" y="101505"/>
            <a:ext cx="11088209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Findable</a:t>
            </a:r>
            <a:endParaRPr lang="nl-NL" sz="3600" kern="1200" dirty="0">
              <a:solidFill>
                <a:schemeClr val="tx1"/>
              </a:solidFill>
            </a:endParaRPr>
          </a:p>
        </p:txBody>
      </p:sp>
      <p:pic>
        <p:nvPicPr>
          <p:cNvPr id="7" name="Picture 6" descr="Graphical user interface, text, application, email, website&#10;&#10;Description automatically generated">
            <a:extLst>
              <a:ext uri="{FF2B5EF4-FFF2-40B4-BE49-F238E27FC236}">
                <a16:creationId xmlns:a16="http://schemas.microsoft.com/office/drawing/2014/main" id="{2AD2BB54-EBCF-4142-B363-C931817227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9724" y="808548"/>
            <a:ext cx="8777158" cy="5953990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12FA5941-333E-457F-8E2A-688E01B1DA93}"/>
              </a:ext>
            </a:extLst>
          </p:cNvPr>
          <p:cNvSpPr/>
          <p:nvPr/>
        </p:nvSpPr>
        <p:spPr>
          <a:xfrm>
            <a:off x="2259724" y="693683"/>
            <a:ext cx="1933903" cy="493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7E119E5-5FE5-44BF-B459-9500909E35A4}"/>
              </a:ext>
            </a:extLst>
          </p:cNvPr>
          <p:cNvSpPr/>
          <p:nvPr/>
        </p:nvSpPr>
        <p:spPr>
          <a:xfrm>
            <a:off x="9478251" y="1770994"/>
            <a:ext cx="914400" cy="493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5F55175-A5DC-40EB-9E00-6CC8B99A501B}"/>
              </a:ext>
            </a:extLst>
          </p:cNvPr>
          <p:cNvSpPr/>
          <p:nvPr/>
        </p:nvSpPr>
        <p:spPr>
          <a:xfrm>
            <a:off x="2002221" y="1936752"/>
            <a:ext cx="3074276" cy="493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87BFB18E-1F87-47A5-B985-2F96788B636B}"/>
              </a:ext>
            </a:extLst>
          </p:cNvPr>
          <p:cNvSpPr/>
          <p:nvPr/>
        </p:nvSpPr>
        <p:spPr>
          <a:xfrm>
            <a:off x="2372711" y="6100347"/>
            <a:ext cx="2504090" cy="70629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0497A46-A692-4522-A434-8566D162CE32}"/>
              </a:ext>
            </a:extLst>
          </p:cNvPr>
          <p:cNvSpPr/>
          <p:nvPr/>
        </p:nvSpPr>
        <p:spPr>
          <a:xfrm>
            <a:off x="6648303" y="5418083"/>
            <a:ext cx="1933903" cy="4939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3465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586DD9C-9AB3-4458-87B4-F4A4BF97E9EA}"/>
              </a:ext>
            </a:extLst>
          </p:cNvPr>
          <p:cNvSpPr/>
          <p:nvPr/>
        </p:nvSpPr>
        <p:spPr>
          <a:xfrm>
            <a:off x="2457811" y="2407261"/>
            <a:ext cx="7279550" cy="240856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2E619459-2FB2-459D-A490-5DEDFE808D66}"/>
              </a:ext>
            </a:extLst>
          </p:cNvPr>
          <p:cNvSpPr/>
          <p:nvPr/>
        </p:nvSpPr>
        <p:spPr>
          <a:xfrm>
            <a:off x="4835909" y="2129505"/>
            <a:ext cx="2523357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 dirty="0">
                <a:solidFill>
                  <a:schemeClr val="tx1"/>
                </a:solidFill>
              </a:rPr>
              <a:t>How To …</a:t>
            </a:r>
            <a:endParaRPr lang="nl-NL" sz="3600" kern="1200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92D982F-0C22-4EC7-8CA4-C3A9C7764C56}"/>
              </a:ext>
            </a:extLst>
          </p:cNvPr>
          <p:cNvSpPr txBox="1"/>
          <p:nvPr/>
        </p:nvSpPr>
        <p:spPr>
          <a:xfrm>
            <a:off x="3432035" y="3272191"/>
            <a:ext cx="5331101" cy="11079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dirty="0"/>
              <a:t>Use one of the example data sets that downloaded with this presentation: </a:t>
            </a:r>
            <a:r>
              <a:rPr lang="en-US" dirty="0" err="1"/>
              <a:t>data.sav</a:t>
            </a:r>
            <a:r>
              <a:rPr lang="en-US" dirty="0"/>
              <a:t>, data.txt, or data.csv.</a:t>
            </a:r>
          </a:p>
          <a:p>
            <a:endParaRPr lang="en-US" dirty="0"/>
          </a:p>
          <a:p>
            <a:r>
              <a:rPr lang="en-US" dirty="0"/>
              <a:t>Execute each of the steps in the following slides.</a:t>
            </a:r>
          </a:p>
        </p:txBody>
      </p:sp>
    </p:spTree>
    <p:extLst>
      <p:ext uri="{BB962C8B-B14F-4D97-AF65-F5344CB8AC3E}">
        <p14:creationId xmlns:p14="http://schemas.microsoft.com/office/powerpoint/2010/main" val="7636455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2F17019E-8D20-4148-96C2-DFA0305742D9}"/>
              </a:ext>
            </a:extLst>
          </p:cNvPr>
          <p:cNvSpPr/>
          <p:nvPr/>
        </p:nvSpPr>
        <p:spPr>
          <a:xfrm>
            <a:off x="577195" y="524832"/>
            <a:ext cx="11040784" cy="707043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How to Create a </a:t>
            </a:r>
            <a:r>
              <a:rPr lang="en-US" sz="3600" kern="1200" err="1">
                <a:solidFill>
                  <a:schemeClr val="tx1"/>
                </a:solidFill>
              </a:rPr>
              <a:t>mydata.jasp</a:t>
            </a:r>
            <a:r>
              <a:rPr lang="en-US" sz="3600" kern="1200">
                <a:solidFill>
                  <a:schemeClr val="tx1"/>
                </a:solidFill>
              </a:rPr>
              <a:t> File</a:t>
            </a:r>
            <a:endParaRPr lang="nl-NL" sz="3600" kern="1200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F10864-616A-470F-A49D-D06B9AC86F9A}"/>
              </a:ext>
            </a:extLst>
          </p:cNvPr>
          <p:cNvSpPr txBox="1"/>
          <p:nvPr/>
        </p:nvSpPr>
        <p:spPr>
          <a:xfrm>
            <a:off x="1025380" y="2454876"/>
            <a:ext cx="1084851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Make certain that JASP is installed on your computer. If not, install it from </a:t>
            </a:r>
            <a:r>
              <a:rPr lang="en-US">
                <a:hlinkClick r:id="rId2"/>
              </a:rPr>
              <a:t>https://jasp-stats.org/download/</a:t>
            </a:r>
            <a:endParaRPr lang="en-US"/>
          </a:p>
          <a:p>
            <a:endParaRPr lang="en-US"/>
          </a:p>
          <a:p>
            <a:r>
              <a:rPr lang="en-US"/>
              <a:t>If JASP is installed, start the program. </a:t>
            </a:r>
          </a:p>
        </p:txBody>
      </p:sp>
    </p:spTree>
    <p:extLst>
      <p:ext uri="{BB962C8B-B14F-4D97-AF65-F5344CB8AC3E}">
        <p14:creationId xmlns:p14="http://schemas.microsoft.com/office/powerpoint/2010/main" val="7048262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98DB2B9-A567-49EF-AAD7-15A5C8AEF78C}"/>
              </a:ext>
            </a:extLst>
          </p:cNvPr>
          <p:cNvSpPr/>
          <p:nvPr/>
        </p:nvSpPr>
        <p:spPr>
          <a:xfrm>
            <a:off x="723661" y="563049"/>
            <a:ext cx="10999432" cy="6164623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7" name="Freeform: Shape 6">
            <a:extLst>
              <a:ext uri="{FF2B5EF4-FFF2-40B4-BE49-F238E27FC236}">
                <a16:creationId xmlns:a16="http://schemas.microsoft.com/office/drawing/2014/main" id="{EEB039B9-93EC-41F8-88E8-55B23D4D86A2}"/>
              </a:ext>
            </a:extLst>
          </p:cNvPr>
          <p:cNvSpPr/>
          <p:nvPr/>
        </p:nvSpPr>
        <p:spPr>
          <a:xfrm>
            <a:off x="1513274" y="282189"/>
            <a:ext cx="5171305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Open a .csv, .sav, or .txt file containing your data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2" name="Picture 1" descr="Graphical user interface&#10;&#10;Description automatically generated">
            <a:extLst>
              <a:ext uri="{FF2B5EF4-FFF2-40B4-BE49-F238E27FC236}">
                <a16:creationId xmlns:a16="http://schemas.microsoft.com/office/drawing/2014/main" id="{F6B5FAAC-E17F-4F00-91C5-77D377CD7364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990"/>
          <a:stretch/>
        </p:blipFill>
        <p:spPr>
          <a:xfrm>
            <a:off x="1513275" y="1097667"/>
            <a:ext cx="9607128" cy="5303133"/>
          </a:xfrm>
          <a:prstGeom prst="rect">
            <a:avLst/>
          </a:prstGeom>
        </p:spPr>
      </p:pic>
      <p:sp>
        <p:nvSpPr>
          <p:cNvPr id="5" name="Oval 4">
            <a:extLst>
              <a:ext uri="{FF2B5EF4-FFF2-40B4-BE49-F238E27FC236}">
                <a16:creationId xmlns:a16="http://schemas.microsoft.com/office/drawing/2014/main" id="{C96FEBCE-5BE2-4293-8ADC-C8AC6284B37D}"/>
              </a:ext>
            </a:extLst>
          </p:cNvPr>
          <p:cNvSpPr/>
          <p:nvPr/>
        </p:nvSpPr>
        <p:spPr>
          <a:xfrm>
            <a:off x="7137646" y="3429000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EF50C41-0664-47A7-AEDD-A33A21EC5B4C}"/>
              </a:ext>
            </a:extLst>
          </p:cNvPr>
          <p:cNvSpPr/>
          <p:nvPr/>
        </p:nvSpPr>
        <p:spPr>
          <a:xfrm>
            <a:off x="1225577" y="1594944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FE7FF5A-94EB-4AE9-92FE-A325D24CF108}"/>
              </a:ext>
            </a:extLst>
          </p:cNvPr>
          <p:cNvSpPr/>
          <p:nvPr/>
        </p:nvSpPr>
        <p:spPr>
          <a:xfrm>
            <a:off x="2560841" y="2015358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A80D72F-6C99-4B3C-A1A6-F2DADA94AFE5}"/>
              </a:ext>
            </a:extLst>
          </p:cNvPr>
          <p:cNvSpPr/>
          <p:nvPr/>
        </p:nvSpPr>
        <p:spPr>
          <a:xfrm>
            <a:off x="3780776" y="1915494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3678CD-0CAF-4707-AEEA-AE096E65DA84}"/>
              </a:ext>
            </a:extLst>
          </p:cNvPr>
          <p:cNvSpPr/>
          <p:nvPr/>
        </p:nvSpPr>
        <p:spPr>
          <a:xfrm>
            <a:off x="4736031" y="2450111"/>
            <a:ext cx="3346423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D998667-13F1-4CEA-A211-2BBFD5239EF4}"/>
              </a:ext>
            </a:extLst>
          </p:cNvPr>
          <p:cNvSpPr/>
          <p:nvPr/>
        </p:nvSpPr>
        <p:spPr>
          <a:xfrm>
            <a:off x="8453021" y="5759700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30697C-56E2-46D4-91C1-60E8A838CC37}"/>
              </a:ext>
            </a:extLst>
          </p:cNvPr>
          <p:cNvSpPr txBox="1"/>
          <p:nvPr/>
        </p:nvSpPr>
        <p:spPr>
          <a:xfrm>
            <a:off x="1225577" y="1456444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3E3EECB-FDB8-4A72-BDE6-D197A1C44360}"/>
              </a:ext>
            </a:extLst>
          </p:cNvPr>
          <p:cNvSpPr txBox="1"/>
          <p:nvPr/>
        </p:nvSpPr>
        <p:spPr>
          <a:xfrm>
            <a:off x="2588654" y="187685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908147E-7416-4C8D-8DF7-8983B3DFBF6F}"/>
              </a:ext>
            </a:extLst>
          </p:cNvPr>
          <p:cNvSpPr txBox="1"/>
          <p:nvPr/>
        </p:nvSpPr>
        <p:spPr>
          <a:xfrm>
            <a:off x="3729239" y="187685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8628EE8-964E-4349-9704-2F9292D9D68C}"/>
              </a:ext>
            </a:extLst>
          </p:cNvPr>
          <p:cNvSpPr txBox="1"/>
          <p:nvPr/>
        </p:nvSpPr>
        <p:spPr>
          <a:xfrm>
            <a:off x="4951851" y="233590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A2A9E9-ABD5-48E9-BDAD-2C60308FE9BE}"/>
              </a:ext>
            </a:extLst>
          </p:cNvPr>
          <p:cNvSpPr txBox="1"/>
          <p:nvPr/>
        </p:nvSpPr>
        <p:spPr>
          <a:xfrm>
            <a:off x="7176672" y="3233571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E513685-6B75-444F-B655-35B4FD47EAC5}"/>
              </a:ext>
            </a:extLst>
          </p:cNvPr>
          <p:cNvSpPr txBox="1"/>
          <p:nvPr/>
        </p:nvSpPr>
        <p:spPr>
          <a:xfrm>
            <a:off x="8453021" y="562120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443920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70F7ED6-1BCB-445F-85BD-851CB284C999}"/>
              </a:ext>
            </a:extLst>
          </p:cNvPr>
          <p:cNvSpPr/>
          <p:nvPr/>
        </p:nvSpPr>
        <p:spPr>
          <a:xfrm>
            <a:off x="1059033" y="453911"/>
            <a:ext cx="10996843" cy="6286909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3" name="Picture 2" descr="Graphical user interface, application, Word&#10;&#10;Description automatically generated">
            <a:extLst>
              <a:ext uri="{FF2B5EF4-FFF2-40B4-BE49-F238E27FC236}">
                <a16:creationId xmlns:a16="http://schemas.microsoft.com/office/drawing/2014/main" id="{34D3AEC0-2C86-4424-813D-D0FB113D0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0080" y="684069"/>
            <a:ext cx="10774748" cy="5826592"/>
          </a:xfrm>
          <a:prstGeom prst="rect">
            <a:avLst/>
          </a:prstGeom>
        </p:spPr>
      </p:pic>
      <p:pic>
        <p:nvPicPr>
          <p:cNvPr id="6" name="Graphic 5" descr="Cat">
            <a:extLst>
              <a:ext uri="{FF2B5EF4-FFF2-40B4-BE49-F238E27FC236}">
                <a16:creationId xmlns:a16="http://schemas.microsoft.com/office/drawing/2014/main" id="{F9FCA468-DA60-47C2-B782-16B73AFB87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5943600"/>
            <a:ext cx="914400" cy="914400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5AD764A7-B1DC-4AF4-9C9E-1517272A759C}"/>
              </a:ext>
            </a:extLst>
          </p:cNvPr>
          <p:cNvSpPr/>
          <p:nvPr/>
        </p:nvSpPr>
        <p:spPr>
          <a:xfrm>
            <a:off x="1491450" y="877488"/>
            <a:ext cx="690416" cy="45687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558394-9E6B-470F-A8E3-C20311D43935}"/>
              </a:ext>
            </a:extLst>
          </p:cNvPr>
          <p:cNvSpPr txBox="1"/>
          <p:nvPr/>
        </p:nvSpPr>
        <p:spPr>
          <a:xfrm>
            <a:off x="5069124" y="1859262"/>
            <a:ext cx="5667007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342900" indent="-342900">
              <a:buAutoNum type="arabicPeriod"/>
            </a:pPr>
            <a:r>
              <a:rPr lang="en-US">
                <a:solidFill>
                  <a:srgbClr val="FF0000"/>
                </a:solidFill>
              </a:rPr>
              <a:t>After the data spreadsheet opens </a:t>
            </a:r>
          </a:p>
          <a:p>
            <a:pPr marL="342900" indent="-342900">
              <a:buAutoNum type="arabicPeriod"/>
            </a:pPr>
            <a:r>
              <a:rPr lang="en-US">
                <a:solidFill>
                  <a:srgbClr val="FF0000"/>
                </a:solidFill>
              </a:rPr>
              <a:t>Click on Descriptives to open the analysis screen</a:t>
            </a:r>
          </a:p>
        </p:txBody>
      </p:sp>
    </p:spTree>
    <p:extLst>
      <p:ext uri="{BB962C8B-B14F-4D97-AF65-F5344CB8AC3E}">
        <p14:creationId xmlns:p14="http://schemas.microsoft.com/office/powerpoint/2010/main" val="3323283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DC1E7526-C342-4D9F-A5AA-B674F6AEF6C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947" t="2461" r="27852" b="14822"/>
          <a:stretch/>
        </p:blipFill>
        <p:spPr>
          <a:xfrm>
            <a:off x="1757558" y="692542"/>
            <a:ext cx="8911594" cy="5672714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BB6EEF5-7A01-4490-AA3A-3E7A5F640F40}"/>
              </a:ext>
            </a:extLst>
          </p:cNvPr>
          <p:cNvSpPr/>
          <p:nvPr/>
        </p:nvSpPr>
        <p:spPr>
          <a:xfrm>
            <a:off x="1023998" y="585858"/>
            <a:ext cx="10999432" cy="6090150"/>
          </a:xfrm>
          <a:prstGeom prst="rect">
            <a:avLst/>
          </a:prstGeom>
          <a:noFill/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501D800-FDC4-4016-A097-2A4FD6F316CC}"/>
              </a:ext>
            </a:extLst>
          </p:cNvPr>
          <p:cNvSpPr/>
          <p:nvPr/>
        </p:nvSpPr>
        <p:spPr>
          <a:xfrm>
            <a:off x="1216031" y="158111"/>
            <a:ext cx="8780225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Execute your Analyses – Start with Simple </a:t>
            </a:r>
            <a:r>
              <a:rPr lang="en-US" err="1">
                <a:solidFill>
                  <a:schemeClr val="tx1"/>
                </a:solidFill>
              </a:rPr>
              <a:t>Descriptives</a:t>
            </a:r>
            <a:r>
              <a:rPr lang="en-US">
                <a:solidFill>
                  <a:schemeClr val="tx1"/>
                </a:solidFill>
              </a:rPr>
              <a:t> – and Add Notes to your Results 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4430C7A-4B64-44DA-B929-AAE84AFED7EE}"/>
              </a:ext>
            </a:extLst>
          </p:cNvPr>
          <p:cNvSpPr/>
          <p:nvPr/>
        </p:nvSpPr>
        <p:spPr>
          <a:xfrm>
            <a:off x="5831668" y="1334214"/>
            <a:ext cx="6009593" cy="9844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13BB956-2F32-49A3-94AE-240236D5CA1F}"/>
              </a:ext>
            </a:extLst>
          </p:cNvPr>
          <p:cNvSpPr/>
          <p:nvPr/>
        </p:nvSpPr>
        <p:spPr>
          <a:xfrm>
            <a:off x="6690961" y="1166347"/>
            <a:ext cx="214436" cy="3018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6BA456B-B494-4F9D-A88D-23F361235EFD}"/>
              </a:ext>
            </a:extLst>
          </p:cNvPr>
          <p:cNvSpPr/>
          <p:nvPr/>
        </p:nvSpPr>
        <p:spPr>
          <a:xfrm>
            <a:off x="2278441" y="765470"/>
            <a:ext cx="770878" cy="56172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8F7B4B-E017-4FF2-A850-DF39F8C97C59}"/>
              </a:ext>
            </a:extLst>
          </p:cNvPr>
          <p:cNvSpPr/>
          <p:nvPr/>
        </p:nvSpPr>
        <p:spPr>
          <a:xfrm>
            <a:off x="4046178" y="1297579"/>
            <a:ext cx="1283466" cy="127225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109DB41A-C0DC-4971-98B9-DBBACD81967B}"/>
              </a:ext>
            </a:extLst>
          </p:cNvPr>
          <p:cNvSpPr/>
          <p:nvPr/>
        </p:nvSpPr>
        <p:spPr>
          <a:xfrm>
            <a:off x="6031810" y="2543569"/>
            <a:ext cx="3386571" cy="98448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E895E8E-8BD3-433F-B45E-9E944F26B4E4}"/>
              </a:ext>
            </a:extLst>
          </p:cNvPr>
          <p:cNvSpPr txBox="1"/>
          <p:nvPr/>
        </p:nvSpPr>
        <p:spPr>
          <a:xfrm>
            <a:off x="2198919" y="692541"/>
            <a:ext cx="117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2" name="Arrow: Right 1">
            <a:extLst>
              <a:ext uri="{FF2B5EF4-FFF2-40B4-BE49-F238E27FC236}">
                <a16:creationId xmlns:a16="http://schemas.microsoft.com/office/drawing/2014/main" id="{2B1657B3-6C6C-4B0A-A082-9471948CC305}"/>
              </a:ext>
            </a:extLst>
          </p:cNvPr>
          <p:cNvSpPr/>
          <p:nvPr/>
        </p:nvSpPr>
        <p:spPr>
          <a:xfrm>
            <a:off x="2734322" y="1882066"/>
            <a:ext cx="1283466" cy="1686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54099384-9367-4BBD-AF2F-852BCFEEEAC8}"/>
              </a:ext>
            </a:extLst>
          </p:cNvPr>
          <p:cNvSpPr/>
          <p:nvPr/>
        </p:nvSpPr>
        <p:spPr>
          <a:xfrm>
            <a:off x="3801943" y="1441101"/>
            <a:ext cx="417810" cy="4320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C1FB014-9FD9-4E34-8355-1FB0459AF913}"/>
              </a:ext>
            </a:extLst>
          </p:cNvPr>
          <p:cNvSpPr txBox="1"/>
          <p:nvPr/>
        </p:nvSpPr>
        <p:spPr>
          <a:xfrm>
            <a:off x="2512813" y="1826457"/>
            <a:ext cx="117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1246530-4B38-48AC-AC4E-DC4C54538359}"/>
              </a:ext>
            </a:extLst>
          </p:cNvPr>
          <p:cNvSpPr txBox="1"/>
          <p:nvPr/>
        </p:nvSpPr>
        <p:spPr>
          <a:xfrm>
            <a:off x="6097587" y="2543569"/>
            <a:ext cx="11702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89CD93E-3FEA-4516-AA07-E122EAA770CB}"/>
              </a:ext>
            </a:extLst>
          </p:cNvPr>
          <p:cNvSpPr txBox="1"/>
          <p:nvPr/>
        </p:nvSpPr>
        <p:spPr>
          <a:xfrm>
            <a:off x="6905396" y="997987"/>
            <a:ext cx="43958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4. Click the black triangle and choose annotate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BD93BE-E4E0-469C-8494-E6CF5B10A824}"/>
              </a:ext>
            </a:extLst>
          </p:cNvPr>
          <p:cNvSpPr txBox="1"/>
          <p:nvPr/>
        </p:nvSpPr>
        <p:spPr>
          <a:xfrm>
            <a:off x="8263578" y="1686184"/>
            <a:ext cx="3465356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5. Use the lay-out options such as bold face, font size, etc.</a:t>
            </a:r>
          </a:p>
        </p:txBody>
      </p:sp>
    </p:spTree>
    <p:extLst>
      <p:ext uri="{BB962C8B-B14F-4D97-AF65-F5344CB8AC3E}">
        <p14:creationId xmlns:p14="http://schemas.microsoft.com/office/powerpoint/2010/main" val="2830289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 animBg="1"/>
      <p:bldP spid="9" grpId="0" animBg="1"/>
      <p:bldP spid="11" grpId="0" animBg="1"/>
      <p:bldP spid="14" grpId="0" animBg="1"/>
      <p:bldP spid="2" grpId="0" animBg="1"/>
      <p:bldP spid="16" grpId="0" animBg="1"/>
      <p:bldP spid="19" grpId="0"/>
      <p:bldP spid="20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C95C08-8033-463B-A4C3-4069E6D650DF}"/>
              </a:ext>
            </a:extLst>
          </p:cNvPr>
          <p:cNvSpPr/>
          <p:nvPr/>
        </p:nvSpPr>
        <p:spPr>
          <a:xfrm>
            <a:off x="825630" y="374914"/>
            <a:ext cx="10999432" cy="644757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5BB91A4B-25CA-4ED3-A159-A25B9A4148FD}"/>
              </a:ext>
            </a:extLst>
          </p:cNvPr>
          <p:cNvSpPr/>
          <p:nvPr/>
        </p:nvSpPr>
        <p:spPr>
          <a:xfrm>
            <a:off x="1426034" y="94053"/>
            <a:ext cx="7433881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Continue your Analyses with an ANOVA and Add Notes to your Results  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9A72557-3773-4EF8-8150-071DB96A1CD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3" t="-177" r="18618" b="16034"/>
          <a:stretch/>
        </p:blipFill>
        <p:spPr>
          <a:xfrm>
            <a:off x="1363522" y="713458"/>
            <a:ext cx="9923648" cy="5770485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5D10BF6A-0581-48DB-A073-A7603DDB46B3}"/>
              </a:ext>
            </a:extLst>
          </p:cNvPr>
          <p:cNvSpPr/>
          <p:nvPr/>
        </p:nvSpPr>
        <p:spPr>
          <a:xfrm>
            <a:off x="2982896" y="827498"/>
            <a:ext cx="555543" cy="5574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2416F0D-898B-42E3-9AB7-2C7F34B7351D}"/>
              </a:ext>
            </a:extLst>
          </p:cNvPr>
          <p:cNvSpPr/>
          <p:nvPr/>
        </p:nvSpPr>
        <p:spPr>
          <a:xfrm>
            <a:off x="1426032" y="1731831"/>
            <a:ext cx="1787683" cy="421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FC140FB-2D4E-483C-B621-5801653E0A18}"/>
              </a:ext>
            </a:extLst>
          </p:cNvPr>
          <p:cNvSpPr/>
          <p:nvPr/>
        </p:nvSpPr>
        <p:spPr>
          <a:xfrm>
            <a:off x="5377259" y="3897297"/>
            <a:ext cx="6178857" cy="8788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471499C-7AC5-4DED-B951-DF44A1A8ED11}"/>
              </a:ext>
            </a:extLst>
          </p:cNvPr>
          <p:cNvSpPr/>
          <p:nvPr/>
        </p:nvSpPr>
        <p:spPr>
          <a:xfrm>
            <a:off x="5377258" y="4833870"/>
            <a:ext cx="6178857" cy="8788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EBBA169B-1189-4AEC-9F71-3F45EB4AAA36}"/>
              </a:ext>
            </a:extLst>
          </p:cNvPr>
          <p:cNvSpPr/>
          <p:nvPr/>
        </p:nvSpPr>
        <p:spPr>
          <a:xfrm>
            <a:off x="6180739" y="3717524"/>
            <a:ext cx="264449" cy="2441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810D72-9D6F-4D36-902D-42A0B9C9DFAA}"/>
              </a:ext>
            </a:extLst>
          </p:cNvPr>
          <p:cNvSpPr txBox="1"/>
          <p:nvPr/>
        </p:nvSpPr>
        <p:spPr>
          <a:xfrm>
            <a:off x="3202157" y="136045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62CC85C-A23A-4D7F-82AC-800E15708813}"/>
              </a:ext>
            </a:extLst>
          </p:cNvPr>
          <p:cNvSpPr txBox="1"/>
          <p:nvPr/>
        </p:nvSpPr>
        <p:spPr>
          <a:xfrm>
            <a:off x="11090148" y="474627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DE9002-AAFA-4894-98E7-A6C25038E184}"/>
              </a:ext>
            </a:extLst>
          </p:cNvPr>
          <p:cNvSpPr txBox="1"/>
          <p:nvPr/>
        </p:nvSpPr>
        <p:spPr>
          <a:xfrm>
            <a:off x="11073526" y="3839612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A77EB13-1268-4331-9768-46B258A6CF90}"/>
              </a:ext>
            </a:extLst>
          </p:cNvPr>
          <p:cNvSpPr txBox="1"/>
          <p:nvPr/>
        </p:nvSpPr>
        <p:spPr>
          <a:xfrm>
            <a:off x="1215247" y="180383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4D027A2-2364-4657-BCD9-A403DE383ABA}"/>
              </a:ext>
            </a:extLst>
          </p:cNvPr>
          <p:cNvSpPr/>
          <p:nvPr/>
        </p:nvSpPr>
        <p:spPr>
          <a:xfrm>
            <a:off x="3122258" y="2018687"/>
            <a:ext cx="1787683" cy="85767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2" name="Arrow: Right 21">
            <a:extLst>
              <a:ext uri="{FF2B5EF4-FFF2-40B4-BE49-F238E27FC236}">
                <a16:creationId xmlns:a16="http://schemas.microsoft.com/office/drawing/2014/main" id="{6DF2C9F2-8265-4189-82FB-4CE62B4F3E36}"/>
              </a:ext>
            </a:extLst>
          </p:cNvPr>
          <p:cNvSpPr/>
          <p:nvPr/>
        </p:nvSpPr>
        <p:spPr>
          <a:xfrm>
            <a:off x="1892056" y="2533807"/>
            <a:ext cx="1283466" cy="168676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70D6FED-7C12-4F12-80E2-882C7EF35D75}"/>
              </a:ext>
            </a:extLst>
          </p:cNvPr>
          <p:cNvSpPr txBox="1"/>
          <p:nvPr/>
        </p:nvSpPr>
        <p:spPr>
          <a:xfrm>
            <a:off x="6476443" y="3530411"/>
            <a:ext cx="4395877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4: click the black triangle and choose annotate </a:t>
            </a:r>
          </a:p>
        </p:txBody>
      </p:sp>
    </p:spTree>
    <p:extLst>
      <p:ext uri="{BB962C8B-B14F-4D97-AF65-F5344CB8AC3E}">
        <p14:creationId xmlns:p14="http://schemas.microsoft.com/office/powerpoint/2010/main" val="42254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1" grpId="0" animBg="1"/>
      <p:bldP spid="12" grpId="0" animBg="1"/>
      <p:bldP spid="13" grpId="0" animBg="1"/>
      <p:bldP spid="21" grpId="0" animBg="1"/>
      <p:bldP spid="22" grpId="0" animBg="1"/>
      <p:bldP spid="23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244E455-2445-4BA1-858A-94F736332E66}"/>
              </a:ext>
            </a:extLst>
          </p:cNvPr>
          <p:cNvSpPr/>
          <p:nvPr/>
        </p:nvSpPr>
        <p:spPr>
          <a:xfrm>
            <a:off x="597871" y="490322"/>
            <a:ext cx="10999432" cy="6061395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en-US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CA46EBC2-D38B-4A51-95DE-3C8CF304A88B}"/>
              </a:ext>
            </a:extLst>
          </p:cNvPr>
          <p:cNvSpPr/>
          <p:nvPr/>
        </p:nvSpPr>
        <p:spPr>
          <a:xfrm>
            <a:off x="1659914" y="209464"/>
            <a:ext cx="2397181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Please note that …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95F579D-FA92-4E95-8858-6B3C280167D3}"/>
              </a:ext>
            </a:extLst>
          </p:cNvPr>
          <p:cNvSpPr txBox="1"/>
          <p:nvPr/>
        </p:nvSpPr>
        <p:spPr>
          <a:xfrm>
            <a:off x="713292" y="948233"/>
            <a:ext cx="10674782" cy="1384995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/>
              <a:t>Currently you have to make a different </a:t>
            </a:r>
            <a:r>
              <a:rPr lang="en-US" err="1"/>
              <a:t>mydata.jasp</a:t>
            </a:r>
            <a:r>
              <a:rPr lang="en-US"/>
              <a:t> file for each selection of cases you make, e.g., before filtering </a:t>
            </a:r>
          </a:p>
          <a:p>
            <a:r>
              <a:rPr lang="en-US"/>
              <a:t>(marked by the red ellipse), and before deleting or adding cases. Otherwise, all your analyses will be based on the</a:t>
            </a:r>
          </a:p>
          <a:p>
            <a:r>
              <a:rPr lang="en-US"/>
              <a:t>latest selection of cases created.</a:t>
            </a:r>
          </a:p>
          <a:p>
            <a:endParaRPr lang="en-US"/>
          </a:p>
          <a:p>
            <a:r>
              <a:rPr lang="en-US"/>
              <a:t>This will be remedied in one of the future JASP releases. </a:t>
            </a:r>
            <a:endParaRPr lang="nl-NL"/>
          </a:p>
        </p:txBody>
      </p:sp>
      <p:pic>
        <p:nvPicPr>
          <p:cNvPr id="8" name="Picture 7" descr="A picture containing table&#10;&#10;Description automatically generated">
            <a:extLst>
              <a:ext uri="{FF2B5EF4-FFF2-40B4-BE49-F238E27FC236}">
                <a16:creationId xmlns:a16="http://schemas.microsoft.com/office/drawing/2014/main" id="{79BA7F77-4EA9-4C08-8720-9BEB6F77FD2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1427" b="34412"/>
          <a:stretch/>
        </p:blipFill>
        <p:spPr>
          <a:xfrm>
            <a:off x="2192785" y="2571542"/>
            <a:ext cx="4823325" cy="250409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9C969A28-6A0A-4C17-A7ED-EFAB5487DDA0}"/>
              </a:ext>
            </a:extLst>
          </p:cNvPr>
          <p:cNvSpPr/>
          <p:nvPr/>
        </p:nvSpPr>
        <p:spPr>
          <a:xfrm>
            <a:off x="2015232" y="3164940"/>
            <a:ext cx="674703" cy="42100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C809267-0A81-48EF-ADD7-CACC336F6418}"/>
              </a:ext>
            </a:extLst>
          </p:cNvPr>
          <p:cNvSpPr txBox="1"/>
          <p:nvPr/>
        </p:nvSpPr>
        <p:spPr>
          <a:xfrm>
            <a:off x="754137" y="5259680"/>
            <a:ext cx="10686900" cy="1107996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/>
              <a:t>A knowledge clip explaining the main features of JASP (selecting cases, computing variables, recoding, opening </a:t>
            </a:r>
          </a:p>
          <a:p>
            <a:r>
              <a:rPr lang="en-US"/>
              <a:t>a data file, saving a </a:t>
            </a:r>
            <a:r>
              <a:rPr lang="en-US" err="1"/>
              <a:t>mydata.jasp</a:t>
            </a:r>
            <a:r>
              <a:rPr lang="en-US"/>
              <a:t> file, executing analyses, getting help, etc.) can be found at </a:t>
            </a:r>
            <a:r>
              <a:rPr lang="en-US">
                <a:hlinkClick r:id="rId4"/>
              </a:rPr>
              <a:t>https://osf.io/z7tbg/</a:t>
            </a:r>
            <a:endParaRPr lang="en-US"/>
          </a:p>
          <a:p>
            <a:endParaRPr lang="en-US"/>
          </a:p>
          <a:p>
            <a:r>
              <a:rPr lang="en-US"/>
              <a:t>A virtually complete elaboration of all the features of JASP can be found at </a:t>
            </a:r>
            <a:r>
              <a:rPr lang="en-US">
                <a:hlinkClick r:id="rId5"/>
              </a:rPr>
              <a:t>https://jasp-stats.org/how-to-use-jasp/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212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D7B5067-4977-4280-980A-AB350BB73B98}"/>
              </a:ext>
            </a:extLst>
          </p:cNvPr>
          <p:cNvSpPr/>
          <p:nvPr/>
        </p:nvSpPr>
        <p:spPr>
          <a:xfrm>
            <a:off x="1050632" y="319597"/>
            <a:ext cx="10999432" cy="637127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8" name="Picture 7" descr="Graphical user interface, text, application&#10;&#10;Description automatically generated">
            <a:extLst>
              <a:ext uri="{FF2B5EF4-FFF2-40B4-BE49-F238E27FC236}">
                <a16:creationId xmlns:a16="http://schemas.microsoft.com/office/drawing/2014/main" id="{F6764AAA-2FBC-4A83-A288-A5BDC40989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98390" y="654125"/>
            <a:ext cx="9774480" cy="5884278"/>
          </a:xfrm>
          <a:prstGeom prst="rect">
            <a:avLst/>
          </a:prstGeom>
        </p:spPr>
      </p:pic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B97A173-70F6-4221-B750-C49E573A7288}"/>
              </a:ext>
            </a:extLst>
          </p:cNvPr>
          <p:cNvSpPr/>
          <p:nvPr/>
        </p:nvSpPr>
        <p:spPr>
          <a:xfrm>
            <a:off x="1633280" y="66644"/>
            <a:ext cx="9703314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Save as a </a:t>
            </a:r>
            <a:r>
              <a:rPr lang="en-US" err="1">
                <a:solidFill>
                  <a:schemeClr val="tx1"/>
                </a:solidFill>
              </a:rPr>
              <a:t>mydata.jasp</a:t>
            </a:r>
            <a:r>
              <a:rPr lang="en-US">
                <a:solidFill>
                  <a:schemeClr val="tx1"/>
                </a:solidFill>
              </a:rPr>
              <a:t> File on your Computer – contains data, analyses input and annotated analyses results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A2ED0E1-0CF7-4BF6-BDCD-1D7DA1E3EDFA}"/>
              </a:ext>
            </a:extLst>
          </p:cNvPr>
          <p:cNvSpPr/>
          <p:nvPr/>
        </p:nvSpPr>
        <p:spPr>
          <a:xfrm>
            <a:off x="1546142" y="1926021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4E273D0-C788-49B1-9FA3-CB6B358E79AB}"/>
              </a:ext>
            </a:extLst>
          </p:cNvPr>
          <p:cNvSpPr/>
          <p:nvPr/>
        </p:nvSpPr>
        <p:spPr>
          <a:xfrm>
            <a:off x="3004984" y="1284921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756903-3377-4279-96A7-84487D868489}"/>
              </a:ext>
            </a:extLst>
          </p:cNvPr>
          <p:cNvSpPr/>
          <p:nvPr/>
        </p:nvSpPr>
        <p:spPr>
          <a:xfrm>
            <a:off x="4289097" y="1516117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1A7F103-E52E-4E9A-AD31-0EDA4AB9AA26}"/>
              </a:ext>
            </a:extLst>
          </p:cNvPr>
          <p:cNvSpPr/>
          <p:nvPr/>
        </p:nvSpPr>
        <p:spPr>
          <a:xfrm>
            <a:off x="5325539" y="2089620"/>
            <a:ext cx="3482129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9959CE29-99A3-40F2-8733-CF41CA6EE2E5}"/>
              </a:ext>
            </a:extLst>
          </p:cNvPr>
          <p:cNvSpPr/>
          <p:nvPr/>
        </p:nvSpPr>
        <p:spPr>
          <a:xfrm>
            <a:off x="5502782" y="5026573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98074C30-26E4-41DE-9E65-D8106DC40E4E}"/>
              </a:ext>
            </a:extLst>
          </p:cNvPr>
          <p:cNvSpPr/>
          <p:nvPr/>
        </p:nvSpPr>
        <p:spPr>
          <a:xfrm>
            <a:off x="9207174" y="5621197"/>
            <a:ext cx="1047566" cy="6411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A5958B9-55C9-4654-A6D8-29DD78943759}"/>
              </a:ext>
            </a:extLst>
          </p:cNvPr>
          <p:cNvSpPr txBox="1"/>
          <p:nvPr/>
        </p:nvSpPr>
        <p:spPr>
          <a:xfrm>
            <a:off x="2820350" y="137761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EE136CF-9A0A-4033-AE21-6CBD50FAC41C}"/>
              </a:ext>
            </a:extLst>
          </p:cNvPr>
          <p:cNvSpPr txBox="1"/>
          <p:nvPr/>
        </p:nvSpPr>
        <p:spPr>
          <a:xfrm>
            <a:off x="1367647" y="195623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4581630-9A59-4129-82B3-30C2A234545E}"/>
              </a:ext>
            </a:extLst>
          </p:cNvPr>
          <p:cNvSpPr txBox="1"/>
          <p:nvPr/>
        </p:nvSpPr>
        <p:spPr>
          <a:xfrm>
            <a:off x="5336663" y="154764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E6DD3C8-24E1-4F59-9A08-B45F2A3EB39C}"/>
              </a:ext>
            </a:extLst>
          </p:cNvPr>
          <p:cNvSpPr txBox="1"/>
          <p:nvPr/>
        </p:nvSpPr>
        <p:spPr>
          <a:xfrm>
            <a:off x="5821158" y="192536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2D1900E-41CF-4772-A9AF-79DB066CBDC6}"/>
              </a:ext>
            </a:extLst>
          </p:cNvPr>
          <p:cNvSpPr txBox="1"/>
          <p:nvPr/>
        </p:nvSpPr>
        <p:spPr>
          <a:xfrm>
            <a:off x="9207174" y="5460451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6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0582BCD-7CF9-4B05-9F54-71391B171E3F}"/>
              </a:ext>
            </a:extLst>
          </p:cNvPr>
          <p:cNvSpPr txBox="1"/>
          <p:nvPr/>
        </p:nvSpPr>
        <p:spPr>
          <a:xfrm>
            <a:off x="6229651" y="476159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7792193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0E665F2-1555-419B-B673-367F2544DF2E}"/>
              </a:ext>
            </a:extLst>
          </p:cNvPr>
          <p:cNvSpPr/>
          <p:nvPr/>
        </p:nvSpPr>
        <p:spPr>
          <a:xfrm>
            <a:off x="1050632" y="319597"/>
            <a:ext cx="10999432" cy="6371276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BA738CC-7BC9-48F3-AE9D-1C9772445536}"/>
              </a:ext>
            </a:extLst>
          </p:cNvPr>
          <p:cNvSpPr/>
          <p:nvPr/>
        </p:nvSpPr>
        <p:spPr>
          <a:xfrm>
            <a:off x="1278639" y="56438"/>
            <a:ext cx="10254600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Save a </a:t>
            </a:r>
            <a:r>
              <a:rPr lang="en-US" err="1">
                <a:solidFill>
                  <a:schemeClr val="tx1"/>
                </a:solidFill>
              </a:rPr>
              <a:t>mydata.jasp</a:t>
            </a:r>
            <a:r>
              <a:rPr lang="en-US">
                <a:solidFill>
                  <a:schemeClr val="tx1"/>
                </a:solidFill>
              </a:rPr>
              <a:t> file as a myresults.html File on your Computer – only contains the annotated results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EB74DD36-A158-45DD-BFBA-EEA70AD344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4567" y="881318"/>
            <a:ext cx="9479976" cy="5490333"/>
          </a:xfrm>
          <a:prstGeom prst="rect">
            <a:avLst/>
          </a:prstGeom>
        </p:spPr>
      </p:pic>
      <p:sp>
        <p:nvSpPr>
          <p:cNvPr id="4" name="Oval 3">
            <a:extLst>
              <a:ext uri="{FF2B5EF4-FFF2-40B4-BE49-F238E27FC236}">
                <a16:creationId xmlns:a16="http://schemas.microsoft.com/office/drawing/2014/main" id="{268C3BCC-F03E-4993-9C3F-8540CA0AC098}"/>
              </a:ext>
            </a:extLst>
          </p:cNvPr>
          <p:cNvSpPr/>
          <p:nvPr/>
        </p:nvSpPr>
        <p:spPr>
          <a:xfrm>
            <a:off x="3811759" y="1747998"/>
            <a:ext cx="726238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25116EF0-BCFF-4080-B8E2-98505201668F}"/>
              </a:ext>
            </a:extLst>
          </p:cNvPr>
          <p:cNvSpPr/>
          <p:nvPr/>
        </p:nvSpPr>
        <p:spPr>
          <a:xfrm>
            <a:off x="2722517" y="1453181"/>
            <a:ext cx="757530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BDC8BDD-1F37-498E-96D7-04A868755601}"/>
              </a:ext>
            </a:extLst>
          </p:cNvPr>
          <p:cNvSpPr/>
          <p:nvPr/>
        </p:nvSpPr>
        <p:spPr>
          <a:xfrm>
            <a:off x="1278639" y="2429911"/>
            <a:ext cx="1908475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EDE256E-EF66-4C82-BBED-C72496EFD28C}"/>
              </a:ext>
            </a:extLst>
          </p:cNvPr>
          <p:cNvSpPr/>
          <p:nvPr/>
        </p:nvSpPr>
        <p:spPr>
          <a:xfrm>
            <a:off x="4456273" y="2200698"/>
            <a:ext cx="3746695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4B61AB2-D78B-456D-8DE9-CD7FD3CB943F}"/>
              </a:ext>
            </a:extLst>
          </p:cNvPr>
          <p:cNvSpPr/>
          <p:nvPr/>
        </p:nvSpPr>
        <p:spPr>
          <a:xfrm>
            <a:off x="4309649" y="4801918"/>
            <a:ext cx="1908475" cy="48029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0586631-2CD5-4F76-811E-97B76D4F414E}"/>
              </a:ext>
            </a:extLst>
          </p:cNvPr>
          <p:cNvSpPr/>
          <p:nvPr/>
        </p:nvSpPr>
        <p:spPr>
          <a:xfrm>
            <a:off x="8104657" y="5202315"/>
            <a:ext cx="880506" cy="5504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D77EEFE-4941-4B60-8DC2-E19339C05E53}"/>
              </a:ext>
            </a:extLst>
          </p:cNvPr>
          <p:cNvSpPr txBox="1"/>
          <p:nvPr/>
        </p:nvSpPr>
        <p:spPr>
          <a:xfrm>
            <a:off x="1067545" y="2491158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FE4ED9-1B33-483D-8735-1F295AAD9004}"/>
              </a:ext>
            </a:extLst>
          </p:cNvPr>
          <p:cNvSpPr txBox="1"/>
          <p:nvPr/>
        </p:nvSpPr>
        <p:spPr>
          <a:xfrm>
            <a:off x="2562633" y="147202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1B265E-D591-43BB-839B-012D7CF30141}"/>
              </a:ext>
            </a:extLst>
          </p:cNvPr>
          <p:cNvSpPr txBox="1"/>
          <p:nvPr/>
        </p:nvSpPr>
        <p:spPr>
          <a:xfrm>
            <a:off x="3609030" y="180924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0A0F33F-7824-4AE3-A7AD-B123F9F0774B}"/>
              </a:ext>
            </a:extLst>
          </p:cNvPr>
          <p:cNvSpPr txBox="1"/>
          <p:nvPr/>
        </p:nvSpPr>
        <p:spPr>
          <a:xfrm>
            <a:off x="4251139" y="223474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4CBA1FC-52FE-48F0-8E37-85C6BB3D9BD8}"/>
              </a:ext>
            </a:extLst>
          </p:cNvPr>
          <p:cNvSpPr txBox="1"/>
          <p:nvPr/>
        </p:nvSpPr>
        <p:spPr>
          <a:xfrm>
            <a:off x="4116368" y="4903566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5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CDBB24B-8838-4DF7-A984-52FB2595ABDF}"/>
              </a:ext>
            </a:extLst>
          </p:cNvPr>
          <p:cNvSpPr txBox="1"/>
          <p:nvPr/>
        </p:nvSpPr>
        <p:spPr>
          <a:xfrm>
            <a:off x="7931007" y="5290383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954484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4A027CD4-BA15-4D98-B5FF-133AE0A2DE65}"/>
              </a:ext>
            </a:extLst>
          </p:cNvPr>
          <p:cNvSpPr/>
          <p:nvPr/>
        </p:nvSpPr>
        <p:spPr>
          <a:xfrm>
            <a:off x="690116" y="805698"/>
            <a:ext cx="11088209" cy="1243820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ctr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600" kern="1200">
                <a:solidFill>
                  <a:schemeClr val="tx1"/>
                </a:solidFill>
              </a:rPr>
              <a:t>How </a:t>
            </a:r>
            <a:r>
              <a:rPr lang="en-US" sz="3600">
                <a:solidFill>
                  <a:schemeClr val="tx1"/>
                </a:solidFill>
              </a:rPr>
              <a:t>to Make your Data Analyses </a:t>
            </a:r>
            <a:r>
              <a:rPr lang="en-US" sz="3600" kern="1200">
                <a:solidFill>
                  <a:schemeClr val="tx1"/>
                </a:solidFill>
              </a:rPr>
              <a:t>Findable </a:t>
            </a:r>
            <a:br>
              <a:rPr lang="en-US" sz="3600" kern="1200">
                <a:solidFill>
                  <a:schemeClr val="tx1"/>
                </a:solidFill>
              </a:rPr>
            </a:br>
            <a:r>
              <a:rPr lang="en-US" sz="3600" kern="1200">
                <a:solidFill>
                  <a:schemeClr val="tx1"/>
                </a:solidFill>
              </a:rPr>
              <a:t>Using the Open Science Foundation</a:t>
            </a:r>
            <a:endParaRPr lang="nl-NL" sz="3600" kern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091283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080D87EB-96C0-4B0A-9B13-41A217B9C621}"/>
              </a:ext>
            </a:extLst>
          </p:cNvPr>
          <p:cNvGrpSpPr/>
          <p:nvPr/>
        </p:nvGrpSpPr>
        <p:grpSpPr>
          <a:xfrm>
            <a:off x="632394" y="2128029"/>
            <a:ext cx="10930385" cy="3012141"/>
            <a:chOff x="719032" y="3308759"/>
            <a:chExt cx="10930385" cy="3012141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F0826F1-BDB8-4A1F-BFE7-A6F650242993}"/>
                </a:ext>
              </a:extLst>
            </p:cNvPr>
            <p:cNvSpPr/>
            <p:nvPr/>
          </p:nvSpPr>
          <p:spPr>
            <a:xfrm>
              <a:off x="719032" y="3549241"/>
              <a:ext cx="10930385" cy="2771659"/>
            </a:xfrm>
            <a:prstGeom prst="rect">
              <a:avLst/>
            </a:prstGeom>
          </p:spPr>
          <p:style>
            <a:lnRef idx="2">
              <a:schemeClr val="accent1">
                <a:hueOff val="0"/>
                <a:satOff val="0"/>
                <a:lumOff val="0"/>
                <a:alphaOff val="0"/>
              </a:schemeClr>
            </a:lnRef>
            <a:fillRef idx="1">
              <a:schemeClr val="lt1"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lt1"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nl-NL"/>
            </a:p>
          </p:txBody>
        </p:sp>
        <p:pic>
          <p:nvPicPr>
            <p:cNvPr id="8" name="Picture 7" descr="A picture containing monitor, person, holding, screen&#10;&#10;Description automatically generated">
              <a:extLst>
                <a:ext uri="{FF2B5EF4-FFF2-40B4-BE49-F238E27FC236}">
                  <a16:creationId xmlns:a16="http://schemas.microsoft.com/office/drawing/2014/main" id="{C7A579F2-6113-4454-9034-9185443CDFB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37934" y="4150143"/>
              <a:ext cx="10270136" cy="1569856"/>
            </a:xfrm>
            <a:prstGeom prst="rect">
              <a:avLst/>
            </a:prstGeom>
          </p:spPr>
        </p:pic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D534437C-B9CF-4242-814C-F5635E3A30D1}"/>
                </a:ext>
              </a:extLst>
            </p:cNvPr>
            <p:cNvSpPr/>
            <p:nvPr/>
          </p:nvSpPr>
          <p:spPr>
            <a:xfrm>
              <a:off x="1361311" y="3308759"/>
              <a:ext cx="8668317" cy="472320"/>
            </a:xfrm>
            <a:custGeom>
              <a:avLst/>
              <a:gdLst>
                <a:gd name="connsiteX0" fmla="*/ 0 w 3816647"/>
                <a:gd name="connsiteY0" fmla="*/ 78722 h 472320"/>
                <a:gd name="connsiteX1" fmla="*/ 78722 w 3816647"/>
                <a:gd name="connsiteY1" fmla="*/ 0 h 472320"/>
                <a:gd name="connsiteX2" fmla="*/ 3737925 w 3816647"/>
                <a:gd name="connsiteY2" fmla="*/ 0 h 472320"/>
                <a:gd name="connsiteX3" fmla="*/ 3816647 w 3816647"/>
                <a:gd name="connsiteY3" fmla="*/ 78722 h 472320"/>
                <a:gd name="connsiteX4" fmla="*/ 3816647 w 3816647"/>
                <a:gd name="connsiteY4" fmla="*/ 393598 h 472320"/>
                <a:gd name="connsiteX5" fmla="*/ 3737925 w 3816647"/>
                <a:gd name="connsiteY5" fmla="*/ 472320 h 472320"/>
                <a:gd name="connsiteX6" fmla="*/ 78722 w 3816647"/>
                <a:gd name="connsiteY6" fmla="*/ 472320 h 472320"/>
                <a:gd name="connsiteX7" fmla="*/ 0 w 3816647"/>
                <a:gd name="connsiteY7" fmla="*/ 393598 h 472320"/>
                <a:gd name="connsiteX8" fmla="*/ 0 w 3816647"/>
                <a:gd name="connsiteY8" fmla="*/ 78722 h 4723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816647" h="472320">
                  <a:moveTo>
                    <a:pt x="0" y="78722"/>
                  </a:moveTo>
                  <a:cubicBezTo>
                    <a:pt x="0" y="35245"/>
                    <a:pt x="35245" y="0"/>
                    <a:pt x="78722" y="0"/>
                  </a:cubicBezTo>
                  <a:lnTo>
                    <a:pt x="3737925" y="0"/>
                  </a:lnTo>
                  <a:cubicBezTo>
                    <a:pt x="3781402" y="0"/>
                    <a:pt x="3816647" y="35245"/>
                    <a:pt x="3816647" y="78722"/>
                  </a:cubicBezTo>
                  <a:lnTo>
                    <a:pt x="3816647" y="393598"/>
                  </a:lnTo>
                  <a:cubicBezTo>
                    <a:pt x="3816647" y="437075"/>
                    <a:pt x="3781402" y="472320"/>
                    <a:pt x="3737925" y="472320"/>
                  </a:cubicBezTo>
                  <a:lnTo>
                    <a:pt x="78722" y="472320"/>
                  </a:lnTo>
                  <a:cubicBezTo>
                    <a:pt x="35245" y="472320"/>
                    <a:pt x="0" y="437075"/>
                    <a:pt x="0" y="393598"/>
                  </a:cubicBezTo>
                  <a:lnTo>
                    <a:pt x="0" y="78722"/>
                  </a:lnTo>
                  <a:close/>
                </a:path>
              </a:pathLst>
            </a:custGeom>
            <a:ln>
              <a:noFill/>
            </a:ln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167317" tIns="23057" rIns="167317" bIns="23057" numCol="1" spcCol="1270" anchor="ctr" anchorCtr="0">
              <a:noAutofit/>
            </a:bodyPr>
            <a:lstStyle/>
            <a:p>
              <a:pPr marL="0" lvl="0" indent="0" algn="l" defTabSz="711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kern="1200">
                  <a:solidFill>
                    <a:schemeClr val="tx1"/>
                  </a:solidFill>
                </a:rPr>
                <a:t>Creat</a:t>
              </a:r>
              <a:r>
                <a:rPr lang="en-US">
                  <a:solidFill>
                    <a:schemeClr val="tx1"/>
                  </a:solidFill>
                </a:rPr>
                <a:t>e a Project to Store your Data at the Open Science Foundation in Four Simple Steps </a:t>
              </a:r>
              <a:endParaRPr lang="nl-NL" kern="1200">
                <a:solidFill>
                  <a:schemeClr val="tx1"/>
                </a:solidFill>
              </a:endParaRPr>
            </a:p>
          </p:txBody>
        </p:sp>
      </p:grpSp>
      <p:sp>
        <p:nvSpPr>
          <p:cNvPr id="9" name="Oval 8">
            <a:extLst>
              <a:ext uri="{FF2B5EF4-FFF2-40B4-BE49-F238E27FC236}">
                <a16:creationId xmlns:a16="http://schemas.microsoft.com/office/drawing/2014/main" id="{44238761-F762-4F68-9FF8-5C709FCDC461}"/>
              </a:ext>
            </a:extLst>
          </p:cNvPr>
          <p:cNvSpPr/>
          <p:nvPr/>
        </p:nvSpPr>
        <p:spPr>
          <a:xfrm>
            <a:off x="8996399" y="3368249"/>
            <a:ext cx="1322773" cy="102865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6FCA87A-39B7-4567-868B-CE2B7B79A64A}"/>
              </a:ext>
            </a:extLst>
          </p:cNvPr>
          <p:cNvSpPr/>
          <p:nvPr/>
        </p:nvSpPr>
        <p:spPr>
          <a:xfrm>
            <a:off x="1316823" y="2969413"/>
            <a:ext cx="1322773" cy="102865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2A91005-5AF7-4472-B2DB-18EADEB7E3B0}"/>
              </a:ext>
            </a:extLst>
          </p:cNvPr>
          <p:cNvSpPr txBox="1"/>
          <p:nvPr/>
        </p:nvSpPr>
        <p:spPr>
          <a:xfrm>
            <a:off x="9162745" y="3206741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BAD9A45-BF99-4D11-A714-B73FD5FE9C9A}"/>
              </a:ext>
            </a:extLst>
          </p:cNvPr>
          <p:cNvSpPr txBox="1"/>
          <p:nvPr/>
        </p:nvSpPr>
        <p:spPr>
          <a:xfrm>
            <a:off x="1433078" y="2830913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7587569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BD8AABA-4B5C-459D-BA10-826DFEE0FB19}"/>
              </a:ext>
            </a:extLst>
          </p:cNvPr>
          <p:cNvSpPr/>
          <p:nvPr/>
        </p:nvSpPr>
        <p:spPr>
          <a:xfrm>
            <a:off x="2272682" y="362159"/>
            <a:ext cx="8293719" cy="6101640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1590821-8DC2-4F24-A826-41DC122EE13C}"/>
              </a:ext>
            </a:extLst>
          </p:cNvPr>
          <p:cNvSpPr/>
          <p:nvPr/>
        </p:nvSpPr>
        <p:spPr>
          <a:xfrm>
            <a:off x="2586550" y="98951"/>
            <a:ext cx="3148425" cy="54059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Step 1: Create a Free Account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378AF43F-FAA1-498A-AD01-1C4F63D843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0260" y="697949"/>
            <a:ext cx="4861117" cy="570744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FA1D9DE-210A-4F43-AFAC-9210053D73B6}"/>
              </a:ext>
            </a:extLst>
          </p:cNvPr>
          <p:cNvSpPr/>
          <p:nvPr/>
        </p:nvSpPr>
        <p:spPr>
          <a:xfrm>
            <a:off x="5863998" y="5593856"/>
            <a:ext cx="1577662" cy="5574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AE086E9-2004-4996-B904-8A36C4CE1F1A}"/>
              </a:ext>
            </a:extLst>
          </p:cNvPr>
          <p:cNvSpPr/>
          <p:nvPr/>
        </p:nvSpPr>
        <p:spPr>
          <a:xfrm>
            <a:off x="5250386" y="4861307"/>
            <a:ext cx="555543" cy="5574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0FB34843-4374-4F4D-9B8A-19D77A18D965}"/>
              </a:ext>
            </a:extLst>
          </p:cNvPr>
          <p:cNvSpPr/>
          <p:nvPr/>
        </p:nvSpPr>
        <p:spPr>
          <a:xfrm>
            <a:off x="3791111" y="2632403"/>
            <a:ext cx="2918551" cy="174125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5E08517-E725-41BD-9DA3-6B31C2BB7132}"/>
              </a:ext>
            </a:extLst>
          </p:cNvPr>
          <p:cNvSpPr/>
          <p:nvPr/>
        </p:nvSpPr>
        <p:spPr>
          <a:xfrm>
            <a:off x="4464742" y="4254877"/>
            <a:ext cx="555543" cy="55741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9C682DD-C49D-4A8A-A219-DBBCFB807A2A}"/>
              </a:ext>
            </a:extLst>
          </p:cNvPr>
          <p:cNvSpPr txBox="1"/>
          <p:nvPr/>
        </p:nvSpPr>
        <p:spPr>
          <a:xfrm>
            <a:off x="5688909" y="5734065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A8214A1-2C84-4890-8829-DE05C07C2C7E}"/>
              </a:ext>
            </a:extLst>
          </p:cNvPr>
          <p:cNvSpPr txBox="1"/>
          <p:nvPr/>
        </p:nvSpPr>
        <p:spPr>
          <a:xfrm>
            <a:off x="3813943" y="2828527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BA59E71-F64B-4750-B435-D30298C70DB3}"/>
              </a:ext>
            </a:extLst>
          </p:cNvPr>
          <p:cNvSpPr txBox="1"/>
          <p:nvPr/>
        </p:nvSpPr>
        <p:spPr>
          <a:xfrm>
            <a:off x="5062228" y="4974023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28BF02-48B1-44DA-9AC9-EA6CEC7BCDEC}"/>
              </a:ext>
            </a:extLst>
          </p:cNvPr>
          <p:cNvSpPr txBox="1"/>
          <p:nvPr/>
        </p:nvSpPr>
        <p:spPr>
          <a:xfrm>
            <a:off x="4321253" y="4340481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76757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0FE740B-A81B-425D-8EAE-091D1103BE79}"/>
              </a:ext>
            </a:extLst>
          </p:cNvPr>
          <p:cNvSpPr/>
          <p:nvPr/>
        </p:nvSpPr>
        <p:spPr>
          <a:xfrm>
            <a:off x="145109" y="1394447"/>
            <a:ext cx="11780667" cy="4069105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3521040-FBC5-43B7-A4C8-F7397EB7C372}"/>
              </a:ext>
            </a:extLst>
          </p:cNvPr>
          <p:cNvSpPr/>
          <p:nvPr/>
        </p:nvSpPr>
        <p:spPr>
          <a:xfrm>
            <a:off x="1580374" y="1131240"/>
            <a:ext cx="3080403" cy="537368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Step 2: Create a New Project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3" name="Picture 2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3E4E24FE-6202-4DC2-B247-377CD81E7A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19246"/>
          <a:stretch/>
        </p:blipFill>
        <p:spPr>
          <a:xfrm>
            <a:off x="293274" y="1931816"/>
            <a:ext cx="11484335" cy="3187772"/>
          </a:xfrm>
          <a:prstGeom prst="rect">
            <a:avLst/>
          </a:prstGeom>
        </p:spPr>
      </p:pic>
      <p:sp>
        <p:nvSpPr>
          <p:cNvPr id="7" name="Oval 6">
            <a:extLst>
              <a:ext uri="{FF2B5EF4-FFF2-40B4-BE49-F238E27FC236}">
                <a16:creationId xmlns:a16="http://schemas.microsoft.com/office/drawing/2014/main" id="{94CF5216-5197-46F5-B6E7-565D22A3B956}"/>
              </a:ext>
            </a:extLst>
          </p:cNvPr>
          <p:cNvSpPr/>
          <p:nvPr/>
        </p:nvSpPr>
        <p:spPr>
          <a:xfrm>
            <a:off x="6838545" y="4066162"/>
            <a:ext cx="3297675" cy="139739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97538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341710-E92B-4470-A625-3C33FE33A9E6}"/>
              </a:ext>
            </a:extLst>
          </p:cNvPr>
          <p:cNvSpPr/>
          <p:nvPr/>
        </p:nvSpPr>
        <p:spPr>
          <a:xfrm>
            <a:off x="159959" y="666478"/>
            <a:ext cx="11875256" cy="5041864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pic>
        <p:nvPicPr>
          <p:cNvPr id="3" name="Picture 2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419FB0C6-389C-4223-8823-893576CCFC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166" y="1203846"/>
            <a:ext cx="11560542" cy="4237087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B92B097B-1744-4483-9503-DB0C4C1A72BD}"/>
              </a:ext>
            </a:extLst>
          </p:cNvPr>
          <p:cNvSpPr/>
          <p:nvPr/>
        </p:nvSpPr>
        <p:spPr>
          <a:xfrm>
            <a:off x="1595225" y="403271"/>
            <a:ext cx="4210772" cy="537368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Step 2: Create a New Project (continued)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8F80236-450B-4BE3-B514-207BB1CD1D93}"/>
              </a:ext>
            </a:extLst>
          </p:cNvPr>
          <p:cNvSpPr/>
          <p:nvPr/>
        </p:nvSpPr>
        <p:spPr>
          <a:xfrm flipH="1" flipV="1">
            <a:off x="2869659" y="2832350"/>
            <a:ext cx="2799910" cy="710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366850F-5340-4BC8-9C9B-4128B03A6ADB}"/>
              </a:ext>
            </a:extLst>
          </p:cNvPr>
          <p:cNvSpPr/>
          <p:nvPr/>
        </p:nvSpPr>
        <p:spPr>
          <a:xfrm flipH="1" flipV="1">
            <a:off x="2869659" y="3542470"/>
            <a:ext cx="2799910" cy="710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86CC7A79-3A11-4CB5-A09D-0C690A03999E}"/>
              </a:ext>
            </a:extLst>
          </p:cNvPr>
          <p:cNvSpPr/>
          <p:nvPr/>
        </p:nvSpPr>
        <p:spPr>
          <a:xfrm flipH="1" flipV="1">
            <a:off x="7986408" y="4401746"/>
            <a:ext cx="885218" cy="71012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E383DAE-1596-4177-BB08-5AD6B6EF6BA4}"/>
              </a:ext>
            </a:extLst>
          </p:cNvPr>
          <p:cNvSpPr txBox="1"/>
          <p:nvPr/>
        </p:nvSpPr>
        <p:spPr>
          <a:xfrm>
            <a:off x="5783266" y="304539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D965B9D-FDC1-449A-B7A8-9C7D31B3C9EB}"/>
              </a:ext>
            </a:extLst>
          </p:cNvPr>
          <p:cNvSpPr txBox="1"/>
          <p:nvPr/>
        </p:nvSpPr>
        <p:spPr>
          <a:xfrm>
            <a:off x="5783266" y="375903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5E7CF9-A361-46B3-AACA-99DF3E712DCD}"/>
              </a:ext>
            </a:extLst>
          </p:cNvPr>
          <p:cNvSpPr txBox="1"/>
          <p:nvPr/>
        </p:nvSpPr>
        <p:spPr>
          <a:xfrm>
            <a:off x="8370507" y="4091892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91313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FB54C65-6DEF-4295-BE59-72BDB228AD7D}"/>
              </a:ext>
            </a:extLst>
          </p:cNvPr>
          <p:cNvSpPr/>
          <p:nvPr/>
        </p:nvSpPr>
        <p:spPr>
          <a:xfrm>
            <a:off x="660014" y="369740"/>
            <a:ext cx="11287998" cy="6444012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FC10769C-176E-4C5E-90B9-CF416E4D5E5C}"/>
              </a:ext>
            </a:extLst>
          </p:cNvPr>
          <p:cNvSpPr/>
          <p:nvPr/>
        </p:nvSpPr>
        <p:spPr>
          <a:xfrm>
            <a:off x="938329" y="95441"/>
            <a:ext cx="4512560" cy="537368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Step 3: Make your Project Publicly Available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11" name="Picture 10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CD55CE0B-4BB0-405B-A6D2-12A6A4F57E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8329" y="741027"/>
            <a:ext cx="10596832" cy="6000284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FD9D498D-3DB9-42DA-898D-584A0E2C971D}"/>
              </a:ext>
            </a:extLst>
          </p:cNvPr>
          <p:cNvSpPr/>
          <p:nvPr/>
        </p:nvSpPr>
        <p:spPr>
          <a:xfrm>
            <a:off x="1275802" y="741027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216EFC47-4D8D-4ED8-AA46-95BA8FB6B14A}"/>
              </a:ext>
            </a:extLst>
          </p:cNvPr>
          <p:cNvSpPr/>
          <p:nvPr/>
        </p:nvSpPr>
        <p:spPr>
          <a:xfrm>
            <a:off x="938329" y="3523532"/>
            <a:ext cx="1908475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2C26D6D-F0D3-46F1-87A9-5F138FC2B90D}"/>
              </a:ext>
            </a:extLst>
          </p:cNvPr>
          <p:cNvSpPr/>
          <p:nvPr/>
        </p:nvSpPr>
        <p:spPr>
          <a:xfrm>
            <a:off x="6097587" y="5379868"/>
            <a:ext cx="2158646" cy="132316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7E14CFA-F222-4A9D-A0B7-86AD1B071355}"/>
              </a:ext>
            </a:extLst>
          </p:cNvPr>
          <p:cNvSpPr/>
          <p:nvPr/>
        </p:nvSpPr>
        <p:spPr>
          <a:xfrm>
            <a:off x="9133710" y="1943953"/>
            <a:ext cx="1322773" cy="39949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6" name="Graphic 5" descr="Cat">
            <a:extLst>
              <a:ext uri="{FF2B5EF4-FFF2-40B4-BE49-F238E27FC236}">
                <a16:creationId xmlns:a16="http://schemas.microsoft.com/office/drawing/2014/main" id="{B649D0E8-1E92-4858-B859-F54FB6F05D1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flipH="1">
            <a:off x="10280341" y="3008627"/>
            <a:ext cx="817123" cy="9144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BD14C19B-FA13-49BB-95D2-AC083163EDA8}"/>
              </a:ext>
            </a:extLst>
          </p:cNvPr>
          <p:cNvSpPr txBox="1"/>
          <p:nvPr/>
        </p:nvSpPr>
        <p:spPr>
          <a:xfrm>
            <a:off x="2721045" y="802274"/>
            <a:ext cx="5411353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1: anybody can surf here to access your data analyses if …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5424DA7-B61D-4206-B4AA-1001CA9A4414}"/>
              </a:ext>
            </a:extLst>
          </p:cNvPr>
          <p:cNvSpPr txBox="1"/>
          <p:nvPr/>
        </p:nvSpPr>
        <p:spPr>
          <a:xfrm>
            <a:off x="2925813" y="3584779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18D3F69-1560-4DA9-852F-84682C7110E8}"/>
              </a:ext>
            </a:extLst>
          </p:cNvPr>
          <p:cNvSpPr txBox="1"/>
          <p:nvPr/>
        </p:nvSpPr>
        <p:spPr>
          <a:xfrm>
            <a:off x="7725491" y="2399038"/>
            <a:ext cx="420172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2: … you make your project publicly available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449A133-858E-459C-A2D2-1717E4D206DF}"/>
              </a:ext>
            </a:extLst>
          </p:cNvPr>
          <p:cNvSpPr txBox="1"/>
          <p:nvPr/>
        </p:nvSpPr>
        <p:spPr>
          <a:xfrm>
            <a:off x="7118400" y="5117460"/>
            <a:ext cx="117020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4859554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" grpId="0" animBg="1"/>
      <p:bldP spid="8" grpId="0" animBg="1"/>
      <p:bldP spid="7" grpId="0" animBg="1"/>
      <p:bldP spid="10" grpId="0"/>
      <p:bldP spid="14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A7CBFF-50CB-4C1D-98C1-D638FF58F97E}"/>
              </a:ext>
            </a:extLst>
          </p:cNvPr>
          <p:cNvSpPr/>
          <p:nvPr/>
        </p:nvSpPr>
        <p:spPr>
          <a:xfrm>
            <a:off x="719092" y="490324"/>
            <a:ext cx="10999432" cy="6061395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00ADF305-07BA-4727-B355-C8AFE45017A4}"/>
              </a:ext>
            </a:extLst>
          </p:cNvPr>
          <p:cNvSpPr/>
          <p:nvPr/>
        </p:nvSpPr>
        <p:spPr>
          <a:xfrm>
            <a:off x="1615526" y="209464"/>
            <a:ext cx="7049080" cy="561721"/>
          </a:xfrm>
          <a:custGeom>
            <a:avLst/>
            <a:gdLst>
              <a:gd name="connsiteX0" fmla="*/ 0 w 9406096"/>
              <a:gd name="connsiteY0" fmla="*/ 117843 h 707043"/>
              <a:gd name="connsiteX1" fmla="*/ 117843 w 9406096"/>
              <a:gd name="connsiteY1" fmla="*/ 0 h 707043"/>
              <a:gd name="connsiteX2" fmla="*/ 9288253 w 9406096"/>
              <a:gd name="connsiteY2" fmla="*/ 0 h 707043"/>
              <a:gd name="connsiteX3" fmla="*/ 9406096 w 9406096"/>
              <a:gd name="connsiteY3" fmla="*/ 117843 h 707043"/>
              <a:gd name="connsiteX4" fmla="*/ 9406096 w 9406096"/>
              <a:gd name="connsiteY4" fmla="*/ 589200 h 707043"/>
              <a:gd name="connsiteX5" fmla="*/ 9288253 w 9406096"/>
              <a:gd name="connsiteY5" fmla="*/ 707043 h 707043"/>
              <a:gd name="connsiteX6" fmla="*/ 117843 w 9406096"/>
              <a:gd name="connsiteY6" fmla="*/ 707043 h 707043"/>
              <a:gd name="connsiteX7" fmla="*/ 0 w 9406096"/>
              <a:gd name="connsiteY7" fmla="*/ 589200 h 707043"/>
              <a:gd name="connsiteX8" fmla="*/ 0 w 9406096"/>
              <a:gd name="connsiteY8" fmla="*/ 117843 h 7070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9406096" h="707043">
                <a:moveTo>
                  <a:pt x="0" y="117843"/>
                </a:moveTo>
                <a:cubicBezTo>
                  <a:pt x="0" y="52760"/>
                  <a:pt x="52760" y="0"/>
                  <a:pt x="117843" y="0"/>
                </a:cubicBezTo>
                <a:lnTo>
                  <a:pt x="9288253" y="0"/>
                </a:lnTo>
                <a:cubicBezTo>
                  <a:pt x="9353336" y="0"/>
                  <a:pt x="9406096" y="52760"/>
                  <a:pt x="9406096" y="117843"/>
                </a:cubicBezTo>
                <a:lnTo>
                  <a:pt x="9406096" y="589200"/>
                </a:lnTo>
                <a:cubicBezTo>
                  <a:pt x="9406096" y="654283"/>
                  <a:pt x="9353336" y="707043"/>
                  <a:pt x="9288253" y="707043"/>
                </a:cubicBezTo>
                <a:lnTo>
                  <a:pt x="117843" y="707043"/>
                </a:lnTo>
                <a:cubicBezTo>
                  <a:pt x="52760" y="707043"/>
                  <a:pt x="0" y="654283"/>
                  <a:pt x="0" y="589200"/>
                </a:cubicBezTo>
                <a:lnTo>
                  <a:pt x="0" y="117843"/>
                </a:lnTo>
                <a:close/>
              </a:path>
            </a:pathLst>
          </a:custGeom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332035" tIns="34515" rIns="332035" bIns="34515" numCol="1" spcCol="1270" anchor="ctr" anchorCtr="0">
            <a:noAutofit/>
          </a:bodyPr>
          <a:lstStyle/>
          <a:p>
            <a:pPr marL="0" lvl="0" indent="0" algn="l" defTabSz="1600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>
                <a:solidFill>
                  <a:schemeClr val="tx1"/>
                </a:solidFill>
              </a:rPr>
              <a:t>Drag your Data and other Relevant Files into the Project you Created</a:t>
            </a:r>
            <a:endParaRPr lang="nl-NL" kern="1200">
              <a:solidFill>
                <a:schemeClr val="tx1"/>
              </a:solidFill>
            </a:endParaRPr>
          </a:p>
        </p:txBody>
      </p:sp>
      <p:pic>
        <p:nvPicPr>
          <p:cNvPr id="7" name="Picture 6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E869599A-E571-41FE-80F7-E1835268FF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28300" y="905553"/>
            <a:ext cx="10279046" cy="5511797"/>
          </a:xfrm>
          <a:prstGeom prst="rect">
            <a:avLst/>
          </a:prstGeom>
        </p:spPr>
      </p:pic>
      <p:sp>
        <p:nvSpPr>
          <p:cNvPr id="9" name="Oval 8">
            <a:extLst>
              <a:ext uri="{FF2B5EF4-FFF2-40B4-BE49-F238E27FC236}">
                <a16:creationId xmlns:a16="http://schemas.microsoft.com/office/drawing/2014/main" id="{6495CD9B-E2D3-400B-954B-CD67FE2B146F}"/>
              </a:ext>
            </a:extLst>
          </p:cNvPr>
          <p:cNvSpPr/>
          <p:nvPr/>
        </p:nvSpPr>
        <p:spPr>
          <a:xfrm>
            <a:off x="907865" y="5406501"/>
            <a:ext cx="4764966" cy="44564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4AE0F7-2411-4CF8-9EF3-66A03DE1ED92}"/>
              </a:ext>
            </a:extLst>
          </p:cNvPr>
          <p:cNvSpPr/>
          <p:nvPr/>
        </p:nvSpPr>
        <p:spPr>
          <a:xfrm>
            <a:off x="7025557" y="3595452"/>
            <a:ext cx="1322773" cy="21852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Arrow: Down 1">
            <a:extLst>
              <a:ext uri="{FF2B5EF4-FFF2-40B4-BE49-F238E27FC236}">
                <a16:creationId xmlns:a16="http://schemas.microsoft.com/office/drawing/2014/main" id="{2E8BD4CA-FD7C-4DFD-9AB6-E93D51F93FCE}"/>
              </a:ext>
            </a:extLst>
          </p:cNvPr>
          <p:cNvSpPr/>
          <p:nvPr/>
        </p:nvSpPr>
        <p:spPr>
          <a:xfrm rot="3165161">
            <a:off x="6224717" y="3536997"/>
            <a:ext cx="399393" cy="2370466"/>
          </a:xfrm>
          <a:prstGeom prst="down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49F2B52-7BFF-4A8B-B4BB-569C2B1E9564}"/>
              </a:ext>
            </a:extLst>
          </p:cNvPr>
          <p:cNvSpPr txBox="1"/>
          <p:nvPr/>
        </p:nvSpPr>
        <p:spPr>
          <a:xfrm>
            <a:off x="6794764" y="4561667"/>
            <a:ext cx="2653290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r>
              <a:rPr lang="en-US">
                <a:solidFill>
                  <a:srgbClr val="FF0000"/>
                </a:solidFill>
              </a:rPr>
              <a:t>Drag files onto the blue bar</a:t>
            </a:r>
          </a:p>
          <a:p>
            <a:r>
              <a:rPr lang="en-US">
                <a:solidFill>
                  <a:srgbClr val="FF0000"/>
                </a:solidFill>
              </a:rPr>
              <a:t>to add them to your project</a:t>
            </a:r>
          </a:p>
        </p:txBody>
      </p:sp>
    </p:spTree>
    <p:extLst>
      <p:ext uri="{BB962C8B-B14F-4D97-AF65-F5344CB8AC3E}">
        <p14:creationId xmlns:p14="http://schemas.microsoft.com/office/powerpoint/2010/main" val="969038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2" grpId="0" animBg="1"/>
      <p:bldP spid="3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EA36133-AC6B-44E2-A399-A49089E9C0B9}"/>
              </a:ext>
            </a:extLst>
          </p:cNvPr>
          <p:cNvSpPr/>
          <p:nvPr/>
        </p:nvSpPr>
        <p:spPr>
          <a:xfrm>
            <a:off x="1162530" y="999401"/>
            <a:ext cx="10175885" cy="3908502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FB786541-EAFC-4FD9-9ADE-3700426D05AE}"/>
              </a:ext>
            </a:extLst>
          </p:cNvPr>
          <p:cNvSpPr/>
          <p:nvPr/>
        </p:nvSpPr>
        <p:spPr>
          <a:xfrm>
            <a:off x="1481681" y="729106"/>
            <a:ext cx="7061736" cy="54059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The Conflict between Fully Open Data Analyses and Privacy Regulations</a:t>
            </a:r>
            <a:endParaRPr lang="nl-NL" kern="1200">
              <a:solidFill>
                <a:schemeClr val="tx1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81A735D-FC9A-44A2-9343-891E1DA01685}"/>
              </a:ext>
            </a:extLst>
          </p:cNvPr>
          <p:cNvSpPr/>
          <p:nvPr/>
        </p:nvSpPr>
        <p:spPr>
          <a:xfrm>
            <a:off x="1359583" y="5716122"/>
            <a:ext cx="9527156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/>
              <a:t>This page was constructed using quotes and input from </a:t>
            </a:r>
            <a:r>
              <a:rPr lang="en-US" sz="12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Handling Personal Data in Research (Utrecht University)</a:t>
            </a:r>
            <a:endParaRPr lang="nl-NL" sz="120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1BE3768-4036-4528-B8B7-6E21C998FC1E}"/>
              </a:ext>
            </a:extLst>
          </p:cNvPr>
          <p:cNvSpPr txBox="1"/>
          <p:nvPr/>
        </p:nvSpPr>
        <p:spPr>
          <a:xfrm>
            <a:off x="1481681" y="1520703"/>
            <a:ext cx="8885472" cy="304698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/>
              <a:t>Personal data can only be published if privacy is guaranteed. One way to achieve this is, if data are truly anonymized (General Data Protection Regulation: </a:t>
            </a:r>
            <a:r>
              <a:rPr lang="en-US">
                <a:hlinkClick r:id="rId3"/>
              </a:rPr>
              <a:t>https://gdpr-info.eu/</a:t>
            </a:r>
            <a:r>
              <a:rPr lang="en-US"/>
              <a:t>).</a:t>
            </a:r>
          </a:p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Truly anonymized data is no longer personal data and thus no longer subject to the GDPR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It involves the complete and utter removal of all personal identifiers in a database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Anonymized data can no longer be attributed to any particular individual by any means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  <a:p>
            <a:r>
              <a:rPr lang="en-US"/>
              <a:t>If anonymization cannot be achieved, you can still “Open your Analyses” by publishing only</a:t>
            </a:r>
          </a:p>
          <a:p>
            <a:r>
              <a:rPr lang="en-US"/>
              <a:t>your code book, results, references, license and annotated analyses (these are often called</a:t>
            </a:r>
          </a:p>
          <a:p>
            <a:r>
              <a:rPr lang="en-US"/>
              <a:t>meta data). This can be done using a myresults.html file that can be created based on your</a:t>
            </a:r>
          </a:p>
          <a:p>
            <a:r>
              <a:rPr lang="en-US" err="1"/>
              <a:t>mydata.jasp</a:t>
            </a:r>
            <a:r>
              <a:rPr lang="en-US"/>
              <a:t> file.</a:t>
            </a:r>
          </a:p>
        </p:txBody>
      </p:sp>
    </p:spTree>
    <p:extLst>
      <p:ext uri="{BB962C8B-B14F-4D97-AF65-F5344CB8AC3E}">
        <p14:creationId xmlns:p14="http://schemas.microsoft.com/office/powerpoint/2010/main" val="348632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5CB5A1-C96F-4F22-BAEE-FEFF68BB9B8B}"/>
              </a:ext>
            </a:extLst>
          </p:cNvPr>
          <p:cNvSpPr/>
          <p:nvPr/>
        </p:nvSpPr>
        <p:spPr>
          <a:xfrm>
            <a:off x="1199786" y="613000"/>
            <a:ext cx="10101488" cy="3302052"/>
          </a:xfrm>
          <a:prstGeom prst="rect">
            <a:avLst/>
          </a:prstGeom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hemeClr val="lt1">
              <a:alpha val="90000"/>
              <a:hueOff val="0"/>
              <a:satOff val="0"/>
              <a:lumOff val="0"/>
              <a:alphaOff val="0"/>
            </a:schemeClr>
          </a:fillRef>
          <a:effectRef idx="0">
            <a:schemeClr val="lt1">
              <a:alpha val="90000"/>
              <a:hueOff val="0"/>
              <a:satOff val="0"/>
              <a:lumOff val="0"/>
              <a:alphaOff val="0"/>
            </a:schemeClr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/>
          <a:lstStyle/>
          <a:p>
            <a:endParaRPr lang="nl-NL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A5C896E-1794-4DD1-B81F-A6C70B13F2DB}"/>
              </a:ext>
            </a:extLst>
          </p:cNvPr>
          <p:cNvSpPr/>
          <p:nvPr/>
        </p:nvSpPr>
        <p:spPr>
          <a:xfrm>
            <a:off x="1407762" y="832865"/>
            <a:ext cx="9685536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Therefore, you may want to impose restrictions on the use of your data, e.g., “can only be used to reproduce the analyses you executed”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However, this cannot be arranged via the application of a license, data are often considered to be facts and facts cannot be copyrighted (</a:t>
            </a:r>
            <a:r>
              <a:rPr lang="en-US" err="1"/>
              <a:t>OpenAIRE</a:t>
            </a:r>
            <a:r>
              <a:rPr lang="en-US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In such cases you can consider publishing only a part of your data, e.g., only the data and analyses that are used in a specific research report (but do provide complete meta data, most importantly, the code book of your complete data set)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Then the unused data are only available for you and thereby you avoid being scooped out of your next paper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20F0289-41B3-423A-95BC-DAC73F7CD023}"/>
              </a:ext>
            </a:extLst>
          </p:cNvPr>
          <p:cNvSpPr/>
          <p:nvPr/>
        </p:nvSpPr>
        <p:spPr>
          <a:xfrm>
            <a:off x="1464817" y="4176117"/>
            <a:ext cx="7958722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nl-NL" sz="1200" err="1"/>
              <a:t>OpenAIRE</a:t>
            </a:r>
            <a:r>
              <a:rPr lang="nl-NL" sz="1200"/>
              <a:t>: </a:t>
            </a:r>
            <a:r>
              <a:rPr lang="nl-NL" sz="1200"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https://www.openaire.eu/how-do-i-license-my-research-data</a:t>
            </a:r>
            <a:endParaRPr lang="nl-NL" sz="120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064E800A-C46E-4671-B1C9-5558EE1D1AA9}"/>
              </a:ext>
            </a:extLst>
          </p:cNvPr>
          <p:cNvSpPr/>
          <p:nvPr/>
        </p:nvSpPr>
        <p:spPr>
          <a:xfrm>
            <a:off x="1593714" y="342705"/>
            <a:ext cx="7700928" cy="54059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kern="1200">
                <a:solidFill>
                  <a:schemeClr val="tx1"/>
                </a:solidFill>
              </a:rPr>
              <a:t>The Conflict between Fully Open Data Analyses and your Future Research Plans</a:t>
            </a:r>
            <a:endParaRPr lang="nl-NL" kern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94422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87"/>
          <p:cNvSpPr txBox="1"/>
          <p:nvPr/>
        </p:nvSpPr>
        <p:spPr>
          <a:xfrm>
            <a:off x="1292618" y="2350499"/>
            <a:ext cx="9610000" cy="132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Science is more than having publications and data openly available …</a:t>
            </a:r>
            <a:endParaRPr sz="1467"/>
          </a:p>
        </p:txBody>
      </p:sp>
      <p:sp>
        <p:nvSpPr>
          <p:cNvPr id="609" name="Google Shape;609;p87"/>
          <p:cNvSpPr txBox="1"/>
          <p:nvPr/>
        </p:nvSpPr>
        <p:spPr>
          <a:xfrm>
            <a:off x="937343" y="4333737"/>
            <a:ext cx="10320400" cy="16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4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Open Science implies openly creating, sharing and assessing research, wherever viable</a:t>
            </a: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3B61F465-EA23-6D17-66F3-90A12DE49618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Open Science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89"/>
          <p:cNvSpPr txBox="1"/>
          <p:nvPr/>
        </p:nvSpPr>
        <p:spPr>
          <a:xfrm>
            <a:off x="8228758" y="6532889"/>
            <a:ext cx="4124000" cy="26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067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3"/>
              </a:rPr>
              <a:t>From: Bosman &amp; Kramer (2017) Defining open science definitions</a:t>
            </a:r>
            <a:endParaRPr sz="10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9" name="Google Shape;639;p89"/>
          <p:cNvSpPr txBox="1"/>
          <p:nvPr/>
        </p:nvSpPr>
        <p:spPr>
          <a:xfrm>
            <a:off x="227654" y="2981933"/>
            <a:ext cx="3593600" cy="3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No barriers based on race, gender, income, status, language, ab</a:t>
            </a:r>
            <a:r>
              <a:rPr lang="en-GB" dirty="0">
                <a:ea typeface="Calibri"/>
                <a:cs typeface="Calibri"/>
                <a:sym typeface="Calibri"/>
              </a:rPr>
              <a:t>leness, age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Involvement of societal partners in research priority setting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Evaluations that include societal relevance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Citizen science &amp; co-creation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Broadly considering all knowledge (including local knowledge)</a:t>
            </a:r>
            <a:endParaRPr dirty="0"/>
          </a:p>
          <a:p>
            <a:pPr marL="287859" indent="-287859">
              <a:buClr>
                <a:schemeClr val="dk1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chemeClr val="dk1"/>
                </a:solidFill>
                <a:ea typeface="Calibri"/>
                <a:cs typeface="Calibri"/>
                <a:sym typeface="Calibri"/>
              </a:rPr>
              <a:t>Error friendly environment </a:t>
            </a:r>
            <a:endParaRPr dirty="0">
              <a:solidFill>
                <a:schemeClr val="dk1"/>
              </a:solidFill>
              <a:ea typeface="Calibri"/>
              <a:cs typeface="Calibri"/>
              <a:sym typeface="Calibri"/>
            </a:endParaRPr>
          </a:p>
          <a:p>
            <a:pPr marL="287859" indent="-169329">
              <a:buClr>
                <a:schemeClr val="dk1"/>
              </a:buClr>
              <a:buSzPts val="1400"/>
            </a:pPr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189" lvl="1"/>
            <a:endParaRPr sz="1867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0" name="Google Shape;640;p89"/>
          <p:cNvSpPr txBox="1"/>
          <p:nvPr/>
        </p:nvSpPr>
        <p:spPr>
          <a:xfrm>
            <a:off x="8535987" y="2900400"/>
            <a:ext cx="3502000" cy="23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Translations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Plain language explanations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Outreach beyond academia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Open to questions from outside academia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Curation and annotation of non-scholarly information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Participation in public debate</a:t>
            </a:r>
            <a:endParaRPr dirty="0"/>
          </a:p>
        </p:txBody>
      </p:sp>
      <p:sp>
        <p:nvSpPr>
          <p:cNvPr id="641" name="Google Shape;641;p89"/>
          <p:cNvSpPr txBox="1"/>
          <p:nvPr/>
        </p:nvSpPr>
        <p:spPr>
          <a:xfrm>
            <a:off x="4181220" y="2947633"/>
            <a:ext cx="4124000" cy="369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Open Access, f. people/machines, to: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Proposals and applications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ea typeface="Calibri"/>
                <a:cs typeface="Calibri"/>
                <a:sym typeface="Calibri"/>
              </a:rPr>
              <a:t>Preregistrations</a:t>
            </a:r>
            <a:endParaRPr dirty="0">
              <a:ea typeface="Calibri"/>
              <a:cs typeface="Calibri"/>
              <a:sym typeface="Calibri"/>
            </a:endParaRPr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Data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Code 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Preprints, working papers   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Papers and books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Reviews and comments</a:t>
            </a:r>
            <a:endParaRPr dirty="0"/>
          </a:p>
          <a:p>
            <a:pPr marL="745048" lvl="1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Posters and presentations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Open, non-proprietary standards</a:t>
            </a:r>
            <a:endParaRPr dirty="0"/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Open licences</a:t>
            </a:r>
            <a:endParaRPr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  <a:p>
            <a:pPr marL="287859" indent="-287859">
              <a:buClr>
                <a:srgbClr val="000000"/>
              </a:buClr>
              <a:buSzPts val="1400"/>
              <a:buFont typeface="Courier New"/>
              <a:buChar char="o"/>
            </a:pPr>
            <a:r>
              <a:rPr lang="en-GB" dirty="0">
                <a:solidFill>
                  <a:srgbClr val="000000"/>
                </a:solidFill>
                <a:ea typeface="Calibri"/>
                <a:cs typeface="Calibri"/>
                <a:sym typeface="Calibri"/>
              </a:rPr>
              <a:t>Full documentation of process, including negative results</a:t>
            </a:r>
            <a:endParaRPr dirty="0">
              <a:solidFill>
                <a:srgbClr val="000000"/>
              </a:solidFill>
              <a:ea typeface="Calibri"/>
              <a:cs typeface="Calibri"/>
              <a:sym typeface="Calibri"/>
            </a:endParaRPr>
          </a:p>
        </p:txBody>
      </p:sp>
      <p:sp>
        <p:nvSpPr>
          <p:cNvPr id="642" name="Google Shape;642;p89"/>
          <p:cNvSpPr txBox="1"/>
          <p:nvPr/>
        </p:nvSpPr>
        <p:spPr>
          <a:xfrm>
            <a:off x="322807" y="1804975"/>
            <a:ext cx="3593600" cy="984800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indent="609585"/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to participation</a:t>
            </a:r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3" name="Google Shape;643;p89"/>
          <p:cNvSpPr txBox="1"/>
          <p:nvPr/>
        </p:nvSpPr>
        <p:spPr>
          <a:xfrm>
            <a:off x="4250564" y="1804975"/>
            <a:ext cx="3938000" cy="1016000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to (re)use</a:t>
            </a:r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2000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4" name="Google Shape;644;p89"/>
          <p:cNvSpPr txBox="1"/>
          <p:nvPr/>
        </p:nvSpPr>
        <p:spPr>
          <a:xfrm>
            <a:off x="8574090" y="1804975"/>
            <a:ext cx="3307200" cy="984800"/>
          </a:xfrm>
          <a:prstGeom prst="rect">
            <a:avLst/>
          </a:prstGeom>
          <a:solidFill>
            <a:srgbClr val="8EBAE2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Open to the world</a:t>
            </a:r>
            <a:br>
              <a:rPr lang="en-GB" sz="2000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67" b="1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5" name="Google Shape;645;p89"/>
          <p:cNvSpPr txBox="1"/>
          <p:nvPr/>
        </p:nvSpPr>
        <p:spPr>
          <a:xfrm>
            <a:off x="141368" y="6510687"/>
            <a:ext cx="7774800" cy="33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60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D2F09CE4-3BC1-00C6-CC8F-A1A58B0146F5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Open Science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Google Shape;871;p99"/>
          <p:cNvSpPr/>
          <p:nvPr/>
        </p:nvSpPr>
        <p:spPr>
          <a:xfrm rot="-6981272">
            <a:off x="3471958" y="2057823"/>
            <a:ext cx="4722428" cy="477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4" y="63170"/>
                </a:moveTo>
                <a:lnTo>
                  <a:pt x="112094" y="63170"/>
                </a:lnTo>
                <a:cubicBezTo>
                  <a:pt x="110458" y="90155"/>
                  <a:pt x="88555" y="111440"/>
                  <a:pt x="61580" y="112258"/>
                </a:cubicBezTo>
                <a:cubicBezTo>
                  <a:pt x="34605" y="113077"/>
                  <a:pt x="11456" y="93159"/>
                  <a:pt x="8193" y="66322"/>
                </a:cubicBezTo>
                <a:cubicBezTo>
                  <a:pt x="4929" y="39485"/>
                  <a:pt x="22628" y="14583"/>
                  <a:pt x="49010" y="8890"/>
                </a:cubicBezTo>
                <a:cubicBezTo>
                  <a:pt x="75393" y="3197"/>
                  <a:pt x="101756" y="18592"/>
                  <a:pt x="109811" y="44395"/>
                </a:cubicBezTo>
                <a:lnTo>
                  <a:pt x="117498" y="43495"/>
                </a:lnTo>
                <a:lnTo>
                  <a:pt x="108025" y="54378"/>
                </a:lnTo>
                <a:lnTo>
                  <a:pt x="94363" y="46203"/>
                </a:lnTo>
                <a:lnTo>
                  <a:pt x="102038" y="45305"/>
                </a:lnTo>
                <a:cubicBezTo>
                  <a:pt x="94515" y="23607"/>
                  <a:pt x="71833" y="11170"/>
                  <a:pt x="49586" y="16545"/>
                </a:cubicBezTo>
                <a:cubicBezTo>
                  <a:pt x="27340" y="21920"/>
                  <a:pt x="12775" y="43356"/>
                  <a:pt x="15906" y="66115"/>
                </a:cubicBezTo>
                <a:cubicBezTo>
                  <a:pt x="19036" y="88874"/>
                  <a:pt x="38842" y="105543"/>
                  <a:pt x="61707" y="104662"/>
                </a:cubicBezTo>
                <a:cubicBezTo>
                  <a:pt x="84572" y="103781"/>
                  <a:pt x="103047" y="85637"/>
                  <a:pt x="104431" y="62703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2" name="Google Shape;872;p99"/>
          <p:cNvSpPr/>
          <p:nvPr/>
        </p:nvSpPr>
        <p:spPr>
          <a:xfrm>
            <a:off x="4834435" y="2356484"/>
            <a:ext cx="1994000" cy="535200"/>
          </a:xfrm>
          <a:prstGeom prst="roundRect">
            <a:avLst>
              <a:gd name="adj" fmla="val 16667"/>
            </a:avLst>
          </a:prstGeom>
          <a:solidFill>
            <a:srgbClr val="DBDBDB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3" name="Google Shape;873;p99"/>
          <p:cNvSpPr txBox="1"/>
          <p:nvPr/>
        </p:nvSpPr>
        <p:spPr>
          <a:xfrm>
            <a:off x="4889994" y="2333781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4" name="Google Shape;874;p99"/>
          <p:cNvSpPr/>
          <p:nvPr/>
        </p:nvSpPr>
        <p:spPr>
          <a:xfrm>
            <a:off x="7144990" y="3332508"/>
            <a:ext cx="1702800" cy="583600"/>
          </a:xfrm>
          <a:prstGeom prst="roundRect">
            <a:avLst>
              <a:gd name="adj" fmla="val 16667"/>
            </a:avLst>
          </a:prstGeom>
          <a:solidFill>
            <a:srgbClr val="DF8080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5" name="Google Shape;875;p99"/>
          <p:cNvSpPr/>
          <p:nvPr/>
        </p:nvSpPr>
        <p:spPr>
          <a:xfrm>
            <a:off x="7193895" y="4553431"/>
            <a:ext cx="1702800" cy="567200"/>
          </a:xfrm>
          <a:prstGeom prst="roundRect">
            <a:avLst>
              <a:gd name="adj" fmla="val 16667"/>
            </a:avLst>
          </a:prstGeom>
          <a:solidFill>
            <a:srgbClr val="E6E6C7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6" name="Google Shape;876;p99"/>
          <p:cNvSpPr/>
          <p:nvPr/>
        </p:nvSpPr>
        <p:spPr>
          <a:xfrm>
            <a:off x="6337966" y="5763379"/>
            <a:ext cx="1804400" cy="576800"/>
          </a:xfrm>
          <a:prstGeom prst="roundRect">
            <a:avLst>
              <a:gd name="adj" fmla="val 16667"/>
            </a:avLst>
          </a:prstGeom>
          <a:solidFill>
            <a:srgbClr val="A9D3D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7" name="Google Shape;877;p99"/>
          <p:cNvSpPr/>
          <p:nvPr/>
        </p:nvSpPr>
        <p:spPr>
          <a:xfrm>
            <a:off x="3199650" y="5763379"/>
            <a:ext cx="2072000" cy="576800"/>
          </a:xfrm>
          <a:prstGeom prst="roundRect">
            <a:avLst>
              <a:gd name="adj" fmla="val 16667"/>
            </a:avLst>
          </a:prstGeom>
          <a:solidFill>
            <a:srgbClr val="EDC2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8" name="Google Shape;878;p99"/>
          <p:cNvSpPr/>
          <p:nvPr/>
        </p:nvSpPr>
        <p:spPr>
          <a:xfrm>
            <a:off x="2572538" y="4689301"/>
            <a:ext cx="1916000" cy="567200"/>
          </a:xfrm>
          <a:prstGeom prst="roundRect">
            <a:avLst>
              <a:gd name="adj" fmla="val 16667"/>
            </a:avLst>
          </a:prstGeom>
          <a:solidFill>
            <a:srgbClr val="99CCB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9" name="Google Shape;879;p99"/>
          <p:cNvSpPr/>
          <p:nvPr/>
        </p:nvSpPr>
        <p:spPr>
          <a:xfrm>
            <a:off x="2572548" y="3440841"/>
            <a:ext cx="1916000" cy="604000"/>
          </a:xfrm>
          <a:prstGeom prst="roundRect">
            <a:avLst>
              <a:gd name="adj" fmla="val 16667"/>
            </a:avLst>
          </a:prstGeom>
          <a:solidFill>
            <a:srgbClr val="E6D1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0" name="Google Shape;880;p99"/>
          <p:cNvSpPr txBox="1"/>
          <p:nvPr/>
        </p:nvSpPr>
        <p:spPr>
          <a:xfrm>
            <a:off x="7239152" y="4564511"/>
            <a:ext cx="1523600" cy="523200"/>
          </a:xfrm>
          <a:prstGeom prst="rect">
            <a:avLst/>
          </a:prstGeom>
          <a:solidFill>
            <a:srgbClr val="E6E6C7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467"/>
          </a:p>
        </p:txBody>
      </p:sp>
      <p:sp>
        <p:nvSpPr>
          <p:cNvPr id="881" name="Google Shape;881;p99"/>
          <p:cNvSpPr txBox="1"/>
          <p:nvPr/>
        </p:nvSpPr>
        <p:spPr>
          <a:xfrm>
            <a:off x="6407359" y="5761157"/>
            <a:ext cx="16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2" name="Google Shape;882;p99"/>
          <p:cNvSpPr txBox="1"/>
          <p:nvPr/>
        </p:nvSpPr>
        <p:spPr>
          <a:xfrm>
            <a:off x="3273767" y="5762028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3" name="Google Shape;883;p99"/>
          <p:cNvSpPr txBox="1"/>
          <p:nvPr/>
        </p:nvSpPr>
        <p:spPr>
          <a:xfrm>
            <a:off x="2527290" y="4681444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outreach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4" name="Google Shape;884;p99"/>
          <p:cNvSpPr txBox="1"/>
          <p:nvPr/>
        </p:nvSpPr>
        <p:spPr>
          <a:xfrm>
            <a:off x="2572550" y="3456367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sz="1467"/>
          </a:p>
        </p:txBody>
      </p:sp>
      <p:sp>
        <p:nvSpPr>
          <p:cNvPr id="885" name="Google Shape;885;p99"/>
          <p:cNvSpPr txBox="1"/>
          <p:nvPr/>
        </p:nvSpPr>
        <p:spPr>
          <a:xfrm>
            <a:off x="7180436" y="3331851"/>
            <a:ext cx="16312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6" name="Google Shape;886;p99"/>
          <p:cNvGrpSpPr/>
          <p:nvPr/>
        </p:nvGrpSpPr>
        <p:grpSpPr>
          <a:xfrm>
            <a:off x="4156679" y="1815403"/>
            <a:ext cx="3652817" cy="390255"/>
            <a:chOff x="4129392" y="1828252"/>
            <a:chExt cx="3156600" cy="390255"/>
          </a:xfrm>
        </p:grpSpPr>
        <p:sp>
          <p:nvSpPr>
            <p:cNvPr id="887" name="Google Shape;887;p99"/>
            <p:cNvSpPr/>
            <p:nvPr/>
          </p:nvSpPr>
          <p:spPr>
            <a:xfrm>
              <a:off x="4129392" y="1832707"/>
              <a:ext cx="3088800" cy="385800"/>
            </a:xfrm>
            <a:prstGeom prst="roundRect">
              <a:avLst>
                <a:gd name="adj" fmla="val 16667"/>
              </a:avLst>
            </a:prstGeom>
            <a:solidFill>
              <a:srgbClr val="DBDBDB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88" name="Google Shape;888;p99"/>
            <p:cNvSpPr txBox="1"/>
            <p:nvPr/>
          </p:nvSpPr>
          <p:spPr>
            <a:xfrm>
              <a:off x="4129392" y="1828252"/>
              <a:ext cx="3156600" cy="3693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funding &amp; finding collaborators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9" name="Google Shape;889;p99"/>
          <p:cNvGrpSpPr/>
          <p:nvPr/>
        </p:nvGrpSpPr>
        <p:grpSpPr>
          <a:xfrm>
            <a:off x="9056114" y="3336513"/>
            <a:ext cx="2340597" cy="646200"/>
            <a:chOff x="9033389" y="3291808"/>
            <a:chExt cx="2340597" cy="646200"/>
          </a:xfrm>
        </p:grpSpPr>
        <p:sp>
          <p:nvSpPr>
            <p:cNvPr id="890" name="Google Shape;890;p99"/>
            <p:cNvSpPr/>
            <p:nvPr/>
          </p:nvSpPr>
          <p:spPr>
            <a:xfrm>
              <a:off x="9033389" y="3331846"/>
              <a:ext cx="2244600" cy="579300"/>
            </a:xfrm>
            <a:prstGeom prst="roundRect">
              <a:avLst>
                <a:gd name="adj" fmla="val 16667"/>
              </a:avLst>
            </a:prstGeom>
            <a:solidFill>
              <a:srgbClr val="DF8080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1" name="Google Shape;891;p99"/>
            <p:cNvSpPr txBox="1"/>
            <p:nvPr/>
          </p:nvSpPr>
          <p:spPr>
            <a:xfrm>
              <a:off x="9051086" y="3291808"/>
              <a:ext cx="23229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information &amp;</a:t>
              </a:r>
              <a:endParaRPr sz="1467"/>
            </a:p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getting access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2" name="Google Shape;892;p99"/>
          <p:cNvGrpSpPr/>
          <p:nvPr/>
        </p:nvGrpSpPr>
        <p:grpSpPr>
          <a:xfrm>
            <a:off x="9070977" y="4506300"/>
            <a:ext cx="3122477" cy="646200"/>
            <a:chOff x="9069387" y="4506297"/>
            <a:chExt cx="3122477" cy="646200"/>
          </a:xfrm>
        </p:grpSpPr>
        <p:sp>
          <p:nvSpPr>
            <p:cNvPr id="893" name="Google Shape;893;p99"/>
            <p:cNvSpPr/>
            <p:nvPr/>
          </p:nvSpPr>
          <p:spPr>
            <a:xfrm>
              <a:off x="9069387" y="4554301"/>
              <a:ext cx="2700600" cy="566400"/>
            </a:xfrm>
            <a:prstGeom prst="roundRect">
              <a:avLst>
                <a:gd name="adj" fmla="val 16667"/>
              </a:avLst>
            </a:prstGeom>
            <a:solidFill>
              <a:srgbClr val="E6E6C7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4" name="Google Shape;894;p99"/>
            <p:cNvSpPr txBox="1"/>
            <p:nvPr/>
          </p:nvSpPr>
          <p:spPr>
            <a:xfrm>
              <a:off x="9102164" y="4506297"/>
              <a:ext cx="30897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data collection, </a:t>
              </a:r>
              <a:endParaRPr sz="1467"/>
            </a:p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experimenting &amp; analyzing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5" name="Google Shape;895;p99"/>
          <p:cNvGrpSpPr/>
          <p:nvPr/>
        </p:nvGrpSpPr>
        <p:grpSpPr>
          <a:xfrm>
            <a:off x="8329896" y="5716515"/>
            <a:ext cx="2776012" cy="646200"/>
            <a:chOff x="8328305" y="5725782"/>
            <a:chExt cx="2776013" cy="646200"/>
          </a:xfrm>
        </p:grpSpPr>
        <p:sp>
          <p:nvSpPr>
            <p:cNvPr id="896" name="Google Shape;896;p99"/>
            <p:cNvSpPr/>
            <p:nvPr/>
          </p:nvSpPr>
          <p:spPr>
            <a:xfrm>
              <a:off x="8328305" y="5763377"/>
              <a:ext cx="2370300" cy="576900"/>
            </a:xfrm>
            <a:prstGeom prst="roundRect">
              <a:avLst>
                <a:gd name="adj" fmla="val 16667"/>
              </a:avLst>
            </a:prstGeom>
            <a:solidFill>
              <a:srgbClr val="A9D3D3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97" name="Google Shape;897;p99"/>
            <p:cNvSpPr txBox="1"/>
            <p:nvPr/>
          </p:nvSpPr>
          <p:spPr>
            <a:xfrm>
              <a:off x="8397717" y="5725782"/>
              <a:ext cx="27066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including reference management &amp; citing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98" name="Google Shape;898;p99"/>
          <p:cNvGrpSpPr/>
          <p:nvPr/>
        </p:nvGrpSpPr>
        <p:grpSpPr>
          <a:xfrm>
            <a:off x="736113" y="5691565"/>
            <a:ext cx="2340492" cy="646200"/>
            <a:chOff x="734522" y="5704441"/>
            <a:chExt cx="2340492" cy="646200"/>
          </a:xfrm>
        </p:grpSpPr>
        <p:sp>
          <p:nvSpPr>
            <p:cNvPr id="899" name="Google Shape;899;p99"/>
            <p:cNvSpPr/>
            <p:nvPr/>
          </p:nvSpPr>
          <p:spPr>
            <a:xfrm>
              <a:off x="734522" y="5756353"/>
              <a:ext cx="2305800" cy="583800"/>
            </a:xfrm>
            <a:prstGeom prst="roundRect">
              <a:avLst>
                <a:gd name="adj" fmla="val 16667"/>
              </a:avLst>
            </a:prstGeom>
            <a:solidFill>
              <a:srgbClr val="EDC29E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0" name="Google Shape;900;p99"/>
            <p:cNvSpPr txBox="1"/>
            <p:nvPr/>
          </p:nvSpPr>
          <p:spPr>
            <a:xfrm>
              <a:off x="774314" y="5704441"/>
              <a:ext cx="23007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also including sharing</a:t>
              </a:r>
              <a:endParaRPr sz="1467"/>
            </a:p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papers and data sets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1" name="Google Shape;901;p99"/>
          <p:cNvGrpSpPr/>
          <p:nvPr/>
        </p:nvGrpSpPr>
        <p:grpSpPr>
          <a:xfrm>
            <a:off x="84787" y="4639733"/>
            <a:ext cx="2347387" cy="646200"/>
            <a:chOff x="83197" y="4639730"/>
            <a:chExt cx="2347387" cy="646200"/>
          </a:xfrm>
        </p:grpSpPr>
        <p:sp>
          <p:nvSpPr>
            <p:cNvPr id="902" name="Google Shape;902;p99"/>
            <p:cNvSpPr/>
            <p:nvPr/>
          </p:nvSpPr>
          <p:spPr>
            <a:xfrm>
              <a:off x="141584" y="4681444"/>
              <a:ext cx="2289000" cy="575100"/>
            </a:xfrm>
            <a:prstGeom prst="roundRect">
              <a:avLst>
                <a:gd name="adj" fmla="val 16667"/>
              </a:avLst>
            </a:prstGeom>
            <a:solidFill>
              <a:srgbClr val="99CCB3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3" name="Google Shape;903;p99"/>
            <p:cNvSpPr txBox="1"/>
            <p:nvPr/>
          </p:nvSpPr>
          <p:spPr>
            <a:xfrm>
              <a:off x="83197" y="4639730"/>
              <a:ext cx="23406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incl. communication </a:t>
              </a:r>
              <a:endParaRPr sz="1467"/>
            </a:p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with general public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04" name="Google Shape;904;p99"/>
          <p:cNvGrpSpPr/>
          <p:nvPr/>
        </p:nvGrpSpPr>
        <p:grpSpPr>
          <a:xfrm>
            <a:off x="191689" y="3406000"/>
            <a:ext cx="2222781" cy="646200"/>
            <a:chOff x="190101" y="3418876"/>
            <a:chExt cx="2222782" cy="646200"/>
          </a:xfrm>
        </p:grpSpPr>
        <p:sp>
          <p:nvSpPr>
            <p:cNvPr id="905" name="Google Shape;905;p99"/>
            <p:cNvSpPr/>
            <p:nvPr/>
          </p:nvSpPr>
          <p:spPr>
            <a:xfrm>
              <a:off x="223783" y="3440841"/>
              <a:ext cx="2189100" cy="604200"/>
            </a:xfrm>
            <a:prstGeom prst="roundRect">
              <a:avLst>
                <a:gd name="adj" fmla="val 16667"/>
              </a:avLst>
            </a:prstGeom>
            <a:solidFill>
              <a:srgbClr val="E6D19E"/>
            </a:solidFill>
            <a:ln w="12700" cap="flat" cmpd="sng">
              <a:solidFill>
                <a:srgbClr val="7B7B7B">
                  <a:alpha val="24710"/>
                </a:srgbClr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6" name="Google Shape;906;p99"/>
            <p:cNvSpPr txBox="1"/>
            <p:nvPr/>
          </p:nvSpPr>
          <p:spPr>
            <a:xfrm>
              <a:off x="190101" y="3418876"/>
              <a:ext cx="2189100" cy="646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including </a:t>
              </a:r>
              <a:r>
                <a:rPr lang="en-GB" sz="1867" i="1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being</a:t>
              </a:r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</a:t>
              </a:r>
              <a:endParaRPr sz="1467"/>
            </a:p>
            <a:p>
              <a:r>
                <a:rPr lang="en-GB"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assessed/evaluated</a:t>
              </a:r>
              <a:endParaRPr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5D6EE1FD-DEA3-7BC2-277D-D8B1977F10F5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The Open Research Workflow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6" name="Google Shape;836;p98"/>
          <p:cNvSpPr/>
          <p:nvPr/>
        </p:nvSpPr>
        <p:spPr>
          <a:xfrm rot="-6981272">
            <a:off x="3471960" y="2057825"/>
            <a:ext cx="4722428" cy="47786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4" y="63170"/>
                </a:moveTo>
                <a:lnTo>
                  <a:pt x="112094" y="63170"/>
                </a:lnTo>
                <a:cubicBezTo>
                  <a:pt x="110458" y="90155"/>
                  <a:pt x="88555" y="111440"/>
                  <a:pt x="61580" y="112258"/>
                </a:cubicBezTo>
                <a:cubicBezTo>
                  <a:pt x="34605" y="113077"/>
                  <a:pt x="11456" y="93159"/>
                  <a:pt x="8193" y="66322"/>
                </a:cubicBezTo>
                <a:cubicBezTo>
                  <a:pt x="4929" y="39485"/>
                  <a:pt x="22628" y="14583"/>
                  <a:pt x="49010" y="8890"/>
                </a:cubicBezTo>
                <a:cubicBezTo>
                  <a:pt x="75393" y="3197"/>
                  <a:pt x="101756" y="18592"/>
                  <a:pt x="109811" y="44395"/>
                </a:cubicBezTo>
                <a:lnTo>
                  <a:pt x="117498" y="43495"/>
                </a:lnTo>
                <a:lnTo>
                  <a:pt x="108025" y="54378"/>
                </a:lnTo>
                <a:lnTo>
                  <a:pt x="94363" y="46203"/>
                </a:lnTo>
                <a:lnTo>
                  <a:pt x="102038" y="45305"/>
                </a:lnTo>
                <a:cubicBezTo>
                  <a:pt x="94515" y="23607"/>
                  <a:pt x="71833" y="11170"/>
                  <a:pt x="49586" y="16545"/>
                </a:cubicBezTo>
                <a:cubicBezTo>
                  <a:pt x="27340" y="21920"/>
                  <a:pt x="12775" y="43356"/>
                  <a:pt x="15906" y="66115"/>
                </a:cubicBezTo>
                <a:cubicBezTo>
                  <a:pt x="19036" y="88874"/>
                  <a:pt x="38842" y="105543"/>
                  <a:pt x="61707" y="104662"/>
                </a:cubicBezTo>
                <a:cubicBezTo>
                  <a:pt x="84572" y="103781"/>
                  <a:pt x="103047" y="85637"/>
                  <a:pt x="104431" y="62703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7" name="Google Shape;837;p98"/>
          <p:cNvSpPr/>
          <p:nvPr/>
        </p:nvSpPr>
        <p:spPr>
          <a:xfrm>
            <a:off x="5189708" y="1331423"/>
            <a:ext cx="1994000" cy="535200"/>
          </a:xfrm>
          <a:prstGeom prst="roundRect">
            <a:avLst>
              <a:gd name="adj" fmla="val 16667"/>
            </a:avLst>
          </a:prstGeom>
          <a:solidFill>
            <a:srgbClr val="DBDBDB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8" name="Google Shape;838;p98"/>
          <p:cNvSpPr txBox="1"/>
          <p:nvPr/>
        </p:nvSpPr>
        <p:spPr>
          <a:xfrm>
            <a:off x="5245270" y="1308720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9" name="Google Shape;839;p98"/>
          <p:cNvSpPr/>
          <p:nvPr/>
        </p:nvSpPr>
        <p:spPr>
          <a:xfrm>
            <a:off x="8822359" y="1812396"/>
            <a:ext cx="1702800" cy="584000"/>
          </a:xfrm>
          <a:prstGeom prst="roundRect">
            <a:avLst>
              <a:gd name="adj" fmla="val 16667"/>
            </a:avLst>
          </a:prstGeom>
          <a:solidFill>
            <a:srgbClr val="DF8080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0" name="Google Shape;840;p98"/>
          <p:cNvSpPr/>
          <p:nvPr/>
        </p:nvSpPr>
        <p:spPr>
          <a:xfrm>
            <a:off x="7223020" y="3912773"/>
            <a:ext cx="1702800" cy="567200"/>
          </a:xfrm>
          <a:prstGeom prst="roundRect">
            <a:avLst>
              <a:gd name="adj" fmla="val 16667"/>
            </a:avLst>
          </a:prstGeom>
          <a:solidFill>
            <a:srgbClr val="E6E6C7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1" name="Google Shape;841;p98"/>
          <p:cNvSpPr/>
          <p:nvPr/>
        </p:nvSpPr>
        <p:spPr>
          <a:xfrm>
            <a:off x="6337966" y="5763379"/>
            <a:ext cx="1804400" cy="576800"/>
          </a:xfrm>
          <a:prstGeom prst="roundRect">
            <a:avLst>
              <a:gd name="adj" fmla="val 16667"/>
            </a:avLst>
          </a:prstGeom>
          <a:solidFill>
            <a:srgbClr val="A9D3D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2" name="Google Shape;842;p98"/>
          <p:cNvSpPr/>
          <p:nvPr/>
        </p:nvSpPr>
        <p:spPr>
          <a:xfrm>
            <a:off x="3199650" y="5763379"/>
            <a:ext cx="2072000" cy="576800"/>
          </a:xfrm>
          <a:prstGeom prst="roundRect">
            <a:avLst>
              <a:gd name="adj" fmla="val 16667"/>
            </a:avLst>
          </a:prstGeom>
          <a:solidFill>
            <a:srgbClr val="EDC2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3" name="Google Shape;843;p98"/>
          <p:cNvSpPr/>
          <p:nvPr/>
        </p:nvSpPr>
        <p:spPr>
          <a:xfrm>
            <a:off x="2211434" y="3978751"/>
            <a:ext cx="1916000" cy="567200"/>
          </a:xfrm>
          <a:prstGeom prst="roundRect">
            <a:avLst>
              <a:gd name="adj" fmla="val 16667"/>
            </a:avLst>
          </a:prstGeom>
          <a:solidFill>
            <a:srgbClr val="99CCB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4" name="Google Shape;844;p98"/>
          <p:cNvSpPr/>
          <p:nvPr/>
        </p:nvSpPr>
        <p:spPr>
          <a:xfrm>
            <a:off x="1174746" y="1746001"/>
            <a:ext cx="1916000" cy="604400"/>
          </a:xfrm>
          <a:prstGeom prst="roundRect">
            <a:avLst>
              <a:gd name="adj" fmla="val 16667"/>
            </a:avLst>
          </a:prstGeom>
          <a:solidFill>
            <a:srgbClr val="E6D1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5" name="Google Shape;845;p98"/>
          <p:cNvSpPr txBox="1"/>
          <p:nvPr/>
        </p:nvSpPr>
        <p:spPr>
          <a:xfrm>
            <a:off x="7268275" y="3923845"/>
            <a:ext cx="1523200" cy="523200"/>
          </a:xfrm>
          <a:prstGeom prst="rect">
            <a:avLst/>
          </a:prstGeom>
          <a:solidFill>
            <a:srgbClr val="E6E6C7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467"/>
          </a:p>
        </p:txBody>
      </p:sp>
      <p:sp>
        <p:nvSpPr>
          <p:cNvPr id="846" name="Google Shape;846;p98"/>
          <p:cNvSpPr txBox="1"/>
          <p:nvPr/>
        </p:nvSpPr>
        <p:spPr>
          <a:xfrm>
            <a:off x="6407360" y="5761157"/>
            <a:ext cx="1665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7" name="Google Shape;847;p98"/>
          <p:cNvSpPr txBox="1"/>
          <p:nvPr/>
        </p:nvSpPr>
        <p:spPr>
          <a:xfrm>
            <a:off x="3273767" y="5762028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publication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98"/>
          <p:cNvSpPr txBox="1"/>
          <p:nvPr/>
        </p:nvSpPr>
        <p:spPr>
          <a:xfrm>
            <a:off x="2166188" y="3970895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outreach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9" name="Google Shape;849;p98"/>
          <p:cNvSpPr txBox="1"/>
          <p:nvPr/>
        </p:nvSpPr>
        <p:spPr>
          <a:xfrm>
            <a:off x="1174746" y="1761531"/>
            <a:ext cx="19160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sz="1467"/>
          </a:p>
        </p:txBody>
      </p:sp>
      <p:sp>
        <p:nvSpPr>
          <p:cNvPr id="850" name="Google Shape;850;p98"/>
          <p:cNvSpPr txBox="1"/>
          <p:nvPr/>
        </p:nvSpPr>
        <p:spPr>
          <a:xfrm>
            <a:off x="8857807" y="1811739"/>
            <a:ext cx="1630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sz="2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1" name="Google Shape;851;p98"/>
          <p:cNvSpPr/>
          <p:nvPr/>
        </p:nvSpPr>
        <p:spPr>
          <a:xfrm>
            <a:off x="4000820" y="551133"/>
            <a:ext cx="4132000" cy="1707600"/>
          </a:xfrm>
          <a:prstGeom prst="roundRect">
            <a:avLst>
              <a:gd name="adj" fmla="val 16667"/>
            </a:avLst>
          </a:prstGeom>
          <a:solidFill>
            <a:srgbClr val="DBDBDB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2" name="Google Shape;852;p98"/>
          <p:cNvSpPr txBox="1"/>
          <p:nvPr/>
        </p:nvSpPr>
        <p:spPr>
          <a:xfrm>
            <a:off x="4041752" y="657933"/>
            <a:ext cx="4245200" cy="175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Preparation:</a:t>
            </a:r>
            <a:endParaRPr sz="1467"/>
          </a:p>
          <a:p>
            <a:pPr marL="287859" indent="-287859">
              <a:buClr>
                <a:schemeClr val="dk1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Define &amp; crowdsource </a:t>
            </a:r>
            <a:b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research priorities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Organize project, team,</a:t>
            </a:r>
            <a:r>
              <a:rPr lang="en-GB" sz="2400"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collaborations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funding/contract</a:t>
            </a:r>
            <a:endParaRPr sz="1467"/>
          </a:p>
          <a:p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3" name="Google Shape;853;p98"/>
          <p:cNvSpPr/>
          <p:nvPr/>
        </p:nvSpPr>
        <p:spPr>
          <a:xfrm>
            <a:off x="8232134" y="1407859"/>
            <a:ext cx="3761600" cy="1820204"/>
          </a:xfrm>
          <a:prstGeom prst="roundRect">
            <a:avLst>
              <a:gd name="adj" fmla="val 16667"/>
            </a:avLst>
          </a:prstGeom>
          <a:solidFill>
            <a:srgbClr val="DF8080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4" name="Google Shape;854;p98"/>
          <p:cNvSpPr txBox="1"/>
          <p:nvPr/>
        </p:nvSpPr>
        <p:spPr>
          <a:xfrm>
            <a:off x="8286787" y="1394167"/>
            <a:ext cx="3815200" cy="18338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Discovery: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Search literature/data/code/…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access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Get alerts/recommendations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Read/view 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Annotate</a:t>
            </a:r>
            <a:endParaRPr sz="1467"/>
          </a:p>
        </p:txBody>
      </p:sp>
      <p:sp>
        <p:nvSpPr>
          <p:cNvPr id="855" name="Google Shape;855;p98"/>
          <p:cNvSpPr/>
          <p:nvPr/>
        </p:nvSpPr>
        <p:spPr>
          <a:xfrm>
            <a:off x="7000840" y="3601030"/>
            <a:ext cx="4428000" cy="1391338"/>
          </a:xfrm>
          <a:prstGeom prst="roundRect">
            <a:avLst>
              <a:gd name="adj" fmla="val 16667"/>
            </a:avLst>
          </a:prstGeom>
          <a:solidFill>
            <a:srgbClr val="E6E6C7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6" name="Google Shape;856;p98"/>
          <p:cNvSpPr txBox="1"/>
          <p:nvPr/>
        </p:nvSpPr>
        <p:spPr>
          <a:xfrm>
            <a:off x="7098412" y="3629937"/>
            <a:ext cx="4398400" cy="1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Analysis: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Collect, mine, extract data/experiment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Share protocols/notebooks/workflows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 err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Analyze</a:t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7" name="Google Shape;857;p98"/>
          <p:cNvSpPr/>
          <p:nvPr/>
        </p:nvSpPr>
        <p:spPr>
          <a:xfrm>
            <a:off x="6134699" y="5294039"/>
            <a:ext cx="3074000" cy="1494800"/>
          </a:xfrm>
          <a:prstGeom prst="roundRect">
            <a:avLst>
              <a:gd name="adj" fmla="val 16667"/>
            </a:avLst>
          </a:prstGeom>
          <a:solidFill>
            <a:srgbClr val="A9D3D3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8" name="Google Shape;858;p98"/>
          <p:cNvSpPr txBox="1"/>
          <p:nvPr/>
        </p:nvSpPr>
        <p:spPr>
          <a:xfrm>
            <a:off x="6272794" y="5327132"/>
            <a:ext cx="27068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Writing: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Write/code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Visualize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Cite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Translate</a:t>
            </a:r>
            <a:endParaRPr sz="1467"/>
          </a:p>
        </p:txBody>
      </p:sp>
      <p:sp>
        <p:nvSpPr>
          <p:cNvPr id="859" name="Google Shape;859;p98"/>
          <p:cNvSpPr/>
          <p:nvPr/>
        </p:nvSpPr>
        <p:spPr>
          <a:xfrm>
            <a:off x="1976663" y="5294040"/>
            <a:ext cx="3447200" cy="1478800"/>
          </a:xfrm>
          <a:prstGeom prst="roundRect">
            <a:avLst>
              <a:gd name="adj" fmla="val 16667"/>
            </a:avLst>
          </a:prstGeom>
          <a:solidFill>
            <a:srgbClr val="EDC29E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0" name="Google Shape;860;p98"/>
          <p:cNvSpPr/>
          <p:nvPr/>
        </p:nvSpPr>
        <p:spPr>
          <a:xfrm>
            <a:off x="390931" y="3471403"/>
            <a:ext cx="4082400" cy="1504800"/>
          </a:xfrm>
          <a:prstGeom prst="roundRect">
            <a:avLst>
              <a:gd name="adj" fmla="val 16667"/>
            </a:avLst>
          </a:prstGeom>
          <a:solidFill>
            <a:srgbClr val="99CCB3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1" name="Google Shape;861;p98"/>
          <p:cNvSpPr/>
          <p:nvPr/>
        </p:nvSpPr>
        <p:spPr>
          <a:xfrm>
            <a:off x="101826" y="1404359"/>
            <a:ext cx="3815200" cy="1454400"/>
          </a:xfrm>
          <a:prstGeom prst="roundRect">
            <a:avLst>
              <a:gd name="adj" fmla="val 16667"/>
            </a:avLst>
          </a:prstGeom>
          <a:solidFill>
            <a:srgbClr val="E6D19E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2" name="Google Shape;862;p98"/>
          <p:cNvSpPr txBox="1"/>
          <p:nvPr/>
        </p:nvSpPr>
        <p:spPr>
          <a:xfrm>
            <a:off x="2051140" y="5310285"/>
            <a:ext cx="32984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Publication: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Archive/share publications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Archive/share data &amp; code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Select journal to submit to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Publish</a:t>
            </a:r>
            <a:endParaRPr sz="1867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3" name="Google Shape;863;p98"/>
          <p:cNvSpPr txBox="1"/>
          <p:nvPr/>
        </p:nvSpPr>
        <p:spPr>
          <a:xfrm>
            <a:off x="472987" y="3498767"/>
            <a:ext cx="4245200" cy="14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Outreach: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Archive/share posters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Archive/share presentations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Tell about research outside academia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Researcher profiles/networks</a:t>
            </a:r>
            <a:endParaRPr sz="1467"/>
          </a:p>
        </p:txBody>
      </p:sp>
      <p:sp>
        <p:nvSpPr>
          <p:cNvPr id="864" name="Google Shape;864;p98"/>
          <p:cNvSpPr txBox="1"/>
          <p:nvPr/>
        </p:nvSpPr>
        <p:spPr>
          <a:xfrm>
            <a:off x="197987" y="1342767"/>
            <a:ext cx="3762000" cy="14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r>
              <a:rPr lang="en-GB" sz="1867" b="1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Assessment: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Comment/peer review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impact of research output</a:t>
            </a:r>
            <a:endParaRPr sz="1467"/>
          </a:p>
          <a:p>
            <a:pPr marL="287859" indent="-287859">
              <a:buClr>
                <a:srgbClr val="000000"/>
              </a:buClr>
              <a:buSzPts val="1400"/>
              <a:buFont typeface="Arial"/>
              <a:buChar char="•"/>
            </a:pPr>
            <a:r>
              <a:rPr lang="en-GB" sz="1867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Determine impact of researchers</a:t>
            </a:r>
            <a:endParaRPr sz="1467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2" name="Google Shape;752;p96"/>
          <p:cNvSpPr/>
          <p:nvPr/>
        </p:nvSpPr>
        <p:spPr>
          <a:xfrm rot="-6981272">
            <a:off x="3471880" y="2056905"/>
            <a:ext cx="4722428" cy="478038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4" y="63169"/>
                </a:moveTo>
                <a:cubicBezTo>
                  <a:pt x="110459" y="90156"/>
                  <a:pt x="88555" y="111443"/>
                  <a:pt x="61579" y="112261"/>
                </a:cubicBezTo>
                <a:cubicBezTo>
                  <a:pt x="34604" y="113079"/>
                  <a:pt x="11454" y="93159"/>
                  <a:pt x="8192" y="66320"/>
                </a:cubicBezTo>
                <a:cubicBezTo>
                  <a:pt x="4930" y="39481"/>
                  <a:pt x="22631" y="14577"/>
                  <a:pt x="49015" y="8886"/>
                </a:cubicBezTo>
                <a:cubicBezTo>
                  <a:pt x="75398" y="3195"/>
                  <a:pt x="101761" y="18594"/>
                  <a:pt x="109813" y="44400"/>
                </a:cubicBezTo>
                <a:lnTo>
                  <a:pt x="117500" y="43501"/>
                </a:lnTo>
                <a:lnTo>
                  <a:pt x="108026" y="54380"/>
                </a:lnTo>
                <a:lnTo>
                  <a:pt x="94365" y="46208"/>
                </a:lnTo>
                <a:lnTo>
                  <a:pt x="102040" y="45310"/>
                </a:lnTo>
                <a:lnTo>
                  <a:pt x="102040" y="45310"/>
                </a:lnTo>
                <a:cubicBezTo>
                  <a:pt x="94520" y="23607"/>
                  <a:pt x="71839" y="11165"/>
                  <a:pt x="49591" y="16539"/>
                </a:cubicBezTo>
                <a:cubicBezTo>
                  <a:pt x="27343" y="21912"/>
                  <a:pt x="12776" y="43350"/>
                  <a:pt x="15905" y="66113"/>
                </a:cubicBezTo>
                <a:cubicBezTo>
                  <a:pt x="19035" y="88876"/>
                  <a:pt x="38841" y="105549"/>
                  <a:pt x="61706" y="104668"/>
                </a:cubicBezTo>
                <a:cubicBezTo>
                  <a:pt x="84572" y="103787"/>
                  <a:pt x="103048" y="85640"/>
                  <a:pt x="104431" y="62702"/>
                </a:cubicBezTo>
                <a:close/>
              </a:path>
            </a:pathLst>
          </a:custGeom>
          <a:solidFill>
            <a:srgbClr val="A5A5A5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3" name="Google Shape;753;p96"/>
          <p:cNvSpPr/>
          <p:nvPr/>
        </p:nvSpPr>
        <p:spPr>
          <a:xfrm>
            <a:off x="4833976" y="2356484"/>
            <a:ext cx="1994800" cy="535200"/>
          </a:xfrm>
          <a:prstGeom prst="roundRect">
            <a:avLst>
              <a:gd name="adj" fmla="val 16667"/>
            </a:avLst>
          </a:prstGeom>
          <a:solidFill>
            <a:srgbClr val="DBDBDB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4" name="Google Shape;754;p96"/>
          <p:cNvSpPr txBox="1"/>
          <p:nvPr/>
        </p:nvSpPr>
        <p:spPr>
          <a:xfrm>
            <a:off x="4889550" y="2333781"/>
            <a:ext cx="191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preparation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5" name="Google Shape;755;p96"/>
          <p:cNvSpPr/>
          <p:nvPr/>
        </p:nvSpPr>
        <p:spPr>
          <a:xfrm>
            <a:off x="7145359" y="3332500"/>
            <a:ext cx="1703600" cy="584000"/>
          </a:xfrm>
          <a:prstGeom prst="roundRect">
            <a:avLst>
              <a:gd name="adj" fmla="val 16667"/>
            </a:avLst>
          </a:prstGeom>
          <a:solidFill>
            <a:srgbClr val="DF8080"/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6" name="Google Shape;756;p96"/>
          <p:cNvSpPr/>
          <p:nvPr/>
        </p:nvSpPr>
        <p:spPr>
          <a:xfrm>
            <a:off x="7194283" y="4553429"/>
            <a:ext cx="1703600" cy="567200"/>
          </a:xfrm>
          <a:prstGeom prst="roundRect">
            <a:avLst>
              <a:gd name="adj" fmla="val 16667"/>
            </a:avLst>
          </a:prstGeom>
          <a:solidFill>
            <a:srgbClr val="E6E6C7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7" name="Google Shape;757;p96"/>
          <p:cNvSpPr/>
          <p:nvPr/>
        </p:nvSpPr>
        <p:spPr>
          <a:xfrm>
            <a:off x="6338046" y="5763379"/>
            <a:ext cx="1805200" cy="576800"/>
          </a:xfrm>
          <a:prstGeom prst="roundRect">
            <a:avLst>
              <a:gd name="adj" fmla="val 16667"/>
            </a:avLst>
          </a:prstGeom>
          <a:solidFill>
            <a:srgbClr val="A9D3D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8" name="Google Shape;758;p96"/>
          <p:cNvSpPr/>
          <p:nvPr/>
        </p:nvSpPr>
        <p:spPr>
          <a:xfrm>
            <a:off x="3198602" y="5763379"/>
            <a:ext cx="2072800" cy="576800"/>
          </a:xfrm>
          <a:prstGeom prst="roundRect">
            <a:avLst>
              <a:gd name="adj" fmla="val 16667"/>
            </a:avLst>
          </a:prstGeom>
          <a:solidFill>
            <a:srgbClr val="EDC2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9" name="Google Shape;759;p96"/>
          <p:cNvSpPr/>
          <p:nvPr/>
        </p:nvSpPr>
        <p:spPr>
          <a:xfrm>
            <a:off x="2571262" y="4689295"/>
            <a:ext cx="1916800" cy="567200"/>
          </a:xfrm>
          <a:prstGeom prst="roundRect">
            <a:avLst>
              <a:gd name="adj" fmla="val 16667"/>
            </a:avLst>
          </a:prstGeom>
          <a:solidFill>
            <a:srgbClr val="99CCB3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0" name="Google Shape;760;p96"/>
          <p:cNvSpPr/>
          <p:nvPr/>
        </p:nvSpPr>
        <p:spPr>
          <a:xfrm>
            <a:off x="2571264" y="3440841"/>
            <a:ext cx="1916800" cy="604400"/>
          </a:xfrm>
          <a:prstGeom prst="roundRect">
            <a:avLst>
              <a:gd name="adj" fmla="val 16667"/>
            </a:avLst>
          </a:prstGeom>
          <a:solidFill>
            <a:srgbClr val="E6D19E">
              <a:alpha val="94900"/>
            </a:srgbClr>
          </a:solidFill>
          <a:ln w="12700" cap="flat" cmpd="sng">
            <a:solidFill>
              <a:srgbClr val="7B7B7B">
                <a:alpha val="24710"/>
              </a:srgbClr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96"/>
          <p:cNvSpPr txBox="1"/>
          <p:nvPr/>
        </p:nvSpPr>
        <p:spPr>
          <a:xfrm>
            <a:off x="7239559" y="4564501"/>
            <a:ext cx="1524000" cy="523200"/>
          </a:xfrm>
          <a:prstGeom prst="rect">
            <a:avLst/>
          </a:prstGeom>
          <a:solidFill>
            <a:srgbClr val="E6E6C7"/>
          </a:solidFill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analysis</a:t>
            </a:r>
            <a:endParaRPr sz="1467"/>
          </a:p>
        </p:txBody>
      </p:sp>
      <p:sp>
        <p:nvSpPr>
          <p:cNvPr id="762" name="Google Shape;762;p96"/>
          <p:cNvSpPr txBox="1"/>
          <p:nvPr/>
        </p:nvSpPr>
        <p:spPr>
          <a:xfrm>
            <a:off x="6407467" y="5761157"/>
            <a:ext cx="16664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writing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3" name="Google Shape;763;p96"/>
          <p:cNvSpPr txBox="1"/>
          <p:nvPr/>
        </p:nvSpPr>
        <p:spPr>
          <a:xfrm>
            <a:off x="3272740" y="5762028"/>
            <a:ext cx="191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publication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4" name="Google Shape;764;p96"/>
          <p:cNvSpPr txBox="1"/>
          <p:nvPr/>
        </p:nvSpPr>
        <p:spPr>
          <a:xfrm>
            <a:off x="2525990" y="4681443"/>
            <a:ext cx="191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outreach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5" name="Google Shape;765;p96"/>
          <p:cNvSpPr txBox="1"/>
          <p:nvPr/>
        </p:nvSpPr>
        <p:spPr>
          <a:xfrm>
            <a:off x="2571266" y="3456367"/>
            <a:ext cx="1916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assessment</a:t>
            </a:r>
            <a:endParaRPr sz="1467"/>
          </a:p>
        </p:txBody>
      </p:sp>
      <p:sp>
        <p:nvSpPr>
          <p:cNvPr id="766" name="Google Shape;766;p96"/>
          <p:cNvSpPr txBox="1"/>
          <p:nvPr/>
        </p:nvSpPr>
        <p:spPr>
          <a:xfrm>
            <a:off x="7180819" y="3331843"/>
            <a:ext cx="16316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ctr"/>
            <a:r>
              <a:rPr lang="en-GB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discovery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67" name="Google Shape;767;p96"/>
          <p:cNvGrpSpPr/>
          <p:nvPr/>
        </p:nvGrpSpPr>
        <p:grpSpPr>
          <a:xfrm>
            <a:off x="69550" y="1417819"/>
            <a:ext cx="12021711" cy="5561907"/>
            <a:chOff x="67962" y="1417818"/>
            <a:chExt cx="12021711" cy="5561907"/>
          </a:xfrm>
        </p:grpSpPr>
        <p:sp>
          <p:nvSpPr>
            <p:cNvPr id="768" name="Google Shape;768;p96"/>
            <p:cNvSpPr/>
            <p:nvPr/>
          </p:nvSpPr>
          <p:spPr>
            <a:xfrm rot="-6981499">
              <a:off x="2163840" y="5538699"/>
              <a:ext cx="1227073" cy="12344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093" y="63188"/>
                  </a:moveTo>
                  <a:lnTo>
                    <a:pt x="112093" y="63188"/>
                  </a:lnTo>
                  <a:cubicBezTo>
                    <a:pt x="110447" y="90138"/>
                    <a:pt x="88552" y="111391"/>
                    <a:pt x="61589" y="112213"/>
                  </a:cubicBezTo>
                  <a:cubicBezTo>
                    <a:pt x="34625" y="113035"/>
                    <a:pt x="11479" y="93155"/>
                    <a:pt x="8197" y="66355"/>
                  </a:cubicBezTo>
                  <a:cubicBezTo>
                    <a:pt x="4915" y="39556"/>
                    <a:pt x="22580" y="14669"/>
                    <a:pt x="48943" y="8949"/>
                  </a:cubicBezTo>
                  <a:cubicBezTo>
                    <a:pt x="75307" y="3229"/>
                    <a:pt x="101681" y="18560"/>
                    <a:pt x="109782" y="44314"/>
                  </a:cubicBezTo>
                  <a:lnTo>
                    <a:pt x="117466" y="43409"/>
                  </a:lnTo>
                  <a:lnTo>
                    <a:pt x="108021" y="54346"/>
                  </a:lnTo>
                  <a:lnTo>
                    <a:pt x="94331" y="46133"/>
                  </a:lnTo>
                  <a:lnTo>
                    <a:pt x="102002" y="45230"/>
                  </a:lnTo>
                  <a:lnTo>
                    <a:pt x="102002" y="45230"/>
                  </a:lnTo>
                  <a:cubicBezTo>
                    <a:pt x="94429" y="23606"/>
                    <a:pt x="71737" y="11251"/>
                    <a:pt x="49511" y="16651"/>
                  </a:cubicBezTo>
                  <a:cubicBezTo>
                    <a:pt x="27286" y="22051"/>
                    <a:pt x="12760" y="43449"/>
                    <a:pt x="15912" y="66147"/>
                  </a:cubicBezTo>
                  <a:cubicBezTo>
                    <a:pt x="19063" y="88845"/>
                    <a:pt x="38867" y="105457"/>
                    <a:pt x="61719" y="104572"/>
                  </a:cubicBezTo>
                  <a:cubicBezTo>
                    <a:pt x="84571" y="103687"/>
                    <a:pt x="103036" y="85593"/>
                    <a:pt x="104430" y="62719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69" name="Google Shape;769;p96"/>
            <p:cNvSpPr/>
            <p:nvPr/>
          </p:nvSpPr>
          <p:spPr>
            <a:xfrm rot="-6981499">
              <a:off x="6640836" y="1624392"/>
              <a:ext cx="1227073" cy="12344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093" y="63188"/>
                  </a:moveTo>
                  <a:lnTo>
                    <a:pt x="112093" y="63188"/>
                  </a:lnTo>
                  <a:cubicBezTo>
                    <a:pt x="110447" y="90138"/>
                    <a:pt x="88552" y="111391"/>
                    <a:pt x="61589" y="112213"/>
                  </a:cubicBezTo>
                  <a:cubicBezTo>
                    <a:pt x="34625" y="113035"/>
                    <a:pt x="11479" y="93155"/>
                    <a:pt x="8197" y="66355"/>
                  </a:cubicBezTo>
                  <a:cubicBezTo>
                    <a:pt x="4915" y="39556"/>
                    <a:pt x="22580" y="14669"/>
                    <a:pt x="48943" y="8949"/>
                  </a:cubicBezTo>
                  <a:cubicBezTo>
                    <a:pt x="75307" y="3229"/>
                    <a:pt x="101681" y="18560"/>
                    <a:pt x="109782" y="44314"/>
                  </a:cubicBezTo>
                  <a:lnTo>
                    <a:pt x="117466" y="43409"/>
                  </a:lnTo>
                  <a:lnTo>
                    <a:pt x="108021" y="54346"/>
                  </a:lnTo>
                  <a:lnTo>
                    <a:pt x="94331" y="46133"/>
                  </a:lnTo>
                  <a:lnTo>
                    <a:pt x="102002" y="45230"/>
                  </a:lnTo>
                  <a:lnTo>
                    <a:pt x="102002" y="45230"/>
                  </a:lnTo>
                  <a:cubicBezTo>
                    <a:pt x="94429" y="23606"/>
                    <a:pt x="71737" y="11251"/>
                    <a:pt x="49511" y="16651"/>
                  </a:cubicBezTo>
                  <a:cubicBezTo>
                    <a:pt x="27286" y="22051"/>
                    <a:pt x="12760" y="43449"/>
                    <a:pt x="15912" y="66147"/>
                  </a:cubicBezTo>
                  <a:cubicBezTo>
                    <a:pt x="19063" y="88845"/>
                    <a:pt x="38867" y="105457"/>
                    <a:pt x="61719" y="104572"/>
                  </a:cubicBezTo>
                  <a:cubicBezTo>
                    <a:pt x="84571" y="103687"/>
                    <a:pt x="103036" y="85593"/>
                    <a:pt x="104430" y="62719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0" name="Google Shape;770;p96"/>
            <p:cNvSpPr/>
            <p:nvPr/>
          </p:nvSpPr>
          <p:spPr>
            <a:xfrm rot="-6981499">
              <a:off x="8588733" y="2645653"/>
              <a:ext cx="1227073" cy="12344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093" y="63188"/>
                  </a:moveTo>
                  <a:lnTo>
                    <a:pt x="112093" y="63188"/>
                  </a:lnTo>
                  <a:cubicBezTo>
                    <a:pt x="110447" y="90138"/>
                    <a:pt x="88552" y="111391"/>
                    <a:pt x="61589" y="112213"/>
                  </a:cubicBezTo>
                  <a:cubicBezTo>
                    <a:pt x="34625" y="113035"/>
                    <a:pt x="11479" y="93155"/>
                    <a:pt x="8197" y="66355"/>
                  </a:cubicBezTo>
                  <a:cubicBezTo>
                    <a:pt x="4915" y="39556"/>
                    <a:pt x="22580" y="14669"/>
                    <a:pt x="48943" y="8949"/>
                  </a:cubicBezTo>
                  <a:cubicBezTo>
                    <a:pt x="75307" y="3229"/>
                    <a:pt x="101681" y="18560"/>
                    <a:pt x="109782" y="44314"/>
                  </a:cubicBezTo>
                  <a:lnTo>
                    <a:pt x="117466" y="43409"/>
                  </a:lnTo>
                  <a:lnTo>
                    <a:pt x="108021" y="54346"/>
                  </a:lnTo>
                  <a:lnTo>
                    <a:pt x="94331" y="46133"/>
                  </a:lnTo>
                  <a:lnTo>
                    <a:pt x="102002" y="45230"/>
                  </a:lnTo>
                  <a:lnTo>
                    <a:pt x="102002" y="45230"/>
                  </a:lnTo>
                  <a:cubicBezTo>
                    <a:pt x="94429" y="23606"/>
                    <a:pt x="71737" y="11251"/>
                    <a:pt x="49511" y="16651"/>
                  </a:cubicBezTo>
                  <a:cubicBezTo>
                    <a:pt x="27286" y="22051"/>
                    <a:pt x="12760" y="43449"/>
                    <a:pt x="15912" y="66147"/>
                  </a:cubicBezTo>
                  <a:cubicBezTo>
                    <a:pt x="19063" y="88845"/>
                    <a:pt x="38867" y="105457"/>
                    <a:pt x="61719" y="104572"/>
                  </a:cubicBezTo>
                  <a:cubicBezTo>
                    <a:pt x="84571" y="103687"/>
                    <a:pt x="103036" y="85593"/>
                    <a:pt x="104430" y="62719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1" name="Google Shape;771;p96"/>
            <p:cNvSpPr/>
            <p:nvPr/>
          </p:nvSpPr>
          <p:spPr>
            <a:xfrm rot="-6981499">
              <a:off x="8699203" y="4232717"/>
              <a:ext cx="1227073" cy="12344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093" y="63188"/>
                  </a:moveTo>
                  <a:lnTo>
                    <a:pt x="112093" y="63188"/>
                  </a:lnTo>
                  <a:cubicBezTo>
                    <a:pt x="110447" y="90138"/>
                    <a:pt x="88552" y="111391"/>
                    <a:pt x="61589" y="112213"/>
                  </a:cubicBezTo>
                  <a:cubicBezTo>
                    <a:pt x="34625" y="113035"/>
                    <a:pt x="11479" y="93155"/>
                    <a:pt x="8197" y="66355"/>
                  </a:cubicBezTo>
                  <a:cubicBezTo>
                    <a:pt x="4915" y="39556"/>
                    <a:pt x="22580" y="14669"/>
                    <a:pt x="48943" y="8949"/>
                  </a:cubicBezTo>
                  <a:cubicBezTo>
                    <a:pt x="75307" y="3229"/>
                    <a:pt x="101681" y="18560"/>
                    <a:pt x="109782" y="44314"/>
                  </a:cubicBezTo>
                  <a:lnTo>
                    <a:pt x="117466" y="43409"/>
                  </a:lnTo>
                  <a:lnTo>
                    <a:pt x="108021" y="54346"/>
                  </a:lnTo>
                  <a:lnTo>
                    <a:pt x="94331" y="46133"/>
                  </a:lnTo>
                  <a:lnTo>
                    <a:pt x="102002" y="45230"/>
                  </a:lnTo>
                  <a:lnTo>
                    <a:pt x="102002" y="45230"/>
                  </a:lnTo>
                  <a:cubicBezTo>
                    <a:pt x="94429" y="23606"/>
                    <a:pt x="71737" y="11251"/>
                    <a:pt x="49511" y="16651"/>
                  </a:cubicBezTo>
                  <a:cubicBezTo>
                    <a:pt x="27286" y="22051"/>
                    <a:pt x="12760" y="43449"/>
                    <a:pt x="15912" y="66147"/>
                  </a:cubicBezTo>
                  <a:cubicBezTo>
                    <a:pt x="19063" y="88845"/>
                    <a:pt x="38867" y="105457"/>
                    <a:pt x="61719" y="104572"/>
                  </a:cubicBezTo>
                  <a:cubicBezTo>
                    <a:pt x="84571" y="103687"/>
                    <a:pt x="103036" y="85593"/>
                    <a:pt x="104430" y="62719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2" name="Google Shape;772;p96"/>
            <p:cNvSpPr/>
            <p:nvPr/>
          </p:nvSpPr>
          <p:spPr>
            <a:xfrm rot="-6981499">
              <a:off x="7915049" y="5476139"/>
              <a:ext cx="1227073" cy="1234452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12093" y="63188"/>
                  </a:moveTo>
                  <a:lnTo>
                    <a:pt x="112093" y="63188"/>
                  </a:lnTo>
                  <a:cubicBezTo>
                    <a:pt x="110447" y="90138"/>
                    <a:pt x="88552" y="111391"/>
                    <a:pt x="61589" y="112213"/>
                  </a:cubicBezTo>
                  <a:cubicBezTo>
                    <a:pt x="34625" y="113035"/>
                    <a:pt x="11479" y="93155"/>
                    <a:pt x="8197" y="66355"/>
                  </a:cubicBezTo>
                  <a:cubicBezTo>
                    <a:pt x="4915" y="39556"/>
                    <a:pt x="22580" y="14669"/>
                    <a:pt x="48943" y="8949"/>
                  </a:cubicBezTo>
                  <a:cubicBezTo>
                    <a:pt x="75307" y="3229"/>
                    <a:pt x="101681" y="18560"/>
                    <a:pt x="109782" y="44314"/>
                  </a:cubicBezTo>
                  <a:lnTo>
                    <a:pt x="117466" y="43409"/>
                  </a:lnTo>
                  <a:lnTo>
                    <a:pt x="108021" y="54346"/>
                  </a:lnTo>
                  <a:lnTo>
                    <a:pt x="94331" y="46133"/>
                  </a:lnTo>
                  <a:lnTo>
                    <a:pt x="102002" y="45230"/>
                  </a:lnTo>
                  <a:lnTo>
                    <a:pt x="102002" y="45230"/>
                  </a:lnTo>
                  <a:cubicBezTo>
                    <a:pt x="94429" y="23606"/>
                    <a:pt x="71737" y="11251"/>
                    <a:pt x="49511" y="16651"/>
                  </a:cubicBezTo>
                  <a:cubicBezTo>
                    <a:pt x="27286" y="22051"/>
                    <a:pt x="12760" y="43449"/>
                    <a:pt x="15912" y="66147"/>
                  </a:cubicBezTo>
                  <a:cubicBezTo>
                    <a:pt x="19063" y="88845"/>
                    <a:pt x="38867" y="105457"/>
                    <a:pt x="61719" y="104572"/>
                  </a:cubicBezTo>
                  <a:cubicBezTo>
                    <a:pt x="84571" y="103687"/>
                    <a:pt x="103036" y="85593"/>
                    <a:pt x="104430" y="62719"/>
                  </a:cubicBezTo>
                  <a:close/>
                </a:path>
              </a:pathLst>
            </a:custGeom>
            <a:solidFill>
              <a:srgbClr val="D3D3D3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3" name="Google Shape;773;p96"/>
            <p:cNvSpPr txBox="1"/>
            <p:nvPr/>
          </p:nvSpPr>
          <p:spPr>
            <a:xfrm>
              <a:off x="6937605" y="1835338"/>
              <a:ext cx="32262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Rounds of grant writing</a:t>
              </a:r>
              <a:endParaRPr sz="2133"/>
            </a:p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and application</a:t>
              </a:r>
              <a:endParaRPr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4" name="Google Shape;774;p96"/>
            <p:cNvSpPr txBox="1"/>
            <p:nvPr/>
          </p:nvSpPr>
          <p:spPr>
            <a:xfrm>
              <a:off x="8957729" y="2857001"/>
              <a:ext cx="26526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Iterations of </a:t>
              </a:r>
              <a:endParaRPr sz="2133"/>
            </a:p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search and reading</a:t>
              </a:r>
              <a:endParaRPr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5" name="Google Shape;775;p96"/>
            <p:cNvSpPr txBox="1"/>
            <p:nvPr/>
          </p:nvSpPr>
          <p:spPr>
            <a:xfrm>
              <a:off x="8210797" y="5692550"/>
              <a:ext cx="28794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Drafting, receiving comments,rewriting</a:t>
              </a:r>
              <a:endParaRPr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6" name="Google Shape;776;p96"/>
            <p:cNvSpPr txBox="1"/>
            <p:nvPr/>
          </p:nvSpPr>
          <p:spPr>
            <a:xfrm>
              <a:off x="67962" y="5745282"/>
              <a:ext cx="30312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pPr algn="r"/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Submit, peer review, rejection, resubmitting</a:t>
              </a:r>
              <a:endParaRPr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7" name="Google Shape;777;p96"/>
            <p:cNvSpPr txBox="1"/>
            <p:nvPr/>
          </p:nvSpPr>
          <p:spPr>
            <a:xfrm>
              <a:off x="8993073" y="4449499"/>
              <a:ext cx="3096600" cy="8310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33" tIns="45700" rIns="91433" bIns="45700" anchor="t" anchorCtr="0">
              <a:noAutofit/>
            </a:bodyPr>
            <a:lstStyle/>
            <a:p>
              <a:r>
                <a:rPr lang="en-GB" sz="2133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Rounds of experiments and measurements</a:t>
              </a:r>
              <a:endParaRPr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78" name="Google Shape;778;p96"/>
          <p:cNvGrpSpPr/>
          <p:nvPr/>
        </p:nvGrpSpPr>
        <p:grpSpPr>
          <a:xfrm>
            <a:off x="7292861" y="2589819"/>
            <a:ext cx="1163388" cy="3242040"/>
            <a:chOff x="7291269" y="2589813"/>
            <a:chExt cx="1163388" cy="3242040"/>
          </a:xfrm>
        </p:grpSpPr>
        <p:sp>
          <p:nvSpPr>
            <p:cNvPr id="779" name="Google Shape;779;p96"/>
            <p:cNvSpPr/>
            <p:nvPr/>
          </p:nvSpPr>
          <p:spPr>
            <a:xfrm rot="-5400000">
              <a:off x="7840642" y="3988771"/>
              <a:ext cx="639900" cy="4743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559" y="60000"/>
                  </a:moveTo>
                  <a:lnTo>
                    <a:pt x="5559" y="60000"/>
                  </a:lnTo>
                  <a:cubicBezTo>
                    <a:pt x="5559" y="34998"/>
                    <a:pt x="23842" y="13465"/>
                    <a:pt x="49259" y="8532"/>
                  </a:cubicBezTo>
                  <a:cubicBezTo>
                    <a:pt x="74676" y="3599"/>
                    <a:pt x="100174" y="16636"/>
                    <a:pt x="110203" y="39692"/>
                  </a:cubicBezTo>
                  <a:lnTo>
                    <a:pt x="114739" y="39692"/>
                  </a:lnTo>
                  <a:lnTo>
                    <a:pt x="108882" y="60000"/>
                  </a:lnTo>
                  <a:lnTo>
                    <a:pt x="92503" y="39692"/>
                  </a:lnTo>
                  <a:lnTo>
                    <a:pt x="96420" y="39692"/>
                  </a:lnTo>
                  <a:lnTo>
                    <a:pt x="96420" y="39692"/>
                  </a:lnTo>
                  <a:cubicBezTo>
                    <a:pt x="86013" y="25708"/>
                    <a:pt x="66207" y="19330"/>
                    <a:pt x="47772" y="24025"/>
                  </a:cubicBezTo>
                  <a:cubicBezTo>
                    <a:pt x="29336" y="28720"/>
                    <a:pt x="16677" y="43366"/>
                    <a:pt x="16677" y="6000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0" name="Google Shape;780;p96"/>
            <p:cNvSpPr/>
            <p:nvPr/>
          </p:nvSpPr>
          <p:spPr>
            <a:xfrm rot="-7338260">
              <a:off x="7342693" y="2753408"/>
              <a:ext cx="639951" cy="474239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558" y="60000"/>
                  </a:moveTo>
                  <a:cubicBezTo>
                    <a:pt x="5558" y="34999"/>
                    <a:pt x="23840" y="13466"/>
                    <a:pt x="49257" y="8532"/>
                  </a:cubicBezTo>
                  <a:cubicBezTo>
                    <a:pt x="74673" y="3599"/>
                    <a:pt x="100171" y="16633"/>
                    <a:pt x="110202" y="39687"/>
                  </a:cubicBezTo>
                  <a:lnTo>
                    <a:pt x="114736" y="39687"/>
                  </a:lnTo>
                  <a:lnTo>
                    <a:pt x="108884" y="60000"/>
                  </a:lnTo>
                  <a:lnTo>
                    <a:pt x="92505" y="39687"/>
                  </a:lnTo>
                  <a:lnTo>
                    <a:pt x="96420" y="39687"/>
                  </a:lnTo>
                  <a:lnTo>
                    <a:pt x="96420" y="39687"/>
                  </a:lnTo>
                  <a:cubicBezTo>
                    <a:pt x="86010" y="25706"/>
                    <a:pt x="66204" y="19330"/>
                    <a:pt x="47768" y="24025"/>
                  </a:cubicBezTo>
                  <a:cubicBezTo>
                    <a:pt x="29333" y="28721"/>
                    <a:pt x="16674" y="43367"/>
                    <a:pt x="16674" y="6000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1" name="Google Shape;781;p96"/>
            <p:cNvSpPr/>
            <p:nvPr/>
          </p:nvSpPr>
          <p:spPr>
            <a:xfrm rot="-4219469">
              <a:off x="7586572" y="5198707"/>
              <a:ext cx="639752" cy="474073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5558" y="60000"/>
                  </a:moveTo>
                  <a:lnTo>
                    <a:pt x="5558" y="60000"/>
                  </a:lnTo>
                  <a:cubicBezTo>
                    <a:pt x="5558" y="34999"/>
                    <a:pt x="23840" y="13466"/>
                    <a:pt x="49256" y="8532"/>
                  </a:cubicBezTo>
                  <a:cubicBezTo>
                    <a:pt x="74672" y="3599"/>
                    <a:pt x="100171" y="16633"/>
                    <a:pt x="110202" y="39687"/>
                  </a:cubicBezTo>
                  <a:lnTo>
                    <a:pt x="114736" y="39687"/>
                  </a:lnTo>
                  <a:lnTo>
                    <a:pt x="108885" y="60000"/>
                  </a:lnTo>
                  <a:lnTo>
                    <a:pt x="92505" y="39687"/>
                  </a:lnTo>
                  <a:lnTo>
                    <a:pt x="96420" y="39687"/>
                  </a:lnTo>
                  <a:lnTo>
                    <a:pt x="96420" y="39687"/>
                  </a:lnTo>
                  <a:cubicBezTo>
                    <a:pt x="86010" y="25705"/>
                    <a:pt x="66203" y="19330"/>
                    <a:pt x="47767" y="24026"/>
                  </a:cubicBezTo>
                  <a:cubicBezTo>
                    <a:pt x="29332" y="28722"/>
                    <a:pt x="16673" y="43367"/>
                    <a:pt x="16673" y="60000"/>
                  </a:cubicBez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spcFirstLastPara="1" wrap="square" lIns="91433" tIns="45700" rIns="91433" bIns="45700" anchor="ctr" anchorCtr="0">
              <a:noAutofit/>
            </a:bodyPr>
            <a:lstStyle/>
            <a:p>
              <a:pPr algn="ctr"/>
              <a:endParaRPr sz="1867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2" name="Google Shape;782;p96"/>
            <p:cNvGrpSpPr/>
            <p:nvPr/>
          </p:nvGrpSpPr>
          <p:grpSpPr>
            <a:xfrm>
              <a:off x="7330382" y="2589813"/>
              <a:ext cx="1124274" cy="3242040"/>
              <a:chOff x="7330382" y="2589813"/>
              <a:chExt cx="1124274" cy="3242040"/>
            </a:xfrm>
          </p:grpSpPr>
          <p:sp>
            <p:nvSpPr>
              <p:cNvPr id="783" name="Google Shape;783;p96"/>
              <p:cNvSpPr/>
              <p:nvPr/>
            </p:nvSpPr>
            <p:spPr>
              <a:xfrm rot="5400000">
                <a:off x="7883306" y="3987225"/>
                <a:ext cx="653100" cy="489600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622" y="60000"/>
                    </a:moveTo>
                    <a:cubicBezTo>
                      <a:pt x="5622" y="34952"/>
                      <a:pt x="23950" y="13393"/>
                      <a:pt x="49395" y="8508"/>
                    </a:cubicBezTo>
                    <a:cubicBezTo>
                      <a:pt x="74841" y="3623"/>
                      <a:pt x="100317" y="16774"/>
                      <a:pt x="110241" y="39916"/>
                    </a:cubicBezTo>
                    <a:lnTo>
                      <a:pt x="114875" y="39916"/>
                    </a:lnTo>
                    <a:lnTo>
                      <a:pt x="108755" y="60000"/>
                    </a:lnTo>
                    <a:lnTo>
                      <a:pt x="92385" y="39916"/>
                    </a:lnTo>
                    <a:lnTo>
                      <a:pt x="96425" y="39916"/>
                    </a:lnTo>
                    <a:cubicBezTo>
                      <a:pt x="86148" y="25827"/>
                      <a:pt x="66401" y="19335"/>
                      <a:pt x="47973" y="23987"/>
                    </a:cubicBezTo>
                    <a:cubicBezTo>
                      <a:pt x="29544" y="28639"/>
                      <a:pt x="16867" y="43317"/>
                      <a:pt x="16867" y="6000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4" name="Google Shape;784;p96"/>
              <p:cNvSpPr/>
              <p:nvPr/>
            </p:nvSpPr>
            <p:spPr>
              <a:xfrm rot="3460932">
                <a:off x="7385392" y="2751751"/>
                <a:ext cx="653180" cy="489725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623" y="60000"/>
                    </a:moveTo>
                    <a:lnTo>
                      <a:pt x="5623" y="60000"/>
                    </a:lnTo>
                    <a:cubicBezTo>
                      <a:pt x="5623" y="34952"/>
                      <a:pt x="23951" y="13392"/>
                      <a:pt x="49397" y="8508"/>
                    </a:cubicBezTo>
                    <a:cubicBezTo>
                      <a:pt x="74843" y="3623"/>
                      <a:pt x="100318" y="16775"/>
                      <a:pt x="110242" y="39919"/>
                    </a:cubicBezTo>
                    <a:lnTo>
                      <a:pt x="114876" y="39919"/>
                    </a:lnTo>
                    <a:lnTo>
                      <a:pt x="108754" y="60000"/>
                    </a:lnTo>
                    <a:lnTo>
                      <a:pt x="92384" y="39919"/>
                    </a:lnTo>
                    <a:lnTo>
                      <a:pt x="96425" y="39919"/>
                    </a:lnTo>
                    <a:lnTo>
                      <a:pt x="96425" y="39919"/>
                    </a:lnTo>
                    <a:cubicBezTo>
                      <a:pt x="86150" y="25829"/>
                      <a:pt x="66403" y="19335"/>
                      <a:pt x="47975" y="23987"/>
                    </a:cubicBezTo>
                    <a:cubicBezTo>
                      <a:pt x="29547" y="28639"/>
                      <a:pt x="16869" y="43316"/>
                      <a:pt x="16869" y="6000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5" name="Google Shape;785;p96"/>
              <p:cNvSpPr/>
              <p:nvPr/>
            </p:nvSpPr>
            <p:spPr>
              <a:xfrm rot="6580504">
                <a:off x="7629276" y="5196986"/>
                <a:ext cx="653132" cy="489733"/>
              </a:xfrm>
              <a:custGeom>
                <a:avLst/>
                <a:gdLst/>
                <a:ahLst/>
                <a:cxnLst/>
                <a:rect l="l" t="t" r="r" b="b"/>
                <a:pathLst>
                  <a:path w="120000" h="120000" extrusionOk="0">
                    <a:moveTo>
                      <a:pt x="5624" y="60000"/>
                    </a:moveTo>
                    <a:cubicBezTo>
                      <a:pt x="5624" y="34951"/>
                      <a:pt x="23952" y="13391"/>
                      <a:pt x="49398" y="8508"/>
                    </a:cubicBezTo>
                    <a:cubicBezTo>
                      <a:pt x="74844" y="3624"/>
                      <a:pt x="100319" y="16776"/>
                      <a:pt x="110242" y="39921"/>
                    </a:cubicBezTo>
                    <a:lnTo>
                      <a:pt x="114877" y="39921"/>
                    </a:lnTo>
                    <a:lnTo>
                      <a:pt x="108753" y="60000"/>
                    </a:lnTo>
                    <a:lnTo>
                      <a:pt x="92383" y="39921"/>
                    </a:lnTo>
                    <a:lnTo>
                      <a:pt x="96425" y="39921"/>
                    </a:lnTo>
                    <a:cubicBezTo>
                      <a:pt x="86151" y="25830"/>
                      <a:pt x="66405" y="19335"/>
                      <a:pt x="47977" y="23987"/>
                    </a:cubicBezTo>
                    <a:cubicBezTo>
                      <a:pt x="29548" y="28638"/>
                      <a:pt x="16871" y="43316"/>
                      <a:pt x="16871" y="60000"/>
                    </a:cubicBezTo>
                    <a:close/>
                  </a:path>
                </a:pathLst>
              </a:custGeom>
              <a:solidFill>
                <a:srgbClr val="FFC000"/>
              </a:solidFill>
              <a:ln>
                <a:noFill/>
              </a:ln>
            </p:spPr>
            <p:txBody>
              <a:bodyPr spcFirstLastPara="1" wrap="square" lIns="91433" tIns="45700" rIns="91433" bIns="45700" anchor="ctr" anchorCtr="0">
                <a:noAutofit/>
              </a:bodyPr>
              <a:lstStyle/>
              <a:p>
                <a:pPr algn="ctr"/>
                <a:endParaRPr sz="1867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786" name="Google Shape;786;p96"/>
          <p:cNvGrpSpPr/>
          <p:nvPr/>
        </p:nvGrpSpPr>
        <p:grpSpPr>
          <a:xfrm>
            <a:off x="4350126" y="2891343"/>
            <a:ext cx="3257815" cy="3301707"/>
            <a:chOff x="4348539" y="2891343"/>
            <a:chExt cx="3257815" cy="3301707"/>
          </a:xfrm>
        </p:grpSpPr>
        <p:cxnSp>
          <p:nvCxnSpPr>
            <p:cNvPr id="787" name="Google Shape;787;p96"/>
            <p:cNvCxnSpPr>
              <a:stCxn id="764" idx="3"/>
            </p:cNvCxnSpPr>
            <p:nvPr/>
          </p:nvCxnSpPr>
          <p:spPr>
            <a:xfrm rot="10800000" flipH="1">
              <a:off x="4441203" y="2891343"/>
              <a:ext cx="1895100" cy="2051700"/>
            </a:xfrm>
            <a:prstGeom prst="curvedConnector2">
              <a:avLst/>
            </a:prstGeom>
            <a:noFill/>
            <a:ln w="28575" cap="flat" cmpd="sng">
              <a:solidFill>
                <a:srgbClr val="76BB98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8" name="Google Shape;788;p96"/>
            <p:cNvCxnSpPr/>
            <p:nvPr/>
          </p:nvCxnSpPr>
          <p:spPr>
            <a:xfrm rot="5400000">
              <a:off x="6038724" y="4515339"/>
              <a:ext cx="1847100" cy="6492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rgbClr val="D45454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89" name="Google Shape;789;p96"/>
            <p:cNvCxnSpPr/>
            <p:nvPr/>
          </p:nvCxnSpPr>
          <p:spPr>
            <a:xfrm rot="10800000" flipH="1">
              <a:off x="5269654" y="4392489"/>
              <a:ext cx="2336700" cy="16593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rgbClr val="E7AD7D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0" name="Google Shape;790;p96"/>
            <p:cNvCxnSpPr/>
            <p:nvPr/>
          </p:nvCxnSpPr>
          <p:spPr>
            <a:xfrm rot="10800000" flipH="1">
              <a:off x="5270282" y="4157691"/>
              <a:ext cx="2327700" cy="1733400"/>
            </a:xfrm>
            <a:prstGeom prst="curvedConnector3">
              <a:avLst>
                <a:gd name="adj1" fmla="val 42143"/>
              </a:avLst>
            </a:prstGeom>
            <a:noFill/>
            <a:ln w="28575" cap="flat" cmpd="sng">
              <a:solidFill>
                <a:srgbClr val="E7AD7D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1" name="Google Shape;791;p96"/>
            <p:cNvCxnSpPr/>
            <p:nvPr/>
          </p:nvCxnSpPr>
          <p:spPr>
            <a:xfrm rot="-5400000">
              <a:off x="3981447" y="4093757"/>
              <a:ext cx="2869500" cy="4653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rgbClr val="E7AD7D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2" name="Google Shape;792;p96"/>
            <p:cNvCxnSpPr/>
            <p:nvPr/>
          </p:nvCxnSpPr>
          <p:spPr>
            <a:xfrm rot="5400000" flipH="1">
              <a:off x="3842289" y="4532373"/>
              <a:ext cx="1739400" cy="726900"/>
            </a:xfrm>
            <a:prstGeom prst="curvedConnector3">
              <a:avLst>
                <a:gd name="adj1" fmla="val 57399"/>
              </a:avLst>
            </a:prstGeom>
            <a:noFill/>
            <a:ln w="28575" cap="flat" cmpd="sng">
              <a:solidFill>
                <a:srgbClr val="E7AD7D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793" name="Google Shape;793;p96"/>
            <p:cNvCxnSpPr/>
            <p:nvPr/>
          </p:nvCxnSpPr>
          <p:spPr>
            <a:xfrm rot="10800000" flipH="1">
              <a:off x="5266988" y="5396850"/>
              <a:ext cx="2040900" cy="796200"/>
            </a:xfrm>
            <a:prstGeom prst="curvedConnector3">
              <a:avLst>
                <a:gd name="adj1" fmla="val 50000"/>
              </a:avLst>
            </a:prstGeom>
            <a:noFill/>
            <a:ln w="28575" cap="flat" cmpd="sng">
              <a:solidFill>
                <a:srgbClr val="E7AD7D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</p:grpSp>
      <p:sp>
        <p:nvSpPr>
          <p:cNvPr id="794" name="Google Shape;794;p96"/>
          <p:cNvSpPr/>
          <p:nvPr/>
        </p:nvSpPr>
        <p:spPr>
          <a:xfrm rot="-6981375">
            <a:off x="1657332" y="4319567"/>
            <a:ext cx="1227163" cy="123431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12093" y="63189"/>
                </a:moveTo>
                <a:lnTo>
                  <a:pt x="112093" y="63189"/>
                </a:lnTo>
                <a:cubicBezTo>
                  <a:pt x="110446" y="90137"/>
                  <a:pt x="88552" y="111389"/>
                  <a:pt x="61589" y="112211"/>
                </a:cubicBezTo>
                <a:cubicBezTo>
                  <a:pt x="34626" y="113033"/>
                  <a:pt x="11480" y="93154"/>
                  <a:pt x="8197" y="66356"/>
                </a:cubicBezTo>
                <a:cubicBezTo>
                  <a:pt x="4915" y="39558"/>
                  <a:pt x="22578" y="14671"/>
                  <a:pt x="48941" y="8950"/>
                </a:cubicBezTo>
                <a:cubicBezTo>
                  <a:pt x="75304" y="3229"/>
                  <a:pt x="101679" y="18559"/>
                  <a:pt x="109781" y="44312"/>
                </a:cubicBezTo>
                <a:lnTo>
                  <a:pt x="117465" y="43407"/>
                </a:lnTo>
                <a:lnTo>
                  <a:pt x="108021" y="54345"/>
                </a:lnTo>
                <a:lnTo>
                  <a:pt x="94330" y="46131"/>
                </a:lnTo>
                <a:lnTo>
                  <a:pt x="102001" y="45228"/>
                </a:lnTo>
                <a:lnTo>
                  <a:pt x="102001" y="45228"/>
                </a:lnTo>
                <a:cubicBezTo>
                  <a:pt x="94427" y="23606"/>
                  <a:pt x="71734" y="11253"/>
                  <a:pt x="49509" y="16654"/>
                </a:cubicBezTo>
                <a:cubicBezTo>
                  <a:pt x="27284" y="22055"/>
                  <a:pt x="12760" y="43452"/>
                  <a:pt x="15912" y="66148"/>
                </a:cubicBezTo>
                <a:cubicBezTo>
                  <a:pt x="19064" y="88844"/>
                  <a:pt x="38867" y="105454"/>
                  <a:pt x="61719" y="104569"/>
                </a:cubicBezTo>
                <a:cubicBezTo>
                  <a:pt x="84571" y="103684"/>
                  <a:pt x="103036" y="85592"/>
                  <a:pt x="104430" y="62720"/>
                </a:cubicBezTo>
                <a:close/>
              </a:path>
            </a:pathLst>
          </a:custGeom>
          <a:solidFill>
            <a:srgbClr val="D3D3D3"/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5" name="Google Shape;795;p96"/>
          <p:cNvSpPr txBox="1"/>
          <p:nvPr/>
        </p:nvSpPr>
        <p:spPr>
          <a:xfrm>
            <a:off x="1587" y="4527451"/>
            <a:ext cx="2489600" cy="83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algn="r"/>
            <a:r>
              <a:rPr lang="en-GB" sz="2133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Tell story, get attention, be invited</a:t>
            </a:r>
            <a:endParaRPr sz="2133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99DF0E75-B5C2-6B7B-CE49-4F85F43BA0E8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The Open Research Workflow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7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93" descr="Image result for science in transition"/>
          <p:cNvSpPr/>
          <p:nvPr/>
        </p:nvSpPr>
        <p:spPr>
          <a:xfrm>
            <a:off x="157162" y="-144461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endParaRPr sz="1867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96" name="Google Shape;696;p93"/>
          <p:cNvGrpSpPr/>
          <p:nvPr/>
        </p:nvGrpSpPr>
        <p:grpSpPr>
          <a:xfrm>
            <a:off x="631787" y="1994634"/>
            <a:ext cx="1842800" cy="767200"/>
            <a:chOff x="472650" y="1495975"/>
            <a:chExt cx="1382100" cy="575400"/>
          </a:xfrm>
        </p:grpSpPr>
        <p:sp>
          <p:nvSpPr>
            <p:cNvPr id="697" name="Google Shape;697;p93"/>
            <p:cNvSpPr/>
            <p:nvPr/>
          </p:nvSpPr>
          <p:spPr>
            <a:xfrm>
              <a:off x="472650" y="1495975"/>
              <a:ext cx="1382100" cy="5754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698" name="Google Shape;698;p93"/>
            <p:cNvSpPr txBox="1"/>
            <p:nvPr/>
          </p:nvSpPr>
          <p:spPr>
            <a:xfrm>
              <a:off x="554250" y="1498975"/>
              <a:ext cx="1218900" cy="569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-GB" sz="3333">
                  <a:latin typeface="Calibri"/>
                  <a:ea typeface="Calibri"/>
                  <a:cs typeface="Calibri"/>
                  <a:sym typeface="Calibri"/>
                </a:rPr>
                <a:t>create</a:t>
              </a:r>
              <a:endParaRPr sz="333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99" name="Google Shape;699;p93"/>
          <p:cNvGrpSpPr/>
          <p:nvPr/>
        </p:nvGrpSpPr>
        <p:grpSpPr>
          <a:xfrm>
            <a:off x="3171787" y="3721834"/>
            <a:ext cx="1842800" cy="767200"/>
            <a:chOff x="2377650" y="2791375"/>
            <a:chExt cx="1382100" cy="575400"/>
          </a:xfrm>
        </p:grpSpPr>
        <p:sp>
          <p:nvSpPr>
            <p:cNvPr id="700" name="Google Shape;700;p93"/>
            <p:cNvSpPr/>
            <p:nvPr/>
          </p:nvSpPr>
          <p:spPr>
            <a:xfrm>
              <a:off x="2377650" y="2791375"/>
              <a:ext cx="1382100" cy="5754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1" name="Google Shape;701;p93"/>
            <p:cNvSpPr txBox="1"/>
            <p:nvPr/>
          </p:nvSpPr>
          <p:spPr>
            <a:xfrm>
              <a:off x="2459250" y="2794375"/>
              <a:ext cx="1218900" cy="569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-GB" sz="3333">
                  <a:latin typeface="Calibri"/>
                  <a:ea typeface="Calibri"/>
                  <a:cs typeface="Calibri"/>
                  <a:sym typeface="Calibri"/>
                </a:rPr>
                <a:t>share</a:t>
              </a:r>
              <a:endParaRPr sz="333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702" name="Google Shape;702;p93"/>
          <p:cNvGrpSpPr/>
          <p:nvPr/>
        </p:nvGrpSpPr>
        <p:grpSpPr>
          <a:xfrm>
            <a:off x="611187" y="5251867"/>
            <a:ext cx="1842800" cy="767200"/>
            <a:chOff x="414575" y="4162975"/>
            <a:chExt cx="1382100" cy="575400"/>
          </a:xfrm>
        </p:grpSpPr>
        <p:sp>
          <p:nvSpPr>
            <p:cNvPr id="703" name="Google Shape;703;p93"/>
            <p:cNvSpPr/>
            <p:nvPr/>
          </p:nvSpPr>
          <p:spPr>
            <a:xfrm>
              <a:off x="414575" y="4162975"/>
              <a:ext cx="1382100" cy="575400"/>
            </a:xfrm>
            <a:prstGeom prst="roundRect">
              <a:avLst>
                <a:gd name="adj" fmla="val 16667"/>
              </a:avLst>
            </a:prstGeom>
            <a:solidFill>
              <a:srgbClr val="D9EAD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04" name="Google Shape;704;p93"/>
            <p:cNvSpPr txBox="1"/>
            <p:nvPr/>
          </p:nvSpPr>
          <p:spPr>
            <a:xfrm>
              <a:off x="496175" y="4165975"/>
              <a:ext cx="1218900" cy="56930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21900" tIns="121900" rIns="121900" bIns="121900" anchor="t" anchorCtr="0">
              <a:spAutoFit/>
            </a:bodyPr>
            <a:lstStyle/>
            <a:p>
              <a:pPr algn="ctr"/>
              <a:r>
                <a:rPr lang="en-GB" sz="3333">
                  <a:latin typeface="Calibri"/>
                  <a:ea typeface="Calibri"/>
                  <a:cs typeface="Calibri"/>
                  <a:sym typeface="Calibri"/>
                </a:rPr>
                <a:t>use</a:t>
              </a:r>
              <a:endParaRPr sz="3333"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cxnSp>
        <p:nvCxnSpPr>
          <p:cNvPr id="705" name="Google Shape;705;p93"/>
          <p:cNvCxnSpPr>
            <a:endCxn id="701" idx="0"/>
          </p:cNvCxnSpPr>
          <p:nvPr/>
        </p:nvCxnSpPr>
        <p:spPr>
          <a:xfrm>
            <a:off x="2474387" y="2397033"/>
            <a:ext cx="1618800" cy="1328801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6" name="Google Shape;706;p93"/>
          <p:cNvCxnSpPr>
            <a:stCxn id="701" idx="2"/>
            <a:endCxn id="703" idx="3"/>
          </p:cNvCxnSpPr>
          <p:nvPr/>
        </p:nvCxnSpPr>
        <p:spPr>
          <a:xfrm flipH="1">
            <a:off x="2453987" y="4484913"/>
            <a:ext cx="1639200" cy="1150554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707" name="Google Shape;707;p93"/>
          <p:cNvGrpSpPr/>
          <p:nvPr/>
        </p:nvGrpSpPr>
        <p:grpSpPr>
          <a:xfrm>
            <a:off x="4093187" y="2705834"/>
            <a:ext cx="7490800" cy="3313234"/>
            <a:chOff x="3068700" y="2029375"/>
            <a:chExt cx="5618100" cy="2484925"/>
          </a:xfrm>
        </p:grpSpPr>
        <p:grpSp>
          <p:nvGrpSpPr>
            <p:cNvPr id="708" name="Google Shape;708;p93"/>
            <p:cNvGrpSpPr/>
            <p:nvPr/>
          </p:nvGrpSpPr>
          <p:grpSpPr>
            <a:xfrm>
              <a:off x="5578050" y="2791375"/>
              <a:ext cx="1382100" cy="575400"/>
              <a:chOff x="5578050" y="2867575"/>
              <a:chExt cx="1382100" cy="575400"/>
            </a:xfrm>
          </p:grpSpPr>
          <p:sp>
            <p:nvSpPr>
              <p:cNvPr id="709" name="Google Shape;709;p93"/>
              <p:cNvSpPr/>
              <p:nvPr/>
            </p:nvSpPr>
            <p:spPr>
              <a:xfrm>
                <a:off x="5578050" y="2867575"/>
                <a:ext cx="1382100" cy="5754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0" name="Google Shape;710;p93"/>
              <p:cNvSpPr txBox="1"/>
              <p:nvPr/>
            </p:nvSpPr>
            <p:spPr>
              <a:xfrm>
                <a:off x="5659650" y="2870575"/>
                <a:ext cx="1218900" cy="569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-GB" sz="3333">
                    <a:latin typeface="Calibri"/>
                    <a:ea typeface="Calibri"/>
                    <a:cs typeface="Calibri"/>
                    <a:sym typeface="Calibri"/>
                  </a:rPr>
                  <a:t>share</a:t>
                </a:r>
                <a:endParaRPr sz="3333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1" name="Google Shape;711;p93"/>
            <p:cNvGrpSpPr/>
            <p:nvPr/>
          </p:nvGrpSpPr>
          <p:grpSpPr>
            <a:xfrm>
              <a:off x="3977850" y="3248575"/>
              <a:ext cx="1382100" cy="956980"/>
              <a:chOff x="3977850" y="3248575"/>
              <a:chExt cx="1382100" cy="956980"/>
            </a:xfrm>
          </p:grpSpPr>
          <p:sp>
            <p:nvSpPr>
              <p:cNvPr id="712" name="Google Shape;712;p93"/>
              <p:cNvSpPr/>
              <p:nvPr/>
            </p:nvSpPr>
            <p:spPr>
              <a:xfrm>
                <a:off x="3977850" y="3248575"/>
                <a:ext cx="1382100" cy="9543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3" name="Google Shape;713;p93"/>
              <p:cNvSpPr txBox="1"/>
              <p:nvPr/>
            </p:nvSpPr>
            <p:spPr>
              <a:xfrm>
                <a:off x="4059450" y="3251575"/>
                <a:ext cx="1218900" cy="953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-GB" sz="3333">
                    <a:latin typeface="Calibri"/>
                    <a:ea typeface="Calibri"/>
                    <a:cs typeface="Calibri"/>
                    <a:sym typeface="Calibri"/>
                  </a:rPr>
                  <a:t>reuse / modify</a:t>
                </a:r>
                <a:endParaRPr sz="3333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4" name="Google Shape;714;p93"/>
            <p:cNvGrpSpPr/>
            <p:nvPr/>
          </p:nvGrpSpPr>
          <p:grpSpPr>
            <a:xfrm>
              <a:off x="3977850" y="2029375"/>
              <a:ext cx="1382100" cy="956980"/>
              <a:chOff x="3977850" y="2029375"/>
              <a:chExt cx="1382100" cy="956980"/>
            </a:xfrm>
          </p:grpSpPr>
          <p:sp>
            <p:nvSpPr>
              <p:cNvPr id="715" name="Google Shape;715;p93"/>
              <p:cNvSpPr/>
              <p:nvPr/>
            </p:nvSpPr>
            <p:spPr>
              <a:xfrm>
                <a:off x="3977850" y="2029375"/>
                <a:ext cx="1382100" cy="9081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6" name="Google Shape;716;p93"/>
              <p:cNvSpPr txBox="1"/>
              <p:nvPr/>
            </p:nvSpPr>
            <p:spPr>
              <a:xfrm>
                <a:off x="4059450" y="2032375"/>
                <a:ext cx="1218900" cy="9539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-GB" sz="3333">
                    <a:latin typeface="Calibri"/>
                    <a:ea typeface="Calibri"/>
                    <a:cs typeface="Calibri"/>
                    <a:sym typeface="Calibri"/>
                  </a:rPr>
                  <a:t>reuse / modify</a:t>
                </a:r>
                <a:endParaRPr sz="3333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717" name="Google Shape;717;p93"/>
            <p:cNvGrpSpPr/>
            <p:nvPr/>
          </p:nvGrpSpPr>
          <p:grpSpPr>
            <a:xfrm>
              <a:off x="7304700" y="3938900"/>
              <a:ext cx="1382100" cy="575400"/>
              <a:chOff x="7424975" y="3934375"/>
              <a:chExt cx="1382100" cy="575400"/>
            </a:xfrm>
          </p:grpSpPr>
          <p:sp>
            <p:nvSpPr>
              <p:cNvPr id="718" name="Google Shape;718;p93"/>
              <p:cNvSpPr/>
              <p:nvPr/>
            </p:nvSpPr>
            <p:spPr>
              <a:xfrm>
                <a:off x="7424975" y="3934375"/>
                <a:ext cx="1382100" cy="5754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19" name="Google Shape;719;p93"/>
              <p:cNvSpPr txBox="1"/>
              <p:nvPr/>
            </p:nvSpPr>
            <p:spPr>
              <a:xfrm>
                <a:off x="7506575" y="3937375"/>
                <a:ext cx="1218900" cy="569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-GB" sz="3333">
                    <a:latin typeface="Calibri"/>
                    <a:ea typeface="Calibri"/>
                    <a:cs typeface="Calibri"/>
                    <a:sym typeface="Calibri"/>
                  </a:rPr>
                  <a:t>use</a:t>
                </a:r>
                <a:endParaRPr sz="3333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20" name="Google Shape;720;p93"/>
            <p:cNvCxnSpPr>
              <a:stCxn id="701" idx="0"/>
              <a:endCxn id="715" idx="1"/>
            </p:cNvCxnSpPr>
            <p:nvPr/>
          </p:nvCxnSpPr>
          <p:spPr>
            <a:xfrm flipV="1">
              <a:off x="3068700" y="2483425"/>
              <a:ext cx="909150" cy="31095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1" name="Google Shape;721;p93"/>
            <p:cNvCxnSpPr>
              <a:endCxn id="710" idx="0"/>
            </p:cNvCxnSpPr>
            <p:nvPr/>
          </p:nvCxnSpPr>
          <p:spPr>
            <a:xfrm>
              <a:off x="5359800" y="2437075"/>
              <a:ext cx="909300" cy="3573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2" name="Google Shape;722;p93"/>
            <p:cNvCxnSpPr>
              <a:stCxn id="710" idx="2"/>
              <a:endCxn id="712" idx="3"/>
            </p:cNvCxnSpPr>
            <p:nvPr/>
          </p:nvCxnSpPr>
          <p:spPr>
            <a:xfrm flipH="1">
              <a:off x="5359950" y="3363684"/>
              <a:ext cx="909150" cy="362041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3" name="Google Shape;723;p93"/>
            <p:cNvCxnSpPr>
              <a:stCxn id="712" idx="1"/>
              <a:endCxn id="701" idx="2"/>
            </p:cNvCxnSpPr>
            <p:nvPr/>
          </p:nvCxnSpPr>
          <p:spPr>
            <a:xfrm flipH="1" flipV="1">
              <a:off x="3068700" y="3363684"/>
              <a:ext cx="909150" cy="362041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  <p:cxnSp>
          <p:nvCxnSpPr>
            <p:cNvPr id="724" name="Google Shape;724;p93"/>
            <p:cNvCxnSpPr>
              <a:stCxn id="710" idx="2"/>
              <a:endCxn id="718" idx="1"/>
            </p:cNvCxnSpPr>
            <p:nvPr/>
          </p:nvCxnSpPr>
          <p:spPr>
            <a:xfrm>
              <a:off x="6269100" y="3363684"/>
              <a:ext cx="1035600" cy="862916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grpSp>
        <p:nvGrpSpPr>
          <p:cNvPr id="725" name="Google Shape;725;p93"/>
          <p:cNvGrpSpPr/>
          <p:nvPr/>
        </p:nvGrpSpPr>
        <p:grpSpPr>
          <a:xfrm>
            <a:off x="8360387" y="1994633"/>
            <a:ext cx="3223600" cy="1731200"/>
            <a:chOff x="6269100" y="1495975"/>
            <a:chExt cx="2417700" cy="1298400"/>
          </a:xfrm>
        </p:grpSpPr>
        <p:grpSp>
          <p:nvGrpSpPr>
            <p:cNvPr id="726" name="Google Shape;726;p93"/>
            <p:cNvGrpSpPr/>
            <p:nvPr/>
          </p:nvGrpSpPr>
          <p:grpSpPr>
            <a:xfrm>
              <a:off x="7304700" y="1495975"/>
              <a:ext cx="1382100" cy="575400"/>
              <a:chOff x="7483050" y="1495975"/>
              <a:chExt cx="1382100" cy="575400"/>
            </a:xfrm>
          </p:grpSpPr>
          <p:sp>
            <p:nvSpPr>
              <p:cNvPr id="727" name="Google Shape;727;p93"/>
              <p:cNvSpPr/>
              <p:nvPr/>
            </p:nvSpPr>
            <p:spPr>
              <a:xfrm>
                <a:off x="7483050" y="1495975"/>
                <a:ext cx="1382100" cy="575400"/>
              </a:xfrm>
              <a:prstGeom prst="roundRect">
                <a:avLst>
                  <a:gd name="adj" fmla="val 16667"/>
                </a:avLst>
              </a:prstGeom>
              <a:solidFill>
                <a:srgbClr val="D9EAD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728" name="Google Shape;728;p93"/>
              <p:cNvSpPr txBox="1"/>
              <p:nvPr/>
            </p:nvSpPr>
            <p:spPr>
              <a:xfrm>
                <a:off x="7564650" y="1498975"/>
                <a:ext cx="1218900" cy="56930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121900" tIns="121900" rIns="121900" bIns="121900" anchor="t" anchorCtr="0">
                <a:spAutoFit/>
              </a:bodyPr>
              <a:lstStyle/>
              <a:p>
                <a:pPr algn="ctr"/>
                <a:r>
                  <a:rPr lang="en-GB" sz="3333">
                    <a:latin typeface="Calibri"/>
                    <a:ea typeface="Calibri"/>
                    <a:cs typeface="Calibri"/>
                    <a:sym typeface="Calibri"/>
                  </a:rPr>
                  <a:t>create</a:t>
                </a:r>
                <a:endParaRPr sz="3333"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cxnSp>
          <p:nvCxnSpPr>
            <p:cNvPr id="729" name="Google Shape;729;p93"/>
            <p:cNvCxnSpPr>
              <a:stCxn id="727" idx="1"/>
            </p:cNvCxnSpPr>
            <p:nvPr/>
          </p:nvCxnSpPr>
          <p:spPr>
            <a:xfrm flipH="1">
              <a:off x="6269100" y="1783675"/>
              <a:ext cx="1035600" cy="1010700"/>
            </a:xfrm>
            <a:prstGeom prst="straightConnector1">
              <a:avLst/>
            </a:prstGeom>
            <a:noFill/>
            <a:ln w="28575" cap="flat" cmpd="sng">
              <a:solidFill>
                <a:schemeClr val="dk2"/>
              </a:solidFill>
              <a:prstDash val="solid"/>
              <a:round/>
              <a:headEnd type="none" w="med" len="med"/>
              <a:tailEnd type="triangle" w="med" len="med"/>
            </a:ln>
          </p:spPr>
        </p:cxnSp>
      </p:grp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0FBC771B-6CFF-81F9-5826-ECE24EB13745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Open Science as a mindset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95"/>
          <p:cNvSpPr txBox="1"/>
          <p:nvPr/>
        </p:nvSpPr>
        <p:spPr>
          <a:xfrm>
            <a:off x="1587196" y="2237361"/>
            <a:ext cx="9348400" cy="397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noAutofit/>
          </a:bodyPr>
          <a:lstStyle/>
          <a:p>
            <a:pPr marL="287859" indent="-279393">
              <a:buClr>
                <a:schemeClr val="dk1"/>
              </a:buClr>
              <a:buSzPts val="2700"/>
              <a:buFont typeface="Arial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Transparency, accountability</a:t>
            </a:r>
            <a:endParaRPr sz="1467"/>
          </a:p>
          <a:p>
            <a:pPr marL="287859" indent="-50799">
              <a:buClr>
                <a:schemeClr val="dk1"/>
              </a:buClr>
              <a:buSzPts val="2700"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859" indent="-279393">
              <a:buClr>
                <a:schemeClr val="dk1"/>
              </a:buClr>
              <a:buSzPts val="2700"/>
              <a:buFont typeface="Arial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Efficiency</a:t>
            </a:r>
            <a:endParaRPr sz="1467"/>
          </a:p>
          <a:p>
            <a:pPr marL="287859" indent="-50799">
              <a:buClr>
                <a:schemeClr val="dk1"/>
              </a:buClr>
              <a:buSzPts val="2700"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859" indent="-279393">
              <a:buClr>
                <a:schemeClr val="dk1"/>
              </a:buClr>
              <a:buSzPts val="2700"/>
              <a:buFont typeface="Arial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Reproducibility &amp; verifiability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859" indent="-50799">
              <a:buClr>
                <a:schemeClr val="dk1"/>
              </a:buClr>
              <a:buSzPts val="2700"/>
            </a:pP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287859" indent="-279393">
              <a:buClr>
                <a:schemeClr val="dk1"/>
              </a:buClr>
              <a:buSzPts val="2700"/>
              <a:buFont typeface="Arial"/>
              <a:buChar char="•"/>
            </a:pPr>
            <a:r>
              <a:rPr lang="en-GB" sz="3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Relevance &amp; stakeholder involvement</a:t>
            </a:r>
            <a:endParaRPr sz="3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80B656B-AF8F-EB84-2ED5-07A43C5DD1B1}"/>
              </a:ext>
            </a:extLst>
          </p:cNvPr>
          <p:cNvSpPr/>
          <p:nvPr/>
        </p:nvSpPr>
        <p:spPr>
          <a:xfrm>
            <a:off x="419878" y="274079"/>
            <a:ext cx="11504645" cy="472320"/>
          </a:xfrm>
          <a:custGeom>
            <a:avLst/>
            <a:gdLst>
              <a:gd name="connsiteX0" fmla="*/ 0 w 3816647"/>
              <a:gd name="connsiteY0" fmla="*/ 78722 h 472320"/>
              <a:gd name="connsiteX1" fmla="*/ 78722 w 3816647"/>
              <a:gd name="connsiteY1" fmla="*/ 0 h 472320"/>
              <a:gd name="connsiteX2" fmla="*/ 3737925 w 3816647"/>
              <a:gd name="connsiteY2" fmla="*/ 0 h 472320"/>
              <a:gd name="connsiteX3" fmla="*/ 3816647 w 3816647"/>
              <a:gd name="connsiteY3" fmla="*/ 78722 h 472320"/>
              <a:gd name="connsiteX4" fmla="*/ 3816647 w 3816647"/>
              <a:gd name="connsiteY4" fmla="*/ 393598 h 472320"/>
              <a:gd name="connsiteX5" fmla="*/ 3737925 w 3816647"/>
              <a:gd name="connsiteY5" fmla="*/ 472320 h 472320"/>
              <a:gd name="connsiteX6" fmla="*/ 78722 w 3816647"/>
              <a:gd name="connsiteY6" fmla="*/ 472320 h 472320"/>
              <a:gd name="connsiteX7" fmla="*/ 0 w 3816647"/>
              <a:gd name="connsiteY7" fmla="*/ 393598 h 472320"/>
              <a:gd name="connsiteX8" fmla="*/ 0 w 3816647"/>
              <a:gd name="connsiteY8" fmla="*/ 78722 h 4723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16647" h="472320">
                <a:moveTo>
                  <a:pt x="0" y="78722"/>
                </a:moveTo>
                <a:cubicBezTo>
                  <a:pt x="0" y="35245"/>
                  <a:pt x="35245" y="0"/>
                  <a:pt x="78722" y="0"/>
                </a:cubicBezTo>
                <a:lnTo>
                  <a:pt x="3737925" y="0"/>
                </a:lnTo>
                <a:cubicBezTo>
                  <a:pt x="3781402" y="0"/>
                  <a:pt x="3816647" y="35245"/>
                  <a:pt x="3816647" y="78722"/>
                </a:cubicBezTo>
                <a:lnTo>
                  <a:pt x="3816647" y="393598"/>
                </a:lnTo>
                <a:cubicBezTo>
                  <a:pt x="3816647" y="437075"/>
                  <a:pt x="3781402" y="472320"/>
                  <a:pt x="3737925" y="472320"/>
                </a:cubicBezTo>
                <a:lnTo>
                  <a:pt x="78722" y="472320"/>
                </a:lnTo>
                <a:cubicBezTo>
                  <a:pt x="35245" y="472320"/>
                  <a:pt x="0" y="437075"/>
                  <a:pt x="0" y="393598"/>
                </a:cubicBezTo>
                <a:lnTo>
                  <a:pt x="0" y="78722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167317" tIns="23057" rIns="167317" bIns="23057" numCol="1" spcCol="1270" anchor="ctr" anchorCtr="0">
            <a:noAutofit/>
          </a:bodyPr>
          <a:lstStyle/>
          <a:p>
            <a:pPr marL="0" lvl="0" indent="0" algn="l" defTabSz="7112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3200" kern="1200" dirty="0">
                <a:solidFill>
                  <a:schemeClr val="tx1"/>
                </a:solidFill>
              </a:rPr>
              <a:t>Why Open Science?</a:t>
            </a:r>
            <a:endParaRPr lang="nl-NL" sz="3200" kern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3.2|4.3|6.1|27.8|6.9|19|15.8|10.5|17.9"/>
</p:tagLst>
</file>

<file path=ppt/theme/theme1.xml><?xml version="1.0" encoding="utf-8"?>
<a:theme xmlns:a="http://schemas.openxmlformats.org/drawingml/2006/main" name="Utrecht University">
  <a:themeElements>
    <a:clrScheme name="Utrecht University">
      <a:dk1>
        <a:srgbClr val="000000"/>
      </a:dk1>
      <a:lt1>
        <a:srgbClr val="FFFFFF"/>
      </a:lt1>
      <a:dk2>
        <a:srgbClr val="C00935"/>
      </a:dk2>
      <a:lt2>
        <a:srgbClr val="D9D9D9"/>
      </a:lt2>
      <a:accent1>
        <a:srgbClr val="FFCD00"/>
      </a:accent1>
      <a:accent2>
        <a:srgbClr val="DD9562"/>
      </a:accent2>
      <a:accent3>
        <a:srgbClr val="911D56"/>
      </a:accent3>
      <a:accent4>
        <a:srgbClr val="63A593"/>
      </a:accent4>
      <a:accent5>
        <a:srgbClr val="161D41"/>
      </a:accent5>
      <a:accent6>
        <a:srgbClr val="6686C3"/>
      </a:accent6>
      <a:hlink>
        <a:srgbClr val="52287F"/>
      </a:hlink>
      <a:folHlink>
        <a:srgbClr val="623E2B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A5A5A5"/>
        </a:solidFill>
        <a:ln>
          <a:noFill/>
        </a:ln>
      </a:spPr>
      <a:bodyPr spcFirstLastPara="1" wrap="square" lIns="68575" tIns="34275" rIns="68575" bIns="34275" anchor="ctr" anchorCtr="0">
        <a:noAutofit/>
      </a:bodyPr>
      <a:lstStyle>
        <a:defPPr marL="0" marR="0" indent="0" algn="ctr" rtl="0">
          <a:spcBef>
            <a:spcPts val="0"/>
          </a:spcBef>
          <a:spcAft>
            <a:spcPts val="0"/>
          </a:spcAft>
          <a:buNone/>
          <a:defRPr sz="1400">
            <a:solidFill>
              <a:schemeClr val="dk1"/>
            </a:solidFill>
            <a:latin typeface="Calibri"/>
            <a:ea typeface="Calibri"/>
            <a:cs typeface="Calibri"/>
            <a:sym typeface="Calibri"/>
          </a:defRPr>
        </a:defPPr>
      </a:lstStyle>
    </a:spDef>
    <a:lnDef>
      <a:spPr>
        <a:ln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/>
        </a:defPPr>
      </a:lstStyle>
    </a:txDef>
  </a:objectDefaults>
  <a:extraClrSchemeLst/>
  <a:extLst>
    <a:ext uri="{05A4C25C-085E-4340-85A3-A5531E510DB2}">
      <thm15:themeFamily xmlns:thm15="http://schemas.microsoft.com/office/thememl/2012/main" name="uu_powerpoint_template_EN_2019 fonts embedded" id="{2E9F6A65-5A7A-854E-8B3D-16727746B458}" vid="{626A3A13-C546-0049-AE0C-4BCEE4628970}"/>
    </a:ext>
  </a:extLst>
</a:theme>
</file>

<file path=ppt/theme/theme2.xml><?xml version="1.0" encoding="utf-8"?>
<a:theme xmlns:a="http://schemas.openxmlformats.org/drawingml/2006/main" name="Office-thema">
  <a:themeElements>
    <a:clrScheme name="Kantoor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toor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3257</Words>
  <Application>Microsoft Office PowerPoint</Application>
  <PresentationFormat>Custom</PresentationFormat>
  <Paragraphs>594</Paragraphs>
  <Slides>57</Slides>
  <Notes>25</Notes>
  <HiddenSlides>1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9" baseType="lpstr">
      <vt:lpstr>Arial</vt:lpstr>
      <vt:lpstr>Calibri</vt:lpstr>
      <vt:lpstr>Courier New</vt:lpstr>
      <vt:lpstr>Linux Libertine</vt:lpstr>
      <vt:lpstr>LMRoman12-Regular</vt:lpstr>
      <vt:lpstr>Merriweather Light</vt:lpstr>
      <vt:lpstr>Merriweather Regular</vt:lpstr>
      <vt:lpstr>Open Sans</vt:lpstr>
      <vt:lpstr>Open Sans Light</vt:lpstr>
      <vt:lpstr>Verdana</vt:lpstr>
      <vt:lpstr>Wingdings</vt:lpstr>
      <vt:lpstr>Utrecht University</vt:lpstr>
      <vt:lpstr>Open Science  The Open Empirical Cycle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Hoijtink, H.J.A. (Herbert)</dc:creator>
  <cp:lastModifiedBy>Oberman, H.I. (Hanne)</cp:lastModifiedBy>
  <cp:revision>2</cp:revision>
  <dcterms:created xsi:type="dcterms:W3CDTF">2020-05-31T15:13:32Z</dcterms:created>
  <dcterms:modified xsi:type="dcterms:W3CDTF">2025-04-15T10:16:45Z</dcterms:modified>
</cp:coreProperties>
</file>