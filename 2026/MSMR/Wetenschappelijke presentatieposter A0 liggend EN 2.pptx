
<file path=[Content_Types].xml><?xml version="1.0" encoding="utf-8"?>
<Types xmlns="http://schemas.openxmlformats.org/package/2006/content-types">
  <Default Extension="jpeg" ContentType="image/jpeg"/>
  <Default Extension="jpg" ContentType="image/jpeg"/>
  <Default Extension="org&amp;utm_campaign=index&amp;utm_content=thumbnail" ContentType="image/pn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
  </p:notesMasterIdLst>
  <p:sldIdLst>
    <p:sldId id="256" r:id="rId2"/>
    <p:sldId id="257" r:id="rId3"/>
  </p:sldIdLst>
  <p:sldSz cx="32918400" cy="21945600"/>
  <p:notesSz cx="6858000" cy="9144000"/>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1" userDrawn="1">
          <p15:clr>
            <a:srgbClr val="A4A3A4"/>
          </p15:clr>
        </p15:guide>
        <p15:guide id="2" pos="20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CD00"/>
    <a:srgbClr val="FFCB00"/>
    <a:srgbClr val="FCE1BE"/>
    <a:srgbClr val="FADAB3"/>
    <a:srgbClr val="FEE7C9"/>
    <a:srgbClr val="E47823"/>
    <a:srgbClr val="005857"/>
    <a:srgbClr val="027077"/>
    <a:srgbClr val="FFEED6"/>
    <a:srgbClr val="00606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Stijl, licht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Stijl, gemiddeld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Stijl, thema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Stijl, thema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Stijl, thema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Stijl, thema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38" autoAdjust="0"/>
    <p:restoredTop sz="50000" autoAdjust="0"/>
  </p:normalViewPr>
  <p:slideViewPr>
    <p:cSldViewPr snapToObjects="1">
      <p:cViewPr>
        <p:scale>
          <a:sx n="30" d="100"/>
          <a:sy n="30" d="100"/>
        </p:scale>
        <p:origin x="2496" y="632"/>
      </p:cViewPr>
      <p:guideLst>
        <p:guide orient="horz" pos="3441"/>
        <p:guide pos="207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nl-NL"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Title</a:t>
            </a:r>
            <a:endParaRPr lang="nl-NL"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nl-NL"/>
        </a:p>
      </c:txPr>
    </c:title>
    <c:autoTitleDeleted val="0"/>
    <c:plotArea>
      <c:layout/>
      <c:pieChart>
        <c:varyColors val="1"/>
        <c:ser>
          <c:idx val="0"/>
          <c:order val="0"/>
          <c:tx>
            <c:strRef>
              <c:f>Blad1!$B$1</c:f>
              <c:strCache>
                <c:ptCount val="1"/>
                <c:pt idx="0">
                  <c:v>Verkoop</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C5A-9F4E-B222-73D31C72462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C5A-9F4E-B222-73D31C72462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C5A-9F4E-B222-73D31C72462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C5A-9F4E-B222-73D31C72462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6C5A-9F4E-B222-73D31C72462C}"/>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6C5A-9F4E-B222-73D31C72462C}"/>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6C5A-9F4E-B222-73D31C72462C}"/>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6C5A-9F4E-B222-73D31C72462C}"/>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6C5A-9F4E-B222-73D31C72462C}"/>
              </c:ext>
            </c:extLst>
          </c:dPt>
          <c:cat>
            <c:strRef>
              <c:f>Blad1!$A$2:$A$10</c:f>
              <c:strCache>
                <c:ptCount val="9"/>
                <c:pt idx="0">
                  <c:v>Categorie 1</c:v>
                </c:pt>
                <c:pt idx="1">
                  <c:v>Categorie 2</c:v>
                </c:pt>
                <c:pt idx="2">
                  <c:v>Categorie 3</c:v>
                </c:pt>
                <c:pt idx="3">
                  <c:v>Categorie 4</c:v>
                </c:pt>
                <c:pt idx="4">
                  <c:v>Categorie 5</c:v>
                </c:pt>
                <c:pt idx="5">
                  <c:v>Categorie 6</c:v>
                </c:pt>
                <c:pt idx="6">
                  <c:v>Categorie 7</c:v>
                </c:pt>
                <c:pt idx="7">
                  <c:v>Categorie 8</c:v>
                </c:pt>
                <c:pt idx="8">
                  <c:v>Categorie 9</c:v>
                </c:pt>
              </c:strCache>
            </c:strRef>
          </c:cat>
          <c:val>
            <c:numRef>
              <c:f>Blad1!$B$2:$B$10</c:f>
              <c:numCache>
                <c:formatCode>General</c:formatCode>
                <c:ptCount val="9"/>
                <c:pt idx="0">
                  <c:v>8.1999999999999993</c:v>
                </c:pt>
                <c:pt idx="1">
                  <c:v>3.2</c:v>
                </c:pt>
                <c:pt idx="2">
                  <c:v>1.4</c:v>
                </c:pt>
                <c:pt idx="3">
                  <c:v>1.2</c:v>
                </c:pt>
                <c:pt idx="4">
                  <c:v>3</c:v>
                </c:pt>
                <c:pt idx="5">
                  <c:v>2</c:v>
                </c:pt>
                <c:pt idx="6">
                  <c:v>1</c:v>
                </c:pt>
                <c:pt idx="7">
                  <c:v>0.5</c:v>
                </c:pt>
                <c:pt idx="8">
                  <c:v>3</c:v>
                </c:pt>
              </c:numCache>
            </c:numRef>
          </c:val>
          <c:extLst>
            <c:ext xmlns:c16="http://schemas.microsoft.com/office/drawing/2014/chart" uri="{C3380CC4-5D6E-409C-BE32-E72D297353CC}">
              <c16:uniqueId val="{00000012-6C5A-9F4E-B222-73D31C72462C}"/>
            </c:ext>
          </c:extLst>
        </c:ser>
        <c:dLbls>
          <c:showLegendKey val="0"/>
          <c:showVal val="0"/>
          <c:showCatName val="0"/>
          <c:showSerName val="0"/>
          <c:showPercent val="0"/>
          <c:showBubbleSize val="0"/>
          <c:showLeaderLines val="1"/>
        </c:dLbls>
        <c:firstSliceAng val="0"/>
      </c:pieChart>
      <c:spPr>
        <a:noFill/>
        <a:ln>
          <a:noFill/>
        </a:ln>
        <a:effectLst/>
      </c:spPr>
    </c:plotArea>
    <c:legend>
      <c:legendPos val="tr"/>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pPr>
          <a:endParaRPr lang="nl-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nl-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nl-NL" b="1" dirty="0" err="1">
                <a:latin typeface="Open Sans" panose="020B0606030504020204" pitchFamily="34" charset="0"/>
                <a:ea typeface="Open Sans" panose="020B0606030504020204" pitchFamily="34" charset="0"/>
                <a:cs typeface="Open Sans" panose="020B0606030504020204" pitchFamily="34" charset="0"/>
              </a:rPr>
              <a:t>Title</a:t>
            </a:r>
            <a:endParaRPr lang="nl-NL" b="1" dirty="0">
              <a:latin typeface="Open Sans" panose="020B0606030504020204" pitchFamily="34" charset="0"/>
              <a:ea typeface="Open Sans" panose="020B0606030504020204" pitchFamily="34" charset="0"/>
              <a:cs typeface="Open Sans" panose="020B0606030504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nl-NL"/>
        </a:p>
      </c:txPr>
    </c:title>
    <c:autoTitleDeleted val="0"/>
    <c:plotArea>
      <c:layout/>
      <c:barChart>
        <c:barDir val="col"/>
        <c:grouping val="clustered"/>
        <c:varyColors val="0"/>
        <c:ser>
          <c:idx val="0"/>
          <c:order val="0"/>
          <c:tx>
            <c:strRef>
              <c:f>Blad1!$B$1</c:f>
              <c:strCache>
                <c:ptCount val="1"/>
                <c:pt idx="0">
                  <c:v>Reeks 1</c:v>
                </c:pt>
              </c:strCache>
            </c:strRef>
          </c:tx>
          <c:spPr>
            <a:solidFill>
              <a:schemeClr val="accent1"/>
            </a:solidFill>
            <a:ln>
              <a:noFill/>
            </a:ln>
            <a:effectLst/>
          </c:spPr>
          <c:invertIfNegative val="0"/>
          <c:cat>
            <c:strRef>
              <c:f>Blad1!$A$2:$A$3</c:f>
              <c:strCache>
                <c:ptCount val="2"/>
                <c:pt idx="0">
                  <c:v>Categorie 1</c:v>
                </c:pt>
                <c:pt idx="1">
                  <c:v>Categorie 2</c:v>
                </c:pt>
              </c:strCache>
            </c:strRef>
          </c:cat>
          <c:val>
            <c:numRef>
              <c:f>Blad1!$B$2:$B$3</c:f>
              <c:numCache>
                <c:formatCode>General</c:formatCode>
                <c:ptCount val="2"/>
                <c:pt idx="0">
                  <c:v>4.3</c:v>
                </c:pt>
                <c:pt idx="1">
                  <c:v>2.5</c:v>
                </c:pt>
              </c:numCache>
            </c:numRef>
          </c:val>
          <c:extLst>
            <c:ext xmlns:c16="http://schemas.microsoft.com/office/drawing/2014/chart" uri="{C3380CC4-5D6E-409C-BE32-E72D297353CC}">
              <c16:uniqueId val="{00000000-D872-7B4A-A924-8D1477CA1A5D}"/>
            </c:ext>
          </c:extLst>
        </c:ser>
        <c:ser>
          <c:idx val="1"/>
          <c:order val="1"/>
          <c:tx>
            <c:strRef>
              <c:f>Blad1!$C$1</c:f>
              <c:strCache>
                <c:ptCount val="1"/>
                <c:pt idx="0">
                  <c:v>Reeks 2</c:v>
                </c:pt>
              </c:strCache>
            </c:strRef>
          </c:tx>
          <c:spPr>
            <a:solidFill>
              <a:schemeClr val="accent2"/>
            </a:solidFill>
            <a:ln>
              <a:noFill/>
            </a:ln>
            <a:effectLst/>
          </c:spPr>
          <c:invertIfNegative val="0"/>
          <c:cat>
            <c:strRef>
              <c:f>Blad1!$A$2:$A$3</c:f>
              <c:strCache>
                <c:ptCount val="2"/>
                <c:pt idx="0">
                  <c:v>Categorie 1</c:v>
                </c:pt>
                <c:pt idx="1">
                  <c:v>Categorie 2</c:v>
                </c:pt>
              </c:strCache>
            </c:strRef>
          </c:cat>
          <c:val>
            <c:numRef>
              <c:f>Blad1!$C$2:$C$3</c:f>
              <c:numCache>
                <c:formatCode>General</c:formatCode>
                <c:ptCount val="2"/>
                <c:pt idx="0">
                  <c:v>2.4</c:v>
                </c:pt>
                <c:pt idx="1">
                  <c:v>4.4000000000000004</c:v>
                </c:pt>
              </c:numCache>
            </c:numRef>
          </c:val>
          <c:extLst>
            <c:ext xmlns:c16="http://schemas.microsoft.com/office/drawing/2014/chart" uri="{C3380CC4-5D6E-409C-BE32-E72D297353CC}">
              <c16:uniqueId val="{00000001-D872-7B4A-A924-8D1477CA1A5D}"/>
            </c:ext>
          </c:extLst>
        </c:ser>
        <c:ser>
          <c:idx val="2"/>
          <c:order val="2"/>
          <c:tx>
            <c:strRef>
              <c:f>Blad1!$D$1</c:f>
              <c:strCache>
                <c:ptCount val="1"/>
                <c:pt idx="0">
                  <c:v>Reeks 3</c:v>
                </c:pt>
              </c:strCache>
            </c:strRef>
          </c:tx>
          <c:spPr>
            <a:solidFill>
              <a:schemeClr val="accent3"/>
            </a:solidFill>
            <a:ln>
              <a:noFill/>
            </a:ln>
            <a:effectLst/>
          </c:spPr>
          <c:invertIfNegative val="0"/>
          <c:cat>
            <c:strRef>
              <c:f>Blad1!$A$2:$A$3</c:f>
              <c:strCache>
                <c:ptCount val="2"/>
                <c:pt idx="0">
                  <c:v>Categorie 1</c:v>
                </c:pt>
                <c:pt idx="1">
                  <c:v>Categorie 2</c:v>
                </c:pt>
              </c:strCache>
            </c:strRef>
          </c:cat>
          <c:val>
            <c:numRef>
              <c:f>Blad1!$D$2:$D$3</c:f>
              <c:numCache>
                <c:formatCode>General</c:formatCode>
                <c:ptCount val="2"/>
                <c:pt idx="0">
                  <c:v>2</c:v>
                </c:pt>
                <c:pt idx="1">
                  <c:v>2</c:v>
                </c:pt>
              </c:numCache>
            </c:numRef>
          </c:val>
          <c:extLst>
            <c:ext xmlns:c16="http://schemas.microsoft.com/office/drawing/2014/chart" uri="{C3380CC4-5D6E-409C-BE32-E72D297353CC}">
              <c16:uniqueId val="{00000002-D872-7B4A-A924-8D1477CA1A5D}"/>
            </c:ext>
          </c:extLst>
        </c:ser>
        <c:dLbls>
          <c:showLegendKey val="0"/>
          <c:showVal val="0"/>
          <c:showCatName val="0"/>
          <c:showSerName val="0"/>
          <c:showPercent val="0"/>
          <c:showBubbleSize val="0"/>
        </c:dLbls>
        <c:gapWidth val="219"/>
        <c:overlap val="-27"/>
        <c:axId val="909568223"/>
        <c:axId val="910038031"/>
      </c:barChart>
      <c:catAx>
        <c:axId val="90956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crossAx val="910038031"/>
        <c:crosses val="autoZero"/>
        <c:auto val="1"/>
        <c:lblAlgn val="ctr"/>
        <c:lblOffset val="100"/>
        <c:noMultiLvlLbl val="0"/>
      </c:catAx>
      <c:valAx>
        <c:axId val="9100380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crossAx val="90956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nl-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C829B4-9606-2A42-8BE7-C95716C4B49D}" type="datetimeFigureOut">
              <a:rPr lang="nl-NL" smtClean="0"/>
              <a:t>26-08-2026</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E81A27-1440-C343-B73A-EDC558E67D24}" type="slidenum">
              <a:rPr lang="nl-NL" smtClean="0"/>
              <a:t>‹#›</a:t>
            </a:fld>
            <a:endParaRPr lang="nl-NL"/>
          </a:p>
        </p:txBody>
      </p:sp>
    </p:spTree>
    <p:extLst>
      <p:ext uri="{BB962C8B-B14F-4D97-AF65-F5344CB8AC3E}">
        <p14:creationId xmlns:p14="http://schemas.microsoft.com/office/powerpoint/2010/main" val="3671954100"/>
      </p:ext>
    </p:extLst>
  </p:cSld>
  <p:clrMap bg1="lt1" tx1="dk1" bg2="lt2" tx2="dk2" accent1="accent1" accent2="accent2" accent3="accent3" accent4="accent4" accent5="accent5" accent6="accent6" hlink="hlink" folHlink="folHlink"/>
  <p:notesStyle>
    <a:lvl1pPr marL="0" algn="l" defTabSz="2088170" rtl="0" eaLnBrk="1" latinLnBrk="0" hangingPunct="1">
      <a:defRPr sz="5500" kern="1200">
        <a:solidFill>
          <a:schemeClr val="tx1"/>
        </a:solidFill>
        <a:latin typeface="+mn-lt"/>
        <a:ea typeface="+mn-ea"/>
        <a:cs typeface="+mn-cs"/>
      </a:defRPr>
    </a:lvl1pPr>
    <a:lvl2pPr marL="2088170" algn="l" defTabSz="2088170" rtl="0" eaLnBrk="1" latinLnBrk="0" hangingPunct="1">
      <a:defRPr sz="5500" kern="1200">
        <a:solidFill>
          <a:schemeClr val="tx1"/>
        </a:solidFill>
        <a:latin typeface="+mn-lt"/>
        <a:ea typeface="+mn-ea"/>
        <a:cs typeface="+mn-cs"/>
      </a:defRPr>
    </a:lvl2pPr>
    <a:lvl3pPr marL="4176339" algn="l" defTabSz="2088170" rtl="0" eaLnBrk="1" latinLnBrk="0" hangingPunct="1">
      <a:defRPr sz="5500" kern="1200">
        <a:solidFill>
          <a:schemeClr val="tx1"/>
        </a:solidFill>
        <a:latin typeface="+mn-lt"/>
        <a:ea typeface="+mn-ea"/>
        <a:cs typeface="+mn-cs"/>
      </a:defRPr>
    </a:lvl3pPr>
    <a:lvl4pPr marL="6264509" algn="l" defTabSz="2088170" rtl="0" eaLnBrk="1" latinLnBrk="0" hangingPunct="1">
      <a:defRPr sz="5500" kern="1200">
        <a:solidFill>
          <a:schemeClr val="tx1"/>
        </a:solidFill>
        <a:latin typeface="+mn-lt"/>
        <a:ea typeface="+mn-ea"/>
        <a:cs typeface="+mn-cs"/>
      </a:defRPr>
    </a:lvl4pPr>
    <a:lvl5pPr marL="8352678" algn="l" defTabSz="2088170" rtl="0" eaLnBrk="1" latinLnBrk="0" hangingPunct="1">
      <a:defRPr sz="5500" kern="1200">
        <a:solidFill>
          <a:schemeClr val="tx1"/>
        </a:solidFill>
        <a:latin typeface="+mn-lt"/>
        <a:ea typeface="+mn-ea"/>
        <a:cs typeface="+mn-cs"/>
      </a:defRPr>
    </a:lvl5pPr>
    <a:lvl6pPr marL="10440848" algn="l" defTabSz="2088170" rtl="0" eaLnBrk="1" latinLnBrk="0" hangingPunct="1">
      <a:defRPr sz="5500" kern="1200">
        <a:solidFill>
          <a:schemeClr val="tx1"/>
        </a:solidFill>
        <a:latin typeface="+mn-lt"/>
        <a:ea typeface="+mn-ea"/>
        <a:cs typeface="+mn-cs"/>
      </a:defRPr>
    </a:lvl6pPr>
    <a:lvl7pPr marL="12529017" algn="l" defTabSz="2088170" rtl="0" eaLnBrk="1" latinLnBrk="0" hangingPunct="1">
      <a:defRPr sz="5500" kern="1200">
        <a:solidFill>
          <a:schemeClr val="tx1"/>
        </a:solidFill>
        <a:latin typeface="+mn-lt"/>
        <a:ea typeface="+mn-ea"/>
        <a:cs typeface="+mn-cs"/>
      </a:defRPr>
    </a:lvl7pPr>
    <a:lvl8pPr marL="14617187" algn="l" defTabSz="2088170" rtl="0" eaLnBrk="1" latinLnBrk="0" hangingPunct="1">
      <a:defRPr sz="5500" kern="1200">
        <a:solidFill>
          <a:schemeClr val="tx1"/>
        </a:solidFill>
        <a:latin typeface="+mn-lt"/>
        <a:ea typeface="+mn-ea"/>
        <a:cs typeface="+mn-cs"/>
      </a:defRPr>
    </a:lvl8pPr>
    <a:lvl9pPr marL="16705356" algn="l" defTabSz="2088170" rtl="0" eaLnBrk="1" latinLnBrk="0" hangingPunct="1">
      <a:defRPr sz="5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3BE81A27-1440-C343-B73A-EDC558E67D24}" type="slidenum">
              <a:rPr lang="nl-NL" smtClean="0"/>
              <a:t>1</a:t>
            </a:fld>
            <a:endParaRPr lang="nl-NL"/>
          </a:p>
        </p:txBody>
      </p:sp>
    </p:spTree>
    <p:extLst>
      <p:ext uri="{BB962C8B-B14F-4D97-AF65-F5344CB8AC3E}">
        <p14:creationId xmlns:p14="http://schemas.microsoft.com/office/powerpoint/2010/main" val="204605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4D18A-6993-7740-6A64-F570BD6A6B5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F4E3219-8C87-D0EE-7E34-DAF1C5D22ECB}"/>
              </a:ext>
            </a:extLst>
          </p:cNvPr>
          <p:cNvSpPr>
            <a:spLocks noGrp="1" noRot="1" noChangeAspect="1"/>
          </p:cNvSpPr>
          <p:nvPr>
            <p:ph type="sldImg"/>
          </p:nvPr>
        </p:nvSpPr>
        <p:spPr>
          <a:xfrm>
            <a:off x="857250" y="685800"/>
            <a:ext cx="5143500" cy="3429000"/>
          </a:xfrm>
        </p:spPr>
      </p:sp>
      <p:sp>
        <p:nvSpPr>
          <p:cNvPr id="3" name="Tijdelijke aanduiding voor notities 2">
            <a:extLst>
              <a:ext uri="{FF2B5EF4-FFF2-40B4-BE49-F238E27FC236}">
                <a16:creationId xmlns:a16="http://schemas.microsoft.com/office/drawing/2014/main" id="{6BD1F305-052E-0192-B6E3-4D03A83829D3}"/>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D0707D80-F34C-7AAD-E4DC-CB14F21ED4DA}"/>
              </a:ext>
            </a:extLst>
          </p:cNvPr>
          <p:cNvSpPr>
            <a:spLocks noGrp="1"/>
          </p:cNvSpPr>
          <p:nvPr>
            <p:ph type="sldNum" sz="quarter" idx="10"/>
          </p:nvPr>
        </p:nvSpPr>
        <p:spPr/>
        <p:txBody>
          <a:bodyPr/>
          <a:lstStyle/>
          <a:p>
            <a:fld id="{3BE81A27-1440-C343-B73A-EDC558E67D24}" type="slidenum">
              <a:rPr lang="nl-NL" smtClean="0"/>
              <a:t>2</a:t>
            </a:fld>
            <a:endParaRPr lang="nl-NL"/>
          </a:p>
        </p:txBody>
      </p:sp>
    </p:spTree>
    <p:extLst>
      <p:ext uri="{BB962C8B-B14F-4D97-AF65-F5344CB8AC3E}">
        <p14:creationId xmlns:p14="http://schemas.microsoft.com/office/powerpoint/2010/main" val="2981067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Leeg">
    <p:bg>
      <p:bgPr>
        <a:solidFill>
          <a:schemeClr val="bg1"/>
        </a:solidFill>
        <a:effectLst/>
      </p:bgPr>
    </p:b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a:xfrm>
            <a:off x="1645922" y="20340324"/>
            <a:ext cx="7680961" cy="1168400"/>
          </a:xfrm>
          <a:prstGeom prst="rect">
            <a:avLst/>
          </a:prstGeom>
        </p:spPr>
        <p:txBody>
          <a:bodyPr/>
          <a:lstStyle/>
          <a:p>
            <a:fld id="{C28BEF97-4A46-C940-8C59-2C42CB4C4E51}" type="datetimeFigureOut">
              <a:rPr lang="nl-NL" smtClean="0"/>
              <a:t>26-08-2026</a:t>
            </a:fld>
            <a:endParaRPr lang="nl-NL"/>
          </a:p>
        </p:txBody>
      </p:sp>
      <p:sp>
        <p:nvSpPr>
          <p:cNvPr id="3" name="Tijdelijke aanduiding voor voettekst 2"/>
          <p:cNvSpPr>
            <a:spLocks noGrp="1"/>
          </p:cNvSpPr>
          <p:nvPr>
            <p:ph type="ftr" sz="quarter" idx="11"/>
          </p:nvPr>
        </p:nvSpPr>
        <p:spPr>
          <a:xfrm>
            <a:off x="11247124" y="20340324"/>
            <a:ext cx="10424160" cy="1168400"/>
          </a:xfrm>
          <a:prstGeom prst="rect">
            <a:avLst/>
          </a:prstGeom>
        </p:spPr>
        <p:txBody>
          <a:bodyPr/>
          <a:lstStyle/>
          <a:p>
            <a:endParaRPr lang="nl-NL"/>
          </a:p>
        </p:txBody>
      </p:sp>
      <p:sp>
        <p:nvSpPr>
          <p:cNvPr id="4" name="Tijdelijke aanduiding voor dianummer 3"/>
          <p:cNvSpPr>
            <a:spLocks noGrp="1"/>
          </p:cNvSpPr>
          <p:nvPr>
            <p:ph type="sldNum" sz="quarter" idx="12"/>
          </p:nvPr>
        </p:nvSpPr>
        <p:spPr>
          <a:xfrm>
            <a:off x="23591521" y="20340324"/>
            <a:ext cx="7680961" cy="1168400"/>
          </a:xfrm>
          <a:prstGeom prst="rect">
            <a:avLst/>
          </a:prstGeom>
        </p:spPr>
        <p:txBody>
          <a:bodyPr/>
          <a:lstStyle/>
          <a:p>
            <a:fld id="{83473042-6688-F148-AA6B-B0D689358453}" type="slidenum">
              <a:rPr lang="nl-NL" smtClean="0"/>
              <a:t>‹#›</a:t>
            </a:fld>
            <a:endParaRPr lang="nl-NL"/>
          </a:p>
        </p:txBody>
      </p:sp>
    </p:spTree>
    <p:extLst>
      <p:ext uri="{BB962C8B-B14F-4D97-AF65-F5344CB8AC3E}">
        <p14:creationId xmlns:p14="http://schemas.microsoft.com/office/powerpoint/2010/main" val="1664232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9DC6BDAC-A25B-AD43-ABA0-429F1CC5F10D}"/>
              </a:ext>
            </a:extLst>
          </p:cNvPr>
          <p:cNvSpPr/>
          <p:nvPr userDrawn="1"/>
        </p:nvSpPr>
        <p:spPr>
          <a:xfrm>
            <a:off x="0" y="21012821"/>
            <a:ext cx="32910201" cy="932779"/>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957"/>
          </a:p>
        </p:txBody>
      </p:sp>
      <p:pic>
        <p:nvPicPr>
          <p:cNvPr id="5" name="Afbeelding 4" descr="Afbeelding met tekst&#10;&#10;Automatisch gegenereerde beschrijving">
            <a:extLst>
              <a:ext uri="{FF2B5EF4-FFF2-40B4-BE49-F238E27FC236}">
                <a16:creationId xmlns:a16="http://schemas.microsoft.com/office/drawing/2014/main" id="{91C312BF-6FB3-A291-F5EE-1FAFC9B62F86}"/>
              </a:ext>
            </a:extLst>
          </p:cNvPr>
          <p:cNvPicPr>
            <a:picLocks noChangeAspect="1"/>
          </p:cNvPicPr>
          <p:nvPr userDrawn="1"/>
        </p:nvPicPr>
        <p:blipFill>
          <a:blip r:embed="rId3"/>
          <a:stretch>
            <a:fillRect/>
          </a:stretch>
        </p:blipFill>
        <p:spPr>
          <a:xfrm>
            <a:off x="5544" y="834"/>
            <a:ext cx="7918958" cy="3113646"/>
          </a:xfrm>
          <a:prstGeom prst="rect">
            <a:avLst/>
          </a:prstGeom>
        </p:spPr>
      </p:pic>
    </p:spTree>
    <p:extLst>
      <p:ext uri="{BB962C8B-B14F-4D97-AF65-F5344CB8AC3E}">
        <p14:creationId xmlns:p14="http://schemas.microsoft.com/office/powerpoint/2010/main" val="279177222"/>
      </p:ext>
    </p:extLst>
  </p:cSld>
  <p:clrMap bg1="lt1" tx1="dk1" bg2="lt2" tx2="dk2" accent1="accent1" accent2="accent2" accent3="accent3" accent4="accent4" accent5="accent5" accent6="accent6" hlink="hlink" folHlink="folHlink"/>
  <p:sldLayoutIdLst>
    <p:sldLayoutId id="2147483686" r:id="rId1"/>
  </p:sldLayoutIdLst>
  <p:txStyles>
    <p:titleStyle>
      <a:lvl1pPr algn="l" defTabSz="2468268" rtl="0" eaLnBrk="1" latinLnBrk="0" hangingPunct="1">
        <a:spcBef>
          <a:spcPct val="0"/>
        </a:spcBef>
        <a:buNone/>
        <a:defRPr sz="5668" b="0" i="0" kern="1200">
          <a:solidFill>
            <a:schemeClr val="tx1"/>
          </a:solidFill>
          <a:latin typeface="Merriweather Regular" panose="02060503050406030704" pitchFamily="18" charset="77"/>
          <a:ea typeface="+mj-ea"/>
          <a:cs typeface="+mj-cs"/>
        </a:defRPr>
      </a:lvl1pPr>
    </p:titleStyle>
    <p:bodyStyle>
      <a:lvl1pPr marL="0" indent="0" algn="l" defTabSz="2468268" rtl="0" eaLnBrk="1" latinLnBrk="0" hangingPunct="1">
        <a:lnSpc>
          <a:spcPct val="110000"/>
        </a:lnSpc>
        <a:spcBef>
          <a:spcPts val="0"/>
        </a:spcBef>
        <a:buFont typeface="Arial" pitchFamily="34" charset="0"/>
        <a:buNone/>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0" indent="0" algn="l" defTabSz="2468268" rtl="0" eaLnBrk="1" latinLnBrk="0" hangingPunct="1">
        <a:lnSpc>
          <a:spcPct val="110000"/>
        </a:lnSpc>
        <a:spcBef>
          <a:spcPts val="0"/>
        </a:spcBef>
        <a:buFont typeface="Arial" pitchFamily="34" charset="0"/>
        <a:buNone/>
        <a:defRPr sz="4319" b="1"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728819" indent="-728819" algn="l" defTabSz="2468268" rtl="0" eaLnBrk="1" latinLnBrk="0" hangingPunct="1">
        <a:lnSpc>
          <a:spcPct val="110000"/>
        </a:lnSpc>
        <a:spcBef>
          <a:spcPts val="5668"/>
        </a:spcBef>
        <a:buFont typeface="Verdana" pitchFamily="34" charset="0"/>
        <a:buChar char="•"/>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728819" indent="-728819" algn="l" defTabSz="2468268" rtl="0" eaLnBrk="1" latinLnBrk="0" hangingPunct="1">
        <a:lnSpc>
          <a:spcPct val="110000"/>
        </a:lnSpc>
        <a:spcBef>
          <a:spcPts val="5668"/>
        </a:spcBef>
        <a:buFont typeface="Verdana" pitchFamily="34" charset="0"/>
        <a:buChar char="•"/>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186458" indent="-728819" algn="l" defTabSz="2468268" rtl="0" eaLnBrk="1" latinLnBrk="0" hangingPunct="1">
        <a:lnSpc>
          <a:spcPct val="110000"/>
        </a:lnSpc>
        <a:spcBef>
          <a:spcPts val="0"/>
        </a:spcBef>
        <a:buFont typeface="Verdana" pitchFamily="34" charset="0"/>
        <a:buChar char="–"/>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6787738"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6pPr>
      <a:lvl7pPr marL="8021872"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7pPr>
      <a:lvl8pPr marL="9256005"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8pPr>
      <a:lvl9pPr marL="10490140"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9pPr>
    </p:bodyStyle>
    <p:otherStyle>
      <a:defPPr>
        <a:defRPr lang="nl-NL"/>
      </a:defPPr>
      <a:lvl1pPr marL="0" algn="l" defTabSz="2468268" rtl="0" eaLnBrk="1" latinLnBrk="0" hangingPunct="1">
        <a:defRPr sz="4859" kern="1200">
          <a:solidFill>
            <a:schemeClr val="tx1"/>
          </a:solidFill>
          <a:latin typeface="+mn-lt"/>
          <a:ea typeface="+mn-ea"/>
          <a:cs typeface="+mn-cs"/>
        </a:defRPr>
      </a:lvl1pPr>
      <a:lvl2pPr marL="1234134" algn="l" defTabSz="2468268" rtl="0" eaLnBrk="1" latinLnBrk="0" hangingPunct="1">
        <a:defRPr sz="4859" kern="1200">
          <a:solidFill>
            <a:schemeClr val="tx1"/>
          </a:solidFill>
          <a:latin typeface="+mn-lt"/>
          <a:ea typeface="+mn-ea"/>
          <a:cs typeface="+mn-cs"/>
        </a:defRPr>
      </a:lvl2pPr>
      <a:lvl3pPr marL="2468268" algn="l" defTabSz="2468268" rtl="0" eaLnBrk="1" latinLnBrk="0" hangingPunct="1">
        <a:defRPr sz="4859" kern="1200">
          <a:solidFill>
            <a:schemeClr val="tx1"/>
          </a:solidFill>
          <a:latin typeface="+mn-lt"/>
          <a:ea typeface="+mn-ea"/>
          <a:cs typeface="+mn-cs"/>
        </a:defRPr>
      </a:lvl3pPr>
      <a:lvl4pPr marL="3702402" algn="l" defTabSz="2468268" rtl="0" eaLnBrk="1" latinLnBrk="0" hangingPunct="1">
        <a:defRPr sz="4859" kern="1200">
          <a:solidFill>
            <a:schemeClr val="tx1"/>
          </a:solidFill>
          <a:latin typeface="+mn-lt"/>
          <a:ea typeface="+mn-ea"/>
          <a:cs typeface="+mn-cs"/>
        </a:defRPr>
      </a:lvl4pPr>
      <a:lvl5pPr marL="4936537" algn="l" defTabSz="2468268" rtl="0" eaLnBrk="1" latinLnBrk="0" hangingPunct="1">
        <a:defRPr sz="4859" kern="1200">
          <a:solidFill>
            <a:schemeClr val="tx1"/>
          </a:solidFill>
          <a:latin typeface="+mn-lt"/>
          <a:ea typeface="+mn-ea"/>
          <a:cs typeface="+mn-cs"/>
        </a:defRPr>
      </a:lvl5pPr>
      <a:lvl6pPr marL="6170671" algn="l" defTabSz="2468268" rtl="0" eaLnBrk="1" latinLnBrk="0" hangingPunct="1">
        <a:defRPr sz="4859" kern="1200">
          <a:solidFill>
            <a:schemeClr val="tx1"/>
          </a:solidFill>
          <a:latin typeface="+mn-lt"/>
          <a:ea typeface="+mn-ea"/>
          <a:cs typeface="+mn-cs"/>
        </a:defRPr>
      </a:lvl6pPr>
      <a:lvl7pPr marL="7404804" algn="l" defTabSz="2468268" rtl="0" eaLnBrk="1" latinLnBrk="0" hangingPunct="1">
        <a:defRPr sz="4859" kern="1200">
          <a:solidFill>
            <a:schemeClr val="tx1"/>
          </a:solidFill>
          <a:latin typeface="+mn-lt"/>
          <a:ea typeface="+mn-ea"/>
          <a:cs typeface="+mn-cs"/>
        </a:defRPr>
      </a:lvl7pPr>
      <a:lvl8pPr marL="8638939" algn="l" defTabSz="2468268" rtl="0" eaLnBrk="1" latinLnBrk="0" hangingPunct="1">
        <a:defRPr sz="4859" kern="1200">
          <a:solidFill>
            <a:schemeClr val="tx1"/>
          </a:solidFill>
          <a:latin typeface="+mn-lt"/>
          <a:ea typeface="+mn-ea"/>
          <a:cs typeface="+mn-cs"/>
        </a:defRPr>
      </a:lvl8pPr>
      <a:lvl9pPr marL="9873073" algn="l" defTabSz="2468268" rtl="0" eaLnBrk="1" latinLnBrk="0" hangingPunct="1">
        <a:defRPr sz="48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1.org&amp;utm_campaign=index&amp;utm_content=thumbnail"/><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chart" Target="../charts/chart2.xml"/><Relationship Id="rId10" Type="http://schemas.openxmlformats.org/officeDocument/2006/relationships/image" Target="../media/image13.svg"/><Relationship Id="rId4" Type="http://schemas.openxmlformats.org/officeDocument/2006/relationships/chart" Target="../charts/chart1.xml"/><Relationship Id="rId9"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hthoek 24">
            <a:extLst>
              <a:ext uri="{FF2B5EF4-FFF2-40B4-BE49-F238E27FC236}">
                <a16:creationId xmlns:a16="http://schemas.microsoft.com/office/drawing/2014/main" id="{D6346248-1B8C-95BE-E721-AA5632BE96FD}"/>
              </a:ext>
            </a:extLst>
          </p:cNvPr>
          <p:cNvSpPr/>
          <p:nvPr/>
        </p:nvSpPr>
        <p:spPr>
          <a:xfrm>
            <a:off x="25113714" y="-6806"/>
            <a:ext cx="7804686" cy="25963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trike="sngStrike"/>
          </a:p>
        </p:txBody>
      </p:sp>
      <p:sp>
        <p:nvSpPr>
          <p:cNvPr id="48" name="Subtitel 2"/>
          <p:cNvSpPr txBox="1">
            <a:spLocks/>
          </p:cNvSpPr>
          <p:nvPr/>
        </p:nvSpPr>
        <p:spPr>
          <a:xfrm>
            <a:off x="33527440" y="14510233"/>
            <a:ext cx="9219651" cy="6824304"/>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GB" sz="2610" b="1" dirty="0">
                <a:solidFill>
                  <a:srgbClr val="0F1012"/>
                </a:solidFill>
                <a:latin typeface="Verdana"/>
              </a:rPr>
              <a:t>Size</a:t>
            </a:r>
          </a:p>
          <a:p>
            <a:pPr algn="l"/>
            <a:r>
              <a:rPr lang="en-GB" sz="2501" dirty="0">
                <a:solidFill>
                  <a:srgbClr val="0F1012"/>
                </a:solidFill>
                <a:latin typeface="Verdana"/>
              </a:rPr>
              <a:t>The size of this scientific poster is 24x36 </a:t>
            </a:r>
            <a:r>
              <a:rPr lang="en-GB" sz="2501" dirty="0">
                <a:solidFill>
                  <a:srgbClr val="0F1012"/>
                </a:solidFill>
              </a:rPr>
              <a:t>inch (60,96 </a:t>
            </a:r>
            <a:r>
              <a:rPr lang="en-GB" sz="2501" dirty="0">
                <a:solidFill>
                  <a:srgbClr val="0F1012"/>
                </a:solidFill>
                <a:latin typeface="Verdana"/>
              </a:rPr>
              <a:t>x </a:t>
            </a:r>
            <a:r>
              <a:rPr lang="en-GB" sz="2501" dirty="0">
                <a:solidFill>
                  <a:srgbClr val="0F1012"/>
                </a:solidFill>
              </a:rPr>
              <a:t>91,44 </a:t>
            </a:r>
            <a:r>
              <a:rPr lang="en-GB" sz="2501" dirty="0">
                <a:solidFill>
                  <a:srgbClr val="0F1012"/>
                </a:solidFill>
                <a:latin typeface="Verdana"/>
              </a:rPr>
              <a:t>cm).</a:t>
            </a:r>
          </a:p>
          <a:p>
            <a:pPr algn="l"/>
            <a:r>
              <a:rPr lang="en-GB" sz="2175" b="1" dirty="0"/>
              <a:t> </a:t>
            </a:r>
            <a:r>
              <a:rPr lang="en-GB" sz="2501" dirty="0">
                <a:solidFill>
                  <a:srgbClr val="0F1012"/>
                </a:solidFill>
                <a:latin typeface="Verdana"/>
              </a:rPr>
              <a:t> </a:t>
            </a:r>
          </a:p>
          <a:p>
            <a:pPr algn="l"/>
            <a:r>
              <a:rPr lang="en-GB" sz="2610" b="1" dirty="0">
                <a:solidFill>
                  <a:srgbClr val="0F1012"/>
                </a:solidFill>
                <a:latin typeface="Verdana"/>
              </a:rPr>
              <a:t>Columns</a:t>
            </a:r>
          </a:p>
          <a:p>
            <a:pPr algn="l"/>
            <a:r>
              <a:rPr lang="en-GB" sz="2501" dirty="0">
                <a:solidFill>
                  <a:srgbClr val="0F1012"/>
                </a:solidFill>
                <a:latin typeface="Verdana"/>
              </a:rPr>
              <a:t>The poster layout may consist of two or three columns.</a:t>
            </a:r>
          </a:p>
          <a:p>
            <a:pPr algn="l"/>
            <a:r>
              <a:rPr lang="en-GB" sz="2501" dirty="0">
                <a:solidFill>
                  <a:srgbClr val="0F1012"/>
                </a:solidFill>
                <a:latin typeface="Verdana"/>
              </a:rPr>
              <a:t> </a:t>
            </a:r>
          </a:p>
          <a:p>
            <a:pPr algn="l"/>
            <a:r>
              <a:rPr lang="en-GB" sz="2610" b="1" dirty="0">
                <a:solidFill>
                  <a:srgbClr val="0F1012"/>
                </a:solidFill>
                <a:latin typeface="Verdana"/>
              </a:rPr>
              <a:t>Ratio between text and image</a:t>
            </a:r>
          </a:p>
          <a:p>
            <a:pPr algn="l"/>
            <a:r>
              <a:rPr lang="en-GB" sz="2501" dirty="0">
                <a:solidFill>
                  <a:srgbClr val="0F1012"/>
                </a:solidFill>
                <a:latin typeface="Verdana"/>
              </a:rPr>
              <a:t>Do not use too much text. Try to tell the scientific results in clear images (graphics, illustrations, photo’s).</a:t>
            </a:r>
          </a:p>
          <a:p>
            <a:pPr algn="l"/>
            <a:endParaRPr lang="en-GB" sz="2501" dirty="0">
              <a:solidFill>
                <a:srgbClr val="0F1012"/>
              </a:solidFill>
              <a:latin typeface="Verdana"/>
            </a:endParaRPr>
          </a:p>
          <a:p>
            <a:pPr algn="l"/>
            <a:r>
              <a:rPr lang="en-GB" sz="2610" b="1" dirty="0" err="1">
                <a:solidFill>
                  <a:srgbClr val="0F1012"/>
                </a:solidFill>
                <a:latin typeface="Verdana"/>
              </a:rPr>
              <a:t>Color</a:t>
            </a:r>
            <a:r>
              <a:rPr lang="en-GB" sz="2610" b="1" dirty="0">
                <a:solidFill>
                  <a:srgbClr val="0F1012"/>
                </a:solidFill>
                <a:latin typeface="Verdana"/>
              </a:rPr>
              <a:t> </a:t>
            </a:r>
          </a:p>
          <a:p>
            <a:pPr algn="l"/>
            <a:r>
              <a:rPr lang="en-GB" sz="2501" dirty="0">
                <a:solidFill>
                  <a:srgbClr val="0F1012"/>
                </a:solidFill>
                <a:latin typeface="Verdana"/>
              </a:rPr>
              <a:t>You can find the used </a:t>
            </a:r>
            <a:r>
              <a:rPr lang="en-GB" sz="2501" dirty="0" err="1">
                <a:solidFill>
                  <a:srgbClr val="0F1012"/>
                </a:solidFill>
                <a:latin typeface="Verdana"/>
              </a:rPr>
              <a:t>colors</a:t>
            </a:r>
            <a:r>
              <a:rPr lang="en-GB" sz="2501" dirty="0">
                <a:solidFill>
                  <a:srgbClr val="0F1012"/>
                </a:solidFill>
                <a:latin typeface="Verdana"/>
              </a:rPr>
              <a:t> in the </a:t>
            </a:r>
            <a:r>
              <a:rPr lang="en-GB" sz="2501" dirty="0" err="1">
                <a:solidFill>
                  <a:srgbClr val="0F1012"/>
                </a:solidFill>
                <a:latin typeface="Verdana"/>
              </a:rPr>
              <a:t>menubar</a:t>
            </a:r>
            <a:r>
              <a:rPr lang="en-GB" sz="2501" dirty="0">
                <a:solidFill>
                  <a:srgbClr val="0F1012"/>
                </a:solidFill>
                <a:latin typeface="Verdana"/>
              </a:rPr>
              <a:t> &gt; Shape Fill  &gt; Theme </a:t>
            </a:r>
            <a:r>
              <a:rPr lang="en-GB" sz="2501" dirty="0" err="1">
                <a:solidFill>
                  <a:srgbClr val="0F1012"/>
                </a:solidFill>
                <a:latin typeface="Verdana"/>
              </a:rPr>
              <a:t>colors</a:t>
            </a:r>
            <a:r>
              <a:rPr lang="en-GB" sz="2501" dirty="0">
                <a:solidFill>
                  <a:srgbClr val="0F1012"/>
                </a:solidFill>
                <a:latin typeface="Verdana"/>
              </a:rPr>
              <a:t>, or in Recent </a:t>
            </a:r>
            <a:r>
              <a:rPr lang="en-GB" sz="2501" dirty="0" err="1">
                <a:solidFill>
                  <a:srgbClr val="0F1012"/>
                </a:solidFill>
                <a:latin typeface="Verdana"/>
              </a:rPr>
              <a:t>colors</a:t>
            </a:r>
            <a:r>
              <a:rPr lang="en-GB" sz="2501" dirty="0">
                <a:solidFill>
                  <a:srgbClr val="0F1012"/>
                </a:solidFill>
                <a:latin typeface="Verdana"/>
              </a:rPr>
              <a:t>. </a:t>
            </a:r>
          </a:p>
          <a:p>
            <a:pPr algn="l"/>
            <a:endParaRPr lang="en-GB" sz="2610" b="1" dirty="0">
              <a:solidFill>
                <a:srgbClr val="0F1012"/>
              </a:solidFill>
              <a:latin typeface="Verdana"/>
            </a:endParaRPr>
          </a:p>
        </p:txBody>
      </p:sp>
      <p:pic>
        <p:nvPicPr>
          <p:cNvPr id="74" name="Afbeelding 73" descr="Schermafbeelding 2013-07-19 om 15.32.0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744" y="20332077"/>
            <a:ext cx="616226" cy="639049"/>
          </a:xfrm>
          <a:prstGeom prst="rect">
            <a:avLst/>
          </a:prstGeom>
        </p:spPr>
      </p:pic>
      <p:sp>
        <p:nvSpPr>
          <p:cNvPr id="78" name="Subtitel 2"/>
          <p:cNvSpPr txBox="1">
            <a:spLocks/>
          </p:cNvSpPr>
          <p:nvPr/>
        </p:nvSpPr>
        <p:spPr>
          <a:xfrm>
            <a:off x="33563905" y="9666216"/>
            <a:ext cx="9146720" cy="36549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914"/>
              </a:lnSpc>
              <a:spcBef>
                <a:spcPts val="0"/>
              </a:spcBef>
              <a:defRPr/>
            </a:pPr>
            <a:r>
              <a:rPr lang="en-GB" sz="3044" b="1" dirty="0">
                <a:solidFill>
                  <a:srgbClr val="C10033"/>
                </a:solidFill>
                <a:latin typeface="Verdana"/>
              </a:rPr>
              <a:t>Printing</a:t>
            </a:r>
          </a:p>
          <a:p>
            <a:pPr algn="l">
              <a:lnSpc>
                <a:spcPts val="3914"/>
              </a:lnSpc>
              <a:spcBef>
                <a:spcPts val="0"/>
              </a:spcBef>
              <a:defRPr/>
            </a:pPr>
            <a:endParaRPr lang="en-GB" sz="4349" b="1" dirty="0">
              <a:solidFill>
                <a:srgbClr val="C10033"/>
              </a:solidFill>
              <a:latin typeface="Verdana"/>
              <a:ea typeface="바탕"/>
              <a:cs typeface="Verdana"/>
            </a:endParaRPr>
          </a:p>
          <a:p>
            <a:pPr algn="l" defTabSz="2314030">
              <a:lnSpc>
                <a:spcPts val="3001"/>
              </a:lnSpc>
              <a:spcBef>
                <a:spcPts val="0"/>
              </a:spcBef>
              <a:defRPr/>
            </a:pPr>
            <a:r>
              <a:rPr lang="en-GB" sz="2175" b="1" dirty="0">
                <a:solidFill>
                  <a:srgbClr val="C10033"/>
                </a:solidFill>
                <a:latin typeface="Verdana"/>
                <a:cs typeface="Verdana"/>
              </a:rPr>
              <a:t>For the printing of a poster please contact our print vendor Canon. </a:t>
            </a:r>
            <a:endParaRPr lang="en-GB" sz="2175" dirty="0">
              <a:solidFill>
                <a:srgbClr val="C10033"/>
              </a:solidFill>
              <a:latin typeface="Verdana"/>
              <a:cs typeface="Verdana"/>
            </a:endParaRPr>
          </a:p>
          <a:p>
            <a:pPr algn="l" defTabSz="2314030">
              <a:lnSpc>
                <a:spcPts val="3001"/>
              </a:lnSpc>
              <a:spcBef>
                <a:spcPts val="0"/>
              </a:spcBef>
              <a:defRPr/>
            </a:pPr>
            <a:endParaRPr lang="en-GB" sz="2175" dirty="0">
              <a:solidFill>
                <a:srgbClr val="C10033"/>
              </a:solidFill>
              <a:latin typeface="Verdana"/>
              <a:cs typeface="Verdana"/>
            </a:endParaRPr>
          </a:p>
          <a:p>
            <a:pPr algn="l" defTabSz="2314030">
              <a:lnSpc>
                <a:spcPts val="3001"/>
              </a:lnSpc>
              <a:spcBef>
                <a:spcPts val="0"/>
              </a:spcBef>
              <a:defRPr/>
            </a:pPr>
            <a:r>
              <a:rPr lang="en-GB" sz="2175" b="1" dirty="0">
                <a:solidFill>
                  <a:srgbClr val="C10033"/>
                </a:solidFill>
                <a:latin typeface="Verdana"/>
                <a:cs typeface="Verdana"/>
              </a:rPr>
              <a:t>More information:</a:t>
            </a:r>
            <a:br>
              <a:rPr lang="en-GB" sz="2175" dirty="0">
                <a:solidFill>
                  <a:srgbClr val="C10033"/>
                </a:solidFill>
                <a:latin typeface="Verdana"/>
                <a:cs typeface="Verdana"/>
              </a:rPr>
            </a:br>
            <a:r>
              <a:rPr lang="en-GB" sz="2175" dirty="0">
                <a:solidFill>
                  <a:srgbClr val="C10033"/>
                </a:solidFill>
                <a:latin typeface="Verdana"/>
                <a:cs typeface="Verdana"/>
              </a:rPr>
              <a:t>Email: </a:t>
            </a:r>
            <a:r>
              <a:rPr lang="en-GB" sz="2175" dirty="0" err="1">
                <a:solidFill>
                  <a:srgbClr val="C10033"/>
                </a:solidFill>
                <a:latin typeface="Verdana"/>
                <a:cs typeface="Verdana"/>
              </a:rPr>
              <a:t>uu@canon.nl</a:t>
            </a:r>
            <a:endParaRPr lang="en-GB" sz="2175" dirty="0">
              <a:solidFill>
                <a:srgbClr val="C10033"/>
              </a:solidFill>
              <a:latin typeface="Verdana"/>
              <a:cs typeface="Verdana"/>
            </a:endParaRPr>
          </a:p>
          <a:p>
            <a:pPr algn="l" defTabSz="2314030">
              <a:lnSpc>
                <a:spcPts val="3001"/>
              </a:lnSpc>
              <a:spcBef>
                <a:spcPts val="0"/>
              </a:spcBef>
              <a:defRPr/>
            </a:pPr>
            <a:endParaRPr lang="en-GB" sz="2175" dirty="0">
              <a:solidFill>
                <a:srgbClr val="C10033"/>
              </a:solidFill>
              <a:latin typeface="Verdana"/>
              <a:cs typeface="Verdana"/>
            </a:endParaRPr>
          </a:p>
          <a:p>
            <a:pPr algn="l" defTabSz="2314030">
              <a:lnSpc>
                <a:spcPts val="3001"/>
              </a:lnSpc>
              <a:spcBef>
                <a:spcPts val="0"/>
              </a:spcBef>
              <a:defRPr/>
            </a:pPr>
            <a:endParaRPr lang="en-GB" sz="2175" dirty="0">
              <a:solidFill>
                <a:srgbClr val="C10033"/>
              </a:solidFill>
              <a:latin typeface="Verdana"/>
              <a:cs typeface="Verdana"/>
            </a:endParaRPr>
          </a:p>
        </p:txBody>
      </p:sp>
      <p:sp>
        <p:nvSpPr>
          <p:cNvPr id="38" name="Tekstvak 37">
            <a:extLst>
              <a:ext uri="{FF2B5EF4-FFF2-40B4-BE49-F238E27FC236}">
                <a16:creationId xmlns:a16="http://schemas.microsoft.com/office/drawing/2014/main" id="{9722A7C8-C6E5-3F4D-92B6-754BC81CDDC5}"/>
              </a:ext>
            </a:extLst>
          </p:cNvPr>
          <p:cNvSpPr txBox="1">
            <a:spLocks/>
          </p:cNvSpPr>
          <p:nvPr/>
        </p:nvSpPr>
        <p:spPr>
          <a:xfrm>
            <a:off x="1607922" y="3059613"/>
            <a:ext cx="29871632" cy="1674516"/>
          </a:xfrm>
          <a:prstGeom prst="rect">
            <a:avLst/>
          </a:prstGeom>
          <a:noFill/>
        </p:spPr>
        <p:txBody>
          <a:bodyPr wrap="square" lIns="0" tIns="0" rIns="0" bIns="0" rtlCol="0">
            <a:noAutofit/>
          </a:bodyPr>
          <a:lstStyle/>
          <a:p>
            <a:r>
              <a:rPr lang="en-GB" sz="7500" b="1" dirty="0">
                <a:latin typeface="Merriweather" pitchFamily="2" charset="77"/>
                <a:cs typeface="Verdana"/>
              </a:rPr>
              <a:t>Toward a standardized evaluation of imputation methodology</a:t>
            </a:r>
          </a:p>
        </p:txBody>
      </p:sp>
      <p:cxnSp>
        <p:nvCxnSpPr>
          <p:cNvPr id="39" name="Rechte verbindingslijn 38">
            <a:extLst>
              <a:ext uri="{FF2B5EF4-FFF2-40B4-BE49-F238E27FC236}">
                <a16:creationId xmlns:a16="http://schemas.microsoft.com/office/drawing/2014/main" id="{101778CA-EE18-3F4C-959A-801EFE65841A}"/>
              </a:ext>
            </a:extLst>
          </p:cNvPr>
          <p:cNvCxnSpPr>
            <a:cxnSpLocks/>
          </p:cNvCxnSpPr>
          <p:nvPr/>
        </p:nvCxnSpPr>
        <p:spPr>
          <a:xfrm flipV="1">
            <a:off x="1583213" y="5356176"/>
            <a:ext cx="29986861" cy="28651"/>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0" name="Subtitel 2">
            <a:extLst>
              <a:ext uri="{FF2B5EF4-FFF2-40B4-BE49-F238E27FC236}">
                <a16:creationId xmlns:a16="http://schemas.microsoft.com/office/drawing/2014/main" id="{1803F8D0-7ED6-C94E-97E9-09A775915736}"/>
              </a:ext>
            </a:extLst>
          </p:cNvPr>
          <p:cNvSpPr txBox="1">
            <a:spLocks/>
          </p:cNvSpPr>
          <p:nvPr/>
        </p:nvSpPr>
        <p:spPr>
          <a:xfrm>
            <a:off x="1583212" y="19901792"/>
            <a:ext cx="13489505" cy="998772"/>
          </a:xfrm>
          <a:prstGeom prst="rect">
            <a:avLst/>
          </a:prstGeom>
          <a:noFill/>
        </p:spPr>
        <p:txBody>
          <a:bodyPr vert="horz" lIns="0" tIns="0" rIns="0" bIns="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GB" sz="1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References</a:t>
            </a:r>
          </a:p>
          <a:p>
            <a:pPr marL="372835" indent="-372835" algn="l">
              <a:buAutoNum type="arabicPeriod"/>
            </a:pPr>
            <a:r>
              <a:rPr lang="en-GB" sz="1200"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Oberman, H. I., &amp; Vink, G. (2024). Toward a standardized evaluation of imputation methodology. Biometrical Journal, 66(1), 2200107. https://</a:t>
            </a:r>
            <a:r>
              <a:rPr lang="en-GB" sz="1200"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doi.org</a:t>
            </a:r>
            <a:r>
              <a:rPr lang="en-GB" sz="1200"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/10.1002/bimj.202200107</a:t>
            </a:r>
          </a:p>
          <a:p>
            <a:pPr marL="372835" indent="-372835" algn="l">
              <a:buFont typeface="Arial"/>
              <a:buAutoNum type="arabicPeriod"/>
            </a:pPr>
            <a:r>
              <a:rPr lang="en-GB" sz="1200"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Morris, T. P., White, I. R., &amp; Crowther, M. J. (2019). Using simulation studies to evaluate statistical methods. Statistics in Medicine, 38(11), 2074–2102. https://</a:t>
            </a:r>
            <a:r>
              <a:rPr lang="en-GB" sz="1200"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doi.org</a:t>
            </a:r>
            <a:r>
              <a:rPr lang="en-GB" sz="1200"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/10.1002/sim.8086</a:t>
            </a:r>
          </a:p>
          <a:p>
            <a:pPr marL="372835" indent="-372835" algn="l">
              <a:buFont typeface="Arial"/>
              <a:buAutoNum type="arabicPeriod"/>
            </a:pPr>
            <a:endPar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cxnSp>
        <p:nvCxnSpPr>
          <p:cNvPr id="41" name="Rechte verbindingslijn 40">
            <a:extLst>
              <a:ext uri="{FF2B5EF4-FFF2-40B4-BE49-F238E27FC236}">
                <a16:creationId xmlns:a16="http://schemas.microsoft.com/office/drawing/2014/main" id="{D905E6AD-FEA8-E048-8813-F3F8148C30C8}"/>
              </a:ext>
            </a:extLst>
          </p:cNvPr>
          <p:cNvCxnSpPr>
            <a:cxnSpLocks/>
          </p:cNvCxnSpPr>
          <p:nvPr/>
        </p:nvCxnSpPr>
        <p:spPr>
          <a:xfrm>
            <a:off x="1583213" y="19541752"/>
            <a:ext cx="29986861" cy="0"/>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5" name="Rechthoek 44">
            <a:extLst>
              <a:ext uri="{FF2B5EF4-FFF2-40B4-BE49-F238E27FC236}">
                <a16:creationId xmlns:a16="http://schemas.microsoft.com/office/drawing/2014/main" id="{B15C782D-310C-0D46-8239-DB6C828F7FD6}"/>
              </a:ext>
            </a:extLst>
          </p:cNvPr>
          <p:cNvSpPr/>
          <p:nvPr/>
        </p:nvSpPr>
        <p:spPr>
          <a:xfrm>
            <a:off x="16630888" y="6305409"/>
            <a:ext cx="14900097" cy="12532022"/>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957" dirty="0"/>
          </a:p>
        </p:txBody>
      </p:sp>
      <p:sp>
        <p:nvSpPr>
          <p:cNvPr id="51" name="Tekstvak 50">
            <a:extLst>
              <a:ext uri="{FF2B5EF4-FFF2-40B4-BE49-F238E27FC236}">
                <a16:creationId xmlns:a16="http://schemas.microsoft.com/office/drawing/2014/main" id="{2E342441-D5FD-5545-AF7B-F8CD4E455EFA}"/>
              </a:ext>
            </a:extLst>
          </p:cNvPr>
          <p:cNvSpPr txBox="1"/>
          <p:nvPr/>
        </p:nvSpPr>
        <p:spPr>
          <a:xfrm>
            <a:off x="1508774" y="6292281"/>
            <a:ext cx="6381474" cy="4401205"/>
          </a:xfrm>
          <a:prstGeom prst="rect">
            <a:avLst/>
          </a:prstGeom>
          <a:noFill/>
        </p:spPr>
        <p:txBody>
          <a:bodyPr wrap="square" rtlCol="0">
            <a:spAutoFit/>
          </a:bodyPr>
          <a:lstStyle/>
          <a:p>
            <a:r>
              <a:rPr lang="en-GB" sz="2000" b="1" dirty="0">
                <a:latin typeface="Merriweather" pitchFamily="2" charset="77"/>
              </a:rPr>
              <a:t>Simulation studies as a tool</a:t>
            </a:r>
            <a:endParaRPr lang="en-GB" sz="2000" b="1" dirty="0">
              <a:solidFill>
                <a:srgbClr val="C10033"/>
              </a:solidFill>
              <a:latin typeface="Merriweather" pitchFamily="2" charset="77"/>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Simulation studies have become an easy and  flexible tool for evaluating new statistical methodology. Unfortunately, there is no consensus on </a:t>
            </a:r>
            <a:r>
              <a:rPr lang="en-GB"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how to perform simulation studies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for the evaluation of missing data methodology, such as imputation. </a:t>
            </a: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In our review paper, Oberman &amp; Vink (2024), we suggest a course of action for simulating and evaluating missing data problems. This poster presents the </a:t>
            </a:r>
            <a:r>
              <a:rPr lang="en-GB"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checklist for reporting </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on simulation studies for imputation methodology that we developed.</a:t>
            </a: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54" name="Tekstvak 53">
            <a:extLst>
              <a:ext uri="{FF2B5EF4-FFF2-40B4-BE49-F238E27FC236}">
                <a16:creationId xmlns:a16="http://schemas.microsoft.com/office/drawing/2014/main" id="{18EE791D-FF38-C243-987D-0BEF91FF79A3}"/>
              </a:ext>
            </a:extLst>
          </p:cNvPr>
          <p:cNvSpPr txBox="1"/>
          <p:nvPr/>
        </p:nvSpPr>
        <p:spPr>
          <a:xfrm>
            <a:off x="25113714" y="536528"/>
            <a:ext cx="7862188" cy="1384995"/>
          </a:xfrm>
          <a:prstGeom prst="rect">
            <a:avLst/>
          </a:prstGeom>
          <a:noFill/>
        </p:spPr>
        <p:txBody>
          <a:bodyPr wrap="square" rtlCol="0" anchor="ctr">
            <a:spAutoFit/>
          </a:bodyPr>
          <a:lstStyle/>
          <a:p>
            <a:pPr algn="ctr"/>
            <a:r>
              <a:rPr lang="en-GB" sz="2800" dirty="0">
                <a:latin typeface="Merriweather" pitchFamily="2" charset="77"/>
                <a:ea typeface="Open Sans" panose="020B0606030504020204" pitchFamily="34" charset="0"/>
                <a:cs typeface="Open Sans" panose="020B0606030504020204" pitchFamily="34" charset="0"/>
              </a:rPr>
              <a:t>Hanne Oberman</a:t>
            </a:r>
          </a:p>
          <a:p>
            <a:pPr algn="ctr"/>
            <a:r>
              <a:rPr lang="en-GB" sz="2800" i="1" dirty="0">
                <a:latin typeface="Merriweather" pitchFamily="2" charset="77"/>
                <a:ea typeface="Open Sans" panose="020B0606030504020204" pitchFamily="34" charset="0"/>
                <a:cs typeface="Open Sans" panose="020B0606030504020204" pitchFamily="34" charset="0"/>
              </a:rPr>
              <a:t>Methodology &amp; Statistics</a:t>
            </a:r>
          </a:p>
          <a:p>
            <a:pPr algn="ctr"/>
            <a:r>
              <a:rPr lang="en-GB" sz="2800" i="1" dirty="0">
                <a:latin typeface="Merriweather" pitchFamily="2" charset="77"/>
                <a:ea typeface="Open Sans" panose="020B0606030504020204" pitchFamily="34" charset="0"/>
                <a:cs typeface="Open Sans" panose="020B0606030504020204" pitchFamily="34" charset="0"/>
              </a:rPr>
              <a:t>Utrecht University</a:t>
            </a:r>
          </a:p>
        </p:txBody>
      </p:sp>
      <p:sp>
        <p:nvSpPr>
          <p:cNvPr id="55" name="Tekstvak 54">
            <a:extLst>
              <a:ext uri="{FF2B5EF4-FFF2-40B4-BE49-F238E27FC236}">
                <a16:creationId xmlns:a16="http://schemas.microsoft.com/office/drawing/2014/main" id="{A4964323-808B-1345-AC7D-222A69D20FB3}"/>
              </a:ext>
            </a:extLst>
          </p:cNvPr>
          <p:cNvSpPr txBox="1">
            <a:spLocks/>
          </p:cNvSpPr>
          <p:nvPr/>
        </p:nvSpPr>
        <p:spPr>
          <a:xfrm>
            <a:off x="1706218" y="4708104"/>
            <a:ext cx="29549804" cy="835446"/>
          </a:xfrm>
          <a:prstGeom prst="rect">
            <a:avLst/>
          </a:prstGeom>
          <a:noFill/>
        </p:spPr>
        <p:txBody>
          <a:bodyPr wrap="square" lIns="0" tIns="0" rIns="0" bIns="0" rtlCol="0">
            <a:noAutofit/>
          </a:bodyPr>
          <a:lstStyle/>
          <a:p>
            <a:pPr>
              <a:lnSpc>
                <a:spcPts val="3914"/>
              </a:lnSpc>
            </a:pPr>
            <a:r>
              <a:rPr lang="en-GB" sz="2800" b="1" dirty="0">
                <a:solidFill>
                  <a:srgbClr val="000000"/>
                </a:solidFill>
                <a:latin typeface="Open Sans SemiBold" panose="020B0606030504020204" pitchFamily="34" charset="0"/>
                <a:ea typeface="Open Sans SemiBold" panose="020B0606030504020204" pitchFamily="34" charset="0"/>
                <a:cs typeface="Open Sans SemiBold" panose="020B0606030504020204" pitchFamily="34" charset="0"/>
              </a:rPr>
              <a:t>HI Oberman, G Vink</a:t>
            </a:r>
          </a:p>
        </p:txBody>
      </p:sp>
      <p:sp>
        <p:nvSpPr>
          <p:cNvPr id="56" name="Subtitel 2">
            <a:extLst>
              <a:ext uri="{FF2B5EF4-FFF2-40B4-BE49-F238E27FC236}">
                <a16:creationId xmlns:a16="http://schemas.microsoft.com/office/drawing/2014/main" id="{105E345D-E29F-9A49-9A3A-4039A1C01D09}"/>
              </a:ext>
            </a:extLst>
          </p:cNvPr>
          <p:cNvSpPr txBox="1">
            <a:spLocks/>
          </p:cNvSpPr>
          <p:nvPr/>
        </p:nvSpPr>
        <p:spPr>
          <a:xfrm>
            <a:off x="16630889" y="19901792"/>
            <a:ext cx="14900096" cy="998772"/>
          </a:xfrm>
          <a:prstGeom prst="rect">
            <a:avLst/>
          </a:prstGeom>
          <a:noFill/>
        </p:spPr>
        <p:txBody>
          <a:bodyPr vert="horz" lIns="0" tIns="0" rIns="0" bIns="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GB" sz="1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References</a:t>
            </a:r>
          </a:p>
          <a:p>
            <a:pPr marL="372835" indent="-372835" algn="l">
              <a:buFont typeface="+mj-lt"/>
              <a:buAutoNum type="arabicPeriod" startAt="3"/>
            </a:pPr>
            <a:r>
              <a:rPr lang="en-GB" sz="1200"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Siepe</a:t>
            </a:r>
            <a:r>
              <a:rPr lang="en-GB" sz="12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B. S., Bartoš, F., Morris, T.P., Boulesteix, A-L, Heck, D.W. &amp; Pawel, S. (2024). Simulation Studies for Methodological Research in Psychology: A Standardized Template for Planning, Preregistration, and Reporting. Psychological Methods. https://</a:t>
            </a:r>
            <a:r>
              <a:rPr lang="en-GB" sz="1200"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doi.org</a:t>
            </a:r>
            <a:r>
              <a:rPr lang="en-GB" sz="12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/10.1037/met0000695"</a:t>
            </a:r>
          </a:p>
        </p:txBody>
      </p:sp>
      <p:sp>
        <p:nvSpPr>
          <p:cNvPr id="59" name="Tekstvak 58">
            <a:extLst>
              <a:ext uri="{FF2B5EF4-FFF2-40B4-BE49-F238E27FC236}">
                <a16:creationId xmlns:a16="http://schemas.microsoft.com/office/drawing/2014/main" id="{F49D909F-42F7-0648-AA5E-4B62B4C33843}"/>
              </a:ext>
            </a:extLst>
          </p:cNvPr>
          <p:cNvSpPr txBox="1">
            <a:spLocks/>
          </p:cNvSpPr>
          <p:nvPr/>
        </p:nvSpPr>
        <p:spPr>
          <a:xfrm>
            <a:off x="1607922" y="21077008"/>
            <a:ext cx="29549804" cy="464666"/>
          </a:xfrm>
          <a:prstGeom prst="rect">
            <a:avLst/>
          </a:prstGeom>
          <a:noFill/>
        </p:spPr>
        <p:txBody>
          <a:bodyPr wrap="square" lIns="0" tIns="0" rIns="0" bIns="0" rtlCol="0">
            <a:noAutofit/>
          </a:bodyPr>
          <a:lstStyle/>
          <a:p>
            <a:pPr>
              <a:lnSpc>
                <a:spcPts val="3914"/>
              </a:lnSpc>
            </a:pPr>
            <a:r>
              <a:rPr lang="en-GB" sz="2800" b="1" dirty="0" err="1">
                <a:solidFill>
                  <a:srgbClr val="FFCD00"/>
                </a:solidFill>
                <a:latin typeface="Open Sans SemiBold" panose="020B0606030504020204" pitchFamily="34" charset="0"/>
                <a:ea typeface="Open Sans SemiBold" panose="020B0606030504020204" pitchFamily="34" charset="0"/>
                <a:cs typeface="Open Sans SemiBold" panose="020B0606030504020204" pitchFamily="34" charset="0"/>
              </a:rPr>
              <a:t>uu.nl</a:t>
            </a:r>
            <a:r>
              <a:rPr lang="en-GB" sz="2800" b="1" dirty="0">
                <a:solidFill>
                  <a:srgbClr val="FFCD00"/>
                </a:solidFill>
                <a:latin typeface="Open Sans SemiBold" panose="020B0606030504020204" pitchFamily="34" charset="0"/>
                <a:ea typeface="Open Sans SemiBold" panose="020B0606030504020204" pitchFamily="34" charset="0"/>
                <a:cs typeface="Open Sans SemiBold" panose="020B0606030504020204" pitchFamily="34" charset="0"/>
              </a:rPr>
              <a:t>/</a:t>
            </a:r>
          </a:p>
        </p:txBody>
      </p:sp>
      <p:sp>
        <p:nvSpPr>
          <p:cNvPr id="60" name="Rechthoek 59">
            <a:extLst>
              <a:ext uri="{FF2B5EF4-FFF2-40B4-BE49-F238E27FC236}">
                <a16:creationId xmlns:a16="http://schemas.microsoft.com/office/drawing/2014/main" id="{4BE76C16-EB21-5E42-A96A-AB333F3F54BD}"/>
              </a:ext>
            </a:extLst>
          </p:cNvPr>
          <p:cNvSpPr/>
          <p:nvPr/>
        </p:nvSpPr>
        <p:spPr>
          <a:xfrm>
            <a:off x="1508774" y="21635793"/>
            <a:ext cx="16456611" cy="259623"/>
          </a:xfrm>
          <a:prstGeom prst="rect">
            <a:avLst/>
          </a:prstGeom>
        </p:spPr>
        <p:txBody>
          <a:bodyPr>
            <a:spAutoFit/>
          </a:bodyPr>
          <a:lstStyle/>
          <a:p>
            <a:r>
              <a:rPr lang="en-GB" sz="1087" i="1" dirty="0">
                <a:solidFill>
                  <a:srgbClr val="FFCD00"/>
                </a:solidFill>
                <a:latin typeface="Open Sans" panose="020B0606030504020204" pitchFamily="34" charset="0"/>
              </a:rPr>
              <a:t>The information has been compiled with the utmost care but no rights can be derived from its contents.</a:t>
            </a:r>
          </a:p>
        </p:txBody>
      </p:sp>
      <p:graphicFrame>
        <p:nvGraphicFramePr>
          <p:cNvPr id="3" name="Table 2">
            <a:extLst>
              <a:ext uri="{FF2B5EF4-FFF2-40B4-BE49-F238E27FC236}">
                <a16:creationId xmlns:a16="http://schemas.microsoft.com/office/drawing/2014/main" id="{6F975972-2E3C-5C0B-ACF5-34EF6AB089AC}"/>
              </a:ext>
            </a:extLst>
          </p:cNvPr>
          <p:cNvGraphicFramePr>
            <a:graphicFrameLocks noGrp="1"/>
          </p:cNvGraphicFramePr>
          <p:nvPr>
            <p:extLst>
              <p:ext uri="{D42A27DB-BD31-4B8C-83A1-F6EECF244321}">
                <p14:modId xmlns:p14="http://schemas.microsoft.com/office/powerpoint/2010/main" val="2599833741"/>
              </p:ext>
            </p:extLst>
          </p:nvPr>
        </p:nvGraphicFramePr>
        <p:xfrm>
          <a:off x="17295897" y="6580312"/>
          <a:ext cx="14140967" cy="12072353"/>
        </p:xfrm>
        <a:graphic>
          <a:graphicData uri="http://schemas.openxmlformats.org/drawingml/2006/table">
            <a:tbl>
              <a:tblPr>
                <a:tableStyleId>{2D5ABB26-0587-4C30-8999-92F81FD0307C}</a:tableStyleId>
              </a:tblPr>
              <a:tblGrid>
                <a:gridCol w="426091">
                  <a:extLst>
                    <a:ext uri="{9D8B030D-6E8A-4147-A177-3AD203B41FA5}">
                      <a16:colId xmlns:a16="http://schemas.microsoft.com/office/drawing/2014/main" val="671806242"/>
                    </a:ext>
                  </a:extLst>
                </a:gridCol>
                <a:gridCol w="13714876">
                  <a:extLst>
                    <a:ext uri="{9D8B030D-6E8A-4147-A177-3AD203B41FA5}">
                      <a16:colId xmlns:a16="http://schemas.microsoft.com/office/drawing/2014/main" val="3648363899"/>
                    </a:ext>
                  </a:extLst>
                </a:gridCol>
              </a:tblGrid>
              <a:tr h="668708">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marL="0" algn="l" defTabSz="914400" rtl="0" eaLnBrk="1" fontAlgn="b" latinLnBrk="0" hangingPunct="1">
                        <a:buNone/>
                      </a:pPr>
                      <a:r>
                        <a:rPr lang="en-US" sz="3200" b="1" i="1" kern="1200" dirty="0">
                          <a:solidFill>
                            <a:schemeClr val="tx1"/>
                          </a:solidFill>
                          <a:latin typeface="Merriweather" pitchFamily="2" charset="77"/>
                          <a:ea typeface="+mn-ea"/>
                          <a:cs typeface="+mn-cs"/>
                        </a:rPr>
                        <a:t>Reporting checklist for the evaluation of imputation methodology</a:t>
                      </a:r>
                    </a:p>
                  </a:txBody>
                  <a:tcPr marL="9525" marR="9525" marT="9525" anchor="b"/>
                </a:tc>
                <a:extLst>
                  <a:ext uri="{0D108BD9-81ED-4DB2-BD59-A6C34878D82A}">
                    <a16:rowId xmlns:a16="http://schemas.microsoft.com/office/drawing/2014/main" val="146544240"/>
                  </a:ext>
                </a:extLst>
              </a:tr>
              <a:tr h="554884">
                <a:tc>
                  <a:txBody>
                    <a:bodyPr/>
                    <a:lstStyle/>
                    <a:p>
                      <a:pPr algn="l" fontAlgn="b">
                        <a:buNone/>
                      </a:pPr>
                      <a:r>
                        <a:rPr lang="en-US" sz="3600" u="none" strike="noStrike" dirty="0">
                          <a:effectLst/>
                          <a:latin typeface="Open Sans" panose="020B0606030504020204" pitchFamily="34" charset="0"/>
                          <a:ea typeface="Open Sans" panose="020B0606030504020204" pitchFamily="34" charset="0"/>
                          <a:cs typeface="Open Sans" panose="020B0606030504020204" pitchFamily="34" charset="0"/>
                        </a:rPr>
                        <a:t>□</a:t>
                      </a:r>
                      <a:endParaRPr lang="en-US" sz="36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Aims</a:t>
                      </a:r>
                      <a:endParaRPr lang="en-US"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3888783831"/>
                  </a:ext>
                </a:extLst>
              </a:tr>
              <a:tr h="554884">
                <a:tc>
                  <a:txBody>
                    <a:bodyPr/>
                    <a:lstStyle/>
                    <a:p>
                      <a:pPr algn="l" fontAlgn="b">
                        <a:buNone/>
                      </a:pP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e.g. simulation scope</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85531889"/>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simulation design (incl. pseudo-code or flow diagram)</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2354597507"/>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required level of precision (incl. number of simulation repetitions)</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591216305"/>
                  </a:ext>
                </a:extLst>
              </a:tr>
              <a:tr h="554884">
                <a:tc>
                  <a:txBody>
                    <a:bodyPr/>
                    <a:lstStyle/>
                    <a:p>
                      <a:pPr algn="l" fontAlgn="b">
                        <a:buNone/>
                      </a:pPr>
                      <a:r>
                        <a:rPr lang="en-US" sz="3600" u="none" strike="noStrike" dirty="0">
                          <a:effectLst/>
                          <a:latin typeface="Open Sans" panose="020B0606030504020204" pitchFamily="34" charset="0"/>
                          <a:ea typeface="Open Sans" panose="020B0606030504020204" pitchFamily="34" charset="0"/>
                          <a:cs typeface="Open Sans" panose="020B0606030504020204" pitchFamily="34" charset="0"/>
                        </a:rPr>
                        <a:t>□</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Data-generating mechanisms</a:t>
                      </a:r>
                      <a:endParaRPr lang="en-US"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3597663530"/>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e.g. data generation and missingness generation</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3848049765"/>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data source (incl. model-based or design-based, sampling variance)</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1764108514"/>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data characteristics (incl. multivariate relations and data structures such as clustering)</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3558581141"/>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missingness mechanisms (incl. type or functional form of the missing data model)</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506131011"/>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missingness patterns (incl. missingness proportion) </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339237917"/>
                  </a:ext>
                </a:extLst>
              </a:tr>
              <a:tr h="554884">
                <a:tc>
                  <a:txBody>
                    <a:bodyPr/>
                    <a:lstStyle/>
                    <a:p>
                      <a:pPr algn="l" fontAlgn="b">
                        <a:buNone/>
                      </a:pPr>
                      <a:r>
                        <a:rPr lang="en-US" sz="4000" u="none" strike="noStrike" dirty="0">
                          <a:effectLst/>
                          <a:latin typeface="Open Sans" panose="020B0606030504020204" pitchFamily="34" charset="0"/>
                          <a:ea typeface="Open Sans" panose="020B0606030504020204" pitchFamily="34" charset="0"/>
                          <a:cs typeface="Open Sans" panose="020B0606030504020204" pitchFamily="34" charset="0"/>
                        </a:rPr>
                        <a:t>□</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err="1">
                          <a:effectLst/>
                          <a:latin typeface="Open Sans" panose="020B0606030504020204" pitchFamily="34" charset="0"/>
                          <a:ea typeface="Open Sans" panose="020B0606030504020204" pitchFamily="34" charset="0"/>
                          <a:cs typeface="Open Sans" panose="020B0606030504020204" pitchFamily="34" charset="0"/>
                        </a:rPr>
                        <a:t>Estimands</a:t>
                      </a:r>
                      <a:endParaRPr lang="en-US"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4275002033"/>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e.g. complete data target</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1097034482"/>
                  </a:ext>
                </a:extLst>
              </a:tr>
              <a:tr h="554884">
                <a:tc>
                  <a:txBody>
                    <a:bodyPr/>
                    <a:lstStyle/>
                    <a:p>
                      <a:pPr algn="l" fontAlgn="b">
                        <a:buNone/>
                      </a:pPr>
                      <a:r>
                        <a:rPr lang="en-US" sz="3600" u="none" strike="noStrike" dirty="0">
                          <a:effectLst/>
                          <a:latin typeface="Open Sans" panose="020B0606030504020204" pitchFamily="34" charset="0"/>
                          <a:ea typeface="Open Sans" panose="020B0606030504020204" pitchFamily="34" charset="0"/>
                          <a:cs typeface="Open Sans" panose="020B0606030504020204" pitchFamily="34" charset="0"/>
                        </a:rPr>
                        <a:t>□</a:t>
                      </a:r>
                      <a:endParaRPr lang="en-US" sz="36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Methods</a:t>
                      </a:r>
                      <a:endParaRPr lang="en-US"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636165756"/>
                  </a:ext>
                </a:extLst>
              </a:tr>
              <a:tr h="554884">
                <a:tc>
                  <a:txBody>
                    <a:bodyPr/>
                    <a:lstStyle/>
                    <a:p>
                      <a:pPr algn="l" fontAlgn="b">
                        <a:buNone/>
                      </a:pP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e.g. missing data methods and analytic method</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3682790364"/>
                  </a:ext>
                </a:extLst>
              </a:tr>
              <a:tr h="554884">
                <a:tc>
                  <a:txBody>
                    <a:bodyPr/>
                    <a:lstStyle/>
                    <a:p>
                      <a:pPr algn="l" fontAlgn="b">
                        <a:buNone/>
                      </a:pP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imputation methods (incl. parameters such as the number of imputations) </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1024860008"/>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estimation method (incl. reference methods such as complete case analysis)</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3092365832"/>
                  </a:ext>
                </a:extLst>
              </a:tr>
              <a:tr h="554884">
                <a:tc>
                  <a:txBody>
                    <a:bodyPr/>
                    <a:lstStyle/>
                    <a:p>
                      <a:pPr algn="l" fontAlgn="b">
                        <a:buNone/>
                      </a:pPr>
                      <a:r>
                        <a:rPr lang="en-US" sz="3600" u="none" strike="noStrike" dirty="0">
                          <a:effectLst/>
                          <a:latin typeface="Open Sans" panose="020B0606030504020204" pitchFamily="34" charset="0"/>
                          <a:ea typeface="Open Sans" panose="020B0606030504020204" pitchFamily="34" charset="0"/>
                          <a:cs typeface="Open Sans" panose="020B0606030504020204" pitchFamily="34" charset="0"/>
                        </a:rPr>
                        <a:t>□</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Performance measures</a:t>
                      </a:r>
                      <a:endParaRPr lang="en-US"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85519024"/>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b">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e.g. evaluation of estimates and imputed values</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extLst>
                  <a:ext uri="{0D108BD9-81ED-4DB2-BD59-A6C34878D82A}">
                    <a16:rowId xmlns:a16="http://schemas.microsoft.com/office/drawing/2014/main" val="679415927"/>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statistical properties (incl. comparative performance, if applicable)</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2395267943"/>
                  </a:ext>
                </a:extLst>
              </a:tr>
              <a:tr h="554884">
                <a:tc>
                  <a:txBody>
                    <a:bodyPr/>
                    <a:lstStyle/>
                    <a:p>
                      <a:pPr algn="l" fontAlgn="b">
                        <a:buNone/>
                      </a:pPr>
                      <a:endParaRPr lang="en-US" sz="24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b"/>
                </a:tc>
                <a:tc>
                  <a:txBody>
                    <a:bodyPr/>
                    <a:lstStyle/>
                    <a:p>
                      <a:pPr algn="l" fontAlgn="ctr">
                        <a:buNone/>
                      </a:pPr>
                      <a:r>
                        <a:rPr lang="en-US" sz="2400" u="none" strike="noStrike" dirty="0">
                          <a:effectLst/>
                          <a:latin typeface="Open Sans" panose="020B0606030504020204" pitchFamily="34" charset="0"/>
                          <a:ea typeface="Open Sans" panose="020B0606030504020204" pitchFamily="34" charset="0"/>
                          <a:cs typeface="Open Sans" panose="020B0606030504020204" pitchFamily="34" charset="0"/>
                        </a:rPr>
                        <a:t>□ validity of imputations (incl. imputation model fit and distributional characteristics)</a:t>
                      </a:r>
                      <a:endPar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9525" marR="9525" marT="9525" anchor="ctr"/>
                </a:tc>
                <a:extLst>
                  <a:ext uri="{0D108BD9-81ED-4DB2-BD59-A6C34878D82A}">
                    <a16:rowId xmlns:a16="http://schemas.microsoft.com/office/drawing/2014/main" val="1738514548"/>
                  </a:ext>
                </a:extLst>
              </a:tr>
            </a:tbl>
          </a:graphicData>
        </a:graphic>
      </p:graphicFrame>
      <p:sp>
        <p:nvSpPr>
          <p:cNvPr id="7" name="Tekstvak 50">
            <a:extLst>
              <a:ext uri="{FF2B5EF4-FFF2-40B4-BE49-F238E27FC236}">
                <a16:creationId xmlns:a16="http://schemas.microsoft.com/office/drawing/2014/main" id="{FF9AA869-CD1A-6D4B-EFA4-398B89FFBFAF}"/>
              </a:ext>
            </a:extLst>
          </p:cNvPr>
          <p:cNvSpPr txBox="1"/>
          <p:nvPr/>
        </p:nvSpPr>
        <p:spPr>
          <a:xfrm>
            <a:off x="8709792" y="6292280"/>
            <a:ext cx="6381473" cy="4093428"/>
          </a:xfrm>
          <a:prstGeom prst="rect">
            <a:avLst/>
          </a:prstGeom>
          <a:noFill/>
        </p:spPr>
        <p:txBody>
          <a:bodyPr wrap="square" rtlCol="0">
            <a:spAutoFit/>
          </a:bodyPr>
          <a:lstStyle/>
          <a:p>
            <a:r>
              <a:rPr lang="en-GB" sz="2000" b="1" dirty="0">
                <a:latin typeface="Merriweather" pitchFamily="2" charset="77"/>
              </a:rPr>
              <a:t>Invitation to interact</a:t>
            </a:r>
            <a:endParaRPr lang="en-GB" sz="2000" b="1" dirty="0">
              <a:solidFill>
                <a:srgbClr val="C10033"/>
              </a:solidFill>
              <a:latin typeface="Merriweather" pitchFamily="2" charset="77"/>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Our suggested course of action is by no means meant to serve as a complete cookbook, but rather meant to </a:t>
            </a:r>
            <a:r>
              <a:rPr lang="en-GB"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incite critical thinking </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and a move to objective and fair evaluations of imputation methodology. </a:t>
            </a: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We base our work on Morris et al. (2019). Since then, the design of statistical simulation studies has been a topic of research by e.g. ...</a:t>
            </a: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We invite the audience to take </a:t>
            </a:r>
            <a:r>
              <a:rPr lang="en-GB"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part in the discussion</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contribute to our proposed simulation checklist, and imagine how this may relate to preregistration templates for simulation studies.</a:t>
            </a:r>
          </a:p>
        </p:txBody>
      </p:sp>
      <p:sp>
        <p:nvSpPr>
          <p:cNvPr id="8" name="Rechthoek 44">
            <a:extLst>
              <a:ext uri="{FF2B5EF4-FFF2-40B4-BE49-F238E27FC236}">
                <a16:creationId xmlns:a16="http://schemas.microsoft.com/office/drawing/2014/main" id="{138DAD77-BE10-A332-D848-5C4F903D34EC}"/>
              </a:ext>
            </a:extLst>
          </p:cNvPr>
          <p:cNvSpPr/>
          <p:nvPr/>
        </p:nvSpPr>
        <p:spPr>
          <a:xfrm>
            <a:off x="1508774" y="11449258"/>
            <a:ext cx="13489506" cy="7388172"/>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957" dirty="0"/>
          </a:p>
        </p:txBody>
      </p:sp>
      <p:pic>
        <p:nvPicPr>
          <p:cNvPr id="10" name="Graphic 9" descr="Blueprint with solid fill">
            <a:extLst>
              <a:ext uri="{FF2B5EF4-FFF2-40B4-BE49-F238E27FC236}">
                <a16:creationId xmlns:a16="http://schemas.microsoft.com/office/drawing/2014/main" id="{27DFE438-23D4-102C-538A-7BB9057149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85521" y="12760833"/>
            <a:ext cx="2124108" cy="2124108"/>
          </a:xfrm>
          <a:prstGeom prst="rect">
            <a:avLst/>
          </a:prstGeom>
        </p:spPr>
      </p:pic>
      <p:pic>
        <p:nvPicPr>
          <p:cNvPr id="12" name="Graphic 11" descr="Document with solid fill">
            <a:extLst>
              <a:ext uri="{FF2B5EF4-FFF2-40B4-BE49-F238E27FC236}">
                <a16:creationId xmlns:a16="http://schemas.microsoft.com/office/drawing/2014/main" id="{F08F57E2-6D4A-A10B-9F7D-1E493C4B77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28347" y="12967668"/>
            <a:ext cx="1863042" cy="1863042"/>
          </a:xfrm>
          <a:prstGeom prst="rect">
            <a:avLst/>
          </a:prstGeom>
        </p:spPr>
      </p:pic>
      <p:pic>
        <p:nvPicPr>
          <p:cNvPr id="14" name="Graphic 13" descr="Clipboard Partially Checked with solid fill">
            <a:extLst>
              <a:ext uri="{FF2B5EF4-FFF2-40B4-BE49-F238E27FC236}">
                <a16:creationId xmlns:a16="http://schemas.microsoft.com/office/drawing/2014/main" id="{785DB755-7D45-9948-ACBD-D3987C98774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40875" y="15983806"/>
            <a:ext cx="1857222" cy="1857222"/>
          </a:xfrm>
          <a:prstGeom prst="rect">
            <a:avLst/>
          </a:prstGeom>
        </p:spPr>
      </p:pic>
      <p:pic>
        <p:nvPicPr>
          <p:cNvPr id="18" name="Graphic 17" descr="Inbox Check with solid fill">
            <a:extLst>
              <a:ext uri="{FF2B5EF4-FFF2-40B4-BE49-F238E27FC236}">
                <a16:creationId xmlns:a16="http://schemas.microsoft.com/office/drawing/2014/main" id="{2EC566DE-5368-CDEA-3B2F-B949D914343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01954" y="15994054"/>
            <a:ext cx="2124108" cy="2124108"/>
          </a:xfrm>
          <a:prstGeom prst="rect">
            <a:avLst/>
          </a:prstGeom>
        </p:spPr>
      </p:pic>
      <p:pic>
        <p:nvPicPr>
          <p:cNvPr id="30" name="Graphic 29" descr="Cmd Terminal with solid fill">
            <a:extLst>
              <a:ext uri="{FF2B5EF4-FFF2-40B4-BE49-F238E27FC236}">
                <a16:creationId xmlns:a16="http://schemas.microsoft.com/office/drawing/2014/main" id="{C0CAE85E-94F4-0247-3C6D-E89E48A7813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56540" y="14921752"/>
            <a:ext cx="2124109" cy="2124109"/>
          </a:xfrm>
          <a:prstGeom prst="rect">
            <a:avLst/>
          </a:prstGeom>
        </p:spPr>
      </p:pic>
      <p:pic>
        <p:nvPicPr>
          <p:cNvPr id="32" name="Graphic 31" descr="Arrow Right with solid fill">
            <a:extLst>
              <a:ext uri="{FF2B5EF4-FFF2-40B4-BE49-F238E27FC236}">
                <a16:creationId xmlns:a16="http://schemas.microsoft.com/office/drawing/2014/main" id="{5F66C6C7-C1D3-3273-24C0-2C7CD908AA0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87199" y="15389884"/>
            <a:ext cx="914400" cy="914400"/>
          </a:xfrm>
          <a:prstGeom prst="rect">
            <a:avLst/>
          </a:prstGeom>
        </p:spPr>
      </p:pic>
      <p:sp>
        <p:nvSpPr>
          <p:cNvPr id="35" name="TextBox 34">
            <a:extLst>
              <a:ext uri="{FF2B5EF4-FFF2-40B4-BE49-F238E27FC236}">
                <a16:creationId xmlns:a16="http://schemas.microsoft.com/office/drawing/2014/main" id="{FD4E35EB-9037-E7F0-1DB6-0F517D2AB66A}"/>
              </a:ext>
            </a:extLst>
          </p:cNvPr>
          <p:cNvSpPr txBox="1"/>
          <p:nvPr/>
        </p:nvSpPr>
        <p:spPr>
          <a:xfrm>
            <a:off x="2766900" y="14913335"/>
            <a:ext cx="1467659" cy="368332"/>
          </a:xfrm>
          <a:prstGeom prst="rect">
            <a:avLst/>
          </a:prstGeom>
          <a:noFill/>
        </p:spPr>
        <p:txBody>
          <a:bodyPr wrap="square" lIns="0" tIns="0" rIns="0" bIns="0" rtlCol="0">
            <a:spAutoFit/>
          </a:bodyPr>
          <a:lstStyle/>
          <a:p>
            <a:pPr algn="ctr"/>
            <a:r>
              <a:rPr lang="en-GB" sz="2400" dirty="0">
                <a:solidFill>
                  <a:srgbClr val="0F1012"/>
                </a:solidFill>
                <a:latin typeface="Open Sans" panose="020B0606030504020204" pitchFamily="34" charset="0"/>
                <a:ea typeface="Open Sans" panose="020B0606030504020204" pitchFamily="34" charset="0"/>
                <a:cs typeface="Open Sans" panose="020B0606030504020204" pitchFamily="34" charset="0"/>
              </a:rPr>
              <a:t>Plan</a:t>
            </a:r>
            <a:endParaRPr lang="en-US" sz="2400" dirty="0"/>
          </a:p>
        </p:txBody>
      </p:sp>
      <p:sp>
        <p:nvSpPr>
          <p:cNvPr id="36" name="TextBox 35">
            <a:extLst>
              <a:ext uri="{FF2B5EF4-FFF2-40B4-BE49-F238E27FC236}">
                <a16:creationId xmlns:a16="http://schemas.microsoft.com/office/drawing/2014/main" id="{13EA2B78-74D1-90B2-F3C5-DA2D4F39937C}"/>
              </a:ext>
            </a:extLst>
          </p:cNvPr>
          <p:cNvSpPr txBox="1"/>
          <p:nvPr/>
        </p:nvSpPr>
        <p:spPr>
          <a:xfrm>
            <a:off x="2702984" y="18109871"/>
            <a:ext cx="1467659" cy="368332"/>
          </a:xfrm>
          <a:prstGeom prst="rect">
            <a:avLst/>
          </a:prstGeom>
          <a:noFill/>
        </p:spPr>
        <p:txBody>
          <a:bodyPr wrap="square" lIns="0" tIns="0" rIns="0" bIns="0" rtlCol="0">
            <a:spAutoFit/>
          </a:bodyPr>
          <a:lstStyle/>
          <a:p>
            <a:pPr algn="ctr"/>
            <a:r>
              <a:rPr lang="en-GB" sz="2400" dirty="0">
                <a:solidFill>
                  <a:srgbClr val="0F1012"/>
                </a:solidFill>
                <a:latin typeface="Open Sans" panose="020B0606030504020204" pitchFamily="34" charset="0"/>
                <a:ea typeface="Open Sans" panose="020B0606030504020204" pitchFamily="34" charset="0"/>
                <a:cs typeface="Open Sans" panose="020B0606030504020204" pitchFamily="34" charset="0"/>
              </a:rPr>
              <a:t>Register</a:t>
            </a:r>
            <a:endParaRPr lang="en-US" sz="2400" dirty="0"/>
          </a:p>
        </p:txBody>
      </p:sp>
      <p:sp>
        <p:nvSpPr>
          <p:cNvPr id="44" name="TextBox 43">
            <a:extLst>
              <a:ext uri="{FF2B5EF4-FFF2-40B4-BE49-F238E27FC236}">
                <a16:creationId xmlns:a16="http://schemas.microsoft.com/office/drawing/2014/main" id="{EC2E0A57-ED39-5A3F-E872-6D1C5CCB163F}"/>
              </a:ext>
            </a:extLst>
          </p:cNvPr>
          <p:cNvSpPr txBox="1"/>
          <p:nvPr/>
        </p:nvSpPr>
        <p:spPr>
          <a:xfrm>
            <a:off x="7156418" y="16857551"/>
            <a:ext cx="1467659" cy="368332"/>
          </a:xfrm>
          <a:prstGeom prst="rect">
            <a:avLst/>
          </a:prstGeom>
          <a:noFill/>
        </p:spPr>
        <p:txBody>
          <a:bodyPr wrap="square" lIns="0" tIns="0" rIns="0" bIns="0" rtlCol="0">
            <a:spAutoFit/>
          </a:bodyPr>
          <a:lstStyle/>
          <a:p>
            <a:pPr algn="ctr"/>
            <a:r>
              <a:rPr lang="en-GB" sz="2400" dirty="0">
                <a:solidFill>
                  <a:srgbClr val="0F1012"/>
                </a:solidFill>
                <a:latin typeface="Open Sans" panose="020B0606030504020204" pitchFamily="34" charset="0"/>
                <a:ea typeface="Open Sans" panose="020B0606030504020204" pitchFamily="34" charset="0"/>
                <a:cs typeface="Open Sans" panose="020B0606030504020204" pitchFamily="34" charset="0"/>
              </a:rPr>
              <a:t>Run</a:t>
            </a:r>
            <a:endParaRPr lang="en-US" sz="2400" dirty="0"/>
          </a:p>
        </p:txBody>
      </p:sp>
      <p:sp>
        <p:nvSpPr>
          <p:cNvPr id="61" name="TextBox 60">
            <a:extLst>
              <a:ext uri="{FF2B5EF4-FFF2-40B4-BE49-F238E27FC236}">
                <a16:creationId xmlns:a16="http://schemas.microsoft.com/office/drawing/2014/main" id="{C9878D46-9E1A-C680-474C-C18ACB79D5E9}"/>
              </a:ext>
            </a:extLst>
          </p:cNvPr>
          <p:cNvSpPr txBox="1"/>
          <p:nvPr/>
        </p:nvSpPr>
        <p:spPr>
          <a:xfrm>
            <a:off x="11561596" y="14901823"/>
            <a:ext cx="1467659" cy="368332"/>
          </a:xfrm>
          <a:prstGeom prst="rect">
            <a:avLst/>
          </a:prstGeom>
          <a:noFill/>
        </p:spPr>
        <p:txBody>
          <a:bodyPr wrap="square" lIns="0" tIns="0" rIns="0" bIns="0" rtlCol="0">
            <a:spAutoFit/>
          </a:bodyPr>
          <a:lstStyle/>
          <a:p>
            <a:pPr algn="ctr"/>
            <a:r>
              <a:rPr lang="en-GB" sz="2400" dirty="0">
                <a:solidFill>
                  <a:srgbClr val="0F1012"/>
                </a:solidFill>
                <a:latin typeface="Open Sans" panose="020B0606030504020204" pitchFamily="34" charset="0"/>
                <a:ea typeface="Open Sans" panose="020B0606030504020204" pitchFamily="34" charset="0"/>
                <a:cs typeface="Open Sans" panose="020B0606030504020204" pitchFamily="34" charset="0"/>
              </a:rPr>
              <a:t>Report</a:t>
            </a:r>
            <a:endParaRPr lang="en-US" sz="2400" dirty="0"/>
          </a:p>
        </p:txBody>
      </p:sp>
      <p:sp>
        <p:nvSpPr>
          <p:cNvPr id="62" name="TextBox 61">
            <a:extLst>
              <a:ext uri="{FF2B5EF4-FFF2-40B4-BE49-F238E27FC236}">
                <a16:creationId xmlns:a16="http://schemas.microsoft.com/office/drawing/2014/main" id="{FE945267-7F26-6790-03A5-3909C6FD18E6}"/>
              </a:ext>
            </a:extLst>
          </p:cNvPr>
          <p:cNvSpPr txBox="1"/>
          <p:nvPr/>
        </p:nvSpPr>
        <p:spPr>
          <a:xfrm>
            <a:off x="11616261" y="18065998"/>
            <a:ext cx="1467659" cy="368332"/>
          </a:xfrm>
          <a:prstGeom prst="rect">
            <a:avLst/>
          </a:prstGeom>
          <a:noFill/>
        </p:spPr>
        <p:txBody>
          <a:bodyPr wrap="square" lIns="0" tIns="0" rIns="0" bIns="0" rtlCol="0">
            <a:spAutoFit/>
          </a:bodyPr>
          <a:lstStyle/>
          <a:p>
            <a:pPr algn="ctr"/>
            <a:r>
              <a:rPr lang="en-GB" sz="2400" dirty="0">
                <a:solidFill>
                  <a:srgbClr val="0F1012"/>
                </a:solidFill>
                <a:latin typeface="Open Sans" panose="020B0606030504020204" pitchFamily="34" charset="0"/>
                <a:ea typeface="Open Sans" panose="020B0606030504020204" pitchFamily="34" charset="0"/>
                <a:cs typeface="Open Sans" panose="020B0606030504020204" pitchFamily="34" charset="0"/>
              </a:rPr>
              <a:t>Check</a:t>
            </a:r>
            <a:endParaRPr lang="en-US" sz="2400" dirty="0"/>
          </a:p>
        </p:txBody>
      </p:sp>
      <p:sp>
        <p:nvSpPr>
          <p:cNvPr id="63" name="TextBox 62">
            <a:extLst>
              <a:ext uri="{FF2B5EF4-FFF2-40B4-BE49-F238E27FC236}">
                <a16:creationId xmlns:a16="http://schemas.microsoft.com/office/drawing/2014/main" id="{FB5ADAA3-ACB2-620C-4DF9-01DFBE849DA4}"/>
              </a:ext>
            </a:extLst>
          </p:cNvPr>
          <p:cNvSpPr txBox="1"/>
          <p:nvPr/>
        </p:nvSpPr>
        <p:spPr>
          <a:xfrm>
            <a:off x="3364543" y="15570860"/>
            <a:ext cx="269304" cy="430887"/>
          </a:xfrm>
          <a:prstGeom prst="rect">
            <a:avLst/>
          </a:prstGeom>
          <a:noFill/>
        </p:spPr>
        <p:txBody>
          <a:bodyPr wrap="none" lIns="0" tIns="0" rIns="0" bIns="0" rtlCol="0">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&amp;</a:t>
            </a:r>
          </a:p>
        </p:txBody>
      </p:sp>
      <p:sp>
        <p:nvSpPr>
          <p:cNvPr id="64" name="TextBox 63">
            <a:extLst>
              <a:ext uri="{FF2B5EF4-FFF2-40B4-BE49-F238E27FC236}">
                <a16:creationId xmlns:a16="http://schemas.microsoft.com/office/drawing/2014/main" id="{20CF9308-953B-298D-D65A-70F14F09C1A2}"/>
              </a:ext>
            </a:extLst>
          </p:cNvPr>
          <p:cNvSpPr txBox="1"/>
          <p:nvPr/>
        </p:nvSpPr>
        <p:spPr>
          <a:xfrm>
            <a:off x="12239835" y="15541820"/>
            <a:ext cx="269304" cy="430887"/>
          </a:xfrm>
          <a:prstGeom prst="rect">
            <a:avLst/>
          </a:prstGeom>
          <a:noFill/>
        </p:spPr>
        <p:txBody>
          <a:bodyPr wrap="none" lIns="0" tIns="0" rIns="0" bIns="0" rtlCol="0">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&amp;</a:t>
            </a:r>
          </a:p>
        </p:txBody>
      </p:sp>
      <p:pic>
        <p:nvPicPr>
          <p:cNvPr id="65" name="Graphic 64" descr="Arrow Right with solid fill">
            <a:extLst>
              <a:ext uri="{FF2B5EF4-FFF2-40B4-BE49-F238E27FC236}">
                <a16:creationId xmlns:a16="http://schemas.microsoft.com/office/drawing/2014/main" id="{4FF38766-9778-A925-200A-D44E6877C33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756900" y="15369191"/>
            <a:ext cx="914400" cy="914400"/>
          </a:xfrm>
          <a:prstGeom prst="rect">
            <a:avLst/>
          </a:prstGeom>
        </p:spPr>
      </p:pic>
      <p:sp>
        <p:nvSpPr>
          <p:cNvPr id="67" name="TextBox 66">
            <a:extLst>
              <a:ext uri="{FF2B5EF4-FFF2-40B4-BE49-F238E27FC236}">
                <a16:creationId xmlns:a16="http://schemas.microsoft.com/office/drawing/2014/main" id="{9EE1A6FA-4BF6-3A1F-F658-B856BF42D71B}"/>
              </a:ext>
            </a:extLst>
          </p:cNvPr>
          <p:cNvSpPr txBox="1"/>
          <p:nvPr/>
        </p:nvSpPr>
        <p:spPr>
          <a:xfrm>
            <a:off x="2102109" y="11980912"/>
            <a:ext cx="11368167" cy="492443"/>
          </a:xfrm>
          <a:prstGeom prst="rect">
            <a:avLst/>
          </a:prstGeom>
          <a:noFill/>
        </p:spPr>
        <p:txBody>
          <a:bodyPr wrap="square" lIns="0" tIns="0" rIns="0" bIns="0" rtlCol="0">
            <a:spAutoFit/>
          </a:bodyPr>
          <a:lstStyle/>
          <a:p>
            <a:pPr fontAlgn="b"/>
            <a:r>
              <a:rPr lang="en-US" sz="3200" b="1" i="1" dirty="0">
                <a:latin typeface="Merriweather" pitchFamily="2" charset="77"/>
              </a:rPr>
              <a:t>Suggested workflow for statistical simulation studies</a:t>
            </a:r>
          </a:p>
        </p:txBody>
      </p:sp>
      <p:sp>
        <p:nvSpPr>
          <p:cNvPr id="68" name="Folded Corner 67">
            <a:extLst>
              <a:ext uri="{FF2B5EF4-FFF2-40B4-BE49-F238E27FC236}">
                <a16:creationId xmlns:a16="http://schemas.microsoft.com/office/drawing/2014/main" id="{CC0490C9-F14A-2129-660A-C253B4834EBE}"/>
              </a:ext>
            </a:extLst>
          </p:cNvPr>
          <p:cNvSpPr/>
          <p:nvPr/>
        </p:nvSpPr>
        <p:spPr>
          <a:xfrm>
            <a:off x="15451345" y="10430995"/>
            <a:ext cx="1656184" cy="1549351"/>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what do </a:t>
            </a:r>
            <a:r>
              <a:rPr lang="en-US" sz="2400" i="1" dirty="0">
                <a:solidFill>
                  <a:schemeClr val="tx1"/>
                </a:solidFill>
                <a:latin typeface="Open Sans" panose="020B0606030504020204" pitchFamily="34" charset="0"/>
                <a:ea typeface="Open Sans" panose="020B0606030504020204" pitchFamily="34" charset="0"/>
                <a:cs typeface="Open Sans" panose="020B0606030504020204" pitchFamily="34" charset="0"/>
              </a:rPr>
              <a:t>you</a:t>
            </a:r>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algn="ctr"/>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think?</a:t>
            </a:r>
          </a:p>
        </p:txBody>
      </p:sp>
      <p:sp>
        <p:nvSpPr>
          <p:cNvPr id="75" name="Folded Corner 74">
            <a:extLst>
              <a:ext uri="{FF2B5EF4-FFF2-40B4-BE49-F238E27FC236}">
                <a16:creationId xmlns:a16="http://schemas.microsoft.com/office/drawing/2014/main" id="{5E455247-244D-02A3-5C00-81563696AB54}"/>
              </a:ext>
            </a:extLst>
          </p:cNvPr>
          <p:cNvSpPr/>
          <p:nvPr/>
        </p:nvSpPr>
        <p:spPr>
          <a:xfrm>
            <a:off x="29836896" y="12948755"/>
            <a:ext cx="2176032" cy="2200509"/>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how should we connect with other initiatives?</a:t>
            </a:r>
          </a:p>
        </p:txBody>
      </p:sp>
    </p:spTree>
    <p:extLst>
      <p:ext uri="{BB962C8B-B14F-4D97-AF65-F5344CB8AC3E}">
        <p14:creationId xmlns:p14="http://schemas.microsoft.com/office/powerpoint/2010/main" val="1435791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3198-5613-A77E-874D-F4390CA33628}"/>
            </a:ext>
          </a:extLst>
        </p:cNvPr>
        <p:cNvGrpSpPr/>
        <p:nvPr/>
      </p:nvGrpSpPr>
      <p:grpSpPr>
        <a:xfrm>
          <a:off x="0" y="0"/>
          <a:ext cx="0" cy="0"/>
          <a:chOff x="0" y="0"/>
          <a:chExt cx="0" cy="0"/>
        </a:xfrm>
      </p:grpSpPr>
      <p:sp>
        <p:nvSpPr>
          <p:cNvPr id="25" name="Rechthoek 24">
            <a:extLst>
              <a:ext uri="{FF2B5EF4-FFF2-40B4-BE49-F238E27FC236}">
                <a16:creationId xmlns:a16="http://schemas.microsoft.com/office/drawing/2014/main" id="{375DA426-96D0-35B9-AA15-87B36E3238C8}"/>
              </a:ext>
            </a:extLst>
          </p:cNvPr>
          <p:cNvSpPr/>
          <p:nvPr/>
        </p:nvSpPr>
        <p:spPr>
          <a:xfrm>
            <a:off x="25113714" y="-6806"/>
            <a:ext cx="7804686" cy="25963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trike="sngStrike"/>
          </a:p>
        </p:txBody>
      </p:sp>
      <p:sp>
        <p:nvSpPr>
          <p:cNvPr id="48" name="Subtitel 2">
            <a:extLst>
              <a:ext uri="{FF2B5EF4-FFF2-40B4-BE49-F238E27FC236}">
                <a16:creationId xmlns:a16="http://schemas.microsoft.com/office/drawing/2014/main" id="{71A30C24-1D51-77B5-4B9B-CFD2457C2232}"/>
              </a:ext>
            </a:extLst>
          </p:cNvPr>
          <p:cNvSpPr txBox="1">
            <a:spLocks/>
          </p:cNvSpPr>
          <p:nvPr/>
        </p:nvSpPr>
        <p:spPr>
          <a:xfrm>
            <a:off x="33527440" y="14510233"/>
            <a:ext cx="9219651" cy="6824304"/>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GB" sz="2610" b="1" dirty="0">
                <a:solidFill>
                  <a:srgbClr val="0F1012"/>
                </a:solidFill>
                <a:latin typeface="Verdana"/>
              </a:rPr>
              <a:t>Size</a:t>
            </a:r>
          </a:p>
          <a:p>
            <a:pPr algn="l"/>
            <a:r>
              <a:rPr lang="en-GB" sz="2501" dirty="0">
                <a:solidFill>
                  <a:srgbClr val="0F1012"/>
                </a:solidFill>
                <a:latin typeface="Verdana"/>
              </a:rPr>
              <a:t>The size of this scientific poster is 24x36 </a:t>
            </a:r>
            <a:r>
              <a:rPr lang="en-GB" sz="2501" dirty="0">
                <a:solidFill>
                  <a:srgbClr val="0F1012"/>
                </a:solidFill>
              </a:rPr>
              <a:t>inch (60,96 </a:t>
            </a:r>
            <a:r>
              <a:rPr lang="en-GB" sz="2501" dirty="0">
                <a:solidFill>
                  <a:srgbClr val="0F1012"/>
                </a:solidFill>
                <a:latin typeface="Verdana"/>
              </a:rPr>
              <a:t>x </a:t>
            </a:r>
            <a:r>
              <a:rPr lang="en-GB" sz="2501" dirty="0">
                <a:solidFill>
                  <a:srgbClr val="0F1012"/>
                </a:solidFill>
              </a:rPr>
              <a:t>91,44 </a:t>
            </a:r>
            <a:r>
              <a:rPr lang="en-GB" sz="2501" dirty="0">
                <a:solidFill>
                  <a:srgbClr val="0F1012"/>
                </a:solidFill>
                <a:latin typeface="Verdana"/>
              </a:rPr>
              <a:t>cm).</a:t>
            </a:r>
          </a:p>
          <a:p>
            <a:pPr algn="l"/>
            <a:r>
              <a:rPr lang="en-GB" sz="2175" b="1" dirty="0"/>
              <a:t> </a:t>
            </a:r>
            <a:r>
              <a:rPr lang="en-GB" sz="2501" dirty="0">
                <a:solidFill>
                  <a:srgbClr val="0F1012"/>
                </a:solidFill>
                <a:latin typeface="Verdana"/>
              </a:rPr>
              <a:t> </a:t>
            </a:r>
          </a:p>
          <a:p>
            <a:pPr algn="l"/>
            <a:r>
              <a:rPr lang="en-GB" sz="2610" b="1" dirty="0">
                <a:solidFill>
                  <a:srgbClr val="0F1012"/>
                </a:solidFill>
                <a:latin typeface="Verdana"/>
              </a:rPr>
              <a:t>Columns</a:t>
            </a:r>
          </a:p>
          <a:p>
            <a:pPr algn="l"/>
            <a:r>
              <a:rPr lang="en-GB" sz="2501" dirty="0">
                <a:solidFill>
                  <a:srgbClr val="0F1012"/>
                </a:solidFill>
                <a:latin typeface="Verdana"/>
              </a:rPr>
              <a:t>The poster layout may consist of two or three columns.</a:t>
            </a:r>
          </a:p>
          <a:p>
            <a:pPr algn="l"/>
            <a:r>
              <a:rPr lang="en-GB" sz="2501" dirty="0">
                <a:solidFill>
                  <a:srgbClr val="0F1012"/>
                </a:solidFill>
                <a:latin typeface="Verdana"/>
              </a:rPr>
              <a:t> </a:t>
            </a:r>
          </a:p>
          <a:p>
            <a:pPr algn="l"/>
            <a:r>
              <a:rPr lang="en-GB" sz="2610" b="1" dirty="0">
                <a:solidFill>
                  <a:srgbClr val="0F1012"/>
                </a:solidFill>
                <a:latin typeface="Verdana"/>
              </a:rPr>
              <a:t>Ratio between text and image</a:t>
            </a:r>
          </a:p>
          <a:p>
            <a:pPr algn="l"/>
            <a:r>
              <a:rPr lang="en-GB" sz="2501" dirty="0">
                <a:solidFill>
                  <a:srgbClr val="0F1012"/>
                </a:solidFill>
                <a:latin typeface="Verdana"/>
              </a:rPr>
              <a:t>Do not use too much text. Try to tell the scientific results in clear images (graphics, illustrations, photo’s).</a:t>
            </a:r>
          </a:p>
          <a:p>
            <a:pPr algn="l"/>
            <a:endParaRPr lang="en-GB" sz="2501" dirty="0">
              <a:solidFill>
                <a:srgbClr val="0F1012"/>
              </a:solidFill>
              <a:latin typeface="Verdana"/>
            </a:endParaRPr>
          </a:p>
          <a:p>
            <a:pPr algn="l"/>
            <a:r>
              <a:rPr lang="en-GB" sz="2610" b="1" dirty="0" err="1">
                <a:solidFill>
                  <a:srgbClr val="0F1012"/>
                </a:solidFill>
                <a:latin typeface="Verdana"/>
              </a:rPr>
              <a:t>Color</a:t>
            </a:r>
            <a:r>
              <a:rPr lang="en-GB" sz="2610" b="1" dirty="0">
                <a:solidFill>
                  <a:srgbClr val="0F1012"/>
                </a:solidFill>
                <a:latin typeface="Verdana"/>
              </a:rPr>
              <a:t> </a:t>
            </a:r>
          </a:p>
          <a:p>
            <a:pPr algn="l"/>
            <a:r>
              <a:rPr lang="en-GB" sz="2501" dirty="0">
                <a:solidFill>
                  <a:srgbClr val="0F1012"/>
                </a:solidFill>
                <a:latin typeface="Verdana"/>
              </a:rPr>
              <a:t>You can find the used </a:t>
            </a:r>
            <a:r>
              <a:rPr lang="en-GB" sz="2501" dirty="0" err="1">
                <a:solidFill>
                  <a:srgbClr val="0F1012"/>
                </a:solidFill>
                <a:latin typeface="Verdana"/>
              </a:rPr>
              <a:t>colors</a:t>
            </a:r>
            <a:r>
              <a:rPr lang="en-GB" sz="2501" dirty="0">
                <a:solidFill>
                  <a:srgbClr val="0F1012"/>
                </a:solidFill>
                <a:latin typeface="Verdana"/>
              </a:rPr>
              <a:t> in the </a:t>
            </a:r>
            <a:r>
              <a:rPr lang="en-GB" sz="2501" dirty="0" err="1">
                <a:solidFill>
                  <a:srgbClr val="0F1012"/>
                </a:solidFill>
                <a:latin typeface="Verdana"/>
              </a:rPr>
              <a:t>menubar</a:t>
            </a:r>
            <a:r>
              <a:rPr lang="en-GB" sz="2501" dirty="0">
                <a:solidFill>
                  <a:srgbClr val="0F1012"/>
                </a:solidFill>
                <a:latin typeface="Verdana"/>
              </a:rPr>
              <a:t> &gt; Shape Fill  &gt; Theme </a:t>
            </a:r>
            <a:r>
              <a:rPr lang="en-GB" sz="2501" dirty="0" err="1">
                <a:solidFill>
                  <a:srgbClr val="0F1012"/>
                </a:solidFill>
                <a:latin typeface="Verdana"/>
              </a:rPr>
              <a:t>colors</a:t>
            </a:r>
            <a:r>
              <a:rPr lang="en-GB" sz="2501" dirty="0">
                <a:solidFill>
                  <a:srgbClr val="0F1012"/>
                </a:solidFill>
                <a:latin typeface="Verdana"/>
              </a:rPr>
              <a:t>, or in Recent </a:t>
            </a:r>
            <a:r>
              <a:rPr lang="en-GB" sz="2501" dirty="0" err="1">
                <a:solidFill>
                  <a:srgbClr val="0F1012"/>
                </a:solidFill>
                <a:latin typeface="Verdana"/>
              </a:rPr>
              <a:t>colors</a:t>
            </a:r>
            <a:r>
              <a:rPr lang="en-GB" sz="2501" dirty="0">
                <a:solidFill>
                  <a:srgbClr val="0F1012"/>
                </a:solidFill>
                <a:latin typeface="Verdana"/>
              </a:rPr>
              <a:t>. </a:t>
            </a:r>
          </a:p>
          <a:p>
            <a:pPr algn="l"/>
            <a:endParaRPr lang="en-GB" sz="2610" b="1" dirty="0">
              <a:solidFill>
                <a:srgbClr val="0F1012"/>
              </a:solidFill>
              <a:latin typeface="Verdana"/>
            </a:endParaRPr>
          </a:p>
        </p:txBody>
      </p:sp>
      <p:pic>
        <p:nvPicPr>
          <p:cNvPr id="74" name="Afbeelding 73" descr="Schermafbeelding 2013-07-19 om 15.32.05.png">
            <a:extLst>
              <a:ext uri="{FF2B5EF4-FFF2-40B4-BE49-F238E27FC236}">
                <a16:creationId xmlns:a16="http://schemas.microsoft.com/office/drawing/2014/main" id="{D1568F21-FC5D-9FFE-3732-7BC008744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744" y="20332077"/>
            <a:ext cx="616226" cy="639049"/>
          </a:xfrm>
          <a:prstGeom prst="rect">
            <a:avLst/>
          </a:prstGeom>
        </p:spPr>
      </p:pic>
      <p:sp>
        <p:nvSpPr>
          <p:cNvPr id="78" name="Subtitel 2">
            <a:extLst>
              <a:ext uri="{FF2B5EF4-FFF2-40B4-BE49-F238E27FC236}">
                <a16:creationId xmlns:a16="http://schemas.microsoft.com/office/drawing/2014/main" id="{B76F940A-5445-A09D-9A18-BA9BA3F86B91}"/>
              </a:ext>
            </a:extLst>
          </p:cNvPr>
          <p:cNvSpPr txBox="1">
            <a:spLocks/>
          </p:cNvSpPr>
          <p:nvPr/>
        </p:nvSpPr>
        <p:spPr>
          <a:xfrm>
            <a:off x="33563905" y="9666216"/>
            <a:ext cx="9146720" cy="36549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914"/>
              </a:lnSpc>
              <a:spcBef>
                <a:spcPts val="0"/>
              </a:spcBef>
              <a:defRPr/>
            </a:pPr>
            <a:r>
              <a:rPr lang="en-GB" sz="3044" b="1" dirty="0">
                <a:solidFill>
                  <a:srgbClr val="C10033"/>
                </a:solidFill>
                <a:latin typeface="Verdana"/>
              </a:rPr>
              <a:t>Printing</a:t>
            </a:r>
          </a:p>
          <a:p>
            <a:pPr algn="l">
              <a:lnSpc>
                <a:spcPts val="3914"/>
              </a:lnSpc>
              <a:spcBef>
                <a:spcPts val="0"/>
              </a:spcBef>
              <a:defRPr/>
            </a:pPr>
            <a:endParaRPr lang="en-GB" sz="4349" b="1" dirty="0">
              <a:solidFill>
                <a:srgbClr val="C10033"/>
              </a:solidFill>
              <a:latin typeface="Verdana"/>
              <a:ea typeface="바탕"/>
              <a:cs typeface="Verdana"/>
            </a:endParaRPr>
          </a:p>
          <a:p>
            <a:pPr algn="l" defTabSz="2314030">
              <a:lnSpc>
                <a:spcPts val="3001"/>
              </a:lnSpc>
              <a:spcBef>
                <a:spcPts val="0"/>
              </a:spcBef>
              <a:defRPr/>
            </a:pPr>
            <a:r>
              <a:rPr lang="en-GB" sz="2175" b="1" dirty="0">
                <a:solidFill>
                  <a:srgbClr val="C10033"/>
                </a:solidFill>
                <a:latin typeface="Verdana"/>
                <a:cs typeface="Verdana"/>
              </a:rPr>
              <a:t>For the printing of a poster please contact </a:t>
            </a:r>
            <a:r>
              <a:rPr lang="en-GB" sz="2175" b="1">
                <a:solidFill>
                  <a:srgbClr val="C10033"/>
                </a:solidFill>
                <a:latin typeface="Verdana"/>
                <a:cs typeface="Verdana"/>
              </a:rPr>
              <a:t>our print vendor </a:t>
            </a:r>
            <a:r>
              <a:rPr lang="en-GB" sz="2175" b="1" dirty="0">
                <a:solidFill>
                  <a:srgbClr val="C10033"/>
                </a:solidFill>
                <a:latin typeface="Verdana"/>
                <a:cs typeface="Verdana"/>
              </a:rPr>
              <a:t>Canon. </a:t>
            </a:r>
            <a:endParaRPr lang="en-GB" sz="2175" dirty="0">
              <a:solidFill>
                <a:srgbClr val="C10033"/>
              </a:solidFill>
              <a:latin typeface="Verdana"/>
              <a:cs typeface="Verdana"/>
            </a:endParaRPr>
          </a:p>
          <a:p>
            <a:pPr algn="l" defTabSz="2314030">
              <a:lnSpc>
                <a:spcPts val="3001"/>
              </a:lnSpc>
              <a:spcBef>
                <a:spcPts val="0"/>
              </a:spcBef>
              <a:defRPr/>
            </a:pPr>
            <a:endParaRPr lang="en-GB" sz="2175" dirty="0">
              <a:solidFill>
                <a:srgbClr val="C10033"/>
              </a:solidFill>
              <a:latin typeface="Verdana"/>
              <a:cs typeface="Verdana"/>
            </a:endParaRPr>
          </a:p>
          <a:p>
            <a:pPr algn="l" defTabSz="2314030">
              <a:lnSpc>
                <a:spcPts val="3001"/>
              </a:lnSpc>
              <a:spcBef>
                <a:spcPts val="0"/>
              </a:spcBef>
              <a:defRPr/>
            </a:pPr>
            <a:r>
              <a:rPr lang="en-GB" sz="2175" b="1" dirty="0">
                <a:solidFill>
                  <a:srgbClr val="C10033"/>
                </a:solidFill>
                <a:latin typeface="Verdana"/>
                <a:cs typeface="Verdana"/>
              </a:rPr>
              <a:t>More information:</a:t>
            </a:r>
            <a:br>
              <a:rPr lang="en-GB" sz="2175" dirty="0">
                <a:solidFill>
                  <a:srgbClr val="C10033"/>
                </a:solidFill>
                <a:latin typeface="Verdana"/>
                <a:cs typeface="Verdana"/>
              </a:rPr>
            </a:br>
            <a:r>
              <a:rPr lang="en-GB" sz="2175" dirty="0">
                <a:solidFill>
                  <a:srgbClr val="C10033"/>
                </a:solidFill>
                <a:latin typeface="Verdana"/>
                <a:cs typeface="Verdana"/>
              </a:rPr>
              <a:t>Email: </a:t>
            </a:r>
            <a:r>
              <a:rPr lang="en-GB" sz="2175" dirty="0" err="1">
                <a:solidFill>
                  <a:srgbClr val="C10033"/>
                </a:solidFill>
                <a:latin typeface="Verdana"/>
                <a:cs typeface="Verdana"/>
              </a:rPr>
              <a:t>uu@canon.nl</a:t>
            </a:r>
            <a:endParaRPr lang="en-GB" sz="2175" dirty="0">
              <a:solidFill>
                <a:srgbClr val="C10033"/>
              </a:solidFill>
              <a:latin typeface="Verdana"/>
              <a:cs typeface="Verdana"/>
            </a:endParaRPr>
          </a:p>
          <a:p>
            <a:pPr algn="l" defTabSz="2314030">
              <a:lnSpc>
                <a:spcPts val="3001"/>
              </a:lnSpc>
              <a:spcBef>
                <a:spcPts val="0"/>
              </a:spcBef>
              <a:defRPr/>
            </a:pPr>
            <a:endParaRPr lang="en-GB" sz="2175" dirty="0">
              <a:solidFill>
                <a:srgbClr val="C10033"/>
              </a:solidFill>
              <a:latin typeface="Verdana"/>
              <a:cs typeface="Verdana"/>
            </a:endParaRPr>
          </a:p>
          <a:p>
            <a:pPr algn="l" defTabSz="2314030">
              <a:lnSpc>
                <a:spcPts val="3001"/>
              </a:lnSpc>
              <a:spcBef>
                <a:spcPts val="0"/>
              </a:spcBef>
              <a:defRPr/>
            </a:pPr>
            <a:endParaRPr lang="en-GB" sz="2175" dirty="0">
              <a:solidFill>
                <a:srgbClr val="C10033"/>
              </a:solidFill>
              <a:latin typeface="Verdana"/>
              <a:cs typeface="Verdana"/>
            </a:endParaRPr>
          </a:p>
        </p:txBody>
      </p:sp>
      <p:sp>
        <p:nvSpPr>
          <p:cNvPr id="37" name="Rechthoek 36">
            <a:extLst>
              <a:ext uri="{FF2B5EF4-FFF2-40B4-BE49-F238E27FC236}">
                <a16:creationId xmlns:a16="http://schemas.microsoft.com/office/drawing/2014/main" id="{E11DCDBC-920E-0EFD-62F8-8D56F8888C23}"/>
              </a:ext>
            </a:extLst>
          </p:cNvPr>
          <p:cNvSpPr/>
          <p:nvPr/>
        </p:nvSpPr>
        <p:spPr>
          <a:xfrm>
            <a:off x="1659353" y="13965776"/>
            <a:ext cx="19375781" cy="539921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GB" sz="1957" dirty="0"/>
          </a:p>
        </p:txBody>
      </p:sp>
      <p:sp>
        <p:nvSpPr>
          <p:cNvPr id="38" name="Tekstvak 37">
            <a:extLst>
              <a:ext uri="{FF2B5EF4-FFF2-40B4-BE49-F238E27FC236}">
                <a16:creationId xmlns:a16="http://schemas.microsoft.com/office/drawing/2014/main" id="{4DA3A452-7261-75DC-76DD-255DF8246E14}"/>
              </a:ext>
            </a:extLst>
          </p:cNvPr>
          <p:cNvSpPr txBox="1">
            <a:spLocks/>
          </p:cNvSpPr>
          <p:nvPr/>
        </p:nvSpPr>
        <p:spPr>
          <a:xfrm>
            <a:off x="1659353" y="3699992"/>
            <a:ext cx="29549804" cy="1674516"/>
          </a:xfrm>
          <a:prstGeom prst="rect">
            <a:avLst/>
          </a:prstGeom>
          <a:noFill/>
        </p:spPr>
        <p:txBody>
          <a:bodyPr wrap="square" lIns="0" tIns="0" rIns="0" bIns="0" rtlCol="0">
            <a:noAutofit/>
          </a:bodyPr>
          <a:lstStyle/>
          <a:p>
            <a:r>
              <a:rPr lang="en-GB" sz="7200" b="1" dirty="0">
                <a:latin typeface="Merriweather" pitchFamily="2" charset="77"/>
                <a:cs typeface="Verdana"/>
              </a:rPr>
              <a:t>Toward a standardized evaluation of imputation methodology</a:t>
            </a:r>
          </a:p>
        </p:txBody>
      </p:sp>
      <p:cxnSp>
        <p:nvCxnSpPr>
          <p:cNvPr id="39" name="Rechte verbindingslijn 38">
            <a:extLst>
              <a:ext uri="{FF2B5EF4-FFF2-40B4-BE49-F238E27FC236}">
                <a16:creationId xmlns:a16="http://schemas.microsoft.com/office/drawing/2014/main" id="{B323ECD9-91B7-7034-085C-C046D665A4CF}"/>
              </a:ext>
            </a:extLst>
          </p:cNvPr>
          <p:cNvCxnSpPr/>
          <p:nvPr/>
        </p:nvCxnSpPr>
        <p:spPr>
          <a:xfrm flipV="1">
            <a:off x="1583213" y="6364288"/>
            <a:ext cx="29986861" cy="1"/>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0" name="Subtitel 2">
            <a:extLst>
              <a:ext uri="{FF2B5EF4-FFF2-40B4-BE49-F238E27FC236}">
                <a16:creationId xmlns:a16="http://schemas.microsoft.com/office/drawing/2014/main" id="{DD85FB6B-D2FD-DB3A-47C1-C7390FD85776}"/>
              </a:ext>
            </a:extLst>
          </p:cNvPr>
          <p:cNvSpPr txBox="1">
            <a:spLocks/>
          </p:cNvSpPr>
          <p:nvPr/>
        </p:nvSpPr>
        <p:spPr>
          <a:xfrm>
            <a:off x="1583213" y="19984118"/>
            <a:ext cx="9443388" cy="998772"/>
          </a:xfrm>
          <a:prstGeom prst="rect">
            <a:avLst/>
          </a:prstGeom>
          <a:noFill/>
        </p:spPr>
        <p:txBody>
          <a:bodyPr vert="horz" lIns="0" tIns="0" rIns="0" bIns="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GB" sz="1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References</a:t>
            </a:r>
          </a:p>
          <a:p>
            <a:pPr marL="372835" indent="-372835" algn="l">
              <a:buAutoNum type="arabicPeriod"/>
            </a:pPr>
            <a:r>
              <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Name author</a:t>
            </a:r>
          </a:p>
          <a:p>
            <a:pPr marL="372835" indent="-372835" algn="l">
              <a:buAutoNum type="arabicPeriod"/>
            </a:pPr>
            <a:r>
              <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Name author</a:t>
            </a:r>
          </a:p>
        </p:txBody>
      </p:sp>
      <p:cxnSp>
        <p:nvCxnSpPr>
          <p:cNvPr id="41" name="Rechte verbindingslijn 40">
            <a:extLst>
              <a:ext uri="{FF2B5EF4-FFF2-40B4-BE49-F238E27FC236}">
                <a16:creationId xmlns:a16="http://schemas.microsoft.com/office/drawing/2014/main" id="{E69622D3-FB31-260A-443F-5D9611189C73}"/>
              </a:ext>
            </a:extLst>
          </p:cNvPr>
          <p:cNvCxnSpPr/>
          <p:nvPr/>
        </p:nvCxnSpPr>
        <p:spPr>
          <a:xfrm>
            <a:off x="1583213" y="19829784"/>
            <a:ext cx="29830275" cy="0"/>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Subtitel 2">
            <a:extLst>
              <a:ext uri="{FF2B5EF4-FFF2-40B4-BE49-F238E27FC236}">
                <a16:creationId xmlns:a16="http://schemas.microsoft.com/office/drawing/2014/main" id="{14060601-8386-3759-D7F0-83F7F1714095}"/>
              </a:ext>
            </a:extLst>
          </p:cNvPr>
          <p:cNvSpPr txBox="1">
            <a:spLocks/>
          </p:cNvSpPr>
          <p:nvPr/>
        </p:nvSpPr>
        <p:spPr>
          <a:xfrm>
            <a:off x="14144528" y="14510725"/>
            <a:ext cx="6107659" cy="3508076"/>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2392" b="1" dirty="0">
                <a:solidFill>
                  <a:srgbClr val="C10033"/>
                </a:solidFill>
                <a:latin typeface="Open Sans" panose="020B0606030504020204" pitchFamily="34" charset="0"/>
                <a:ea typeface="Open Sans" panose="020B0606030504020204" pitchFamily="34" charset="0"/>
                <a:cs typeface="Open Sans" panose="020B0606030504020204" pitchFamily="34" charset="0"/>
              </a:rPr>
              <a:t>Figure 1</a:t>
            </a:r>
          </a:p>
          <a:p>
            <a:pPr algn="l">
              <a:lnSpc>
                <a:spcPts val="3044"/>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Od qui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aute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as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moditaquiae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qui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adit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periatent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liquossequi</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con re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doluptium</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aut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et quos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repere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pera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pa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volorit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omnihit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ut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etus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ium</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imoluptate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ilictamus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rempe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denisti</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onsequo</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esti</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optatia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alit ped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mo</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volupta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simus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plaut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expel mi,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tem</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simolor</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estemostia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volupta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quo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quat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que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quas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andelia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tinihicatus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molore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prorem</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quossequas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voluptaes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dolorat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t>
            </a:r>
          </a:p>
        </p:txBody>
      </p:sp>
      <p:sp>
        <p:nvSpPr>
          <p:cNvPr id="45" name="Rechthoek 44">
            <a:extLst>
              <a:ext uri="{FF2B5EF4-FFF2-40B4-BE49-F238E27FC236}">
                <a16:creationId xmlns:a16="http://schemas.microsoft.com/office/drawing/2014/main" id="{52AC4BFF-447B-B20B-3D1E-BBF42E240AB5}"/>
              </a:ext>
            </a:extLst>
          </p:cNvPr>
          <p:cNvSpPr/>
          <p:nvPr/>
        </p:nvSpPr>
        <p:spPr>
          <a:xfrm>
            <a:off x="21865155" y="13965776"/>
            <a:ext cx="9532555" cy="539024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957" dirty="0"/>
          </a:p>
        </p:txBody>
      </p:sp>
      <p:graphicFrame>
        <p:nvGraphicFramePr>
          <p:cNvPr id="49" name="Tabel 48">
            <a:extLst>
              <a:ext uri="{FF2B5EF4-FFF2-40B4-BE49-F238E27FC236}">
                <a16:creationId xmlns:a16="http://schemas.microsoft.com/office/drawing/2014/main" id="{57DAAC7D-A05F-8228-979D-861651F7AAE6}"/>
              </a:ext>
            </a:extLst>
          </p:cNvPr>
          <p:cNvGraphicFramePr>
            <a:graphicFrameLocks noGrp="1"/>
          </p:cNvGraphicFramePr>
          <p:nvPr/>
        </p:nvGraphicFramePr>
        <p:xfrm>
          <a:off x="22448086" y="14427925"/>
          <a:ext cx="5233285" cy="4380028"/>
        </p:xfrm>
        <a:graphic>
          <a:graphicData uri="http://schemas.openxmlformats.org/drawingml/2006/table">
            <a:tbl>
              <a:tblPr firstRow="1" bandRow="1">
                <a:tableStyleId>{2D5ABB26-0587-4C30-8999-92F81FD0307C}</a:tableStyleId>
              </a:tblPr>
              <a:tblGrid>
                <a:gridCol w="2336382">
                  <a:extLst>
                    <a:ext uri="{9D8B030D-6E8A-4147-A177-3AD203B41FA5}">
                      <a16:colId xmlns:a16="http://schemas.microsoft.com/office/drawing/2014/main" val="20000"/>
                    </a:ext>
                  </a:extLst>
                </a:gridCol>
                <a:gridCol w="1487599">
                  <a:extLst>
                    <a:ext uri="{9D8B030D-6E8A-4147-A177-3AD203B41FA5}">
                      <a16:colId xmlns:a16="http://schemas.microsoft.com/office/drawing/2014/main" val="20001"/>
                    </a:ext>
                  </a:extLst>
                </a:gridCol>
                <a:gridCol w="1409304">
                  <a:extLst>
                    <a:ext uri="{9D8B030D-6E8A-4147-A177-3AD203B41FA5}">
                      <a16:colId xmlns:a16="http://schemas.microsoft.com/office/drawing/2014/main" val="20002"/>
                    </a:ext>
                  </a:extLst>
                </a:gridCol>
              </a:tblGrid>
              <a:tr h="850935">
                <a:tc>
                  <a:txBody>
                    <a:bodyPr/>
                    <a:lstStyle/>
                    <a:p>
                      <a:pPr marL="180000"/>
                      <a:r>
                        <a:rPr lang="nl-NL" sz="2000" b="1" i="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Table</a:t>
                      </a:r>
                      <a:r>
                        <a:rPr lang="nl-NL" sz="2000" b="1" i="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nl-NL" sz="2000" b="1" i="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heading</a:t>
                      </a:r>
                      <a:endParaRPr lang="nl-NL" sz="2000" b="1"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49712" marB="49712"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chemeClr val="accent1"/>
                    </a:solidFill>
                  </a:tcPr>
                </a:tc>
                <a:tc>
                  <a:txBody>
                    <a:bodyPr/>
                    <a:lstStyle/>
                    <a:p>
                      <a:endParaRPr lang="nl-NL" sz="2000" b="1"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49712" marB="49712"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chemeClr val="accent1"/>
                    </a:solidFill>
                  </a:tcPr>
                </a:tc>
                <a:tc>
                  <a:txBody>
                    <a:bodyPr/>
                    <a:lstStyle/>
                    <a:p>
                      <a:endParaRPr lang="nl-NL" sz="2000" b="1"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49712" marB="49712"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850935">
                <a:tc>
                  <a:txBody>
                    <a:bodyPr/>
                    <a:lstStyle/>
                    <a:p>
                      <a:pPr marL="180000" indent="0"/>
                      <a:r>
                        <a:rPr lang="nl-NL" sz="20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Text</a:t>
                      </a: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49712" marB="49712"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E998"/>
                    </a:solidFill>
                  </a:tcPr>
                </a:tc>
                <a:tc>
                  <a:txBody>
                    <a:bodyPr/>
                    <a:lstStyle/>
                    <a:p>
                      <a:pPr>
                        <a:lnSpc>
                          <a:spcPts val="2280"/>
                        </a:lnSpc>
                      </a:pPr>
                      <a:endParaRPr lang="nl-NL" sz="200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E998"/>
                    </a:solidFill>
                  </a:tcPr>
                </a:tc>
                <a:tc>
                  <a:txBody>
                    <a:bodyPr/>
                    <a:lstStyle/>
                    <a:p>
                      <a:pPr>
                        <a:lnSpc>
                          <a:spcPts val="2280"/>
                        </a:lnSpc>
                      </a:pPr>
                      <a:endParaRPr lang="nl-NL" sz="200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E998"/>
                    </a:solidFill>
                  </a:tcPr>
                </a:tc>
                <a:extLst>
                  <a:ext uri="{0D108BD9-81ED-4DB2-BD59-A6C34878D82A}">
                    <a16:rowId xmlns:a16="http://schemas.microsoft.com/office/drawing/2014/main" val="10001"/>
                  </a:ext>
                </a:extLst>
              </a:tr>
              <a:tr h="976288">
                <a:tc>
                  <a:txBody>
                    <a:bodyPr/>
                    <a:lstStyle/>
                    <a:p>
                      <a:pPr marL="180000" indent="0"/>
                      <a:r>
                        <a:rPr lang="nl-NL" sz="20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Text</a:t>
                      </a: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DF6B"/>
                    </a:solidFill>
                  </a:tcPr>
                </a:tc>
                <a:tc>
                  <a:txBody>
                    <a:bodyPr/>
                    <a:lstStyle/>
                    <a:p>
                      <a:pPr marL="0" marR="0" indent="0" algn="l" defTabSz="2088170" rtl="0" eaLnBrk="1" fontAlgn="auto" latinLnBrk="0" hangingPunct="1">
                        <a:lnSpc>
                          <a:spcPts val="2280"/>
                        </a:lnSpc>
                        <a:spcBef>
                          <a:spcPts val="0"/>
                        </a:spcBef>
                        <a:spcAft>
                          <a:spcPts val="0"/>
                        </a:spcAft>
                        <a:buClrTx/>
                        <a:buSzTx/>
                        <a:buFontTx/>
                        <a:buNone/>
                        <a:tabLst/>
                        <a:defRPr/>
                      </a:pP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nSpc>
                          <a:spcPts val="2280"/>
                        </a:lnSpc>
                      </a:pPr>
                      <a:endParaRPr lang="nl-NL" sz="200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DF6B"/>
                    </a:solidFill>
                  </a:tcPr>
                </a:tc>
                <a:tc>
                  <a:txBody>
                    <a:bodyPr/>
                    <a:lstStyle/>
                    <a:p>
                      <a:pPr>
                        <a:lnSpc>
                          <a:spcPts val="2280"/>
                        </a:lnSpc>
                      </a:pPr>
                      <a:endParaRPr lang="nl-NL" sz="200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DF6B"/>
                    </a:solidFill>
                  </a:tcPr>
                </a:tc>
                <a:extLst>
                  <a:ext uri="{0D108BD9-81ED-4DB2-BD59-A6C34878D82A}">
                    <a16:rowId xmlns:a16="http://schemas.microsoft.com/office/drawing/2014/main" val="10002"/>
                  </a:ext>
                </a:extLst>
              </a:tr>
              <a:tr h="850935">
                <a:tc>
                  <a:txBody>
                    <a:bodyPr/>
                    <a:lstStyle/>
                    <a:p>
                      <a:pPr marL="180000" indent="0"/>
                      <a:r>
                        <a:rPr lang="nl-NL" sz="20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Text</a:t>
                      </a: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49712" marB="49712"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E998"/>
                    </a:solidFill>
                  </a:tcPr>
                </a:tc>
                <a:tc>
                  <a:txBody>
                    <a:bodyPr/>
                    <a:lstStyle/>
                    <a:p>
                      <a:pPr>
                        <a:lnSpc>
                          <a:spcPts val="2280"/>
                        </a:lnSpc>
                      </a:pPr>
                      <a:endParaRPr lang="nl-NL" sz="200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E998"/>
                    </a:solidFill>
                  </a:tcPr>
                </a:tc>
                <a:tc>
                  <a:txBody>
                    <a:bodyPr/>
                    <a:lstStyle/>
                    <a:p>
                      <a:pPr>
                        <a:lnSpc>
                          <a:spcPts val="2280"/>
                        </a:lnSpc>
                      </a:pPr>
                      <a:endParaRPr lang="nl-NL" sz="200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E998"/>
                    </a:solidFill>
                  </a:tcPr>
                </a:tc>
                <a:extLst>
                  <a:ext uri="{0D108BD9-81ED-4DB2-BD59-A6C34878D82A}">
                    <a16:rowId xmlns:a16="http://schemas.microsoft.com/office/drawing/2014/main" val="10003"/>
                  </a:ext>
                </a:extLst>
              </a:tr>
              <a:tr h="850935">
                <a:tc>
                  <a:txBody>
                    <a:bodyPr/>
                    <a:lstStyle/>
                    <a:p>
                      <a:pPr marL="180000" indent="0"/>
                      <a:r>
                        <a:rPr lang="nl-NL" sz="20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Text</a:t>
                      </a: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17429" marR="99423" marT="49712" marB="49712"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DF6B"/>
                    </a:solidFill>
                  </a:tcPr>
                </a:tc>
                <a:tc>
                  <a:txBody>
                    <a:bodyPr/>
                    <a:lstStyle/>
                    <a:p>
                      <a:pPr marL="0" marR="0" indent="0" algn="l" defTabSz="2088170" rtl="0" eaLnBrk="1" fontAlgn="auto" latinLnBrk="0" hangingPunct="1">
                        <a:lnSpc>
                          <a:spcPts val="2280"/>
                        </a:lnSpc>
                        <a:spcBef>
                          <a:spcPts val="0"/>
                        </a:spcBef>
                        <a:spcAft>
                          <a:spcPts val="0"/>
                        </a:spcAft>
                        <a:buClrTx/>
                        <a:buSzTx/>
                        <a:buFontTx/>
                        <a:buNone/>
                        <a:tabLst/>
                        <a:defRPr/>
                      </a:pP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DF6B"/>
                    </a:solidFill>
                  </a:tcPr>
                </a:tc>
                <a:tc>
                  <a:txBody>
                    <a:bodyPr/>
                    <a:lstStyle/>
                    <a:p>
                      <a:pPr marL="0" marR="0" indent="0" algn="l" defTabSz="2088170" rtl="0" eaLnBrk="1" fontAlgn="auto" latinLnBrk="0" hangingPunct="1">
                        <a:lnSpc>
                          <a:spcPts val="2280"/>
                        </a:lnSpc>
                        <a:spcBef>
                          <a:spcPts val="0"/>
                        </a:spcBef>
                        <a:spcAft>
                          <a:spcPts val="0"/>
                        </a:spcAft>
                        <a:buClrTx/>
                        <a:buSzTx/>
                        <a:buFontTx/>
                        <a:buNone/>
                        <a:tabLst/>
                        <a:defRPr/>
                      </a:pPr>
                      <a:endParaRPr lang="nl-NL" sz="2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195715" marR="195715" marT="0" marB="0" anchor="ctr">
                    <a:lnL w="38100" cap="flat" cmpd="sng" algn="ctr">
                      <a:solidFill>
                        <a:prstClr val="white"/>
                      </a:solidFill>
                      <a:prstDash val="solid"/>
                      <a:round/>
                      <a:headEnd type="none" w="med" len="med"/>
                      <a:tailEnd type="none" w="med" len="med"/>
                    </a:lnL>
                    <a:lnR w="38100" cap="flat" cmpd="sng" algn="ctr">
                      <a:solidFill>
                        <a:prstClr val="white"/>
                      </a:solidFill>
                      <a:prstDash val="solid"/>
                      <a:round/>
                      <a:headEnd type="none" w="med" len="med"/>
                      <a:tailEnd type="none" w="med" len="med"/>
                    </a:lnR>
                    <a:lnT w="38100" cap="flat" cmpd="sng" algn="ctr">
                      <a:solidFill>
                        <a:prstClr val="white"/>
                      </a:solidFill>
                      <a:prstDash val="solid"/>
                      <a:round/>
                      <a:headEnd type="none" w="med" len="med"/>
                      <a:tailEnd type="none" w="med" len="med"/>
                    </a:lnT>
                    <a:lnB w="38100" cap="flat" cmpd="sng" algn="ctr">
                      <a:solidFill>
                        <a:prstClr val="white"/>
                      </a:solidFill>
                      <a:prstDash val="solid"/>
                      <a:round/>
                      <a:headEnd type="none" w="med" len="med"/>
                      <a:tailEnd type="none" w="med" len="med"/>
                    </a:lnB>
                    <a:solidFill>
                      <a:srgbClr val="FEDF6B"/>
                    </a:solidFill>
                  </a:tcPr>
                </a:tc>
                <a:extLst>
                  <a:ext uri="{0D108BD9-81ED-4DB2-BD59-A6C34878D82A}">
                    <a16:rowId xmlns:a16="http://schemas.microsoft.com/office/drawing/2014/main" val="10004"/>
                  </a:ext>
                </a:extLst>
              </a:tr>
            </a:tbl>
          </a:graphicData>
        </a:graphic>
      </p:graphicFrame>
      <p:sp>
        <p:nvSpPr>
          <p:cNvPr id="50" name="Subtitel 2">
            <a:extLst>
              <a:ext uri="{FF2B5EF4-FFF2-40B4-BE49-F238E27FC236}">
                <a16:creationId xmlns:a16="http://schemas.microsoft.com/office/drawing/2014/main" id="{C924C855-6F2F-F31E-2269-E08862BAFA72}"/>
              </a:ext>
            </a:extLst>
          </p:cNvPr>
          <p:cNvSpPr txBox="1">
            <a:spLocks/>
          </p:cNvSpPr>
          <p:nvPr/>
        </p:nvSpPr>
        <p:spPr>
          <a:xfrm>
            <a:off x="28239484" y="14692372"/>
            <a:ext cx="2993956" cy="273863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2392" b="1" dirty="0">
                <a:solidFill>
                  <a:schemeClr val="tx2"/>
                </a:solidFill>
                <a:latin typeface="Open Sans" panose="020B0606030504020204" pitchFamily="34" charset="0"/>
                <a:ea typeface="Open Sans" panose="020B0606030504020204" pitchFamily="34" charset="0"/>
                <a:cs typeface="Open Sans" panose="020B0606030504020204" pitchFamily="34" charset="0"/>
              </a:rPr>
              <a:t>Table 1</a:t>
            </a:r>
          </a:p>
          <a:p>
            <a:pPr algn="l">
              <a:lnSpc>
                <a:spcPts val="3044"/>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Od qui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aute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as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moditaquiae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qui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adit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periatent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liquossequi</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con re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doluptium</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aut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et quos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repere</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pera</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pa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volorit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a:t>
            </a:r>
            <a:r>
              <a:rPr lang="en-GB" sz="1957"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omnihit</a:t>
            </a:r>
            <a:endPar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51" name="Tekstvak 50">
            <a:extLst>
              <a:ext uri="{FF2B5EF4-FFF2-40B4-BE49-F238E27FC236}">
                <a16:creationId xmlns:a16="http://schemas.microsoft.com/office/drawing/2014/main" id="{ACD451F2-C792-C41E-3B7A-54C61154A22E}"/>
              </a:ext>
            </a:extLst>
          </p:cNvPr>
          <p:cNvSpPr txBox="1"/>
          <p:nvPr/>
        </p:nvSpPr>
        <p:spPr>
          <a:xfrm>
            <a:off x="1508774" y="6868344"/>
            <a:ext cx="9313209" cy="3477875"/>
          </a:xfrm>
          <a:prstGeom prst="rect">
            <a:avLst/>
          </a:prstGeom>
          <a:noFill/>
        </p:spPr>
        <p:txBody>
          <a:bodyPr wrap="square" rtlCol="0">
            <a:spAutoFit/>
          </a:bodyPr>
          <a:lstStyle/>
          <a:p>
            <a:r>
              <a:rPr lang="en-GB" sz="2000" b="1" dirty="0">
                <a:latin typeface="Merriweather" pitchFamily="2" charset="77"/>
              </a:rPr>
              <a:t>Simulation studies as a tool</a:t>
            </a:r>
            <a:endParaRPr lang="en-GB" sz="2000" b="1" dirty="0">
              <a:solidFill>
                <a:srgbClr val="C10033"/>
              </a:solidFill>
              <a:latin typeface="Merriweather" pitchFamily="2" charset="77"/>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Simulation studies have become a flexible and easy tool for evaluating new methodology. Unfortunately, there is no consensus on how to perform simulation studies for the evaluation of missing data methodology, such as imputation. We suggest a course of action for simulating and evaluating missing data problems. Our suggested course of action is by no means meant to serve as a complete cookbook, but rather meant to incite critical thinking and a move to objective and fair evaluations of imputation methodology. We invite the audience to take part in the discussion, contribute to our proposed simulation checklist, and imagine how this may relate to preregistration templates for simulation studies.</a:t>
            </a:r>
          </a:p>
        </p:txBody>
      </p:sp>
      <p:graphicFrame>
        <p:nvGraphicFramePr>
          <p:cNvPr id="52" name="Grafiek 51">
            <a:extLst>
              <a:ext uri="{FF2B5EF4-FFF2-40B4-BE49-F238E27FC236}">
                <a16:creationId xmlns:a16="http://schemas.microsoft.com/office/drawing/2014/main" id="{3F510650-EB89-E569-BD68-1B10B5B869AD}"/>
              </a:ext>
            </a:extLst>
          </p:cNvPr>
          <p:cNvGraphicFramePr/>
          <p:nvPr/>
        </p:nvGraphicFramePr>
        <p:xfrm>
          <a:off x="1077449" y="14474228"/>
          <a:ext cx="6641763" cy="442784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3" name="Grafiek 52">
            <a:extLst>
              <a:ext uri="{FF2B5EF4-FFF2-40B4-BE49-F238E27FC236}">
                <a16:creationId xmlns:a16="http://schemas.microsoft.com/office/drawing/2014/main" id="{057E14FB-677E-7F28-62D2-CC60742BF592}"/>
              </a:ext>
            </a:extLst>
          </p:cNvPr>
          <p:cNvGraphicFramePr/>
          <p:nvPr/>
        </p:nvGraphicFramePr>
        <p:xfrm>
          <a:off x="7876932" y="14598920"/>
          <a:ext cx="6159281" cy="4103201"/>
        </p:xfrm>
        <a:graphic>
          <a:graphicData uri="http://schemas.openxmlformats.org/drawingml/2006/chart">
            <c:chart xmlns:c="http://schemas.openxmlformats.org/drawingml/2006/chart" xmlns:r="http://schemas.openxmlformats.org/officeDocument/2006/relationships" r:id="rId5"/>
          </a:graphicData>
        </a:graphic>
      </p:graphicFrame>
      <p:sp>
        <p:nvSpPr>
          <p:cNvPr id="54" name="Tekstvak 53">
            <a:extLst>
              <a:ext uri="{FF2B5EF4-FFF2-40B4-BE49-F238E27FC236}">
                <a16:creationId xmlns:a16="http://schemas.microsoft.com/office/drawing/2014/main" id="{D7EF16D6-C46F-E97F-D8AE-1E021FEA128C}"/>
              </a:ext>
            </a:extLst>
          </p:cNvPr>
          <p:cNvSpPr txBox="1"/>
          <p:nvPr/>
        </p:nvSpPr>
        <p:spPr>
          <a:xfrm>
            <a:off x="25113714" y="721194"/>
            <a:ext cx="7862188" cy="1015663"/>
          </a:xfrm>
          <a:prstGeom prst="rect">
            <a:avLst/>
          </a:prstGeom>
          <a:noFill/>
        </p:spPr>
        <p:txBody>
          <a:bodyPr wrap="square" rtlCol="0" anchor="ctr">
            <a:spAutoFit/>
          </a:bodyPr>
          <a:lstStyle/>
          <a:p>
            <a:pPr algn="ctr"/>
            <a:r>
              <a:rPr lang="en-GB" sz="3000" dirty="0">
                <a:latin typeface="Merriweather" pitchFamily="2" charset="77"/>
                <a:ea typeface="Open Sans" panose="020B0606030504020204" pitchFamily="34" charset="0"/>
                <a:cs typeface="Open Sans" panose="020B0606030504020204" pitchFamily="34" charset="0"/>
              </a:rPr>
              <a:t>Name centre/institute/</a:t>
            </a:r>
            <a:br>
              <a:rPr lang="en-GB" sz="3000" dirty="0">
                <a:latin typeface="Merriweather" pitchFamily="2" charset="77"/>
                <a:ea typeface="Open Sans" panose="020B0606030504020204" pitchFamily="34" charset="0"/>
                <a:cs typeface="Open Sans" panose="020B0606030504020204" pitchFamily="34" charset="0"/>
              </a:rPr>
            </a:br>
            <a:r>
              <a:rPr lang="en-GB" sz="3000" dirty="0">
                <a:latin typeface="Merriweather" pitchFamily="2" charset="77"/>
                <a:ea typeface="Open Sans" panose="020B0606030504020204" pitchFamily="34" charset="0"/>
                <a:cs typeface="Open Sans" panose="020B0606030504020204" pitchFamily="34" charset="0"/>
              </a:rPr>
              <a:t>organisational unit</a:t>
            </a:r>
          </a:p>
        </p:txBody>
      </p:sp>
      <p:sp>
        <p:nvSpPr>
          <p:cNvPr id="55" name="Tekstvak 54">
            <a:extLst>
              <a:ext uri="{FF2B5EF4-FFF2-40B4-BE49-F238E27FC236}">
                <a16:creationId xmlns:a16="http://schemas.microsoft.com/office/drawing/2014/main" id="{487F8FDC-43BE-D101-7417-CEE026D3274B}"/>
              </a:ext>
            </a:extLst>
          </p:cNvPr>
          <p:cNvSpPr txBox="1">
            <a:spLocks/>
          </p:cNvSpPr>
          <p:nvPr/>
        </p:nvSpPr>
        <p:spPr>
          <a:xfrm>
            <a:off x="1706218" y="5500192"/>
            <a:ext cx="29549804" cy="835446"/>
          </a:xfrm>
          <a:prstGeom prst="rect">
            <a:avLst/>
          </a:prstGeom>
          <a:noFill/>
        </p:spPr>
        <p:txBody>
          <a:bodyPr wrap="square" lIns="0" tIns="0" rIns="0" bIns="0" rtlCol="0">
            <a:noAutofit/>
          </a:bodyPr>
          <a:lstStyle/>
          <a:p>
            <a:pPr>
              <a:lnSpc>
                <a:spcPts val="3914"/>
              </a:lnSpc>
            </a:pPr>
            <a:r>
              <a:rPr lang="en-GB" sz="2800" b="1" dirty="0">
                <a:solidFill>
                  <a:srgbClr val="000000"/>
                </a:solidFill>
                <a:latin typeface="Open Sans SemiBold" panose="020B0606030504020204" pitchFamily="34" charset="0"/>
                <a:ea typeface="Open Sans SemiBold" panose="020B0606030504020204" pitchFamily="34" charset="0"/>
                <a:cs typeface="Open Sans SemiBold" panose="020B0606030504020204" pitchFamily="34" charset="0"/>
              </a:rPr>
              <a:t>HI Oberman, G Vink</a:t>
            </a:r>
          </a:p>
        </p:txBody>
      </p:sp>
      <p:sp>
        <p:nvSpPr>
          <p:cNvPr id="56" name="Subtitel 2">
            <a:extLst>
              <a:ext uri="{FF2B5EF4-FFF2-40B4-BE49-F238E27FC236}">
                <a16:creationId xmlns:a16="http://schemas.microsoft.com/office/drawing/2014/main" id="{E1BE7BB8-3799-B0C3-B31B-7CBC6D22E732}"/>
              </a:ext>
            </a:extLst>
          </p:cNvPr>
          <p:cNvSpPr txBox="1">
            <a:spLocks/>
          </p:cNvSpPr>
          <p:nvPr/>
        </p:nvSpPr>
        <p:spPr>
          <a:xfrm>
            <a:off x="16630889" y="19984117"/>
            <a:ext cx="9443388" cy="998772"/>
          </a:xfrm>
          <a:prstGeom prst="rect">
            <a:avLst/>
          </a:prstGeom>
          <a:noFill/>
        </p:spPr>
        <p:txBody>
          <a:bodyPr vert="horz" lIns="0" tIns="0" rIns="0" bIns="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GB" sz="1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References</a:t>
            </a:r>
          </a:p>
          <a:p>
            <a:pPr marL="372835" indent="-372835" algn="l">
              <a:buAutoNum type="arabicPeriod"/>
            </a:pPr>
            <a:r>
              <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Name author</a:t>
            </a:r>
          </a:p>
          <a:p>
            <a:pPr marL="372835" indent="-372835" algn="l">
              <a:buAutoNum type="arabicPeriod"/>
            </a:pPr>
            <a:r>
              <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Name author</a:t>
            </a:r>
          </a:p>
        </p:txBody>
      </p:sp>
      <p:sp>
        <p:nvSpPr>
          <p:cNvPr id="57" name="Tekstvak 56">
            <a:extLst>
              <a:ext uri="{FF2B5EF4-FFF2-40B4-BE49-F238E27FC236}">
                <a16:creationId xmlns:a16="http://schemas.microsoft.com/office/drawing/2014/main" id="{F129CD6F-100D-0B05-A551-BBAD29D00759}"/>
              </a:ext>
            </a:extLst>
          </p:cNvPr>
          <p:cNvSpPr txBox="1"/>
          <p:nvPr/>
        </p:nvSpPr>
        <p:spPr>
          <a:xfrm>
            <a:off x="11882819" y="6868344"/>
            <a:ext cx="9313209" cy="3170099"/>
          </a:xfrm>
          <a:prstGeom prst="rect">
            <a:avLst/>
          </a:prstGeom>
          <a:noFill/>
        </p:spPr>
        <p:txBody>
          <a:bodyPr wrap="square" rtlCol="0">
            <a:spAutoFit/>
          </a:bodyPr>
          <a:lstStyle/>
          <a:p>
            <a:r>
              <a:rPr lang="en-GB" sz="2000" b="1" dirty="0">
                <a:latin typeface="Merriweather" pitchFamily="2" charset="77"/>
              </a:rPr>
              <a:t>Publication checklist</a:t>
            </a:r>
            <a:endParaRPr lang="en-GB" sz="2000" b="1" dirty="0">
              <a:solidFill>
                <a:srgbClr val="C10033"/>
              </a:solidFill>
              <a:latin typeface="Merriweather" pitchFamily="2" charset="77"/>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Ut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rem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eprovid</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quid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quibus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quiatur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aditatum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est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id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quatus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etur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restrum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faccum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sed</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et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lautemqui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sitatem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labore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evellecae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Nam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quia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eium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ne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consendis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porpore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pro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ente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voluptatium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iligendanda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dolupta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tquiat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ommossi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tatusdae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con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reste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anderch</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iliquate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odit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officaepe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dusam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dero</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beatem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eumqui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acerupta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nones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veriam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nonsere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occum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nimolup</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tatempor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andaest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es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eaquidit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laborere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re,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sanihic</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idebit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landam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voluptaqui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opti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reperatque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ipsae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sitam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sedigenti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blati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acerspe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rnatus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estinte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dolendae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et,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earum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esti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omnia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quaspicias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di ad et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rempore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58" name="Tekstvak 57">
            <a:extLst>
              <a:ext uri="{FF2B5EF4-FFF2-40B4-BE49-F238E27FC236}">
                <a16:creationId xmlns:a16="http://schemas.microsoft.com/office/drawing/2014/main" id="{0B765254-D6C4-239D-4108-48AE3157F5E5}"/>
              </a:ext>
            </a:extLst>
          </p:cNvPr>
          <p:cNvSpPr txBox="1"/>
          <p:nvPr/>
        </p:nvSpPr>
        <p:spPr>
          <a:xfrm>
            <a:off x="22256864" y="6868344"/>
            <a:ext cx="9313209" cy="3170099"/>
          </a:xfrm>
          <a:prstGeom prst="rect">
            <a:avLst/>
          </a:prstGeom>
          <a:noFill/>
        </p:spPr>
        <p:txBody>
          <a:bodyPr wrap="square" rtlCol="0">
            <a:spAutoFit/>
          </a:bodyPr>
          <a:lstStyle/>
          <a:p>
            <a:r>
              <a:rPr lang="en-GB" sz="2000" b="1" dirty="0">
                <a:latin typeface="Merriweather" pitchFamily="2" charset="77"/>
              </a:rPr>
              <a:t>Title</a:t>
            </a:r>
            <a:endParaRPr lang="en-GB" sz="2000" b="1" dirty="0">
              <a:solidFill>
                <a:srgbClr val="C10033"/>
              </a:solidFill>
              <a:latin typeface="Merriweather" pitchFamily="2" charset="77"/>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Ut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rem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eprovid</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quid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quibus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quiatur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aditatum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est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id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quatus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etur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restrum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faccum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sed</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et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lautemqui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sitatem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labore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evellecae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Nam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quia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eium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ne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consendis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porpore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pro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ente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voluptatium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iligendanda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dolupta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tquiat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ommossi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tatusdae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con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reste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anderch</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iliquate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odit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officaepe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dusam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dero</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beatem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eumqui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acerupta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nones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aut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veriam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nonsere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occum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nimolup</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tatempor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andaest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es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eaquidit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laborere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re,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cor</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sanihic</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idebit</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landam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voluptaqui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opti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reperatque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qui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ipsae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sitam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sedigenti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blati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acerspe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rnatus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estinte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dolendae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et,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volupta</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que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earum</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esti</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omnia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quaspicias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di ad et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rempore</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59" name="Tekstvak 58">
            <a:extLst>
              <a:ext uri="{FF2B5EF4-FFF2-40B4-BE49-F238E27FC236}">
                <a16:creationId xmlns:a16="http://schemas.microsoft.com/office/drawing/2014/main" id="{9870E600-01BC-9B8C-9528-8A4AEA5B5C63}"/>
              </a:ext>
            </a:extLst>
          </p:cNvPr>
          <p:cNvSpPr txBox="1">
            <a:spLocks/>
          </p:cNvSpPr>
          <p:nvPr/>
        </p:nvSpPr>
        <p:spPr>
          <a:xfrm>
            <a:off x="1607922" y="21077008"/>
            <a:ext cx="29549804" cy="464666"/>
          </a:xfrm>
          <a:prstGeom prst="rect">
            <a:avLst/>
          </a:prstGeom>
          <a:noFill/>
        </p:spPr>
        <p:txBody>
          <a:bodyPr wrap="square" lIns="0" tIns="0" rIns="0" bIns="0" rtlCol="0">
            <a:noAutofit/>
          </a:bodyPr>
          <a:lstStyle/>
          <a:p>
            <a:pPr>
              <a:lnSpc>
                <a:spcPts val="3914"/>
              </a:lnSpc>
            </a:pPr>
            <a:r>
              <a:rPr lang="en-GB" sz="2800" b="1" dirty="0" err="1">
                <a:solidFill>
                  <a:srgbClr val="000000"/>
                </a:solidFill>
                <a:latin typeface="Open Sans SemiBold" panose="020B0606030504020204" pitchFamily="34" charset="0"/>
                <a:ea typeface="Open Sans SemiBold" panose="020B0606030504020204" pitchFamily="34" charset="0"/>
                <a:cs typeface="Open Sans SemiBold" panose="020B0606030504020204" pitchFamily="34" charset="0"/>
              </a:rPr>
              <a:t>uu.nl</a:t>
            </a:r>
            <a:r>
              <a:rPr lang="en-GB" sz="2800" b="1" dirty="0">
                <a:solidFill>
                  <a:srgbClr val="000000"/>
                </a:solidFill>
                <a:latin typeface="Open Sans SemiBold" panose="020B0606030504020204" pitchFamily="34" charset="0"/>
                <a:ea typeface="Open Sans SemiBold" panose="020B0606030504020204" pitchFamily="34" charset="0"/>
                <a:cs typeface="Open Sans SemiBold" panose="020B0606030504020204" pitchFamily="34" charset="0"/>
              </a:rPr>
              <a:t>/</a:t>
            </a:r>
          </a:p>
        </p:txBody>
      </p:sp>
      <p:sp>
        <p:nvSpPr>
          <p:cNvPr id="60" name="Rechthoek 59">
            <a:extLst>
              <a:ext uri="{FF2B5EF4-FFF2-40B4-BE49-F238E27FC236}">
                <a16:creationId xmlns:a16="http://schemas.microsoft.com/office/drawing/2014/main" id="{013D4A0F-3895-D4A2-E7A0-D6797EAF22F2}"/>
              </a:ext>
            </a:extLst>
          </p:cNvPr>
          <p:cNvSpPr/>
          <p:nvPr/>
        </p:nvSpPr>
        <p:spPr>
          <a:xfrm>
            <a:off x="1508774" y="21635793"/>
            <a:ext cx="16456611" cy="259623"/>
          </a:xfrm>
          <a:prstGeom prst="rect">
            <a:avLst/>
          </a:prstGeom>
        </p:spPr>
        <p:txBody>
          <a:bodyPr>
            <a:spAutoFit/>
          </a:bodyPr>
          <a:lstStyle/>
          <a:p>
            <a:r>
              <a:rPr lang="en-GB" sz="1087" i="1" dirty="0">
                <a:latin typeface="Open Sans" panose="020B0606030504020204" pitchFamily="34" charset="0"/>
              </a:rPr>
              <a:t>The information has been compiled with the utmost care but no rights can be derived from its contents.</a:t>
            </a:r>
          </a:p>
        </p:txBody>
      </p:sp>
      <p:pic>
        <p:nvPicPr>
          <p:cNvPr id="2" name="Graphic 1" descr="Contract with solid fill">
            <a:extLst>
              <a:ext uri="{FF2B5EF4-FFF2-40B4-BE49-F238E27FC236}">
                <a16:creationId xmlns:a16="http://schemas.microsoft.com/office/drawing/2014/main" id="{34F716ED-8F50-5E64-F3AC-3E87DF6081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002000" y="10515600"/>
            <a:ext cx="914400" cy="914400"/>
          </a:xfrm>
          <a:prstGeom prst="rect">
            <a:avLst/>
          </a:prstGeom>
        </p:spPr>
      </p:pic>
      <p:pic>
        <p:nvPicPr>
          <p:cNvPr id="3" name="Graphic 2" descr="Open folder with solid fill">
            <a:extLst>
              <a:ext uri="{FF2B5EF4-FFF2-40B4-BE49-F238E27FC236}">
                <a16:creationId xmlns:a16="http://schemas.microsoft.com/office/drawing/2014/main" id="{939072B2-B36A-20BB-6927-68A14F3FA19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86625" y="10789133"/>
            <a:ext cx="914400" cy="914400"/>
          </a:xfrm>
          <a:prstGeom prst="rect">
            <a:avLst/>
          </a:prstGeom>
        </p:spPr>
      </p:pic>
      <p:pic>
        <p:nvPicPr>
          <p:cNvPr id="4" name="Picture 3" descr="File:Preregistered small color (vector).svg - Wikipedia">
            <a:extLst>
              <a:ext uri="{FF2B5EF4-FFF2-40B4-BE49-F238E27FC236}">
                <a16:creationId xmlns:a16="http://schemas.microsoft.com/office/drawing/2014/main" id="{7683FC73-A79C-E1A0-E150-0C56865B0C0C}"/>
              </a:ext>
            </a:extLst>
          </p:cNvPr>
          <p:cNvPicPr>
            <a:picLocks noChangeAspect="1"/>
          </p:cNvPicPr>
          <p:nvPr/>
        </p:nvPicPr>
        <p:blipFill>
          <a:blip r:embed="rId8"/>
          <a:stretch>
            <a:fillRect/>
          </a:stretch>
        </p:blipFill>
        <p:spPr>
          <a:xfrm>
            <a:off x="4953605" y="9484376"/>
            <a:ext cx="2124108" cy="2327668"/>
          </a:xfrm>
          <a:prstGeom prst="rect">
            <a:avLst/>
          </a:prstGeom>
          <a:noFill/>
        </p:spPr>
      </p:pic>
      <p:pic>
        <p:nvPicPr>
          <p:cNvPr id="5" name="Graphic 4" descr="Checkmark with solid fill">
            <a:extLst>
              <a:ext uri="{FF2B5EF4-FFF2-40B4-BE49-F238E27FC236}">
                <a16:creationId xmlns:a16="http://schemas.microsoft.com/office/drawing/2014/main" id="{689347F6-71F3-3689-B384-E55A5BF72BD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830313" y="12153985"/>
            <a:ext cx="914400" cy="914400"/>
          </a:xfrm>
          <a:prstGeom prst="rect">
            <a:avLst/>
          </a:prstGeom>
        </p:spPr>
      </p:pic>
      <p:pic>
        <p:nvPicPr>
          <p:cNvPr id="6" name="Graphic 5" descr="Share with solid fill">
            <a:extLst>
              <a:ext uri="{FF2B5EF4-FFF2-40B4-BE49-F238E27FC236}">
                <a16:creationId xmlns:a16="http://schemas.microsoft.com/office/drawing/2014/main" id="{BA264AED-50FB-9508-19E2-EBD22CC093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519855" y="7512654"/>
            <a:ext cx="914400" cy="914400"/>
          </a:xfrm>
          <a:prstGeom prst="rect">
            <a:avLst/>
          </a:prstGeom>
        </p:spPr>
      </p:pic>
      <p:pic>
        <p:nvPicPr>
          <p:cNvPr id="7" name="Graphic 6" descr="Badge Tick1 with solid fill">
            <a:extLst>
              <a:ext uri="{FF2B5EF4-FFF2-40B4-BE49-F238E27FC236}">
                <a16:creationId xmlns:a16="http://schemas.microsoft.com/office/drawing/2014/main" id="{74EC687F-CDF3-CDBA-F86E-AD53DCCFFCF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4489477" y="10174293"/>
            <a:ext cx="914400" cy="914400"/>
          </a:xfrm>
          <a:prstGeom prst="rect">
            <a:avLst/>
          </a:prstGeom>
        </p:spPr>
      </p:pic>
    </p:spTree>
    <p:extLst>
      <p:ext uri="{BB962C8B-B14F-4D97-AF65-F5344CB8AC3E}">
        <p14:creationId xmlns:p14="http://schemas.microsoft.com/office/powerpoint/2010/main" val="993149199"/>
      </p:ext>
    </p:extLst>
  </p:cSld>
  <p:clrMapOvr>
    <a:masterClrMapping/>
  </p:clrMapOvr>
</p:sld>
</file>

<file path=ppt/theme/theme1.xml><?xml version="1.0" encoding="utf-8"?>
<a:theme xmlns:a="http://schemas.openxmlformats.org/drawingml/2006/main" name="Thema_UU">
  <a:themeElements>
    <a:clrScheme name="UU_Kleurenpalet voor MS Office">
      <a:dk1>
        <a:srgbClr val="000000"/>
      </a:dk1>
      <a:lt1>
        <a:srgbClr val="FFFFFF"/>
      </a:lt1>
      <a:dk2>
        <a:srgbClr val="C00935"/>
      </a:dk2>
      <a:lt2>
        <a:srgbClr val="D9D9D9"/>
      </a:lt2>
      <a:accent1>
        <a:srgbClr val="FFCD00"/>
      </a:accent1>
      <a:accent2>
        <a:srgbClr val="DD9562"/>
      </a:accent2>
      <a:accent3>
        <a:srgbClr val="911D56"/>
      </a:accent3>
      <a:accent4>
        <a:srgbClr val="63A593"/>
      </a:accent4>
      <a:accent5>
        <a:srgbClr val="161D41"/>
      </a:accent5>
      <a:accent6>
        <a:srgbClr val="6686C3"/>
      </a:accent6>
      <a:hlink>
        <a:srgbClr val="52287F"/>
      </a:hlink>
      <a:folHlink>
        <a:srgbClr val="623E2B"/>
      </a:folHlink>
    </a:clrScheme>
    <a:fontScheme name="Lettertype UU">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a:defPPr>
      </a:lstStyle>
    </a:txDef>
  </a:objectDefaults>
  <a:extraClrSchemeLst/>
  <a:extLst>
    <a:ext uri="{05A4C25C-085E-4340-85A3-A5531E510DB2}">
      <thm15:themeFamily xmlns:thm15="http://schemas.microsoft.com/office/thememl/2012/main" name="Thema_UU" id="{69539A96-05D9-9F44-937C-76FDE5EEAA32}" vid="{C9683E3C-EB62-FC4E-89BA-4F8478459AA6}"/>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Thema_UU</Template>
  <TotalTime>2595</TotalTime>
  <Words>1308</Words>
  <Application>Microsoft Macintosh PowerPoint</Application>
  <PresentationFormat>Custom</PresentationFormat>
  <Paragraphs>119</Paragraphs>
  <Slides>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Arial</vt:lpstr>
      <vt:lpstr>Calibri</vt:lpstr>
      <vt:lpstr>Merriweather</vt:lpstr>
      <vt:lpstr>Merriweather Regular</vt:lpstr>
      <vt:lpstr>Open Sans</vt:lpstr>
      <vt:lpstr>Open Sans SemiBold</vt:lpstr>
      <vt:lpstr>Verdana</vt:lpstr>
      <vt:lpstr>Thema_UU</vt:lpstr>
      <vt:lpstr>PowerPoint Presentation</vt:lpstr>
      <vt:lpstr>PowerPoint Presentation</vt:lpstr>
    </vt:vector>
  </TitlesOfParts>
  <Company>UU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Frouke</dc:creator>
  <cp:lastModifiedBy>Oberman, H.I. (Hanne)</cp:lastModifiedBy>
  <cp:revision>289</cp:revision>
  <cp:lastPrinted>2015-10-14T14:40:41Z</cp:lastPrinted>
  <dcterms:created xsi:type="dcterms:W3CDTF">2013-01-24T08:51:25Z</dcterms:created>
  <dcterms:modified xsi:type="dcterms:W3CDTF">2026-08-26T13:38:59Z</dcterms:modified>
</cp:coreProperties>
</file>