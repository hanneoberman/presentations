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23"/>
    <p:restoredTop sz="73177"/>
  </p:normalViewPr>
  <p:slideViewPr>
    <p:cSldViewPr snapToGrid="0">
      <p:cViewPr varScale="1">
        <p:scale>
          <a:sx n="102" d="100"/>
          <a:sy n="102" d="100"/>
        </p:scale>
        <p:origin x="1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BE2C0-33B7-AC4F-9E2B-929CD55CFDCF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F5BA0-C302-BD41-9F4A-2DB0F8BE1E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30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119E2-F3E6-B5C8-0D4C-22FEBCAB3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28E551-DA9B-EB49-6C55-1213797F7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B7D9C-B6F9-0F96-8A4D-421981620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open science activist: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mijn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ideaalbeeld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wetenschap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toegankelijk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iedereen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zonder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betaalmuren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perverse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prikkels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individuele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prestige,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wetenschap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maatschappij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daarom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statisticus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maar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artikelen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geschreven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andere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maar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ook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tutorial papers: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handleidingen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gebruiken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statstiek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toegepast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onderzoek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mijn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onderzoek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vertaald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software: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gratis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downloaden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plugin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programmeertaal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zodat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iedereen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die data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alnalyseert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 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gebruik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mijn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onderzoek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eigenlijk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gezien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écht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onderdeel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mijn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want het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eigenlijk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terugkomen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mijn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proefschrift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leertraject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‘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proeve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bekwaamheid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proefschrift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het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bewijs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vaardigheid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knie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hebt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onderzoek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uitvoeren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onderzoek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rapporteren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onderzoek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presenteren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maar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zoveel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kijken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projectmanagement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onderwijs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geven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onderwijs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volgen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samenwerkingen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aangaan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onderhouden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leren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schrijven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leren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presenteren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impact, open science,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wetenschapscommunicatie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mijn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geval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open science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ambassadeur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software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ontwikkelaar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onderzoek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belangrijker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deze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activiteiten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vormen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onderzoek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maar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weerspiegeld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proefschrift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mijn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promotor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verwachtte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namelijk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klassiek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proefschrift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4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wetenschappelijk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artiekelen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liefst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gepeerreviewd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norm 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mijn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vakgebied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wetenschappelijke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waarin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hoogleraar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geworden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maar: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proefschrift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proeve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bekwaamheid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waarom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volwaardige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reflectie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onderzoek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jugglinglab.org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anim?pattern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=1;colors={255,205,0};width=300;height=900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Vraag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 Het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kantelpunt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 was het moment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waarop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bewust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andere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aanpak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 het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concreet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frustratie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behoefte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die je zag,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wat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laten. Dat moment is het hart van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verhaal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Vraag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2. De impact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profiteerde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 van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jouw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alternatieve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output? Op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manier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klassiek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artikel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nooit had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kunnen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bereiken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Noem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specifieke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groep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community,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beleidsmaker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buurtbewoner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bieden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paper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Vraag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3.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drempel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maakte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onnodig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moeilijk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veranderen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 PhD is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basiskwalificatie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onderzoek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Het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proefschrift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proeve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bekwaamheid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bewijs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zelfstandig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onderzoek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kunt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doen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allemaal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invloed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mijn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onderzoek</a:t>
            </a:r>
            <a:endParaRPr lang="en-US" sz="1200" strike="sng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strike="sng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61FD6-F14E-CF70-3979-959421C4E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F5BA0-C302-BD41-9F4A-2DB0F8BE1E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788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840BA-9A5E-6786-7181-6A4D6A066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D5656-08D7-B4EB-1BAE-1FF44B9F5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90606-7BFC-CE5E-FA87-BE4DC3742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mijn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promotor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verwachtte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namelijk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klassiek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proefschrift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4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wetenschappelijk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artiekelen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liefst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gepeerreviewd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norm 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mijn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vakgebied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wetenschappelijke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waarin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hoogleraar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geworden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bijlage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volwaardig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hoofdstuk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maar: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proefschrift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proeve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bekwaamheid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is,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waarom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geen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volwaardige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reflectie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 </a:t>
            </a:r>
            <a:r>
              <a:rPr lang="en-US" sz="1200" strike="sng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onderzoek</a:t>
            </a:r>
            <a:r>
              <a:rPr lang="en-US" sz="1200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maar: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statisticus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impact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maak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vertaling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onderzoek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naar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praktijk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onderwijs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ziekenhuizen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RIVM)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bekeken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gedownload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artikelen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hoofdstukken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waaraan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bijgedragen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minstens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30k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echt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onderzoeksoutput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leuk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erbij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promotieteam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eraan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wennen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had wat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voorwaarden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maar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mijn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proefschrift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nu software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volwaardig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hoofdstuk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hoe?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bottom-up: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activisme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normeren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open science communities NL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top-down: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institutionele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ondersteuning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carrierebeleid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waardoor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promotiebeleid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waarin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‘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alternatieve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 output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expliciet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hoofdstuk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benoemd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vraag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publiek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moedig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promovendi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om impact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steun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hen 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netwerk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opbouwen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buiten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onderzoeksgroep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pPr marL="171450" indent="-171450">
              <a:buFontTx/>
              <a:buChar char="-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bepaalt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PhD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beleid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hoe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hen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overtuigen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pPr marL="171450" indent="-171450">
              <a:buFontTx/>
              <a:buChar char="-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zorg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bottom-up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top-down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samenkomen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(co-)promotor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erkent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Vraag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 Het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kantelpunt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 was het moment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waarop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bewust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andere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aanpak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 het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concreet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moment: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frustratie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behoefte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die je zag,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wat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laten. Dat moment is het hart van je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verhaal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Vraag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2. De impact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profiteerde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 van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jouw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alternatieve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output? Op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manier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klassiek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artikel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nooit had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kunnen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bereiken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Noem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specifieke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groep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community,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beleidsmaker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buurtbewoner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bieden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paper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Vraag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3.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drempel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maakte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onnodig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moeilijk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veranderen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A669F-2A35-FCA1-D452-C6A64229B4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F5BA0-C302-BD41-9F4A-2DB0F8BE1E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880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F5783-AC16-84BF-D37C-6CC4DBEF2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EE7008-8E4D-B5D6-4A4B-4E0D34E71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7D774-02C1-7CB7-4A8F-8552A7CA9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C8E4-ECE4-674C-B575-60485A5BB93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2763D-1286-94EB-E28E-B14C4E1B5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BB91A-32F0-351E-00ED-72A2B7A92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643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B60CB-8A20-651A-13F9-92245BC6E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AB010-457E-44F9-3806-23451A539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E1AB4-8FA1-32D3-3887-43DE229A0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C8E4-ECE4-674C-B575-60485A5BB93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6C23D-4004-2F5C-B5FE-4D851157D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A02B2-E2B1-C228-179F-4B1D540D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02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39974-08E8-56A4-8E00-86731E5CE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7A2E0-EF8B-6DE4-89A6-174FE9BD7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FD065-2091-8319-6AF0-A86092D3F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C8E4-ECE4-674C-B575-60485A5BB93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D551E-97EF-5254-62AE-95C5FB487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F2E5D-E2D3-BAFE-4065-7615BB57C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54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64D80-90AB-4AC4-DF5D-FB2C4474F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47067-F0CC-3D53-BF52-8C9DD21AC3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82EF3-628C-643E-506E-966EA47EF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ADA3E-C1FD-AA04-F4A0-13495DC1E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C8E4-ECE4-674C-B575-60485A5BB93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CEE08-D774-6608-3503-F5D3451B6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E48EF-C93A-D841-1774-EDFEDD0C6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2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A6D5A-0995-29AE-1B2F-E245472CE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EBBD8-D734-F380-6CF7-117656641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684DA7-22B7-494E-ECD1-EA7DD6899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A8B116-5C4F-FE4C-068B-89369274F1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8506FB-90EB-A109-AA1A-888CA88387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2F8266-BC33-B939-68BE-76890FD5F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C8E4-ECE4-674C-B575-60485A5BB93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D1507C-95FC-5A4A-28F6-4BF26F1B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EBB618-2E7C-0CB0-106C-BAD87A8FD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23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9B338-80A4-EA06-E34A-3578558DC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6E6102-3E25-36CE-B14C-D00D937C7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C8E4-ECE4-674C-B575-60485A5BB93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750C16-ED7E-220A-0D04-9235C6988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8F8573-BE97-ABE0-2941-0701864AA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788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F1825F-7340-C920-2BC0-EC716F8EC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C8E4-ECE4-674C-B575-60485A5BB93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0659DE-A380-918C-92C5-FD7283A23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0E9D1-EE97-EF0E-1B7C-282C85C28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9B028-F4AE-297D-9D1F-7A30C30C5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607A3-4310-E95E-8FB4-2F603EDB5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CCCEC-BDF7-C02A-B779-719BE35B1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456C7-5031-F168-91FE-8EFE09DA3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C8E4-ECE4-674C-B575-60485A5BB93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732BB-F6E7-9966-57C4-67D3E3224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69435-8B04-7F19-9803-B467B2B87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54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56EE-7C42-A062-728B-35BEC73B9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330A4E-292A-1A02-1452-EEE92E4E7C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51C6B4-5855-A55B-AC00-FBEB26909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10558-1E62-9F01-34C6-BB70D9AB6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C8E4-ECE4-674C-B575-60485A5BB93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8DBB3-16AA-7820-1BC1-B01BAE171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635DB-5811-2DD4-A526-6B90D90AB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8B26-CAB3-E53C-5EBF-D840DA8F2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C693AA-BA55-081F-B145-BC0CE3FF50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C5D49-6BBD-310F-C453-4F98A3C61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C8E4-ECE4-674C-B575-60485A5BB93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8F367-41E7-4411-270F-0707562D0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69E46-D964-5E4E-1CBD-9968FB571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11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3A0744-D449-7723-DF14-5DE0295EDC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564CB-FDDB-C565-E26B-6B1988747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C81A6-2096-6725-DF8E-5CA0EE940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C8E4-ECE4-674C-B575-60485A5BB93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BBBD5-42CB-1903-3F82-7AE142D1C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CF115-52AC-105E-A613-4F9DF87C2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76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E47E49-C0AB-9AF8-2ABC-65B34B97D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5B6F2-3CAA-D832-FEEA-E9EB4AD77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10C94-AD11-0A24-E7B6-8627FF7F43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C5C8E4-ECE4-674C-B575-60485A5BB935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F290-F740-02E4-D4D1-5F5683BC0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7DEEE-4AA9-0B4B-2F62-DB94CFB05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07ED06-EC1E-7245-9160-D20BA371F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850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gif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4" Type="http://schemas.openxmlformats.org/officeDocument/2006/relationships/image" Target="../media/image2.gif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7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5.svg"/><Relationship Id="rId4" Type="http://schemas.openxmlformats.org/officeDocument/2006/relationships/image" Target="../media/image16.svg"/><Relationship Id="rId9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1.svg"/><Relationship Id="rId18" Type="http://schemas.openxmlformats.org/officeDocument/2006/relationships/image" Target="../media/image36.svg"/><Relationship Id="rId26" Type="http://schemas.openxmlformats.org/officeDocument/2006/relationships/image" Target="../media/image44.svg"/><Relationship Id="rId3" Type="http://schemas.openxmlformats.org/officeDocument/2006/relationships/image" Target="../media/image22.png"/><Relationship Id="rId21" Type="http://schemas.openxmlformats.org/officeDocument/2006/relationships/image" Target="../media/image39.svg"/><Relationship Id="rId7" Type="http://schemas.openxmlformats.org/officeDocument/2006/relationships/image" Target="../media/image26.svg"/><Relationship Id="rId12" Type="http://schemas.openxmlformats.org/officeDocument/2006/relationships/image" Target="../media/image19.svg"/><Relationship Id="rId17" Type="http://schemas.openxmlformats.org/officeDocument/2006/relationships/image" Target="../media/image35.svg"/><Relationship Id="rId25" Type="http://schemas.openxmlformats.org/officeDocument/2006/relationships/image" Target="../media/image43.svg"/><Relationship Id="rId2" Type="http://schemas.openxmlformats.org/officeDocument/2006/relationships/image" Target="../media/image21.png"/><Relationship Id="rId16" Type="http://schemas.openxmlformats.org/officeDocument/2006/relationships/image" Target="../media/image34.svg"/><Relationship Id="rId20" Type="http://schemas.openxmlformats.org/officeDocument/2006/relationships/image" Target="../media/image38.svg"/><Relationship Id="rId29" Type="http://schemas.openxmlformats.org/officeDocument/2006/relationships/image" Target="../media/image4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11" Type="http://schemas.openxmlformats.org/officeDocument/2006/relationships/image" Target="../media/image30.svg"/><Relationship Id="rId24" Type="http://schemas.openxmlformats.org/officeDocument/2006/relationships/image" Target="../media/image42.svg"/><Relationship Id="rId5" Type="http://schemas.openxmlformats.org/officeDocument/2006/relationships/image" Target="../media/image24.png"/><Relationship Id="rId15" Type="http://schemas.openxmlformats.org/officeDocument/2006/relationships/image" Target="../media/image33.svg"/><Relationship Id="rId23" Type="http://schemas.openxmlformats.org/officeDocument/2006/relationships/image" Target="../media/image41.svg"/><Relationship Id="rId28" Type="http://schemas.openxmlformats.org/officeDocument/2006/relationships/image" Target="../media/image18.svg"/><Relationship Id="rId10" Type="http://schemas.openxmlformats.org/officeDocument/2006/relationships/image" Target="../media/image29.svg"/><Relationship Id="rId19" Type="http://schemas.openxmlformats.org/officeDocument/2006/relationships/image" Target="../media/image37.svg"/><Relationship Id="rId4" Type="http://schemas.openxmlformats.org/officeDocument/2006/relationships/image" Target="../media/image23.png"/><Relationship Id="rId9" Type="http://schemas.openxmlformats.org/officeDocument/2006/relationships/image" Target="../media/image28.svg"/><Relationship Id="rId14" Type="http://schemas.openxmlformats.org/officeDocument/2006/relationships/image" Target="../media/image32.svg"/><Relationship Id="rId22" Type="http://schemas.openxmlformats.org/officeDocument/2006/relationships/image" Target="../media/image40.svg"/><Relationship Id="rId27" Type="http://schemas.openxmlformats.org/officeDocument/2006/relationships/image" Target="../media/image4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64AD3-54F1-F5D1-9CD4-389BAC98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179B2B-4AF4-B29F-5B0D-68712EA6F3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b="7839"/>
          <a:stretch>
            <a:fillRect/>
          </a:stretch>
        </p:blipFill>
        <p:spPr>
          <a:xfrm>
            <a:off x="4919691" y="3648791"/>
            <a:ext cx="1023909" cy="28309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8CB71A9-4207-BFC0-66D0-AC071DF5DA1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b="12242"/>
          <a:stretch>
            <a:fillRect/>
          </a:stretch>
        </p:blipFill>
        <p:spPr>
          <a:xfrm>
            <a:off x="4819316" y="3601940"/>
            <a:ext cx="1236759" cy="32560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D3F99B8-6A54-1279-4D61-2C8801D20DE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5196" y="1143000"/>
            <a:ext cx="1905000" cy="5715000"/>
          </a:xfrm>
          <a:prstGeom prst="rect">
            <a:avLst/>
          </a:prstGeom>
        </p:spPr>
      </p:pic>
      <p:pic>
        <p:nvPicPr>
          <p:cNvPr id="24" name="Graphic 23" descr="Research with solid fill">
            <a:extLst>
              <a:ext uri="{FF2B5EF4-FFF2-40B4-BE49-F238E27FC236}">
                <a16:creationId xmlns:a16="http://schemas.microsoft.com/office/drawing/2014/main" id="{83971184-F83E-6524-622B-BAD174DCF7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18739" y="1581724"/>
            <a:ext cx="914400" cy="914400"/>
          </a:xfrm>
          <a:prstGeom prst="rect">
            <a:avLst/>
          </a:prstGeom>
        </p:spPr>
      </p:pic>
      <p:pic>
        <p:nvPicPr>
          <p:cNvPr id="29" name="Graphic 28" descr="Document with solid fill">
            <a:extLst>
              <a:ext uri="{FF2B5EF4-FFF2-40B4-BE49-F238E27FC236}">
                <a16:creationId xmlns:a16="http://schemas.microsoft.com/office/drawing/2014/main" id="{67BBB8A1-4958-46AE-A47D-528998B4E0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56917" y="3399724"/>
            <a:ext cx="914400" cy="914400"/>
          </a:xfrm>
          <a:prstGeom prst="rect">
            <a:avLst/>
          </a:prstGeom>
        </p:spPr>
      </p:pic>
      <p:pic>
        <p:nvPicPr>
          <p:cNvPr id="31" name="Graphic 30" descr="Classroom with solid fill">
            <a:extLst>
              <a:ext uri="{FF2B5EF4-FFF2-40B4-BE49-F238E27FC236}">
                <a16:creationId xmlns:a16="http://schemas.microsoft.com/office/drawing/2014/main" id="{2CEE4FF0-EEDF-B18B-5432-3343883034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7673" y="653084"/>
            <a:ext cx="914400" cy="914400"/>
          </a:xfrm>
          <a:prstGeom prst="rect">
            <a:avLst/>
          </a:prstGeom>
        </p:spPr>
      </p:pic>
      <p:pic>
        <p:nvPicPr>
          <p:cNvPr id="33" name="Graphic 32" descr="Programmer male with solid fill">
            <a:extLst>
              <a:ext uri="{FF2B5EF4-FFF2-40B4-BE49-F238E27FC236}">
                <a16:creationId xmlns:a16="http://schemas.microsoft.com/office/drawing/2014/main" id="{C33F226A-8271-3486-67D9-EC7BAEE6FA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25288" y="5097877"/>
            <a:ext cx="914400" cy="914400"/>
          </a:xfrm>
          <a:prstGeom prst="rect">
            <a:avLst/>
          </a:prstGeom>
        </p:spPr>
      </p:pic>
      <p:pic>
        <p:nvPicPr>
          <p:cNvPr id="35" name="Graphic 34" descr="Unlock with solid fill">
            <a:extLst>
              <a:ext uri="{FF2B5EF4-FFF2-40B4-BE49-F238E27FC236}">
                <a16:creationId xmlns:a16="http://schemas.microsoft.com/office/drawing/2014/main" id="{44AF1D7B-D208-51D9-0F28-FA8F4015B9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08754" y="5097877"/>
            <a:ext cx="914400" cy="914400"/>
          </a:xfrm>
          <a:prstGeom prst="rect">
            <a:avLst/>
          </a:prstGeom>
        </p:spPr>
      </p:pic>
      <p:pic>
        <p:nvPicPr>
          <p:cNvPr id="37" name="Graphic 36" descr="Meeting with solid fill">
            <a:extLst>
              <a:ext uri="{FF2B5EF4-FFF2-40B4-BE49-F238E27FC236}">
                <a16:creationId xmlns:a16="http://schemas.microsoft.com/office/drawing/2014/main" id="{777C14CB-227F-D71A-6683-B60A7B853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77617" y="638240"/>
            <a:ext cx="914400" cy="914400"/>
          </a:xfrm>
          <a:prstGeom prst="rect">
            <a:avLst/>
          </a:prstGeom>
        </p:spPr>
      </p:pic>
      <p:pic>
        <p:nvPicPr>
          <p:cNvPr id="43" name="Graphic 42" descr="Chat with solid fill">
            <a:extLst>
              <a:ext uri="{FF2B5EF4-FFF2-40B4-BE49-F238E27FC236}">
                <a16:creationId xmlns:a16="http://schemas.microsoft.com/office/drawing/2014/main" id="{B85FD5CF-3E72-20B9-DCC0-C44554C1B6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08481" y="3601940"/>
            <a:ext cx="914400" cy="914400"/>
          </a:xfrm>
          <a:prstGeom prst="rect">
            <a:avLst/>
          </a:prstGeom>
        </p:spPr>
      </p:pic>
      <p:pic>
        <p:nvPicPr>
          <p:cNvPr id="45" name="Graphic 44" descr="Remote work with solid fill">
            <a:extLst>
              <a:ext uri="{FF2B5EF4-FFF2-40B4-BE49-F238E27FC236}">
                <a16:creationId xmlns:a16="http://schemas.microsoft.com/office/drawing/2014/main" id="{66A47C62-B1D0-DC17-07F6-4DC8163648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77617" y="3502244"/>
            <a:ext cx="914400" cy="914400"/>
          </a:xfrm>
          <a:prstGeom prst="rect">
            <a:avLst/>
          </a:prstGeom>
        </p:spPr>
      </p:pic>
      <p:pic>
        <p:nvPicPr>
          <p:cNvPr id="49" name="Graphic 48" descr="Storytelling with solid fill">
            <a:extLst>
              <a:ext uri="{FF2B5EF4-FFF2-40B4-BE49-F238E27FC236}">
                <a16:creationId xmlns:a16="http://schemas.microsoft.com/office/drawing/2014/main" id="{CE202C94-FB7B-9429-9BD9-3D9580FC52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24067" y="1907609"/>
            <a:ext cx="914400" cy="914400"/>
          </a:xfrm>
          <a:prstGeom prst="rect">
            <a:avLst/>
          </a:prstGeom>
        </p:spPr>
      </p:pic>
      <p:pic>
        <p:nvPicPr>
          <p:cNvPr id="48" name="Graphic 47" descr="Clipboard Partially Checked with solid fill">
            <a:extLst>
              <a:ext uri="{FF2B5EF4-FFF2-40B4-BE49-F238E27FC236}">
                <a16:creationId xmlns:a16="http://schemas.microsoft.com/office/drawing/2014/main" id="{C4499F33-0E74-E6AD-EE9F-9D5033D52D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073513" y="1987684"/>
            <a:ext cx="914400" cy="914400"/>
          </a:xfrm>
          <a:prstGeom prst="rect">
            <a:avLst/>
          </a:prstGeom>
        </p:spPr>
      </p:pic>
      <p:pic>
        <p:nvPicPr>
          <p:cNvPr id="66" name="Graphic 65" descr="Projector screen with solid fill">
            <a:extLst>
              <a:ext uri="{FF2B5EF4-FFF2-40B4-BE49-F238E27FC236}">
                <a16:creationId xmlns:a16="http://schemas.microsoft.com/office/drawing/2014/main" id="{A7CB9B63-16DA-B57E-B9F9-AB4D7D13DB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18739" y="5097877"/>
            <a:ext cx="914400" cy="9144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8F8BACF-30BD-B512-E82A-643F49C289F7}"/>
              </a:ext>
            </a:extLst>
          </p:cNvPr>
          <p:cNvSpPr/>
          <p:nvPr/>
        </p:nvSpPr>
        <p:spPr>
          <a:xfrm>
            <a:off x="0" y="6620723"/>
            <a:ext cx="12192000" cy="228337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75458F-CAA7-68DE-7415-12666B7D1257}"/>
              </a:ext>
            </a:extLst>
          </p:cNvPr>
          <p:cNvSpPr txBox="1"/>
          <p:nvPr/>
        </p:nvSpPr>
        <p:spPr>
          <a:xfrm>
            <a:off x="0" y="655605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CC-BY; Hanne Oberman, junior </a:t>
            </a:r>
            <a:r>
              <a:rPr lang="en-US" dirty="0" err="1"/>
              <a:t>universitair</a:t>
            </a:r>
            <a:r>
              <a:rPr lang="en-US" dirty="0"/>
              <a:t> docent </a:t>
            </a:r>
            <a:r>
              <a:rPr lang="en-US" dirty="0" err="1"/>
              <a:t>Methoden</a:t>
            </a:r>
            <a:r>
              <a:rPr lang="en-US" dirty="0"/>
              <a:t> &amp; </a:t>
            </a:r>
            <a:r>
              <a:rPr lang="en-US" dirty="0" err="1"/>
              <a:t>Statistiek</a:t>
            </a:r>
            <a:r>
              <a:rPr lang="en-US" dirty="0"/>
              <a:t>, Universiteit Utrecht; </a:t>
            </a:r>
            <a:r>
              <a:rPr lang="en-US" dirty="0" err="1"/>
              <a:t>hanneoberman.github.io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6E6454-4352-4D36-E877-0C11A1D73C8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170121" y="-81087"/>
            <a:ext cx="3063948" cy="1211011"/>
          </a:xfrm>
          <a:prstGeom prst="rect">
            <a:avLst/>
          </a:prstGeom>
        </p:spPr>
      </p:pic>
      <p:pic>
        <p:nvPicPr>
          <p:cNvPr id="9" name="Graphic 8" descr="Web design with solid fill">
            <a:extLst>
              <a:ext uri="{FF2B5EF4-FFF2-40B4-BE49-F238E27FC236}">
                <a16:creationId xmlns:a16="http://schemas.microsoft.com/office/drawing/2014/main" id="{47CA627D-0D0F-EAE1-09BA-0283B93C49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09916" y="506425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998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4E949-601A-8456-C908-46D122270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Closed book with solid fill">
            <a:extLst>
              <a:ext uri="{FF2B5EF4-FFF2-40B4-BE49-F238E27FC236}">
                <a16:creationId xmlns:a16="http://schemas.microsoft.com/office/drawing/2014/main" id="{3A77E279-5B65-BF2C-0F16-8C3A91B9AB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52" y="1152382"/>
            <a:ext cx="3795396" cy="3795396"/>
          </a:xfrm>
          <a:prstGeom prst="rect">
            <a:avLst/>
          </a:prstGeom>
        </p:spPr>
      </p:pic>
      <p:pic>
        <p:nvPicPr>
          <p:cNvPr id="4" name="Graphic 3" descr="Web design with solid fill">
            <a:extLst>
              <a:ext uri="{FF2B5EF4-FFF2-40B4-BE49-F238E27FC236}">
                <a16:creationId xmlns:a16="http://schemas.microsoft.com/office/drawing/2014/main" id="{B30D7DBC-1752-BE3D-11A5-BBEF0F7CC9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15090" y="5393479"/>
            <a:ext cx="914400" cy="914400"/>
          </a:xfrm>
          <a:prstGeom prst="rect">
            <a:avLst/>
          </a:prstGeom>
        </p:spPr>
      </p:pic>
      <p:pic>
        <p:nvPicPr>
          <p:cNvPr id="5" name="Graphic 4" descr="Document with solid fill">
            <a:extLst>
              <a:ext uri="{FF2B5EF4-FFF2-40B4-BE49-F238E27FC236}">
                <a16:creationId xmlns:a16="http://schemas.microsoft.com/office/drawing/2014/main" id="{1F99FA8E-F1AC-2D6E-27A5-8722003DE6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5090" y="1477576"/>
            <a:ext cx="914400" cy="914400"/>
          </a:xfrm>
          <a:prstGeom prst="rect">
            <a:avLst/>
          </a:prstGeom>
        </p:spPr>
      </p:pic>
      <p:pic>
        <p:nvPicPr>
          <p:cNvPr id="48" name="Graphic 47" descr="Document with solid fill">
            <a:extLst>
              <a:ext uri="{FF2B5EF4-FFF2-40B4-BE49-F238E27FC236}">
                <a16:creationId xmlns:a16="http://schemas.microsoft.com/office/drawing/2014/main" id="{49CCBFBF-6781-2495-4175-ED04B63385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5090" y="2592880"/>
            <a:ext cx="914400" cy="914400"/>
          </a:xfrm>
          <a:prstGeom prst="rect">
            <a:avLst/>
          </a:prstGeom>
        </p:spPr>
      </p:pic>
      <p:pic>
        <p:nvPicPr>
          <p:cNvPr id="49" name="Graphic 48" descr="Document with solid fill">
            <a:extLst>
              <a:ext uri="{FF2B5EF4-FFF2-40B4-BE49-F238E27FC236}">
                <a16:creationId xmlns:a16="http://schemas.microsoft.com/office/drawing/2014/main" id="{F1C4348E-48FE-72C6-0367-22D6275E0D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5090" y="3769997"/>
            <a:ext cx="914400" cy="914400"/>
          </a:xfrm>
          <a:prstGeom prst="rect">
            <a:avLst/>
          </a:prstGeom>
        </p:spPr>
      </p:pic>
      <p:pic>
        <p:nvPicPr>
          <p:cNvPr id="50" name="Graphic 49" descr="Web design with solid fill">
            <a:extLst>
              <a:ext uri="{FF2B5EF4-FFF2-40B4-BE49-F238E27FC236}">
                <a16:creationId xmlns:a16="http://schemas.microsoft.com/office/drawing/2014/main" id="{3F8F6C64-9251-4A41-B239-972F64727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27293" y="1477576"/>
            <a:ext cx="914400" cy="914400"/>
          </a:xfrm>
          <a:prstGeom prst="rect">
            <a:avLst/>
          </a:prstGeom>
        </p:spPr>
      </p:pic>
      <p:pic>
        <p:nvPicPr>
          <p:cNvPr id="51" name="Graphic 50" descr="Document with solid fill">
            <a:extLst>
              <a:ext uri="{FF2B5EF4-FFF2-40B4-BE49-F238E27FC236}">
                <a16:creationId xmlns:a16="http://schemas.microsoft.com/office/drawing/2014/main" id="{66A58074-0B91-3F18-0384-3FDF7759D5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7293" y="3769997"/>
            <a:ext cx="914400" cy="914400"/>
          </a:xfrm>
          <a:prstGeom prst="rect">
            <a:avLst/>
          </a:prstGeom>
        </p:spPr>
      </p:pic>
      <p:pic>
        <p:nvPicPr>
          <p:cNvPr id="52" name="Graphic 51" descr="Document with solid fill">
            <a:extLst>
              <a:ext uri="{FF2B5EF4-FFF2-40B4-BE49-F238E27FC236}">
                <a16:creationId xmlns:a16="http://schemas.microsoft.com/office/drawing/2014/main" id="{A79F092F-8388-38F6-6C34-8D193AB937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1205" y="2592880"/>
            <a:ext cx="914400" cy="914400"/>
          </a:xfrm>
          <a:prstGeom prst="rect">
            <a:avLst/>
          </a:prstGeom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ECD0C4B-3519-5801-892F-B68AE8211A6B}"/>
              </a:ext>
            </a:extLst>
          </p:cNvPr>
          <p:cNvCxnSpPr/>
          <p:nvPr/>
        </p:nvCxnSpPr>
        <p:spPr>
          <a:xfrm>
            <a:off x="3445935" y="5106472"/>
            <a:ext cx="1882588" cy="0"/>
          </a:xfrm>
          <a:prstGeom prst="line">
            <a:avLst/>
          </a:prstGeom>
          <a:ln w="76200">
            <a:solidFill>
              <a:srgbClr val="FFCD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Graphic 54" descr="Greek Temple with solid fill">
            <a:extLst>
              <a:ext uri="{FF2B5EF4-FFF2-40B4-BE49-F238E27FC236}">
                <a16:creationId xmlns:a16="http://schemas.microsoft.com/office/drawing/2014/main" id="{CCE1094E-ACD6-C638-22B7-84E12F1AEC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14165" y="1934776"/>
            <a:ext cx="914400" cy="914400"/>
          </a:xfrm>
          <a:prstGeom prst="rect">
            <a:avLst/>
          </a:prstGeom>
        </p:spPr>
      </p:pic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2FA25A9-4A4F-04A6-DBE4-5303EC5B41C8}"/>
              </a:ext>
            </a:extLst>
          </p:cNvPr>
          <p:cNvCxnSpPr>
            <a:cxnSpLocks/>
          </p:cNvCxnSpPr>
          <p:nvPr/>
        </p:nvCxnSpPr>
        <p:spPr>
          <a:xfrm>
            <a:off x="6528392" y="3067539"/>
            <a:ext cx="1888185" cy="0"/>
          </a:xfrm>
          <a:prstGeom prst="straightConnector1">
            <a:avLst/>
          </a:prstGeom>
          <a:ln w="76200">
            <a:solidFill>
              <a:srgbClr val="FFCD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Graphic 7" descr="Clenched Fist with solid fill">
            <a:extLst>
              <a:ext uri="{FF2B5EF4-FFF2-40B4-BE49-F238E27FC236}">
                <a16:creationId xmlns:a16="http://schemas.microsoft.com/office/drawing/2014/main" id="{99FB6B0C-0EB9-825A-287B-2E6E369AC9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14165" y="3250144"/>
            <a:ext cx="914400" cy="9144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405D82B-3288-6167-BC4C-CA9AD8447A1E}"/>
              </a:ext>
            </a:extLst>
          </p:cNvPr>
          <p:cNvSpPr/>
          <p:nvPr/>
        </p:nvSpPr>
        <p:spPr>
          <a:xfrm>
            <a:off x="0" y="6620723"/>
            <a:ext cx="12192000" cy="304663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D0956A-AE67-D31A-3FA7-7377631D6FE3}"/>
              </a:ext>
            </a:extLst>
          </p:cNvPr>
          <p:cNvSpPr txBox="1"/>
          <p:nvPr/>
        </p:nvSpPr>
        <p:spPr>
          <a:xfrm>
            <a:off x="0" y="655605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CC-BY; Hanne Oberman, junior </a:t>
            </a:r>
            <a:r>
              <a:rPr lang="en-US" dirty="0" err="1"/>
              <a:t>universitair</a:t>
            </a:r>
            <a:r>
              <a:rPr lang="en-US" dirty="0"/>
              <a:t> docent </a:t>
            </a:r>
            <a:r>
              <a:rPr lang="en-US" dirty="0" err="1"/>
              <a:t>Methoden</a:t>
            </a:r>
            <a:r>
              <a:rPr lang="en-US" dirty="0"/>
              <a:t> &amp; </a:t>
            </a:r>
            <a:r>
              <a:rPr lang="en-US" dirty="0" err="1"/>
              <a:t>Statistiek</a:t>
            </a:r>
            <a:r>
              <a:rPr lang="en-US" dirty="0"/>
              <a:t>, Universiteit Utrecht; </a:t>
            </a:r>
            <a:r>
              <a:rPr lang="en-US" dirty="0" err="1"/>
              <a:t>hanneoberman.github.io</a:t>
            </a:r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944DA0D-29ED-5E6F-7912-A6A54D0ED7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70121" y="-81087"/>
            <a:ext cx="3063948" cy="12110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A06577-15EF-5E71-BBD6-FAC2C9B87B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6489" y="5536930"/>
            <a:ext cx="914400" cy="98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458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8A5223-FFA0-3344-CE9D-F3403F99D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8627" y="3744131"/>
            <a:ext cx="2382326" cy="796321"/>
          </a:xfrm>
          <a:prstGeom prst="rect">
            <a:avLst/>
          </a:prstGeom>
        </p:spPr>
      </p:pic>
      <p:pic>
        <p:nvPicPr>
          <p:cNvPr id="5" name="Picture 4" descr="MICE_sticker_SMALL.png">
            <a:extLst>
              <a:ext uri="{FF2B5EF4-FFF2-40B4-BE49-F238E27FC236}">
                <a16:creationId xmlns:a16="http://schemas.microsoft.com/office/drawing/2014/main" id="{DB27627D-4B53-3F6A-638C-932FB90A3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5034" y="961844"/>
            <a:ext cx="1266740" cy="1470707"/>
          </a:xfrm>
          <a:prstGeom prst="rect">
            <a:avLst/>
          </a:prstGeom>
        </p:spPr>
      </p:pic>
      <p:pic>
        <p:nvPicPr>
          <p:cNvPr id="6" name="Picture 5" descr="logo.png">
            <a:extLst>
              <a:ext uri="{FF2B5EF4-FFF2-40B4-BE49-F238E27FC236}">
                <a16:creationId xmlns:a16="http://schemas.microsoft.com/office/drawing/2014/main" id="{08F0CC16-BD6A-935F-D4BD-3D92C0C1F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8404" y="2047889"/>
            <a:ext cx="1266740" cy="1467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B1C0A3-3BB7-E450-14E7-749170F311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99790" y="961843"/>
            <a:ext cx="1470707" cy="1470707"/>
          </a:xfrm>
          <a:prstGeom prst="rect">
            <a:avLst/>
          </a:prstGeom>
        </p:spPr>
      </p:pic>
      <p:pic>
        <p:nvPicPr>
          <p:cNvPr id="8" name="Graphic 7" descr="Boardroom with solid fill">
            <a:extLst>
              <a:ext uri="{FF2B5EF4-FFF2-40B4-BE49-F238E27FC236}">
                <a16:creationId xmlns:a16="http://schemas.microsoft.com/office/drawing/2014/main" id="{FEC35B32-A23F-DD90-64FC-56DE7D7304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22350" y="5008910"/>
            <a:ext cx="914400" cy="914400"/>
          </a:xfrm>
          <a:prstGeom prst="rect">
            <a:avLst/>
          </a:prstGeom>
        </p:spPr>
      </p:pic>
      <p:pic>
        <p:nvPicPr>
          <p:cNvPr id="9" name="Graphic 8" descr="Users with solid fill">
            <a:extLst>
              <a:ext uri="{FF2B5EF4-FFF2-40B4-BE49-F238E27FC236}">
                <a16:creationId xmlns:a16="http://schemas.microsoft.com/office/drawing/2014/main" id="{2E16AF42-D128-37C4-E1AA-DC7EF677A7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876553" y="5017176"/>
            <a:ext cx="914400" cy="9144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7256F9-E57D-CE41-EE4D-27C3124066DC}"/>
              </a:ext>
            </a:extLst>
          </p:cNvPr>
          <p:cNvCxnSpPr>
            <a:cxnSpLocks/>
          </p:cNvCxnSpPr>
          <p:nvPr/>
        </p:nvCxnSpPr>
        <p:spPr>
          <a:xfrm>
            <a:off x="13750126" y="2725852"/>
            <a:ext cx="859650" cy="0"/>
          </a:xfrm>
          <a:prstGeom prst="straightConnector1">
            <a:avLst/>
          </a:prstGeom>
          <a:ln w="76200">
            <a:solidFill>
              <a:srgbClr val="FFCD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phic 10" descr="Teacher with solid fill">
            <a:extLst>
              <a:ext uri="{FF2B5EF4-FFF2-40B4-BE49-F238E27FC236}">
                <a16:creationId xmlns:a16="http://schemas.microsoft.com/office/drawing/2014/main" id="{24150A2B-F861-2CE4-7821-EA3FC1AC26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1490135" y="2072842"/>
            <a:ext cx="914400" cy="914400"/>
          </a:xfrm>
          <a:prstGeom prst="rect">
            <a:avLst/>
          </a:prstGeom>
        </p:spPr>
      </p:pic>
      <p:pic>
        <p:nvPicPr>
          <p:cNvPr id="12" name="Graphic 11" descr="Artificial Intelligence with solid fill">
            <a:extLst>
              <a:ext uri="{FF2B5EF4-FFF2-40B4-BE49-F238E27FC236}">
                <a16:creationId xmlns:a16="http://schemas.microsoft.com/office/drawing/2014/main" id="{B643C1C3-5130-1411-A0AB-40478106AE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5074767" y="3218399"/>
            <a:ext cx="914400" cy="914400"/>
          </a:xfrm>
          <a:prstGeom prst="rect">
            <a:avLst/>
          </a:prstGeom>
        </p:spPr>
      </p:pic>
      <p:pic>
        <p:nvPicPr>
          <p:cNvPr id="13" name="Graphic 12" descr="Bar graph with upward trend with solid fill">
            <a:extLst>
              <a:ext uri="{FF2B5EF4-FFF2-40B4-BE49-F238E27FC236}">
                <a16:creationId xmlns:a16="http://schemas.microsoft.com/office/drawing/2014/main" id="{1CDE360D-88CF-2656-297D-DA52C44C08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7152949" y="2885890"/>
            <a:ext cx="914400" cy="914400"/>
          </a:xfrm>
          <a:prstGeom prst="rect">
            <a:avLst/>
          </a:prstGeom>
        </p:spPr>
      </p:pic>
      <p:pic>
        <p:nvPicPr>
          <p:cNvPr id="14" name="Graphic 13" descr="Checklist with solid fill">
            <a:extLst>
              <a:ext uri="{FF2B5EF4-FFF2-40B4-BE49-F238E27FC236}">
                <a16:creationId xmlns:a16="http://schemas.microsoft.com/office/drawing/2014/main" id="{80FB87B6-E035-F618-3985-93C14DB749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6695749" y="4189207"/>
            <a:ext cx="914400" cy="914400"/>
          </a:xfrm>
          <a:prstGeom prst="rect">
            <a:avLst/>
          </a:prstGeom>
        </p:spPr>
      </p:pic>
      <p:pic>
        <p:nvPicPr>
          <p:cNvPr id="15" name="Graphic 14" descr="Clenched Fist with solid fill">
            <a:extLst>
              <a:ext uri="{FF2B5EF4-FFF2-40B4-BE49-F238E27FC236}">
                <a16:creationId xmlns:a16="http://schemas.microsoft.com/office/drawing/2014/main" id="{8AC39E8C-A980-40EB-8B3C-57659B35EF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5894165" y="1054121"/>
            <a:ext cx="914400" cy="914400"/>
          </a:xfrm>
          <a:prstGeom prst="rect">
            <a:avLst/>
          </a:prstGeom>
        </p:spPr>
      </p:pic>
      <p:pic>
        <p:nvPicPr>
          <p:cNvPr id="16" name="Graphic 15" descr="Cmd Terminal with solid fill">
            <a:extLst>
              <a:ext uri="{FF2B5EF4-FFF2-40B4-BE49-F238E27FC236}">
                <a16:creationId xmlns:a16="http://schemas.microsoft.com/office/drawing/2014/main" id="{A9EC2D52-99AF-DDB4-CB3F-F9FD379AC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2533448" y="5569714"/>
            <a:ext cx="914400" cy="914400"/>
          </a:xfrm>
          <a:prstGeom prst="rect">
            <a:avLst/>
          </a:prstGeom>
        </p:spPr>
      </p:pic>
      <p:pic>
        <p:nvPicPr>
          <p:cNvPr id="17" name="Graphic 16" descr="Court with solid fill">
            <a:extLst>
              <a:ext uri="{FF2B5EF4-FFF2-40B4-BE49-F238E27FC236}">
                <a16:creationId xmlns:a16="http://schemas.microsoft.com/office/drawing/2014/main" id="{8F026E3B-ED9D-485A-EA75-41E168377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5068829" y="5112514"/>
            <a:ext cx="914400" cy="914400"/>
          </a:xfrm>
          <a:prstGeom prst="rect">
            <a:avLst/>
          </a:prstGeom>
        </p:spPr>
      </p:pic>
      <p:pic>
        <p:nvPicPr>
          <p:cNvPr id="18" name="Graphic 17" descr="Customer review with solid fill">
            <a:extLst>
              <a:ext uri="{FF2B5EF4-FFF2-40B4-BE49-F238E27FC236}">
                <a16:creationId xmlns:a16="http://schemas.microsoft.com/office/drawing/2014/main" id="{1792E536-8995-E333-1D10-721DF29A65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6582934" y="5298065"/>
            <a:ext cx="914400" cy="914400"/>
          </a:xfrm>
          <a:prstGeom prst="rect">
            <a:avLst/>
          </a:prstGeom>
        </p:spPr>
      </p:pic>
      <p:pic>
        <p:nvPicPr>
          <p:cNvPr id="19" name="Graphic 18" descr="Disk with solid fill">
            <a:extLst>
              <a:ext uri="{FF2B5EF4-FFF2-40B4-BE49-F238E27FC236}">
                <a16:creationId xmlns:a16="http://schemas.microsoft.com/office/drawing/2014/main" id="{478246EC-3A0F-CAD6-BF1C-7BB966B00A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3918902" y="4809692"/>
            <a:ext cx="914400" cy="914400"/>
          </a:xfrm>
          <a:prstGeom prst="rect">
            <a:avLst/>
          </a:prstGeom>
        </p:spPr>
      </p:pic>
      <p:pic>
        <p:nvPicPr>
          <p:cNvPr id="20" name="Graphic 19" descr="Folder Search with solid fill">
            <a:extLst>
              <a:ext uri="{FF2B5EF4-FFF2-40B4-BE49-F238E27FC236}">
                <a16:creationId xmlns:a16="http://schemas.microsoft.com/office/drawing/2014/main" id="{E5EFA42F-9B7E-B056-B029-33FCA3CF4E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3162839" y="1989303"/>
            <a:ext cx="914400" cy="914400"/>
          </a:xfrm>
          <a:prstGeom prst="rect">
            <a:avLst/>
          </a:prstGeom>
        </p:spPr>
      </p:pic>
      <p:pic>
        <p:nvPicPr>
          <p:cNvPr id="21" name="Graphic 20" descr="Lost with solid fill">
            <a:extLst>
              <a:ext uri="{FF2B5EF4-FFF2-40B4-BE49-F238E27FC236}">
                <a16:creationId xmlns:a16="http://schemas.microsoft.com/office/drawing/2014/main" id="{295FEF30-19D2-4A97-EE5B-F522AAF239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3461702" y="653329"/>
            <a:ext cx="914400" cy="914400"/>
          </a:xfrm>
          <a:prstGeom prst="rect">
            <a:avLst/>
          </a:prstGeom>
        </p:spPr>
      </p:pic>
      <p:pic>
        <p:nvPicPr>
          <p:cNvPr id="22" name="Graphic 21" descr="Presentation with bar chart with solid fill">
            <a:extLst>
              <a:ext uri="{FF2B5EF4-FFF2-40B4-BE49-F238E27FC236}">
                <a16:creationId xmlns:a16="http://schemas.microsoft.com/office/drawing/2014/main" id="{5B91428E-938B-02D3-168E-12CA239097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-1975308" y="4551405"/>
            <a:ext cx="914400" cy="914400"/>
          </a:xfrm>
          <a:prstGeom prst="rect">
            <a:avLst/>
          </a:prstGeom>
        </p:spPr>
      </p:pic>
      <p:pic>
        <p:nvPicPr>
          <p:cNvPr id="23" name="Graphic 22" descr="Professor male with solid fill">
            <a:extLst>
              <a:ext uri="{FF2B5EF4-FFF2-40B4-BE49-F238E27FC236}">
                <a16:creationId xmlns:a16="http://schemas.microsoft.com/office/drawing/2014/main" id="{4FFA5749-6F79-80C5-61C6-BA43CD1935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-2129687" y="405432"/>
            <a:ext cx="914400" cy="914400"/>
          </a:xfrm>
          <a:prstGeom prst="rect">
            <a:avLst/>
          </a:prstGeom>
        </p:spPr>
      </p:pic>
      <p:pic>
        <p:nvPicPr>
          <p:cNvPr id="24" name="Graphic 23" descr="Questions with solid fill">
            <a:extLst>
              <a:ext uri="{FF2B5EF4-FFF2-40B4-BE49-F238E27FC236}">
                <a16:creationId xmlns:a16="http://schemas.microsoft.com/office/drawing/2014/main" id="{85D5A945-DB28-3E56-C351-478A956AA0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-7152949" y="1319832"/>
            <a:ext cx="914400" cy="914400"/>
          </a:xfrm>
          <a:prstGeom prst="rect">
            <a:avLst/>
          </a:prstGeom>
        </p:spPr>
      </p:pic>
      <p:pic>
        <p:nvPicPr>
          <p:cNvPr id="25" name="Graphic 24" descr="Scatterplot with solid fill">
            <a:extLst>
              <a:ext uri="{FF2B5EF4-FFF2-40B4-BE49-F238E27FC236}">
                <a16:creationId xmlns:a16="http://schemas.microsoft.com/office/drawing/2014/main" id="{2D257BC9-0A83-56BA-4075-EF56E9450F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-6238549" y="139721"/>
            <a:ext cx="914400" cy="914400"/>
          </a:xfrm>
          <a:prstGeom prst="rect">
            <a:avLst/>
          </a:prstGeom>
        </p:spPr>
      </p:pic>
      <p:pic>
        <p:nvPicPr>
          <p:cNvPr id="26" name="Graphic 25" descr="Statistics with solid fill">
            <a:extLst>
              <a:ext uri="{FF2B5EF4-FFF2-40B4-BE49-F238E27FC236}">
                <a16:creationId xmlns:a16="http://schemas.microsoft.com/office/drawing/2014/main" id="{6A23AD90-65E5-B27E-7DC3-AC730BE79D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-2677930" y="3274807"/>
            <a:ext cx="914400" cy="914400"/>
          </a:xfrm>
          <a:prstGeom prst="rect">
            <a:avLst/>
          </a:prstGeom>
        </p:spPr>
      </p:pic>
      <p:pic>
        <p:nvPicPr>
          <p:cNvPr id="43" name="Graphic 42" descr="Clipboard with solid fill">
            <a:extLst>
              <a:ext uri="{FF2B5EF4-FFF2-40B4-BE49-F238E27FC236}">
                <a16:creationId xmlns:a16="http://schemas.microsoft.com/office/drawing/2014/main" id="{05823EE9-F156-909B-DA45-BB5C3B4632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-10038150" y="1975350"/>
            <a:ext cx="914400" cy="914400"/>
          </a:xfrm>
          <a:prstGeom prst="rect">
            <a:avLst/>
          </a:prstGeom>
        </p:spPr>
      </p:pic>
      <p:pic>
        <p:nvPicPr>
          <p:cNvPr id="44" name="Graphic 43" descr="Clipboard Checked with solid fill">
            <a:extLst>
              <a:ext uri="{FF2B5EF4-FFF2-40B4-BE49-F238E27FC236}">
                <a16:creationId xmlns:a16="http://schemas.microsoft.com/office/drawing/2014/main" id="{B5F82B39-BE19-468C-B986-A91AE8FCE5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-8957999" y="320820"/>
            <a:ext cx="914400" cy="914400"/>
          </a:xfrm>
          <a:prstGeom prst="rect">
            <a:avLst/>
          </a:prstGeom>
        </p:spPr>
      </p:pic>
      <p:pic>
        <p:nvPicPr>
          <p:cNvPr id="45" name="Graphic 44" descr="Gears with solid fill">
            <a:extLst>
              <a:ext uri="{FF2B5EF4-FFF2-40B4-BE49-F238E27FC236}">
                <a16:creationId xmlns:a16="http://schemas.microsoft.com/office/drawing/2014/main" id="{A1B2D2B8-2B0D-331A-3F7D-0DA641AA97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8742263" y="4809692"/>
            <a:ext cx="914400" cy="914400"/>
          </a:xfrm>
          <a:prstGeom prst="rect">
            <a:avLst/>
          </a:prstGeom>
        </p:spPr>
      </p:pic>
      <p:pic>
        <p:nvPicPr>
          <p:cNvPr id="46" name="Graphic 45" descr="Graduation cap with solid fill">
            <a:extLst>
              <a:ext uri="{FF2B5EF4-FFF2-40B4-BE49-F238E27FC236}">
                <a16:creationId xmlns:a16="http://schemas.microsoft.com/office/drawing/2014/main" id="{2A982290-0284-F138-67D7-6368193225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-7778383" y="6124"/>
            <a:ext cx="914400" cy="914400"/>
          </a:xfrm>
          <a:prstGeom prst="rect">
            <a:avLst/>
          </a:prstGeom>
        </p:spPr>
      </p:pic>
      <p:pic>
        <p:nvPicPr>
          <p:cNvPr id="47" name="Graphic 46" descr="Greek Temple with solid fill">
            <a:extLst>
              <a:ext uri="{FF2B5EF4-FFF2-40B4-BE49-F238E27FC236}">
                <a16:creationId xmlns:a16="http://schemas.microsoft.com/office/drawing/2014/main" id="{C486A18C-00F2-EEA9-BFF1-EE5E62606D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-8649240" y="3274807"/>
            <a:ext cx="914400" cy="914400"/>
          </a:xfrm>
          <a:prstGeom prst="rect">
            <a:avLst/>
          </a:prstGeom>
        </p:spPr>
      </p:pic>
      <p:pic>
        <p:nvPicPr>
          <p:cNvPr id="48" name="Graphic 47" descr="Group brainstorm with solid fill">
            <a:extLst>
              <a:ext uri="{FF2B5EF4-FFF2-40B4-BE49-F238E27FC236}">
                <a16:creationId xmlns:a16="http://schemas.microsoft.com/office/drawing/2014/main" id="{3E0C1363-DE37-4AFD-982E-3EFDFF511F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-8541372" y="1561791"/>
            <a:ext cx="914400" cy="914400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AF13FAB9-0426-49AF-4F12-E80FCB3D6143}"/>
              </a:ext>
            </a:extLst>
          </p:cNvPr>
          <p:cNvSpPr>
            <a:spLocks noChangeAspect="1"/>
          </p:cNvSpPr>
          <p:nvPr/>
        </p:nvSpPr>
        <p:spPr>
          <a:xfrm>
            <a:off x="-526049" y="6739986"/>
            <a:ext cx="161365" cy="161364"/>
          </a:xfrm>
          <a:prstGeom prst="ellipse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9B95D13-98DE-3E50-9B1A-401BA9CC2523}"/>
              </a:ext>
            </a:extLst>
          </p:cNvPr>
          <p:cNvSpPr>
            <a:spLocks noChangeAspect="1"/>
          </p:cNvSpPr>
          <p:nvPr/>
        </p:nvSpPr>
        <p:spPr>
          <a:xfrm>
            <a:off x="-616420" y="6466659"/>
            <a:ext cx="161365" cy="161364"/>
          </a:xfrm>
          <a:prstGeom prst="ellipse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D15A26D-D0E2-846A-DEE5-DF00B1A82541}"/>
              </a:ext>
            </a:extLst>
          </p:cNvPr>
          <p:cNvSpPr>
            <a:spLocks noChangeAspect="1"/>
          </p:cNvSpPr>
          <p:nvPr/>
        </p:nvSpPr>
        <p:spPr>
          <a:xfrm>
            <a:off x="-480581" y="6574630"/>
            <a:ext cx="161365" cy="161364"/>
          </a:xfrm>
          <a:prstGeom prst="ellipse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365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343</TotalTime>
  <Words>839</Words>
  <Application>Microsoft Macintosh PowerPoint</Application>
  <PresentationFormat>Widescreen</PresentationFormat>
  <Paragraphs>95</Paragraphs>
  <Slides>3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Oberman, H.I. (Hanne)</dc:creator>
  <cp:lastModifiedBy>Oberman, H.I. (Hanne)</cp:lastModifiedBy>
  <cp:revision>11</cp:revision>
  <dcterms:created xsi:type="dcterms:W3CDTF">2026-06-11T12:46:15Z</dcterms:created>
  <dcterms:modified xsi:type="dcterms:W3CDTF">2026-06-16T10:18:03Z</dcterms:modified>
</cp:coreProperties>
</file>