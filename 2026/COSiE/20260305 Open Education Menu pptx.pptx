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Lst>
  <p:notesMasterIdLst>
    <p:notesMasterId r:id="rId44"/>
  </p:notesMasterIdLst>
  <p:sldIdLst>
    <p:sldId id="271" r:id="rId6"/>
    <p:sldId id="673" r:id="rId7"/>
    <p:sldId id="278" r:id="rId8"/>
    <p:sldId id="678" r:id="rId9"/>
    <p:sldId id="277" r:id="rId10"/>
    <p:sldId id="677" r:id="rId11"/>
    <p:sldId id="272" r:id="rId12"/>
    <p:sldId id="698" r:id="rId13"/>
    <p:sldId id="276" r:id="rId14"/>
    <p:sldId id="697" r:id="rId15"/>
    <p:sldId id="676" r:id="rId16"/>
    <p:sldId id="681" r:id="rId17"/>
    <p:sldId id="674" r:id="rId18"/>
    <p:sldId id="682" r:id="rId19"/>
    <p:sldId id="288" r:id="rId20"/>
    <p:sldId id="696" r:id="rId21"/>
    <p:sldId id="263" r:id="rId22"/>
    <p:sldId id="684" r:id="rId23"/>
    <p:sldId id="273" r:id="rId24"/>
    <p:sldId id="685" r:id="rId25"/>
    <p:sldId id="283" r:id="rId26"/>
    <p:sldId id="686" r:id="rId27"/>
    <p:sldId id="284" r:id="rId28"/>
    <p:sldId id="687" r:id="rId29"/>
    <p:sldId id="285" r:id="rId30"/>
    <p:sldId id="688" r:id="rId31"/>
    <p:sldId id="286" r:id="rId32"/>
    <p:sldId id="689" r:id="rId33"/>
    <p:sldId id="287" r:id="rId34"/>
    <p:sldId id="690" r:id="rId35"/>
    <p:sldId id="279" r:id="rId36"/>
    <p:sldId id="691" r:id="rId37"/>
    <p:sldId id="280" r:id="rId38"/>
    <p:sldId id="692" r:id="rId39"/>
    <p:sldId id="275" r:id="rId40"/>
    <p:sldId id="693" r:id="rId41"/>
    <p:sldId id="281" r:id="rId42"/>
    <p:sldId id="694" r:id="rId43"/>
  </p:sldIdLst>
  <p:sldSz cx="12192000" cy="6858000"/>
  <p:notesSz cx="6805613" cy="9944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nu" id="{EFFDD0E2-14D6-40A6-9BAA-EE8B856F1A53}">
          <p14:sldIdLst>
            <p14:sldId id="271"/>
            <p14:sldId id="673"/>
          </p14:sldIdLst>
        </p14:section>
        <p14:section name="Starters" id="{D7ADC89C-FD4D-4AC3-8FEB-86EE3A286218}">
          <p14:sldIdLst>
            <p14:sldId id="278"/>
            <p14:sldId id="678"/>
            <p14:sldId id="277"/>
            <p14:sldId id="677"/>
            <p14:sldId id="272"/>
            <p14:sldId id="698"/>
            <p14:sldId id="276"/>
            <p14:sldId id="697"/>
          </p14:sldIdLst>
        </p14:section>
        <p14:section name="Mains" id="{FCEFCF2A-4971-45E1-8727-8CD2574EA134}">
          <p14:sldIdLst>
            <p14:sldId id="676"/>
            <p14:sldId id="681"/>
            <p14:sldId id="674"/>
            <p14:sldId id="682"/>
            <p14:sldId id="288"/>
            <p14:sldId id="696"/>
            <p14:sldId id="263"/>
            <p14:sldId id="684"/>
            <p14:sldId id="273"/>
            <p14:sldId id="685"/>
            <p14:sldId id="283"/>
            <p14:sldId id="686"/>
            <p14:sldId id="284"/>
            <p14:sldId id="687"/>
            <p14:sldId id="285"/>
            <p14:sldId id="688"/>
            <p14:sldId id="286"/>
            <p14:sldId id="689"/>
            <p14:sldId id="287"/>
            <p14:sldId id="690"/>
          </p14:sldIdLst>
        </p14:section>
        <p14:section name="Desserts" id="{89F09E2B-F44C-4C76-8D28-AD1BB827E173}">
          <p14:sldIdLst>
            <p14:sldId id="279"/>
            <p14:sldId id="691"/>
            <p14:sldId id="280"/>
            <p14:sldId id="692"/>
            <p14:sldId id="275"/>
            <p14:sldId id="693"/>
            <p14:sldId id="281"/>
            <p14:sldId id="69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8B74C0C-9D2E-F691-1584-3ED6C731F456}" name="Pieterman-Bos, J.E. (Annelies)" initials="PBJ(" userId="S::j.e.pieterman-bos@uu.nl::f37332c9-5c36-4ecf-868b-9be479851ff3" providerId="AD"/>
  <p188:author id="{5F62B13D-18E8-23CE-45F1-CB60D77B2898}" name="Huijnen, P. (Pim)" initials="HP" userId="S::p.huijnen@uu.nl::9fe246b9-97eb-48d0-84be-fc857811c895" providerId="AD"/>
  <p188:author id="{108A0F62-07FB-A40B-385E-9BD729E4D7FE}" name="Mil, M.H.W. van (Marc)" initials="MMv(" userId="S::Mil00103@soliscom.uu.nl::55266f21-4112-4c11-bf56-8cc05120142e" providerId="AD"/>
  <p188:author id="{FE43F871-638A-E26A-FD3B-27D32F74DDCC}" name="Jacobs, E. (Erik)" initials="JE" userId="S::e.jacobs@uu.nl::17826cb6-8117-4fe5-9010-36fe95809bf3" providerId="AD"/>
  <p188:author id="{4A97FBA4-051B-D8FA-C303-53DF10EDA046}" name="Bosman, J.M. (Jeroen)" initials="BJ" userId="S::j.bosman@uu.nl::4df40d72-c22e-4222-9db3-215ff82260b0" providerId="AD"/>
  <p188:author id="{FA2052AD-8223-3D2C-A5F0-2D913497A9B4}" name="Çiftcibaşi, I.Ö.A. (Ilcan)" initials="ÇI" userId="S::i.o.a.ciftcibasi@students.uu.nl::1dbbaa02-c28a-4953-99a6-f33c52ffe22a" providerId="AD"/>
  <p188:author id="{8E09F9CF-3919-ED35-656E-A88F5E0DDE32}" name="Dielen, R.D.P. (Ruud)" initials="DR" userId="S::r.d.p.dielen@uu.nl::b5b86753-79f5-44ab-abed-ae939e5bf051" providerId="AD"/>
  <p188:author id="{4FA952D1-4210-1076-30A1-C8A392157FB2}" name="Oberman, H.I. (Hanne)" initials="OH" userId="S::h.i.oberman@uu.nl::e27d1978-6ace-4e0e-9109-4f58c8b6a455" providerId="AD"/>
  <p188:author id="{C8C1A0DE-8CA4-1747-71AF-93EBD3B8D185}" name="Weinans, E. (Els)" initials="WE" userId="S::e.weinans@uu.nl::ba179091-1c3a-482c-b5e5-2c64d7ea9f81" providerId="AD"/>
  <p188:author id="{B41CA0E0-6482-8922-34E1-438DF598738F}" name="Goudeau, M.S. (Marie-Louise)" initials="GM" userId="S::m.s.goudeau@uu.nl::d71ce52e-2cbe-41ac-a311-83188c613ddb" providerId="AD"/>
  <p188:author id="{5A5A4FFE-DBC3-6909-9A2A-0E5D50CC3814}" name="Dussen, A.L. van der (Anneke)" initials="Av" userId="S::a.l.vanderdussen@students.uu.nl::df3f2735-6c91-4695-a7f2-8533ac14c98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8E8E8"/>
    <a:srgbClr val="FFCD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C045F8-90F3-E040-AA33-8E24162B2E4B}" v="2" dt="2026-03-05T14:00:16.848"/>
    <p1510:client id="{371C9143-B5D2-B382-E5CE-184625B9DDC2}" v="19" dt="2026-03-04T21:31:08.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26"/>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9099" cy="498932"/>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4939" y="0"/>
            <a:ext cx="2949099" cy="498932"/>
          </a:xfrm>
          <a:prstGeom prst="rect">
            <a:avLst/>
          </a:prstGeom>
        </p:spPr>
        <p:txBody>
          <a:bodyPr vert="horz" lIns="91440" tIns="45720" rIns="91440" bIns="45720" rtlCol="0"/>
          <a:lstStyle>
            <a:lvl1pPr algn="r">
              <a:defRPr sz="1200"/>
            </a:lvl1pPr>
          </a:lstStyle>
          <a:p>
            <a:fld id="{28551FB1-F524-4D39-AC74-59DCA45618BF}" type="datetimeFigureOut">
              <a:t>5/1/26</a:t>
            </a:fld>
            <a:endParaRPr lang="nl-NL"/>
          </a:p>
        </p:txBody>
      </p:sp>
      <p:sp>
        <p:nvSpPr>
          <p:cNvPr id="4" name="Tijdelijke aanduiding voor dia-afbeelding 3"/>
          <p:cNvSpPr>
            <a:spLocks noGrp="1" noRot="1" noChangeAspect="1"/>
          </p:cNvSpPr>
          <p:nvPr>
            <p:ph type="sldImg" idx="2"/>
          </p:nvPr>
        </p:nvSpPr>
        <p:spPr>
          <a:xfrm>
            <a:off x="420688" y="1243013"/>
            <a:ext cx="5964237" cy="3355975"/>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0562" y="4785598"/>
            <a:ext cx="5444490" cy="3915489"/>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45170"/>
            <a:ext cx="2949099" cy="498931"/>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4939" y="9445170"/>
            <a:ext cx="2949099" cy="498931"/>
          </a:xfrm>
          <a:prstGeom prst="rect">
            <a:avLst/>
          </a:prstGeom>
        </p:spPr>
        <p:txBody>
          <a:bodyPr vert="horz" lIns="91440" tIns="45720" rIns="91440" bIns="45720" rtlCol="0" anchor="b"/>
          <a:lstStyle>
            <a:lvl1pPr algn="r">
              <a:defRPr sz="1200"/>
            </a:lvl1pPr>
          </a:lstStyle>
          <a:p>
            <a:fld id="{3AAEC9E4-CF70-4B7A-8ABC-59083D602568}" type="slidenum">
              <a:t>‹#›</a:t>
            </a:fld>
            <a:endParaRPr lang="nl-NL"/>
          </a:p>
        </p:txBody>
      </p:sp>
    </p:spTree>
    <p:extLst>
      <p:ext uri="{BB962C8B-B14F-4D97-AF65-F5344CB8AC3E}">
        <p14:creationId xmlns:p14="http://schemas.microsoft.com/office/powerpoint/2010/main" val="3864579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6BDEF188-22EC-48ED-815B-527530B9907E}" type="slidenum">
              <a:rPr lang="nl-NL" smtClean="0"/>
              <a:t>1</a:t>
            </a:fld>
            <a:endParaRPr lang="nl-NL"/>
          </a:p>
        </p:txBody>
      </p:sp>
    </p:spTree>
    <p:extLst>
      <p:ext uri="{BB962C8B-B14F-4D97-AF65-F5344CB8AC3E}">
        <p14:creationId xmlns:p14="http://schemas.microsoft.com/office/powerpoint/2010/main" val="997731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3AAEC9E4-CF70-4B7A-8ABC-59083D602568}" type="slidenum">
              <a:rPr lang="nl-NL" smtClean="0"/>
              <a:t>2</a:t>
            </a:fld>
            <a:endParaRPr lang="nl-NL"/>
          </a:p>
        </p:txBody>
      </p:sp>
    </p:spTree>
    <p:extLst>
      <p:ext uri="{BB962C8B-B14F-4D97-AF65-F5344CB8AC3E}">
        <p14:creationId xmlns:p14="http://schemas.microsoft.com/office/powerpoint/2010/main" val="1884997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3AAEC9E4-CF70-4B7A-8ABC-59083D602568}" type="slidenum">
              <a:rPr lang="nl-NL" smtClean="0"/>
              <a:t>5</a:t>
            </a:fld>
            <a:endParaRPr lang="nl-NL"/>
          </a:p>
        </p:txBody>
      </p:sp>
    </p:spTree>
    <p:extLst>
      <p:ext uri="{BB962C8B-B14F-4D97-AF65-F5344CB8AC3E}">
        <p14:creationId xmlns:p14="http://schemas.microsoft.com/office/powerpoint/2010/main" val="1197723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46394-3A03-E440-D590-62789553154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3204E10-8EBE-7B34-CE41-715A8FBE5B3B}"/>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3FFD8FCC-61C2-EAC6-CF69-B1D4F46419FA}"/>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4092A199-010B-55C4-242E-6D622ADFB540}"/>
              </a:ext>
            </a:extLst>
          </p:cNvPr>
          <p:cNvSpPr>
            <a:spLocks noGrp="1"/>
          </p:cNvSpPr>
          <p:nvPr>
            <p:ph type="sldNum" sz="quarter" idx="5"/>
          </p:nvPr>
        </p:nvSpPr>
        <p:spPr/>
        <p:txBody>
          <a:bodyPr/>
          <a:lstStyle/>
          <a:p>
            <a:fld id="{3AAEC9E4-CF70-4B7A-8ABC-59083D602568}" type="slidenum">
              <a:rPr lang="nl-NL" smtClean="0"/>
              <a:t>6</a:t>
            </a:fld>
            <a:endParaRPr lang="nl-NL"/>
          </a:p>
        </p:txBody>
      </p:sp>
    </p:spTree>
    <p:extLst>
      <p:ext uri="{BB962C8B-B14F-4D97-AF65-F5344CB8AC3E}">
        <p14:creationId xmlns:p14="http://schemas.microsoft.com/office/powerpoint/2010/main" val="1354741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197B-D6A0-9201-E93F-7699CC23C82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C56F7E4-6BC4-9A7F-CE76-CDB778C6AF7D}"/>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5DC15DED-6141-A73A-C719-8861DF30E227}"/>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A34640B1-461F-183E-7E28-DC1603770D44}"/>
              </a:ext>
            </a:extLst>
          </p:cNvPr>
          <p:cNvSpPr>
            <a:spLocks noGrp="1"/>
          </p:cNvSpPr>
          <p:nvPr>
            <p:ph type="sldNum" sz="quarter" idx="5"/>
          </p:nvPr>
        </p:nvSpPr>
        <p:spPr/>
        <p:txBody>
          <a:bodyPr/>
          <a:lstStyle/>
          <a:p>
            <a:fld id="{3AAEC9E4-CF70-4B7A-8ABC-59083D602568}" type="slidenum">
              <a:rPr lang="nl-NL" smtClean="0"/>
              <a:t>8</a:t>
            </a:fld>
            <a:endParaRPr lang="nl-NL"/>
          </a:p>
        </p:txBody>
      </p:sp>
    </p:spTree>
    <p:extLst>
      <p:ext uri="{BB962C8B-B14F-4D97-AF65-F5344CB8AC3E}">
        <p14:creationId xmlns:p14="http://schemas.microsoft.com/office/powerpoint/2010/main" val="1474655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422B0-E8CA-7149-8AE2-3BA7DD336C2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372151B-198F-E089-0A52-033A3DF60D2C}"/>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D6CF4939-BA7A-2DAE-A46B-7ECDA98CEC28}"/>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64163C73-75C1-A52A-AA83-6F134C9F6D04}"/>
              </a:ext>
            </a:extLst>
          </p:cNvPr>
          <p:cNvSpPr>
            <a:spLocks noGrp="1"/>
          </p:cNvSpPr>
          <p:nvPr>
            <p:ph type="sldNum" sz="quarter" idx="5"/>
          </p:nvPr>
        </p:nvSpPr>
        <p:spPr/>
        <p:txBody>
          <a:bodyPr/>
          <a:lstStyle/>
          <a:p>
            <a:fld id="{3AAEC9E4-CF70-4B7A-8ABC-59083D602568}" type="slidenum">
              <a:rPr lang="nl-NL" smtClean="0"/>
              <a:t>10</a:t>
            </a:fld>
            <a:endParaRPr lang="nl-NL"/>
          </a:p>
        </p:txBody>
      </p:sp>
    </p:spTree>
    <p:extLst>
      <p:ext uri="{BB962C8B-B14F-4D97-AF65-F5344CB8AC3E}">
        <p14:creationId xmlns:p14="http://schemas.microsoft.com/office/powerpoint/2010/main" val="1343342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3AAEC9E4-CF70-4B7A-8ABC-59083D602568}" type="slidenum">
              <a:rPr lang="nl-NL" smtClean="0"/>
              <a:t>13</a:t>
            </a:fld>
            <a:endParaRPr lang="nl-NL"/>
          </a:p>
        </p:txBody>
      </p:sp>
    </p:spTree>
    <p:extLst>
      <p:ext uri="{BB962C8B-B14F-4D97-AF65-F5344CB8AC3E}">
        <p14:creationId xmlns:p14="http://schemas.microsoft.com/office/powerpoint/2010/main" val="995462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3AAEC9E4-CF70-4B7A-8ABC-59083D602568}" type="slidenum">
              <a:rPr lang="nl-NL" smtClean="0"/>
              <a:t>19</a:t>
            </a:fld>
            <a:endParaRPr lang="nl-NL"/>
          </a:p>
        </p:txBody>
      </p:sp>
    </p:spTree>
    <p:extLst>
      <p:ext uri="{BB962C8B-B14F-4D97-AF65-F5344CB8AC3E}">
        <p14:creationId xmlns:p14="http://schemas.microsoft.com/office/powerpoint/2010/main" val="4207949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E41F-EA5C-6208-0718-435EB607D5B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81267A3-F3E5-CACC-7711-10E8F2EDBFC2}"/>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BBC1DF7D-367F-D5E4-0319-A543BD3F26C4}"/>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8475FEA9-0D97-8969-7D9B-AC15DEC0EDC0}"/>
              </a:ext>
            </a:extLst>
          </p:cNvPr>
          <p:cNvSpPr>
            <a:spLocks noGrp="1"/>
          </p:cNvSpPr>
          <p:nvPr>
            <p:ph type="sldNum" sz="quarter" idx="5"/>
          </p:nvPr>
        </p:nvSpPr>
        <p:spPr/>
        <p:txBody>
          <a:bodyPr/>
          <a:lstStyle/>
          <a:p>
            <a:fld id="{3AAEC9E4-CF70-4B7A-8ABC-59083D602568}" type="slidenum">
              <a:rPr lang="nl-NL" smtClean="0"/>
              <a:t>20</a:t>
            </a:fld>
            <a:endParaRPr lang="nl-NL"/>
          </a:p>
        </p:txBody>
      </p:sp>
    </p:spTree>
    <p:extLst>
      <p:ext uri="{BB962C8B-B14F-4D97-AF65-F5344CB8AC3E}">
        <p14:creationId xmlns:p14="http://schemas.microsoft.com/office/powerpoint/2010/main" val="3740071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3AAEC9E4-CF70-4B7A-8ABC-59083D602568}" type="slidenum">
              <a:rPr lang="nl-NL" smtClean="0"/>
              <a:t>25</a:t>
            </a:fld>
            <a:endParaRPr lang="nl-NL"/>
          </a:p>
        </p:txBody>
      </p:sp>
    </p:spTree>
    <p:extLst>
      <p:ext uri="{BB962C8B-B14F-4D97-AF65-F5344CB8AC3E}">
        <p14:creationId xmlns:p14="http://schemas.microsoft.com/office/powerpoint/2010/main" val="1208671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3AAEC9E4-CF70-4B7A-8ABC-59083D602568}" type="slidenum">
              <a:rPr lang="nl-NL" smtClean="0"/>
              <a:t>37</a:t>
            </a:fld>
            <a:endParaRPr lang="nl-NL"/>
          </a:p>
        </p:txBody>
      </p:sp>
    </p:spTree>
    <p:extLst>
      <p:ext uri="{BB962C8B-B14F-4D97-AF65-F5344CB8AC3E}">
        <p14:creationId xmlns:p14="http://schemas.microsoft.com/office/powerpoint/2010/main" val="3467724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Voorblad wit">
    <p:bg bwMode="gray">
      <p:bgPr>
        <a:solidFill>
          <a:schemeClr val="bg1"/>
        </a:solidFill>
        <a:effectLst/>
      </p:bgPr>
    </p:bg>
    <p:spTree>
      <p:nvGrpSpPr>
        <p:cNvPr id="1" name=""/>
        <p:cNvGrpSpPr/>
        <p:nvPr/>
      </p:nvGrpSpPr>
      <p:grpSpPr>
        <a:xfrm>
          <a:off x="0" y="0"/>
          <a:ext cx="0" cy="0"/>
          <a:chOff x="0" y="0"/>
          <a:chExt cx="0" cy="0"/>
        </a:xfrm>
      </p:grpSpPr>
      <p:sp>
        <p:nvSpPr>
          <p:cNvPr id="9" name="Tijdelijke aanduiding voor datum 3">
            <a:extLst>
              <a:ext uri="{FF2B5EF4-FFF2-40B4-BE49-F238E27FC236}">
                <a16:creationId xmlns:a16="http://schemas.microsoft.com/office/drawing/2014/main" id="{9F183073-10E5-1148-8165-AEA6349E146A}"/>
              </a:ext>
            </a:extLst>
          </p:cNvPr>
          <p:cNvSpPr>
            <a:spLocks noGrp="1"/>
          </p:cNvSpPr>
          <p:nvPr>
            <p:ph type="dt" sz="half" idx="10"/>
          </p:nvPr>
        </p:nvSpPr>
        <p:spPr>
          <a:xfrm>
            <a:off x="9982776" y="512911"/>
            <a:ext cx="1852952" cy="216025"/>
          </a:xfrm>
          <a:prstGeom prst="rect">
            <a:avLst/>
          </a:prstGeom>
        </p:spPr>
        <p:txBody>
          <a:bodyPr/>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F4D62D96-7CE2-2344-B4CA-17FC5B3B9FCF}" type="datetime1">
              <a:rPr lang="nl-NL" noProof="0" smtClean="0"/>
              <a:t>01-05-2026</a:t>
            </a:fld>
            <a:endParaRPr lang="nl-NL" noProof="0"/>
          </a:p>
        </p:txBody>
      </p:sp>
      <p:sp>
        <p:nvSpPr>
          <p:cNvPr id="8" name="Titel 1">
            <a:extLst>
              <a:ext uri="{FF2B5EF4-FFF2-40B4-BE49-F238E27FC236}">
                <a16:creationId xmlns:a16="http://schemas.microsoft.com/office/drawing/2014/main" id="{8D0FC209-A5EA-0147-8CC1-DEEC093C7247}"/>
              </a:ext>
            </a:extLst>
          </p:cNvPr>
          <p:cNvSpPr>
            <a:spLocks noGrp="1"/>
          </p:cNvSpPr>
          <p:nvPr>
            <p:ph type="ctrTitle" hasCustomPrompt="1"/>
          </p:nvPr>
        </p:nvSpPr>
        <p:spPr>
          <a:xfrm>
            <a:off x="393189" y="1196750"/>
            <a:ext cx="11371678" cy="4603578"/>
          </a:xfrm>
          <a:prstGeom prst="rect">
            <a:avLst/>
          </a:prstGeom>
        </p:spPr>
        <p:txBody>
          <a:bodyPr anchor="ctr" anchorCtr="0"/>
          <a:lstStyle>
            <a:lvl1pPr algn="ctr">
              <a:defRPr sz="4099" b="0" i="1">
                <a:latin typeface="Merriweather Light" panose="02060503050406030704" pitchFamily="18" charset="77"/>
              </a:defRPr>
            </a:lvl1pPr>
          </a:lstStyle>
          <a:p>
            <a:r>
              <a:rPr lang="en-GB"/>
              <a:t>Place your attention-grabbing</a:t>
            </a:r>
            <a:br>
              <a:rPr lang="en-GB"/>
            </a:br>
            <a:r>
              <a:rPr lang="en-GB"/>
              <a:t>headline here</a:t>
            </a:r>
            <a:endParaRPr lang="nl-NL" noProof="0"/>
          </a:p>
        </p:txBody>
      </p:sp>
      <p:sp>
        <p:nvSpPr>
          <p:cNvPr id="15" name="Tijdelijke aanduiding voor tekst 32">
            <a:extLst>
              <a:ext uri="{FF2B5EF4-FFF2-40B4-BE49-F238E27FC236}">
                <a16:creationId xmlns:a16="http://schemas.microsoft.com/office/drawing/2014/main" id="{E9C4D7DF-C2D6-2444-A1B2-F13AB0C20B3A}"/>
              </a:ext>
            </a:extLst>
          </p:cNvPr>
          <p:cNvSpPr>
            <a:spLocks noGrp="1"/>
          </p:cNvSpPr>
          <p:nvPr>
            <p:ph type="body" sz="quarter" idx="15" hasCustomPrompt="1"/>
          </p:nvPr>
        </p:nvSpPr>
        <p:spPr>
          <a:xfrm>
            <a:off x="3577294" y="5800329"/>
            <a:ext cx="5037413" cy="217169"/>
          </a:xfrm>
          <a:prstGeom prst="rect">
            <a:avLst/>
          </a:prstGeom>
        </p:spPr>
        <p:txBody>
          <a:bodyPr/>
          <a:lstStyle>
            <a:lvl1pPr marL="0" marR="0" indent="0" algn="ctr" defTabSz="914126" rtl="0" eaLnBrk="1" fontAlgn="auto" latinLnBrk="0" hangingPunct="1">
              <a:lnSpc>
                <a:spcPct val="110000"/>
              </a:lnSpc>
              <a:spcBef>
                <a:spcPts val="0"/>
              </a:spcBef>
              <a:spcAft>
                <a:spcPts val="0"/>
              </a:spcAft>
              <a:buClrTx/>
              <a:buSzTx/>
              <a:buFont typeface="Arial" pitchFamily="34" charset="0"/>
              <a:buNone/>
              <a:tabLst/>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a:t>Name </a:t>
            </a:r>
            <a:r>
              <a:rPr lang="nl-NL" err="1"/>
              <a:t>Lastname</a:t>
            </a:r>
            <a:endParaRPr lang="nl-NL"/>
          </a:p>
        </p:txBody>
      </p:sp>
      <p:sp>
        <p:nvSpPr>
          <p:cNvPr id="16" name="Tijdelijke aanduiding voor tekst 34">
            <a:extLst>
              <a:ext uri="{FF2B5EF4-FFF2-40B4-BE49-F238E27FC236}">
                <a16:creationId xmlns:a16="http://schemas.microsoft.com/office/drawing/2014/main" id="{817F154B-050E-E24D-A94F-C5AD3C5577AA}"/>
              </a:ext>
            </a:extLst>
          </p:cNvPr>
          <p:cNvSpPr>
            <a:spLocks noGrp="1"/>
          </p:cNvSpPr>
          <p:nvPr>
            <p:ph type="body" sz="quarter" idx="16" hasCustomPrompt="1"/>
          </p:nvPr>
        </p:nvSpPr>
        <p:spPr>
          <a:xfrm>
            <a:off x="3577294" y="6017497"/>
            <a:ext cx="5037413" cy="270592"/>
          </a:xfrm>
          <a:prstGeom prst="rect">
            <a:avLst/>
          </a:prstGeom>
        </p:spPr>
        <p:txBody>
          <a:bodyPr/>
          <a:lstStyle>
            <a:lvl1pPr algn="ct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Job </a:t>
            </a:r>
            <a:r>
              <a:rPr lang="nl-NL" err="1"/>
              <a:t>title</a:t>
            </a:r>
            <a:endParaRPr lang="nl-NL"/>
          </a:p>
        </p:txBody>
      </p:sp>
      <p:pic>
        <p:nvPicPr>
          <p:cNvPr id="3" name="Graphic 2">
            <a:extLst>
              <a:ext uri="{FF2B5EF4-FFF2-40B4-BE49-F238E27FC236}">
                <a16:creationId xmlns:a16="http://schemas.microsoft.com/office/drawing/2014/main" id="{6DE77681-B7A4-9A42-AB8D-F4D85B33B7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02408" y="0"/>
            <a:ext cx="1490012" cy="1266181"/>
          </a:xfrm>
          <a:prstGeom prst="rect">
            <a:avLst/>
          </a:prstGeom>
        </p:spPr>
      </p:pic>
      <p:pic>
        <p:nvPicPr>
          <p:cNvPr id="11" name="Afbeelding 10">
            <a:extLst>
              <a:ext uri="{FF2B5EF4-FFF2-40B4-BE49-F238E27FC236}">
                <a16:creationId xmlns:a16="http://schemas.microsoft.com/office/drawing/2014/main" id="{61B7AB33-54B9-C84F-B7D5-EE0D30762580}"/>
              </a:ext>
            </a:extLst>
          </p:cNvPr>
          <p:cNvPicPr>
            <a:picLocks noChangeAspect="1"/>
          </p:cNvPicPr>
          <p:nvPr userDrawn="1"/>
        </p:nvPicPr>
        <p:blipFill>
          <a:blip r:embed="rId3"/>
          <a:stretch>
            <a:fillRect/>
          </a:stretch>
        </p:blipFill>
        <p:spPr>
          <a:xfrm>
            <a:off x="0" y="-2477"/>
            <a:ext cx="3219448" cy="1266181"/>
          </a:xfrm>
          <a:prstGeom prst="rect">
            <a:avLst/>
          </a:prstGeom>
        </p:spPr>
      </p:pic>
    </p:spTree>
    <p:extLst>
      <p:ext uri="{BB962C8B-B14F-4D97-AF65-F5344CB8AC3E}">
        <p14:creationId xmlns:p14="http://schemas.microsoft.com/office/powerpoint/2010/main" val="1482331313"/>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11">
          <p15:clr>
            <a:srgbClr val="FBAE40"/>
          </p15:clr>
        </p15:guide>
        <p15:guide id="7" pos="6200">
          <p15:clr>
            <a:srgbClr val="FBAE40"/>
          </p15:clr>
        </p15:guide>
        <p15:guide id="8" pos="6290">
          <p15:clr>
            <a:srgbClr val="FBAE40"/>
          </p15:clr>
        </p15:guide>
        <p15:guide id="9" pos="4998">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6" orient="horz" pos="754">
          <p15:clr>
            <a:srgbClr val="FBAE40"/>
          </p15:clr>
        </p15:guide>
        <p15:guide id="17" orient="horz" pos="211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Voorblad wit + afbeelding">
    <p:bg bwMode="gray">
      <p:bgPr>
        <a:solidFill>
          <a:schemeClr val="bg1"/>
        </a:solidFill>
        <a:effectLst/>
      </p:bgPr>
    </p:bg>
    <p:spTree>
      <p:nvGrpSpPr>
        <p:cNvPr id="1" name=""/>
        <p:cNvGrpSpPr/>
        <p:nvPr/>
      </p:nvGrpSpPr>
      <p:grpSpPr>
        <a:xfrm>
          <a:off x="0" y="0"/>
          <a:ext cx="0" cy="0"/>
          <a:chOff x="0" y="0"/>
          <a:chExt cx="0" cy="0"/>
        </a:xfrm>
      </p:grpSpPr>
      <p:sp>
        <p:nvSpPr>
          <p:cNvPr id="9" name="Tijdelijke aanduiding voor datum 3">
            <a:extLst>
              <a:ext uri="{FF2B5EF4-FFF2-40B4-BE49-F238E27FC236}">
                <a16:creationId xmlns:a16="http://schemas.microsoft.com/office/drawing/2014/main" id="{9F183073-10E5-1148-8165-AEA6349E146A}"/>
              </a:ext>
            </a:extLst>
          </p:cNvPr>
          <p:cNvSpPr>
            <a:spLocks noGrp="1"/>
          </p:cNvSpPr>
          <p:nvPr>
            <p:ph type="dt" sz="half" idx="10"/>
          </p:nvPr>
        </p:nvSpPr>
        <p:spPr>
          <a:xfrm>
            <a:off x="9969307" y="512911"/>
            <a:ext cx="1866421" cy="216025"/>
          </a:xfrm>
          <a:prstGeom prst="rect">
            <a:avLst/>
          </a:prstGeom>
        </p:spPr>
        <p:txBody>
          <a:bodyPr/>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E8B8C369-1FE7-A843-9B43-8D475A19F863}" type="datetime1">
              <a:rPr lang="nl-NL" noProof="0" smtClean="0"/>
              <a:t>01-05-2026</a:t>
            </a:fld>
            <a:endParaRPr lang="nl-NL" noProof="0"/>
          </a:p>
        </p:txBody>
      </p:sp>
      <p:sp>
        <p:nvSpPr>
          <p:cNvPr id="18" name="Titel 1">
            <a:extLst>
              <a:ext uri="{FF2B5EF4-FFF2-40B4-BE49-F238E27FC236}">
                <a16:creationId xmlns:a16="http://schemas.microsoft.com/office/drawing/2014/main" id="{2133EB5A-69B9-1740-8101-0C004BB7DA6D}"/>
              </a:ext>
            </a:extLst>
          </p:cNvPr>
          <p:cNvSpPr>
            <a:spLocks noGrp="1"/>
          </p:cNvSpPr>
          <p:nvPr>
            <p:ph type="ctrTitle" hasCustomPrompt="1"/>
          </p:nvPr>
        </p:nvSpPr>
        <p:spPr>
          <a:xfrm>
            <a:off x="333646" y="1196750"/>
            <a:ext cx="5583014" cy="4603578"/>
          </a:xfrm>
          <a:prstGeom prst="rect">
            <a:avLst/>
          </a:prstGeom>
        </p:spPr>
        <p:txBody>
          <a:bodyPr anchor="ctr" anchorCtr="0"/>
          <a:lstStyle>
            <a:lvl1pPr marL="0" marR="0" indent="0" algn="ctr" defTabSz="914126" rtl="0" eaLnBrk="1" fontAlgn="auto" latinLnBrk="0" hangingPunct="1">
              <a:lnSpc>
                <a:spcPct val="100000"/>
              </a:lnSpc>
              <a:spcBef>
                <a:spcPct val="0"/>
              </a:spcBef>
              <a:spcAft>
                <a:spcPts val="0"/>
              </a:spcAft>
              <a:buClrTx/>
              <a:buSzTx/>
              <a:buFontTx/>
              <a:buNone/>
              <a:tabLst/>
              <a:defRPr sz="4099" b="0" i="1">
                <a:latin typeface="Merriweather Light" panose="02060503050406030704" pitchFamily="18" charset="77"/>
              </a:defRPr>
            </a:lvl1pPr>
          </a:lstStyle>
          <a:p>
            <a:r>
              <a:rPr lang="en-GB"/>
              <a:t>Place your attention-grabbing headline here</a:t>
            </a:r>
            <a:endParaRPr lang="nl-NL" noProof="0"/>
          </a:p>
        </p:txBody>
      </p:sp>
      <p:sp>
        <p:nvSpPr>
          <p:cNvPr id="33" name="Tijdelijke aanduiding voor tekst 32">
            <a:extLst>
              <a:ext uri="{FF2B5EF4-FFF2-40B4-BE49-F238E27FC236}">
                <a16:creationId xmlns:a16="http://schemas.microsoft.com/office/drawing/2014/main" id="{509A3404-C322-574D-996D-93CFC2296001}"/>
              </a:ext>
            </a:extLst>
          </p:cNvPr>
          <p:cNvSpPr>
            <a:spLocks noGrp="1"/>
          </p:cNvSpPr>
          <p:nvPr>
            <p:ph type="body" sz="quarter" idx="15" hasCustomPrompt="1"/>
          </p:nvPr>
        </p:nvSpPr>
        <p:spPr>
          <a:xfrm>
            <a:off x="333645" y="6084056"/>
            <a:ext cx="5583014" cy="217169"/>
          </a:xfrm>
          <a:prstGeom prst="rect">
            <a:avLst/>
          </a:prstGeom>
        </p:spPr>
        <p:txBody>
          <a:bodyPr/>
          <a:lstStyle>
            <a:lvl1pPr marL="0" marR="0" indent="0" algn="ctr" defTabSz="914126" rtl="0" eaLnBrk="1" fontAlgn="auto" latinLnBrk="0" hangingPunct="1">
              <a:lnSpc>
                <a:spcPct val="110000"/>
              </a:lnSpc>
              <a:spcBef>
                <a:spcPts val="0"/>
              </a:spcBef>
              <a:spcAft>
                <a:spcPts val="0"/>
              </a:spcAft>
              <a:buClrTx/>
              <a:buSzTx/>
              <a:buFont typeface="Arial" pitchFamily="34" charset="0"/>
              <a:buNone/>
              <a:tabLst/>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a:t>Name </a:t>
            </a:r>
            <a:r>
              <a:rPr lang="nl-NL" err="1"/>
              <a:t>Lastname</a:t>
            </a:r>
            <a:endParaRPr lang="nl-NL"/>
          </a:p>
        </p:txBody>
      </p:sp>
      <p:sp>
        <p:nvSpPr>
          <p:cNvPr id="35" name="Tijdelijke aanduiding voor tekst 34">
            <a:extLst>
              <a:ext uri="{FF2B5EF4-FFF2-40B4-BE49-F238E27FC236}">
                <a16:creationId xmlns:a16="http://schemas.microsoft.com/office/drawing/2014/main" id="{D6F025CA-08AA-BB4D-A7AA-3CD26CC85FA1}"/>
              </a:ext>
            </a:extLst>
          </p:cNvPr>
          <p:cNvSpPr>
            <a:spLocks noGrp="1"/>
          </p:cNvSpPr>
          <p:nvPr>
            <p:ph type="body" sz="quarter" idx="16" hasCustomPrompt="1"/>
          </p:nvPr>
        </p:nvSpPr>
        <p:spPr>
          <a:xfrm>
            <a:off x="336462" y="6309175"/>
            <a:ext cx="5580197" cy="270592"/>
          </a:xfrm>
          <a:prstGeom prst="rect">
            <a:avLst/>
          </a:prstGeom>
        </p:spPr>
        <p:txBody>
          <a:bodyPr/>
          <a:lstStyle>
            <a:lvl1pPr marL="0" marR="0" indent="0" algn="ctr" defTabSz="914126" rtl="0" eaLnBrk="1" fontAlgn="auto" latinLnBrk="0" hangingPunct="1">
              <a:lnSpc>
                <a:spcPct val="110000"/>
              </a:lnSpc>
              <a:spcBef>
                <a:spcPts val="0"/>
              </a:spcBef>
              <a:spcAft>
                <a:spcPts val="0"/>
              </a:spcAft>
              <a:buClrTx/>
              <a:buSzTx/>
              <a:buFont typeface="Arial" pitchFamily="34" charset="0"/>
              <a:buNone/>
              <a:tabLst/>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Job </a:t>
            </a:r>
            <a:r>
              <a:rPr lang="nl-NL" err="1"/>
              <a:t>title</a:t>
            </a:r>
            <a:endParaRPr lang="nl-NL"/>
          </a:p>
        </p:txBody>
      </p:sp>
      <p:sp>
        <p:nvSpPr>
          <p:cNvPr id="4" name="Tijdelijke aanduiding voor afbeelding 3">
            <a:extLst>
              <a:ext uri="{FF2B5EF4-FFF2-40B4-BE49-F238E27FC236}">
                <a16:creationId xmlns:a16="http://schemas.microsoft.com/office/drawing/2014/main" id="{0899AEA0-D03E-3444-8E81-C754D975C6B2}"/>
              </a:ext>
            </a:extLst>
          </p:cNvPr>
          <p:cNvSpPr>
            <a:spLocks noGrp="1"/>
          </p:cNvSpPr>
          <p:nvPr>
            <p:ph type="pic" sz="quarter" idx="17" hasCustomPrompt="1"/>
          </p:nvPr>
        </p:nvSpPr>
        <p:spPr>
          <a:xfrm>
            <a:off x="6275341" y="1196751"/>
            <a:ext cx="5561152" cy="5292950"/>
          </a:xfrm>
          <a:prstGeom prst="rect">
            <a:avLst/>
          </a:prstGeom>
          <a:solidFill>
            <a:schemeClr val="bg1"/>
          </a:solidFill>
        </p:spPr>
        <p:txBody>
          <a:bodyPr anchor="ctr" anchorCtr="0"/>
          <a:lstStyle>
            <a:lvl1pPr marL="0" marR="0" indent="0" algn="ctr" defTabSz="914126" rtl="0" eaLnBrk="1" fontAlgn="auto" latinLnBrk="0" hangingPunct="1">
              <a:lnSpc>
                <a:spcPct val="110000"/>
              </a:lnSpc>
              <a:spcBef>
                <a:spcPts val="0"/>
              </a:spcBef>
              <a:spcAft>
                <a:spcPts val="0"/>
              </a:spcAft>
              <a:buClrTx/>
              <a:buSzTx/>
              <a:buFont typeface="Arial" pitchFamily="34" charset="0"/>
              <a:buNone/>
              <a:tabLst/>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Click icon to add an image</a:t>
            </a:r>
          </a:p>
        </p:txBody>
      </p:sp>
      <p:pic>
        <p:nvPicPr>
          <p:cNvPr id="11" name="Graphic 10">
            <a:extLst>
              <a:ext uri="{FF2B5EF4-FFF2-40B4-BE49-F238E27FC236}">
                <a16:creationId xmlns:a16="http://schemas.microsoft.com/office/drawing/2014/main" id="{52E8D357-9848-1A48-91B9-FD209062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02408" y="0"/>
            <a:ext cx="1490012" cy="1266181"/>
          </a:xfrm>
          <a:prstGeom prst="rect">
            <a:avLst/>
          </a:prstGeom>
        </p:spPr>
      </p:pic>
      <p:pic>
        <p:nvPicPr>
          <p:cNvPr id="12" name="Afbeelding 11">
            <a:extLst>
              <a:ext uri="{FF2B5EF4-FFF2-40B4-BE49-F238E27FC236}">
                <a16:creationId xmlns:a16="http://schemas.microsoft.com/office/drawing/2014/main" id="{104C7C89-1FD1-6741-B907-9F800EE82D62}"/>
              </a:ext>
            </a:extLst>
          </p:cNvPr>
          <p:cNvPicPr>
            <a:picLocks noChangeAspect="1"/>
          </p:cNvPicPr>
          <p:nvPr userDrawn="1"/>
        </p:nvPicPr>
        <p:blipFill>
          <a:blip r:embed="rId3"/>
          <a:stretch>
            <a:fillRect/>
          </a:stretch>
        </p:blipFill>
        <p:spPr>
          <a:xfrm>
            <a:off x="0" y="-2477"/>
            <a:ext cx="3219448" cy="1266181"/>
          </a:xfrm>
          <a:prstGeom prst="rect">
            <a:avLst/>
          </a:prstGeom>
        </p:spPr>
      </p:pic>
    </p:spTree>
    <p:extLst>
      <p:ext uri="{BB962C8B-B14F-4D97-AF65-F5344CB8AC3E}">
        <p14:creationId xmlns:p14="http://schemas.microsoft.com/office/powerpoint/2010/main" val="1706702120"/>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20" orient="horz" pos="754">
          <p15:clr>
            <a:srgbClr val="FBAE40"/>
          </p15:clr>
        </p15:guide>
        <p15:guide id="21" orient="horz" pos="211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lleen tekst">
    <p:bg bwMode="gray">
      <p:bgPr>
        <a:solidFill>
          <a:schemeClr val="bg1"/>
        </a:solidFill>
        <a:effectLst/>
      </p:bgPr>
    </p:bg>
    <p:spTree>
      <p:nvGrpSpPr>
        <p:cNvPr id="1" name=""/>
        <p:cNvGrpSpPr/>
        <p:nvPr/>
      </p:nvGrpSpPr>
      <p:grpSpPr>
        <a:xfrm>
          <a:off x="0" y="0"/>
          <a:ext cx="0" cy="0"/>
          <a:chOff x="0" y="0"/>
          <a:chExt cx="0" cy="0"/>
        </a:xfrm>
      </p:grpSpPr>
      <p:pic>
        <p:nvPicPr>
          <p:cNvPr id="14" name="Afbeelding 13">
            <a:extLst>
              <a:ext uri="{FF2B5EF4-FFF2-40B4-BE49-F238E27FC236}">
                <a16:creationId xmlns:a16="http://schemas.microsoft.com/office/drawing/2014/main" id="{86288BF4-A4F0-B142-B33B-5C63FFBBCD16}"/>
              </a:ext>
            </a:extLst>
          </p:cNvPr>
          <p:cNvPicPr>
            <a:picLocks noChangeAspect="1"/>
          </p:cNvPicPr>
          <p:nvPr userDrawn="1"/>
        </p:nvPicPr>
        <p:blipFill>
          <a:blip r:embed="rId2"/>
          <a:stretch>
            <a:fillRect/>
          </a:stretch>
        </p:blipFill>
        <p:spPr>
          <a:xfrm>
            <a:off x="176037" y="5990197"/>
            <a:ext cx="1754588" cy="690064"/>
          </a:xfrm>
          <a:prstGeom prst="rect">
            <a:avLst/>
          </a:prstGeom>
        </p:spPr>
      </p:pic>
      <p:sp>
        <p:nvSpPr>
          <p:cNvPr id="9" name="Titel 1">
            <a:extLst>
              <a:ext uri="{FF2B5EF4-FFF2-40B4-BE49-F238E27FC236}">
                <a16:creationId xmlns:a16="http://schemas.microsoft.com/office/drawing/2014/main" id="{C1824C1D-4906-3A4A-B5A7-7CF6C4EB7B5A}"/>
              </a:ext>
            </a:extLst>
          </p:cNvPr>
          <p:cNvSpPr>
            <a:spLocks noGrp="1"/>
          </p:cNvSpPr>
          <p:nvPr>
            <p:ph type="ctrTitle" hasCustomPrompt="1"/>
          </p:nvPr>
        </p:nvSpPr>
        <p:spPr>
          <a:xfrm>
            <a:off x="2317147" y="1196975"/>
            <a:ext cx="7557707" cy="1253617"/>
          </a:xfrm>
          <a:prstGeom prst="rect">
            <a:avLst/>
          </a:prstGeom>
        </p:spPr>
        <p:txBody>
          <a:bodyPr anchor="t" anchorCtr="0"/>
          <a:lstStyle>
            <a:lvl1pPr marL="0" marR="0" indent="0" algn="l" defTabSz="914126" rtl="0" eaLnBrk="1" fontAlgn="auto" latinLnBrk="0" hangingPunct="1">
              <a:lnSpc>
                <a:spcPct val="100000"/>
              </a:lnSpc>
              <a:spcBef>
                <a:spcPct val="0"/>
              </a:spcBef>
              <a:spcAft>
                <a:spcPts val="0"/>
              </a:spcAft>
              <a:buClrTx/>
              <a:buSzTx/>
              <a:buFontTx/>
              <a:buNone/>
              <a:tabLst/>
              <a:defRPr lang="nl-NL" sz="2299" b="1" i="0" smtClean="0">
                <a:effectLst/>
                <a:latin typeface="Open Sans" panose="020B0606030504020204" pitchFamily="34" charset="0"/>
                <a:ea typeface="Open Sans" panose="020B0606030504020204" pitchFamily="34" charset="0"/>
                <a:cs typeface="Open Sans" panose="020B0606030504020204" pitchFamily="34" charset="0"/>
              </a:defRPr>
            </a:lvl1pPr>
          </a:lstStyle>
          <a:p>
            <a:r>
              <a:rPr lang="nl-NL" noProof="0" err="1"/>
              <a:t>Title</a:t>
            </a:r>
            <a:endParaRPr lang="nl-NL" noProof="0"/>
          </a:p>
        </p:txBody>
      </p:sp>
      <p:sp>
        <p:nvSpPr>
          <p:cNvPr id="10" name="Tijdelijke aanduiding voor tekst 2">
            <a:extLst>
              <a:ext uri="{FF2B5EF4-FFF2-40B4-BE49-F238E27FC236}">
                <a16:creationId xmlns:a16="http://schemas.microsoft.com/office/drawing/2014/main" id="{5E1B5542-E518-FB47-95E8-2B71A026A2A9}"/>
              </a:ext>
            </a:extLst>
          </p:cNvPr>
          <p:cNvSpPr>
            <a:spLocks noGrp="1"/>
          </p:cNvSpPr>
          <p:nvPr>
            <p:ph type="body" sz="quarter" idx="10" hasCustomPrompt="1"/>
          </p:nvPr>
        </p:nvSpPr>
        <p:spPr>
          <a:xfrm>
            <a:off x="2317147" y="2450593"/>
            <a:ext cx="7557707" cy="3443316"/>
          </a:xfrm>
          <a:prstGeom prst="rect">
            <a:avLst/>
          </a:prstGeom>
        </p:spPr>
        <p:txBody>
          <a:bodyPr/>
          <a:lstStyle>
            <a:lvl1pPr marL="0" marR="0" indent="0" algn="l" defTabSz="914126" rtl="0" eaLnBrk="1" fontAlgn="auto" latinLnBrk="0" hangingPunct="1">
              <a:lnSpc>
                <a:spcPct val="110000"/>
              </a:lnSpc>
              <a:spcBef>
                <a:spcPts val="0"/>
              </a:spcBef>
              <a:spcAft>
                <a:spcPts val="0"/>
              </a:spcAft>
              <a:buClrTx/>
              <a:buSzTx/>
              <a:buFont typeface="Arial" pitchFamily="34" charset="0"/>
              <a:buNone/>
              <a:tabLst/>
              <a:defRPr lang="nl-NL" sz="2199" b="0" i="0" smtClean="0">
                <a:effectLst/>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noProof="0" err="1"/>
              <a:t>Molorepudit</a:t>
            </a:r>
            <a:r>
              <a:rPr lang="nl-NL" noProof="0"/>
              <a:t> </a:t>
            </a:r>
            <a:r>
              <a:rPr lang="nl-NL" noProof="0" err="1"/>
              <a:t>ressimus</a:t>
            </a:r>
            <a:r>
              <a:rPr lang="nl-NL" noProof="0"/>
              <a:t> </a:t>
            </a:r>
            <a:r>
              <a:rPr lang="nl-NL" noProof="0" err="1"/>
              <a:t>exeri</a:t>
            </a:r>
            <a:r>
              <a:rPr lang="nl-NL" noProof="0"/>
              <a:t> </a:t>
            </a:r>
            <a:r>
              <a:rPr lang="nl-NL" noProof="0" err="1"/>
              <a:t>nus</a:t>
            </a:r>
            <a:r>
              <a:rPr lang="nl-NL" noProof="0"/>
              <a:t> et </a:t>
            </a:r>
            <a:r>
              <a:rPr lang="nl-NL" noProof="0" err="1"/>
              <a:t>ipienda</a:t>
            </a:r>
            <a:r>
              <a:rPr lang="nl-NL" noProof="0"/>
              <a:t> et </a:t>
            </a:r>
            <a:r>
              <a:rPr lang="nl-NL" noProof="0" err="1"/>
              <a:t>adiantot</a:t>
            </a:r>
            <a:r>
              <a:rPr lang="nl-NL" noProof="0"/>
              <a:t> </a:t>
            </a:r>
            <a:r>
              <a:rPr lang="nl-NL" noProof="0" err="1"/>
              <a:t>Ique</a:t>
            </a:r>
            <a:r>
              <a:rPr lang="nl-NL" noProof="0"/>
              <a:t> </a:t>
            </a:r>
            <a:r>
              <a:rPr lang="nl-NL" noProof="0" err="1"/>
              <a:t>niminti</a:t>
            </a:r>
            <a:r>
              <a:rPr lang="nl-NL" noProof="0"/>
              <a:t> </a:t>
            </a:r>
            <a:r>
              <a:rPr lang="nl-NL" noProof="0" err="1"/>
              <a:t>nonsendaecae</a:t>
            </a:r>
            <a:r>
              <a:rPr lang="nl-NL" noProof="0"/>
              <a:t> </a:t>
            </a:r>
            <a:r>
              <a:rPr lang="nl-NL" noProof="0" err="1"/>
              <a:t>volor</a:t>
            </a:r>
            <a:r>
              <a:rPr lang="nl-NL" noProof="0"/>
              <a:t> a ad et ut </a:t>
            </a:r>
            <a:r>
              <a:rPr lang="nl-NL" noProof="0" err="1"/>
              <a:t>eum</a:t>
            </a:r>
            <a:r>
              <a:rPr lang="nl-NL" noProof="0"/>
              <a:t> se pos mos </a:t>
            </a:r>
            <a:r>
              <a:rPr lang="nl-NL" noProof="0" err="1"/>
              <a:t>sed</a:t>
            </a:r>
            <a:r>
              <a:rPr lang="nl-NL" noProof="0"/>
              <a:t> </a:t>
            </a:r>
            <a:r>
              <a:rPr lang="nl-NL" noProof="0" err="1"/>
              <a:t>ulpa</a:t>
            </a:r>
            <a:r>
              <a:rPr lang="nl-NL" noProof="0"/>
              <a:t> </a:t>
            </a:r>
            <a:r>
              <a:rPr lang="nl-NL" noProof="0" err="1"/>
              <a:t>vitas</a:t>
            </a:r>
            <a:r>
              <a:rPr lang="nl-NL" noProof="0"/>
              <a:t> </a:t>
            </a:r>
            <a:r>
              <a:rPr lang="nl-NL" noProof="0" err="1"/>
              <a:t>aut</a:t>
            </a:r>
            <a:r>
              <a:rPr lang="nl-NL" noProof="0"/>
              <a:t> </a:t>
            </a:r>
            <a:r>
              <a:rPr lang="nl-NL" noProof="0" err="1"/>
              <a:t>quia</a:t>
            </a:r>
            <a:r>
              <a:rPr lang="nl-NL" noProof="0"/>
              <a:t> </a:t>
            </a:r>
            <a:r>
              <a:rPr lang="nl-NL" noProof="0" err="1"/>
              <a:t>doluptio</a:t>
            </a:r>
            <a:r>
              <a:rPr lang="nl-NL" noProof="0"/>
              <a:t> </a:t>
            </a:r>
            <a:r>
              <a:rPr lang="nl-NL" noProof="0" err="1"/>
              <a:t>iduciis</a:t>
            </a:r>
            <a:r>
              <a:rPr lang="nl-NL" noProof="0"/>
              <a:t> </a:t>
            </a:r>
            <a:r>
              <a:rPr lang="nl-NL" noProof="0" err="1"/>
              <a:t>sedis</a:t>
            </a:r>
            <a:r>
              <a:rPr lang="nl-NL" noProof="0"/>
              <a:t> </a:t>
            </a:r>
            <a:r>
              <a:rPr lang="nl-NL" noProof="0" err="1"/>
              <a:t>sitat</a:t>
            </a:r>
            <a:r>
              <a:rPr lang="nl-NL" noProof="0"/>
              <a:t> es </a:t>
            </a:r>
            <a:r>
              <a:rPr lang="nl-NL" noProof="0" err="1"/>
              <a:t>nihition</a:t>
            </a:r>
            <a:r>
              <a:rPr lang="nl-NL" noProof="0"/>
              <a:t> </a:t>
            </a:r>
            <a:r>
              <a:rPr lang="nl-NL" noProof="0" err="1"/>
              <a:t>nonsecturi</a:t>
            </a:r>
            <a:r>
              <a:rPr lang="nl-NL" noProof="0"/>
              <a:t> </a:t>
            </a:r>
            <a:r>
              <a:rPr lang="nl-NL" noProof="0" err="1"/>
              <a:t>officidis</a:t>
            </a:r>
            <a:r>
              <a:rPr lang="nl-NL" noProof="0"/>
              <a:t> ex et que </a:t>
            </a:r>
            <a:r>
              <a:rPr lang="nl-NL" noProof="0" err="1"/>
              <a:t>esecto</a:t>
            </a:r>
            <a:r>
              <a:rPr lang="nl-NL" noProof="0"/>
              <a:t> </a:t>
            </a:r>
            <a:r>
              <a:rPr lang="nl-NL" noProof="0" err="1"/>
              <a:t>dolorumenis</a:t>
            </a:r>
            <a:r>
              <a:rPr lang="nl-NL" noProof="0"/>
              <a:t> </a:t>
            </a:r>
            <a:r>
              <a:rPr lang="nl-NL" noProof="0" err="1"/>
              <a:t>aritat</a:t>
            </a:r>
            <a:r>
              <a:rPr lang="nl-NL" noProof="0"/>
              <a:t> et des </a:t>
            </a:r>
            <a:r>
              <a:rPr lang="nl-NL" noProof="0" err="1"/>
              <a:t>earcit</a:t>
            </a:r>
            <a:r>
              <a:rPr lang="nl-NL" noProof="0"/>
              <a:t>, </a:t>
            </a:r>
            <a:r>
              <a:rPr lang="nl-NL" noProof="0" err="1"/>
              <a:t>ium</a:t>
            </a:r>
            <a:r>
              <a:rPr lang="nl-NL" noProof="0"/>
              <a:t> ad </a:t>
            </a:r>
            <a:r>
              <a:rPr lang="nl-NL" noProof="0" err="1"/>
              <a:t>quam</a:t>
            </a:r>
            <a:r>
              <a:rPr lang="nl-NL" noProof="0"/>
              <a:t> </a:t>
            </a:r>
            <a:r>
              <a:rPr lang="nl-NL" noProof="0" err="1"/>
              <a:t>faccupt</a:t>
            </a:r>
            <a:r>
              <a:rPr lang="nl-NL" noProof="0"/>
              <a:t> </a:t>
            </a:r>
            <a:r>
              <a:rPr lang="nl-NL" noProof="0" err="1"/>
              <a:t>atiature</a:t>
            </a:r>
            <a:r>
              <a:rPr lang="nl-NL" noProof="0"/>
              <a:t>, </a:t>
            </a:r>
            <a:r>
              <a:rPr lang="nl-NL" noProof="0" err="1"/>
              <a:t>qui</a:t>
            </a:r>
            <a:r>
              <a:rPr lang="nl-NL" noProof="0"/>
              <a:t> </a:t>
            </a:r>
            <a:r>
              <a:rPr lang="nl-NL" noProof="0" err="1"/>
              <a:t>officipis</a:t>
            </a:r>
            <a:r>
              <a:rPr lang="nl-NL" noProof="0"/>
              <a:t> </a:t>
            </a:r>
            <a:r>
              <a:rPr lang="nl-NL" noProof="0" err="1"/>
              <a:t>dolupta</a:t>
            </a:r>
            <a:r>
              <a:rPr lang="nl-NL" noProof="0"/>
              <a:t> </a:t>
            </a:r>
            <a:r>
              <a:rPr lang="nl-NL" noProof="0" err="1"/>
              <a:t>spereium</a:t>
            </a:r>
            <a:r>
              <a:rPr lang="nl-NL" noProof="0"/>
              <a:t> </a:t>
            </a:r>
            <a:r>
              <a:rPr lang="nl-NL" noProof="0" err="1"/>
              <a:t>quias</a:t>
            </a:r>
            <a:r>
              <a:rPr lang="nl-NL" noProof="0"/>
              <a:t> </a:t>
            </a:r>
            <a:r>
              <a:rPr lang="nl-NL" noProof="0" err="1"/>
              <a:t>sum</a:t>
            </a:r>
            <a:r>
              <a:rPr lang="nl-NL" noProof="0"/>
              <a:t> </a:t>
            </a:r>
            <a:r>
              <a:rPr lang="nl-NL" noProof="0" err="1"/>
              <a:t>aut</a:t>
            </a:r>
            <a:r>
              <a:rPr lang="nl-NL" noProof="0"/>
              <a:t> min </a:t>
            </a:r>
            <a:r>
              <a:rPr lang="nl-NL" noProof="0" err="1"/>
              <a:t>prae</a:t>
            </a:r>
            <a:r>
              <a:rPr lang="nl-NL" noProof="0"/>
              <a:t> nam </a:t>
            </a:r>
            <a:r>
              <a:rPr lang="nl-NL" noProof="0" err="1"/>
              <a:t>aut</a:t>
            </a:r>
            <a:r>
              <a:rPr lang="nl-NL" noProof="0"/>
              <a:t> que </a:t>
            </a:r>
            <a:r>
              <a:rPr lang="nl-NL" noProof="0" err="1"/>
              <a:t>nobitatur</a:t>
            </a:r>
            <a:r>
              <a:rPr lang="nl-NL" noProof="0"/>
              <a:t>, </a:t>
            </a:r>
            <a:r>
              <a:rPr lang="nl-NL" noProof="0" err="1"/>
              <a:t>cus</a:t>
            </a:r>
            <a:r>
              <a:rPr lang="nl-NL" noProof="0"/>
              <a:t> </a:t>
            </a:r>
            <a:r>
              <a:rPr lang="nl-NL" noProof="0" err="1"/>
              <a:t>eario</a:t>
            </a:r>
            <a:r>
              <a:rPr lang="nl-NL" noProof="0"/>
              <a:t> </a:t>
            </a:r>
            <a:r>
              <a:rPr lang="nl-NL" noProof="0" err="1"/>
              <a:t>omnihic</a:t>
            </a:r>
            <a:r>
              <a:rPr lang="nl-NL" noProof="0"/>
              <a:t> </a:t>
            </a:r>
            <a:r>
              <a:rPr lang="nl-NL" noProof="0" err="1"/>
              <a:t>aeruptur</a:t>
            </a:r>
            <a:r>
              <a:rPr lang="nl-NL" noProof="0"/>
              <a:t>, </a:t>
            </a:r>
            <a:r>
              <a:rPr lang="nl-NL" noProof="0" err="1"/>
              <a:t>sunt</a:t>
            </a:r>
            <a:r>
              <a:rPr lang="nl-NL" noProof="0"/>
              <a:t> </a:t>
            </a:r>
            <a:r>
              <a:rPr lang="nl-NL" noProof="0" err="1"/>
              <a:t>eruptat</a:t>
            </a:r>
            <a:r>
              <a:rPr lang="nl-NL" noProof="0"/>
              <a:t> </a:t>
            </a:r>
            <a:r>
              <a:rPr lang="nl-NL" noProof="0" err="1"/>
              <a:t>volorep</a:t>
            </a:r>
            <a:r>
              <a:rPr lang="nl-NL" noProof="0"/>
              <a:t>. &lt;Max. 70 woorden&gt; </a:t>
            </a:r>
          </a:p>
        </p:txBody>
      </p:sp>
      <p:sp>
        <p:nvSpPr>
          <p:cNvPr id="11" name="Slide Number Placeholder 5">
            <a:extLst>
              <a:ext uri="{FF2B5EF4-FFF2-40B4-BE49-F238E27FC236}">
                <a16:creationId xmlns:a16="http://schemas.microsoft.com/office/drawing/2014/main" id="{B1A3DAA9-8AF0-7C46-B03C-02F8A9428DB5}"/>
              </a:ext>
            </a:extLst>
          </p:cNvPr>
          <p:cNvSpPr>
            <a:spLocks noGrp="1"/>
          </p:cNvSpPr>
          <p:nvPr>
            <p:ph type="sldNum" sz="quarter" idx="12"/>
          </p:nvPr>
        </p:nvSpPr>
        <p:spPr>
          <a:xfrm>
            <a:off x="11141019" y="6153579"/>
            <a:ext cx="636561" cy="37440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6D22F896-40B5-4ADD-8801-0D06FADFA095}" type="slidenum">
              <a:rPr lang="en-US" smtClean="0"/>
              <a:pPr/>
              <a:t>‹#›</a:t>
            </a:fld>
            <a:endParaRPr lang="en-US"/>
          </a:p>
        </p:txBody>
      </p:sp>
      <p:sp>
        <p:nvSpPr>
          <p:cNvPr id="12" name="Date Placeholder 3">
            <a:extLst>
              <a:ext uri="{FF2B5EF4-FFF2-40B4-BE49-F238E27FC236}">
                <a16:creationId xmlns:a16="http://schemas.microsoft.com/office/drawing/2014/main" id="{D8DC9581-8AD5-C648-BB8E-9D31869D60C4}"/>
              </a:ext>
            </a:extLst>
          </p:cNvPr>
          <p:cNvSpPr>
            <a:spLocks noGrp="1"/>
          </p:cNvSpPr>
          <p:nvPr>
            <p:ph type="dt" sz="half" idx="13"/>
          </p:nvPr>
        </p:nvSpPr>
        <p:spPr>
          <a:xfrm>
            <a:off x="10305099" y="6157899"/>
            <a:ext cx="835920" cy="37008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E3644257-8379-5B43-A5A9-614D766C0287}" type="datetime1">
              <a:rPr lang="nl-NL" smtClean="0"/>
              <a:t>01-05-2026</a:t>
            </a:fld>
            <a:endParaRPr lang="en-US"/>
          </a:p>
        </p:txBody>
      </p:sp>
      <p:sp>
        <p:nvSpPr>
          <p:cNvPr id="13" name="Tijdelijke aanduiding voor tekst 8">
            <a:extLst>
              <a:ext uri="{FF2B5EF4-FFF2-40B4-BE49-F238E27FC236}">
                <a16:creationId xmlns:a16="http://schemas.microsoft.com/office/drawing/2014/main" id="{64AAE69F-2601-A241-97EE-6D0BFF4F6EF8}"/>
              </a:ext>
            </a:extLst>
          </p:cNvPr>
          <p:cNvSpPr>
            <a:spLocks noGrp="1"/>
          </p:cNvSpPr>
          <p:nvPr>
            <p:ph type="body" sz="quarter" idx="14" hasCustomPrompt="1"/>
          </p:nvPr>
        </p:nvSpPr>
        <p:spPr>
          <a:xfrm>
            <a:off x="3914276" y="6153579"/>
            <a:ext cx="5972864" cy="399492"/>
          </a:xfrm>
          <a:prstGeom prst="rect">
            <a:avLst/>
          </a:prstGeom>
        </p:spPr>
        <p:txBody>
          <a:bodyPr lIns="0" tIns="0" rIns="0" bIns="0" anchor="ctr" anchorCtr="0"/>
          <a:lstStyle>
            <a:lvl1pPr algn="r">
              <a:defRPr lang="nl-NL" sz="1200"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lgn="r"/>
            <a:r>
              <a:rPr lang="nl-NL" err="1"/>
              <a:t>This</a:t>
            </a:r>
            <a:r>
              <a:rPr lang="nl-NL"/>
              <a:t> is </a:t>
            </a:r>
            <a:r>
              <a:rPr lang="nl-NL" err="1"/>
              <a:t>the</a:t>
            </a:r>
            <a:r>
              <a:rPr lang="nl-NL"/>
              <a:t> </a:t>
            </a:r>
            <a:r>
              <a:rPr lang="nl-NL" err="1"/>
              <a:t>footer</a:t>
            </a:r>
            <a:endParaRPr lang="nl-NL"/>
          </a:p>
        </p:txBody>
      </p:sp>
      <p:pic>
        <p:nvPicPr>
          <p:cNvPr id="3" name="Graphic 2">
            <a:extLst>
              <a:ext uri="{FF2B5EF4-FFF2-40B4-BE49-F238E27FC236}">
                <a16:creationId xmlns:a16="http://schemas.microsoft.com/office/drawing/2014/main" id="{9E26F7A0-C26F-CC42-BF52-2177AD7FB1D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905911" y="6002634"/>
            <a:ext cx="798992" cy="678966"/>
          </a:xfrm>
          <a:prstGeom prst="rect">
            <a:avLst/>
          </a:prstGeom>
        </p:spPr>
      </p:pic>
    </p:spTree>
    <p:extLst>
      <p:ext uri="{BB962C8B-B14F-4D97-AF65-F5344CB8AC3E}">
        <p14:creationId xmlns:p14="http://schemas.microsoft.com/office/powerpoint/2010/main" val="12800406"/>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ullets">
    <p:bg bwMode="gray">
      <p:bgPr>
        <a:solidFill>
          <a:schemeClr val="bg1"/>
        </a:solidFill>
        <a:effectLst/>
      </p:bgPr>
    </p:bg>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C1824C1D-4906-3A4A-B5A7-7CF6C4EB7B5A}"/>
              </a:ext>
            </a:extLst>
          </p:cNvPr>
          <p:cNvSpPr>
            <a:spLocks noGrp="1"/>
          </p:cNvSpPr>
          <p:nvPr>
            <p:ph type="ctrTitle" hasCustomPrompt="1"/>
          </p:nvPr>
        </p:nvSpPr>
        <p:spPr>
          <a:xfrm>
            <a:off x="2317147" y="1196975"/>
            <a:ext cx="7557707" cy="1253617"/>
          </a:xfrm>
          <a:prstGeom prst="rect">
            <a:avLst/>
          </a:prstGeom>
        </p:spPr>
        <p:txBody>
          <a:bodyPr anchor="t" anchorCtr="0"/>
          <a:lstStyle>
            <a:lvl1pPr marL="0" marR="0" indent="0" algn="l" defTabSz="914126" rtl="0" eaLnBrk="1" fontAlgn="auto" latinLnBrk="0" hangingPunct="1">
              <a:lnSpc>
                <a:spcPct val="100000"/>
              </a:lnSpc>
              <a:spcBef>
                <a:spcPct val="0"/>
              </a:spcBef>
              <a:spcAft>
                <a:spcPts val="0"/>
              </a:spcAft>
              <a:buClrTx/>
              <a:buSzTx/>
              <a:buFontTx/>
              <a:buNone/>
              <a:tabLst/>
              <a:defRPr lang="nl-NL" sz="2299" b="1" i="0" smtClean="0">
                <a:effectLst/>
                <a:latin typeface="Open Sans" panose="020B0606030504020204" pitchFamily="34" charset="0"/>
                <a:ea typeface="Open Sans" panose="020B0606030504020204" pitchFamily="34" charset="0"/>
                <a:cs typeface="Open Sans" panose="020B0606030504020204" pitchFamily="34" charset="0"/>
              </a:defRPr>
            </a:lvl1pPr>
          </a:lstStyle>
          <a:p>
            <a:r>
              <a:rPr lang="nl-NL" noProof="0" err="1"/>
              <a:t>Title</a:t>
            </a:r>
            <a:endParaRPr lang="nl-NL" noProof="0"/>
          </a:p>
        </p:txBody>
      </p:sp>
      <p:sp>
        <p:nvSpPr>
          <p:cNvPr id="11" name="Slide Number Placeholder 5">
            <a:extLst>
              <a:ext uri="{FF2B5EF4-FFF2-40B4-BE49-F238E27FC236}">
                <a16:creationId xmlns:a16="http://schemas.microsoft.com/office/drawing/2014/main" id="{F785890F-2F70-5B4E-91D5-BFC5A6C2F68E}"/>
              </a:ext>
            </a:extLst>
          </p:cNvPr>
          <p:cNvSpPr>
            <a:spLocks noGrp="1"/>
          </p:cNvSpPr>
          <p:nvPr>
            <p:ph type="sldNum" sz="quarter" idx="12"/>
          </p:nvPr>
        </p:nvSpPr>
        <p:spPr>
          <a:xfrm>
            <a:off x="11141019" y="6153579"/>
            <a:ext cx="636561" cy="37440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6D22F896-40B5-4ADD-8801-0D06FADFA095}" type="slidenum">
              <a:rPr lang="en-US" smtClean="0"/>
              <a:pPr/>
              <a:t>‹#›</a:t>
            </a:fld>
            <a:endParaRPr lang="en-US"/>
          </a:p>
        </p:txBody>
      </p:sp>
      <p:sp>
        <p:nvSpPr>
          <p:cNvPr id="12" name="Date Placeholder 3">
            <a:extLst>
              <a:ext uri="{FF2B5EF4-FFF2-40B4-BE49-F238E27FC236}">
                <a16:creationId xmlns:a16="http://schemas.microsoft.com/office/drawing/2014/main" id="{A5AA9414-3469-7F4E-B761-C24D5BE89DE8}"/>
              </a:ext>
            </a:extLst>
          </p:cNvPr>
          <p:cNvSpPr>
            <a:spLocks noGrp="1"/>
          </p:cNvSpPr>
          <p:nvPr>
            <p:ph type="dt" sz="half" idx="13"/>
          </p:nvPr>
        </p:nvSpPr>
        <p:spPr>
          <a:xfrm>
            <a:off x="10305099" y="6157899"/>
            <a:ext cx="835920" cy="37008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5C654255-5407-1F42-BC6E-6F7215C8A215}" type="datetime1">
              <a:rPr lang="nl-NL" smtClean="0"/>
              <a:t>01-05-2026</a:t>
            </a:fld>
            <a:endParaRPr lang="en-US"/>
          </a:p>
        </p:txBody>
      </p:sp>
      <p:sp>
        <p:nvSpPr>
          <p:cNvPr id="13" name="Tijdelijke aanduiding voor tekst 8">
            <a:extLst>
              <a:ext uri="{FF2B5EF4-FFF2-40B4-BE49-F238E27FC236}">
                <a16:creationId xmlns:a16="http://schemas.microsoft.com/office/drawing/2014/main" id="{8641AF80-3F9E-5F41-9FC0-4A62126AE3F8}"/>
              </a:ext>
            </a:extLst>
          </p:cNvPr>
          <p:cNvSpPr>
            <a:spLocks noGrp="1"/>
          </p:cNvSpPr>
          <p:nvPr>
            <p:ph type="body" sz="quarter" idx="14" hasCustomPrompt="1"/>
          </p:nvPr>
        </p:nvSpPr>
        <p:spPr>
          <a:xfrm>
            <a:off x="3914276" y="6153579"/>
            <a:ext cx="5972864" cy="399492"/>
          </a:xfrm>
          <a:prstGeom prst="rect">
            <a:avLst/>
          </a:prstGeom>
        </p:spPr>
        <p:txBody>
          <a:bodyPr lIns="0" tIns="0" rIns="0" bIns="0" anchor="ctr" anchorCtr="0"/>
          <a:lstStyle>
            <a:lvl1pPr algn="r">
              <a:defRPr lang="nl-NL" sz="1200"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lgn="r"/>
            <a:r>
              <a:rPr lang="nl-NL" err="1"/>
              <a:t>This</a:t>
            </a:r>
            <a:r>
              <a:rPr lang="nl-NL"/>
              <a:t> is </a:t>
            </a:r>
            <a:r>
              <a:rPr lang="nl-NL" err="1"/>
              <a:t>the</a:t>
            </a:r>
            <a:r>
              <a:rPr lang="nl-NL"/>
              <a:t> </a:t>
            </a:r>
            <a:r>
              <a:rPr lang="nl-NL" err="1"/>
              <a:t>footer</a:t>
            </a:r>
            <a:endParaRPr lang="nl-NL"/>
          </a:p>
        </p:txBody>
      </p:sp>
      <p:sp>
        <p:nvSpPr>
          <p:cNvPr id="8" name="Tijdelijke aanduiding voor tekst 2">
            <a:extLst>
              <a:ext uri="{FF2B5EF4-FFF2-40B4-BE49-F238E27FC236}">
                <a16:creationId xmlns:a16="http://schemas.microsoft.com/office/drawing/2014/main" id="{07512B20-AEAB-ED4D-913E-F86A9F66DD66}"/>
              </a:ext>
            </a:extLst>
          </p:cNvPr>
          <p:cNvSpPr>
            <a:spLocks noGrp="1"/>
          </p:cNvSpPr>
          <p:nvPr>
            <p:ph type="body" sz="quarter" idx="10" hasCustomPrompt="1"/>
          </p:nvPr>
        </p:nvSpPr>
        <p:spPr>
          <a:xfrm>
            <a:off x="2317147" y="2450593"/>
            <a:ext cx="7557707" cy="3443316"/>
          </a:xfrm>
          <a:prstGeom prst="rect">
            <a:avLst/>
          </a:prstGeom>
        </p:spPr>
        <p:txBody>
          <a:bodyPr/>
          <a:lstStyle>
            <a:lvl1pPr marL="450715" marR="0" indent="-450715" algn="l" defTabSz="914126" rtl="0" eaLnBrk="1" fontAlgn="auto" latinLnBrk="0" hangingPunct="1">
              <a:lnSpc>
                <a:spcPct val="110000"/>
              </a:lnSpc>
              <a:spcBef>
                <a:spcPts val="0"/>
              </a:spcBef>
              <a:spcAft>
                <a:spcPts val="0"/>
              </a:spcAft>
              <a:buClrTx/>
              <a:buSzTx/>
              <a:buFont typeface="Arial" panose="020B0604020202020204" pitchFamily="34" charset="0"/>
              <a:buChar char="•"/>
              <a:tabLst>
                <a:tab pos="888733" algn="l"/>
                <a:tab pos="1452127" algn="l"/>
              </a:tabLst>
              <a:defRPr lang="nl-NL" sz="2199" b="0" i="0" kern="1200" baseline="0" noProof="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803034" indent="-309470">
              <a:spcBef>
                <a:spcPts val="600"/>
              </a:spcBef>
              <a:buFont typeface="Arial" panose="020B0604020202020204" pitchFamily="34" charset="0"/>
              <a:buChar char="•"/>
              <a:tabLst/>
              <a:defRPr lang="nl-NL" sz="2199" b="0" i="0" kern="1200" baseline="0" noProof="0" dirty="0" smtClean="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2pPr>
            <a:lvl3pPr marL="1114091" indent="-311057">
              <a:lnSpc>
                <a:spcPct val="100000"/>
              </a:lnSpc>
              <a:spcBef>
                <a:spcPts val="600"/>
              </a:spcBef>
              <a:buFont typeface="Arial" panose="020B0604020202020204" pitchFamily="34" charset="0"/>
              <a:buChar char="•"/>
              <a:tabLst/>
              <a:defRPr lang="nl-NL" sz="2199" b="0" i="0" kern="1200" baseline="0" noProof="0" dirty="0" err="1"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466410" indent="-311057">
              <a:spcBef>
                <a:spcPts val="600"/>
              </a:spcBef>
              <a:buSzPct val="100000"/>
              <a:buFont typeface="Arial" panose="020B0604020202020204" pitchFamily="34" charset="0"/>
              <a:buChar char="•"/>
              <a:tabLst/>
              <a:defRPr lang="nl-NL" sz="2199" b="0" i="0" kern="1200" baseline="0" noProof="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33013" indent="-366603">
              <a:spcBef>
                <a:spcPts val="600"/>
              </a:spcBef>
              <a:buFont typeface="Arial" panose="020B0604020202020204" pitchFamily="34" charset="0"/>
              <a:buChar char="•"/>
              <a:tabLst/>
              <a:defRPr lang="nl-NL" sz="2199" b="0" i="0" kern="1200" baseline="0" noProof="0" dirty="0" err="1">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5pPr>
            <a:lvl6pPr marL="2185332" indent="-352319">
              <a:spcBef>
                <a:spcPts val="600"/>
              </a:spcBef>
              <a:tabLst/>
              <a:defRPr lang="nl-NL" sz="2199" b="0" i="0" kern="1200" baseline="0" noProof="0" dirty="0" smtClean="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6pPr>
            <a:lvl7pPr marL="2144070" indent="-311057">
              <a:tabLst/>
              <a:defRPr lang="nl-NL" sz="2199" b="0" i="0" kern="1200" baseline="0" noProof="0" dirty="0" smtClean="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7pPr>
            <a:lvl8pPr marL="2496389" indent="-352319">
              <a:tabLst/>
              <a:defRPr lang="nl-NL" sz="2199" b="0" i="0" kern="1200" baseline="0" noProof="0" dirty="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8pPr>
            <a:lvl9pPr>
              <a:defRPr lang="nl-NL" sz="2199" b="0" i="0" kern="1200" baseline="0" noProof="0" dirty="0" smtClean="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9pPr>
          </a:lstStyle>
          <a:p>
            <a:r>
              <a:rPr lang="nl-NL" noProof="0" err="1"/>
              <a:t>Ressimus</a:t>
            </a:r>
            <a:r>
              <a:rPr lang="nl-NL" noProof="0"/>
              <a:t> </a:t>
            </a:r>
            <a:r>
              <a:rPr lang="nl-NL" noProof="0" err="1"/>
              <a:t>exeri</a:t>
            </a:r>
            <a:r>
              <a:rPr lang="nl-NL" noProof="0"/>
              <a:t> </a:t>
            </a:r>
            <a:r>
              <a:rPr lang="nl-NL" noProof="0" err="1"/>
              <a:t>nus</a:t>
            </a:r>
            <a:r>
              <a:rPr lang="nl-NL" noProof="0"/>
              <a:t> et </a:t>
            </a:r>
            <a:r>
              <a:rPr lang="nl-NL" noProof="0" err="1"/>
              <a:t>ipienda</a:t>
            </a:r>
            <a:r>
              <a:rPr lang="nl-NL" noProof="0"/>
              <a:t> et </a:t>
            </a:r>
            <a:r>
              <a:rPr lang="nl-NL" noProof="0" err="1"/>
              <a:t>adiantot</a:t>
            </a:r>
            <a:r>
              <a:rPr lang="nl-NL" noProof="0"/>
              <a:t> </a:t>
            </a:r>
            <a:r>
              <a:rPr lang="nl-NL" noProof="0" err="1"/>
              <a:t>IqueMolorepudit</a:t>
            </a:r>
            <a:r>
              <a:rPr lang="nl-NL" noProof="0"/>
              <a:t> </a:t>
            </a:r>
            <a:r>
              <a:rPr lang="nl-NL" noProof="0" err="1"/>
              <a:t>niminti</a:t>
            </a:r>
            <a:r>
              <a:rPr lang="nl-NL" noProof="0"/>
              <a:t> </a:t>
            </a:r>
            <a:r>
              <a:rPr lang="nl-NL" noProof="0" err="1"/>
              <a:t>nonsendaecae</a:t>
            </a:r>
            <a:r>
              <a:rPr lang="nl-NL" noProof="0"/>
              <a:t> </a:t>
            </a:r>
            <a:r>
              <a:rPr lang="nl-NL" noProof="0" err="1"/>
              <a:t>volor</a:t>
            </a:r>
            <a:r>
              <a:rPr lang="nl-NL" noProof="0"/>
              <a:t> a ad et ut </a:t>
            </a:r>
            <a:r>
              <a:rPr lang="nl-NL" noProof="0" err="1"/>
              <a:t>eum</a:t>
            </a:r>
            <a:r>
              <a:rPr lang="nl-NL" noProof="0"/>
              <a:t> se pos mos </a:t>
            </a:r>
            <a:r>
              <a:rPr lang="nl-NL" noProof="0" err="1"/>
              <a:t>sed</a:t>
            </a:r>
            <a:r>
              <a:rPr lang="nl-NL" noProof="0"/>
              <a:t> </a:t>
            </a:r>
            <a:r>
              <a:rPr lang="nl-NL" noProof="0" err="1"/>
              <a:t>ulpa</a:t>
            </a:r>
            <a:r>
              <a:rPr lang="nl-NL" noProof="0"/>
              <a:t> </a:t>
            </a:r>
            <a:r>
              <a:rPr lang="nl-NL" noProof="0" err="1"/>
              <a:t>vitas</a:t>
            </a:r>
            <a:r>
              <a:rPr lang="nl-NL" noProof="0"/>
              <a:t> </a:t>
            </a:r>
            <a:r>
              <a:rPr lang="nl-NL" noProof="0" err="1"/>
              <a:t>aut</a:t>
            </a:r>
            <a:r>
              <a:rPr lang="nl-NL" noProof="0"/>
              <a:t> </a:t>
            </a:r>
            <a:r>
              <a:rPr lang="nl-NL" noProof="0" err="1"/>
              <a:t>quia</a:t>
            </a:r>
            <a:r>
              <a:rPr lang="nl-NL" noProof="0"/>
              <a:t> </a:t>
            </a:r>
            <a:r>
              <a:rPr lang="nl-NL" noProof="0" err="1"/>
              <a:t>doluptio</a:t>
            </a:r>
            <a:r>
              <a:rPr lang="nl-NL" noProof="0"/>
              <a:t> </a:t>
            </a:r>
            <a:r>
              <a:rPr lang="nl-NL" noProof="0" err="1"/>
              <a:t>iduciis</a:t>
            </a:r>
            <a:r>
              <a:rPr lang="nl-NL" noProof="0"/>
              <a:t> </a:t>
            </a:r>
            <a:r>
              <a:rPr lang="nl-NL" noProof="0" err="1"/>
              <a:t>sedis</a:t>
            </a:r>
            <a:r>
              <a:rPr lang="nl-NL" noProof="0"/>
              <a:t> </a:t>
            </a:r>
            <a:r>
              <a:rPr lang="nl-NL" noProof="0" err="1"/>
              <a:t>sitat</a:t>
            </a:r>
            <a:endParaRPr lang="nl-NL" noProof="0"/>
          </a:p>
          <a:p>
            <a:pPr lvl="1"/>
            <a:r>
              <a:rPr lang="nl-NL" noProof="0" err="1"/>
              <a:t>L;ajgda;ldgjs</a:t>
            </a:r>
            <a:endParaRPr lang="nl-NL" noProof="0"/>
          </a:p>
          <a:p>
            <a:pPr lvl="2"/>
            <a:r>
              <a:rPr lang="nl-NL" noProof="0" err="1"/>
              <a:t>Lkadghjs;aoigdhsj</a:t>
            </a:r>
            <a:endParaRPr lang="nl-NL" noProof="0"/>
          </a:p>
          <a:p>
            <a:pPr lvl="3"/>
            <a:r>
              <a:rPr lang="nl-NL" noProof="0"/>
              <a:t>;</a:t>
            </a:r>
            <a:r>
              <a:rPr lang="nl-NL" noProof="0" err="1"/>
              <a:t>lasijdf;alkgdjs</a:t>
            </a:r>
            <a:endParaRPr lang="nl-NL" noProof="0"/>
          </a:p>
          <a:p>
            <a:pPr lvl="4"/>
            <a:r>
              <a:rPr lang="nl-NL" noProof="0"/>
              <a:t>;</a:t>
            </a:r>
            <a:r>
              <a:rPr lang="nl-NL" noProof="0" err="1"/>
              <a:t>ladsgjlasdkgj</a:t>
            </a:r>
            <a:endParaRPr lang="nl-NL" noProof="0"/>
          </a:p>
          <a:p>
            <a:pPr lvl="5"/>
            <a:r>
              <a:rPr lang="nl-NL" noProof="0" err="1"/>
              <a:t>A;lgdkj;asldgjk</a:t>
            </a:r>
            <a:endParaRPr lang="nl-NL" noProof="0"/>
          </a:p>
        </p:txBody>
      </p:sp>
      <p:pic>
        <p:nvPicPr>
          <p:cNvPr id="10" name="Graphic 9">
            <a:extLst>
              <a:ext uri="{FF2B5EF4-FFF2-40B4-BE49-F238E27FC236}">
                <a16:creationId xmlns:a16="http://schemas.microsoft.com/office/drawing/2014/main" id="{5F31C1B0-A930-E64C-9873-41578CE5DC4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905911" y="6002634"/>
            <a:ext cx="798992" cy="678966"/>
          </a:xfrm>
          <a:prstGeom prst="rect">
            <a:avLst/>
          </a:prstGeom>
        </p:spPr>
      </p:pic>
      <p:pic>
        <p:nvPicPr>
          <p:cNvPr id="15" name="Afbeelding 14">
            <a:extLst>
              <a:ext uri="{FF2B5EF4-FFF2-40B4-BE49-F238E27FC236}">
                <a16:creationId xmlns:a16="http://schemas.microsoft.com/office/drawing/2014/main" id="{82DE2AFE-F765-7B4D-BBC5-3A1ABA20E7A5}"/>
              </a:ext>
            </a:extLst>
          </p:cNvPr>
          <p:cNvPicPr>
            <a:picLocks noChangeAspect="1"/>
          </p:cNvPicPr>
          <p:nvPr userDrawn="1"/>
        </p:nvPicPr>
        <p:blipFill>
          <a:blip r:embed="rId3"/>
          <a:stretch>
            <a:fillRect/>
          </a:stretch>
        </p:blipFill>
        <p:spPr>
          <a:xfrm>
            <a:off x="176037" y="5990197"/>
            <a:ext cx="1754588" cy="690064"/>
          </a:xfrm>
          <a:prstGeom prst="rect">
            <a:avLst/>
          </a:prstGeom>
        </p:spPr>
      </p:pic>
    </p:spTree>
    <p:extLst>
      <p:ext uri="{BB962C8B-B14F-4D97-AF65-F5344CB8AC3E}">
        <p14:creationId xmlns:p14="http://schemas.microsoft.com/office/powerpoint/2010/main" val="1921022831"/>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ekst links, afbeelding rechts">
    <p:bg bwMode="gray">
      <p:bgPr>
        <a:solidFill>
          <a:schemeClr val="bg1"/>
        </a:solidFill>
        <a:effectLst/>
      </p:bgPr>
    </p:bg>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4296244" y="368301"/>
            <a:ext cx="7559293" cy="5534622"/>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Click icon to add an image</a:t>
            </a:r>
          </a:p>
        </p:txBody>
      </p:sp>
      <p:sp>
        <p:nvSpPr>
          <p:cNvPr id="9" name="Titel 1">
            <a:extLst>
              <a:ext uri="{FF2B5EF4-FFF2-40B4-BE49-F238E27FC236}">
                <a16:creationId xmlns:a16="http://schemas.microsoft.com/office/drawing/2014/main" id="{A07AE5D3-2C03-CD49-8B96-489B7649C6D1}"/>
              </a:ext>
            </a:extLst>
          </p:cNvPr>
          <p:cNvSpPr>
            <a:spLocks noGrp="1"/>
          </p:cNvSpPr>
          <p:nvPr>
            <p:ph type="ctrTitle" hasCustomPrompt="1"/>
          </p:nvPr>
        </p:nvSpPr>
        <p:spPr>
          <a:xfrm>
            <a:off x="338050" y="371475"/>
            <a:ext cx="3634429" cy="1080000"/>
          </a:xfrm>
          <a:prstGeom prst="rect">
            <a:avLst/>
          </a:prstGeom>
        </p:spPr>
        <p:txBody>
          <a:bodyPr anchor="t" anchorCtr="0"/>
          <a:lstStyle>
            <a:lvl1pPr marL="0" marR="0" indent="0" algn="l" defTabSz="914126" rtl="0" eaLnBrk="1" fontAlgn="auto" latinLnBrk="0" hangingPunct="1">
              <a:lnSpc>
                <a:spcPct val="100000"/>
              </a:lnSpc>
              <a:spcBef>
                <a:spcPct val="0"/>
              </a:spcBef>
              <a:spcAft>
                <a:spcPts val="0"/>
              </a:spcAft>
              <a:buClrTx/>
              <a:buSzTx/>
              <a:buFontTx/>
              <a:buNone/>
              <a:tabLst/>
              <a:defRPr lang="nl-NL" sz="2299" b="1" i="0" smtClean="0">
                <a:effectLst/>
                <a:latin typeface="Open Sans" panose="020B0606030504020204" pitchFamily="34" charset="0"/>
                <a:ea typeface="Open Sans" panose="020B0606030504020204" pitchFamily="34" charset="0"/>
                <a:cs typeface="Open Sans" panose="020B0606030504020204" pitchFamily="34" charset="0"/>
              </a:defRPr>
            </a:lvl1pPr>
          </a:lstStyle>
          <a:p>
            <a:r>
              <a:rPr lang="nl-NL" noProof="0" err="1"/>
              <a:t>Title</a:t>
            </a:r>
            <a:endParaRPr lang="nl-NL" noProof="0"/>
          </a:p>
        </p:txBody>
      </p:sp>
      <p:sp>
        <p:nvSpPr>
          <p:cNvPr id="10" name="Tijdelijke aanduiding voor tekst 2">
            <a:extLst>
              <a:ext uri="{FF2B5EF4-FFF2-40B4-BE49-F238E27FC236}">
                <a16:creationId xmlns:a16="http://schemas.microsoft.com/office/drawing/2014/main" id="{34EE854C-23EF-BD45-A084-2AE0D435916C}"/>
              </a:ext>
            </a:extLst>
          </p:cNvPr>
          <p:cNvSpPr>
            <a:spLocks noGrp="1"/>
          </p:cNvSpPr>
          <p:nvPr>
            <p:ph type="body" sz="quarter" idx="10" hasCustomPrompt="1"/>
          </p:nvPr>
        </p:nvSpPr>
        <p:spPr>
          <a:xfrm>
            <a:off x="337425" y="1664208"/>
            <a:ext cx="3635053" cy="4238715"/>
          </a:xfrm>
          <a:prstGeom prst="rect">
            <a:avLst/>
          </a:prstGeom>
        </p:spPr>
        <p:txBody>
          <a:bodyPr bIns="0" anchor="b" anchorCtr="0"/>
          <a:lstStyle>
            <a:lvl1pPr marL="0" marR="0" indent="0" algn="l" defTabSz="914126" rtl="0" eaLnBrk="1" fontAlgn="auto" latinLnBrk="0" hangingPunct="1">
              <a:lnSpc>
                <a:spcPct val="110000"/>
              </a:lnSpc>
              <a:spcBef>
                <a:spcPts val="0"/>
              </a:spcBef>
              <a:spcAft>
                <a:spcPts val="0"/>
              </a:spcAft>
              <a:buClrTx/>
              <a:buSzTx/>
              <a:buFont typeface="Arial" pitchFamily="34" charset="0"/>
              <a:buNone/>
              <a:tabLst/>
              <a:defRPr lang="nl-NL" sz="2199" b="0" i="0" smtClean="0">
                <a:effectLst/>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noProof="0" err="1"/>
              <a:t>Molorepudit</a:t>
            </a:r>
            <a:r>
              <a:rPr lang="nl-NL" noProof="0"/>
              <a:t> </a:t>
            </a:r>
            <a:r>
              <a:rPr lang="nl-NL" noProof="0" err="1"/>
              <a:t>ressimus</a:t>
            </a:r>
            <a:r>
              <a:rPr lang="nl-NL" noProof="0"/>
              <a:t> </a:t>
            </a:r>
            <a:r>
              <a:rPr lang="nl-NL" noProof="0" err="1"/>
              <a:t>exeri</a:t>
            </a:r>
            <a:r>
              <a:rPr lang="nl-NL" noProof="0"/>
              <a:t> </a:t>
            </a:r>
            <a:r>
              <a:rPr lang="nl-NL" noProof="0" err="1"/>
              <a:t>nus</a:t>
            </a:r>
            <a:r>
              <a:rPr lang="nl-NL" noProof="0"/>
              <a:t> et </a:t>
            </a:r>
            <a:r>
              <a:rPr lang="nl-NL" noProof="0" err="1"/>
              <a:t>ipienda</a:t>
            </a:r>
            <a:r>
              <a:rPr lang="nl-NL" noProof="0"/>
              <a:t> et </a:t>
            </a:r>
            <a:r>
              <a:rPr lang="nl-NL" noProof="0" err="1"/>
              <a:t>adiantot</a:t>
            </a:r>
            <a:r>
              <a:rPr lang="nl-NL" noProof="0"/>
              <a:t> </a:t>
            </a:r>
            <a:r>
              <a:rPr lang="nl-NL" noProof="0" err="1"/>
              <a:t>Ique</a:t>
            </a:r>
            <a:r>
              <a:rPr lang="nl-NL" noProof="0"/>
              <a:t> </a:t>
            </a:r>
            <a:r>
              <a:rPr lang="nl-NL" noProof="0" err="1"/>
              <a:t>niminti</a:t>
            </a:r>
            <a:r>
              <a:rPr lang="nl-NL" noProof="0"/>
              <a:t> </a:t>
            </a:r>
            <a:r>
              <a:rPr lang="nl-NL" noProof="0" err="1"/>
              <a:t>nonsendaecae</a:t>
            </a:r>
            <a:r>
              <a:rPr lang="nl-NL" noProof="0"/>
              <a:t> </a:t>
            </a:r>
            <a:r>
              <a:rPr lang="nl-NL" noProof="0" err="1"/>
              <a:t>volor</a:t>
            </a:r>
            <a:r>
              <a:rPr lang="nl-NL" noProof="0"/>
              <a:t> a ad et ut </a:t>
            </a:r>
            <a:r>
              <a:rPr lang="nl-NL" noProof="0" err="1"/>
              <a:t>eum</a:t>
            </a:r>
            <a:r>
              <a:rPr lang="nl-NL" noProof="0"/>
              <a:t> se pos mos </a:t>
            </a:r>
            <a:r>
              <a:rPr lang="nl-NL" noProof="0" err="1"/>
              <a:t>sed</a:t>
            </a:r>
            <a:r>
              <a:rPr lang="nl-NL" noProof="0"/>
              <a:t> </a:t>
            </a:r>
            <a:r>
              <a:rPr lang="nl-NL" noProof="0" err="1"/>
              <a:t>ulpa</a:t>
            </a:r>
            <a:r>
              <a:rPr lang="nl-NL" noProof="0"/>
              <a:t> </a:t>
            </a:r>
            <a:r>
              <a:rPr lang="nl-NL" noProof="0" err="1"/>
              <a:t>vitas</a:t>
            </a:r>
            <a:r>
              <a:rPr lang="nl-NL" noProof="0"/>
              <a:t> </a:t>
            </a:r>
            <a:r>
              <a:rPr lang="nl-NL" noProof="0" err="1"/>
              <a:t>aut</a:t>
            </a:r>
            <a:r>
              <a:rPr lang="nl-NL" noProof="0"/>
              <a:t> </a:t>
            </a:r>
            <a:r>
              <a:rPr lang="nl-NL" noProof="0" err="1"/>
              <a:t>quia</a:t>
            </a:r>
            <a:r>
              <a:rPr lang="nl-NL" noProof="0"/>
              <a:t> </a:t>
            </a:r>
            <a:r>
              <a:rPr lang="nl-NL" noProof="0" err="1"/>
              <a:t>doluptio</a:t>
            </a:r>
            <a:r>
              <a:rPr lang="nl-NL" noProof="0"/>
              <a:t> </a:t>
            </a:r>
            <a:r>
              <a:rPr lang="nl-NL" noProof="0" err="1"/>
              <a:t>iduciis</a:t>
            </a:r>
            <a:r>
              <a:rPr lang="nl-NL" noProof="0"/>
              <a:t> </a:t>
            </a:r>
            <a:r>
              <a:rPr lang="nl-NL" noProof="0" err="1"/>
              <a:t>sedis</a:t>
            </a:r>
            <a:r>
              <a:rPr lang="nl-NL" noProof="0"/>
              <a:t> </a:t>
            </a:r>
            <a:r>
              <a:rPr lang="nl-NL" noProof="0" err="1"/>
              <a:t>sitat</a:t>
            </a:r>
            <a:r>
              <a:rPr lang="nl-NL" noProof="0"/>
              <a:t> es </a:t>
            </a:r>
            <a:r>
              <a:rPr lang="nl-NL" noProof="0" err="1"/>
              <a:t>nihition</a:t>
            </a:r>
            <a:r>
              <a:rPr lang="nl-NL" noProof="0"/>
              <a:t> </a:t>
            </a:r>
            <a:r>
              <a:rPr lang="nl-NL" noProof="0" err="1"/>
              <a:t>nonsecturi</a:t>
            </a:r>
            <a:r>
              <a:rPr lang="nl-NL" noProof="0"/>
              <a:t> </a:t>
            </a:r>
            <a:r>
              <a:rPr lang="nl-NL" noProof="0" err="1"/>
              <a:t>officidis</a:t>
            </a:r>
            <a:r>
              <a:rPr lang="nl-NL" noProof="0"/>
              <a:t> ex et que </a:t>
            </a:r>
            <a:r>
              <a:rPr lang="nl-NL" noProof="0" err="1"/>
              <a:t>esecto</a:t>
            </a:r>
            <a:r>
              <a:rPr lang="nl-NL" noProof="0"/>
              <a:t> </a:t>
            </a:r>
            <a:r>
              <a:rPr lang="nl-NL" noProof="0" err="1"/>
              <a:t>dolorumenis</a:t>
            </a:r>
            <a:r>
              <a:rPr lang="nl-NL" noProof="0"/>
              <a:t> </a:t>
            </a:r>
            <a:r>
              <a:rPr lang="nl-NL" noProof="0" err="1"/>
              <a:t>aritat</a:t>
            </a:r>
            <a:r>
              <a:rPr lang="nl-NL" noProof="0"/>
              <a:t> et. </a:t>
            </a:r>
            <a:br>
              <a:rPr lang="nl-NL" noProof="0"/>
            </a:br>
            <a:r>
              <a:rPr lang="nl-NL" noProof="0"/>
              <a:t>&lt;Max. 40 woorden &gt; </a:t>
            </a:r>
          </a:p>
        </p:txBody>
      </p:sp>
      <p:sp>
        <p:nvSpPr>
          <p:cNvPr id="12" name="Slide Number Placeholder 5">
            <a:extLst>
              <a:ext uri="{FF2B5EF4-FFF2-40B4-BE49-F238E27FC236}">
                <a16:creationId xmlns:a16="http://schemas.microsoft.com/office/drawing/2014/main" id="{A11A879A-8AE9-4642-9846-43F9368D37F8}"/>
              </a:ext>
            </a:extLst>
          </p:cNvPr>
          <p:cNvSpPr>
            <a:spLocks noGrp="1"/>
          </p:cNvSpPr>
          <p:nvPr>
            <p:ph type="sldNum" sz="quarter" idx="12"/>
          </p:nvPr>
        </p:nvSpPr>
        <p:spPr>
          <a:xfrm>
            <a:off x="11141019" y="6153579"/>
            <a:ext cx="636561" cy="37440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6D22F896-40B5-4ADD-8801-0D06FADFA095}" type="slidenum">
              <a:rPr lang="en-US" smtClean="0"/>
              <a:pPr/>
              <a:t>‹#›</a:t>
            </a:fld>
            <a:endParaRPr lang="en-US"/>
          </a:p>
        </p:txBody>
      </p:sp>
      <p:sp>
        <p:nvSpPr>
          <p:cNvPr id="13" name="Date Placeholder 3">
            <a:extLst>
              <a:ext uri="{FF2B5EF4-FFF2-40B4-BE49-F238E27FC236}">
                <a16:creationId xmlns:a16="http://schemas.microsoft.com/office/drawing/2014/main" id="{43C9BFED-950B-5D44-8647-57915D01AFF6}"/>
              </a:ext>
            </a:extLst>
          </p:cNvPr>
          <p:cNvSpPr>
            <a:spLocks noGrp="1"/>
          </p:cNvSpPr>
          <p:nvPr>
            <p:ph type="dt" sz="half" idx="13"/>
          </p:nvPr>
        </p:nvSpPr>
        <p:spPr>
          <a:xfrm>
            <a:off x="10305099" y="6157899"/>
            <a:ext cx="835920" cy="37008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3FCF1622-BBFD-9E43-8366-C1FFF1F8EF75}" type="datetime1">
              <a:rPr lang="nl-NL" smtClean="0"/>
              <a:t>01-05-2026</a:t>
            </a:fld>
            <a:endParaRPr lang="en-US"/>
          </a:p>
        </p:txBody>
      </p:sp>
      <p:sp>
        <p:nvSpPr>
          <p:cNvPr id="14" name="Tijdelijke aanduiding voor tekst 8">
            <a:extLst>
              <a:ext uri="{FF2B5EF4-FFF2-40B4-BE49-F238E27FC236}">
                <a16:creationId xmlns:a16="http://schemas.microsoft.com/office/drawing/2014/main" id="{12310AB9-BB9D-C744-A142-08E22DF7F204}"/>
              </a:ext>
            </a:extLst>
          </p:cNvPr>
          <p:cNvSpPr>
            <a:spLocks noGrp="1"/>
          </p:cNvSpPr>
          <p:nvPr>
            <p:ph type="body" sz="quarter" idx="14" hasCustomPrompt="1"/>
          </p:nvPr>
        </p:nvSpPr>
        <p:spPr>
          <a:xfrm>
            <a:off x="3914276" y="6153579"/>
            <a:ext cx="5972864" cy="399492"/>
          </a:xfrm>
          <a:prstGeom prst="rect">
            <a:avLst/>
          </a:prstGeom>
        </p:spPr>
        <p:txBody>
          <a:bodyPr lIns="0" tIns="0" rIns="0" bIns="0" anchor="ctr" anchorCtr="0"/>
          <a:lstStyle>
            <a:lvl1pPr algn="r">
              <a:defRPr lang="nl-NL" sz="1200"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lgn="r"/>
            <a:r>
              <a:rPr lang="nl-NL" err="1"/>
              <a:t>This</a:t>
            </a:r>
            <a:r>
              <a:rPr lang="nl-NL"/>
              <a:t> is </a:t>
            </a:r>
            <a:r>
              <a:rPr lang="nl-NL" err="1"/>
              <a:t>the</a:t>
            </a:r>
            <a:r>
              <a:rPr lang="nl-NL"/>
              <a:t> </a:t>
            </a:r>
            <a:r>
              <a:rPr lang="nl-NL" err="1"/>
              <a:t>footer</a:t>
            </a:r>
            <a:endParaRPr lang="nl-NL"/>
          </a:p>
        </p:txBody>
      </p:sp>
      <p:pic>
        <p:nvPicPr>
          <p:cNvPr id="11" name="Graphic 10">
            <a:extLst>
              <a:ext uri="{FF2B5EF4-FFF2-40B4-BE49-F238E27FC236}">
                <a16:creationId xmlns:a16="http://schemas.microsoft.com/office/drawing/2014/main" id="{B388E876-B80D-F94E-A2B7-4A8143A6D9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905911" y="6002634"/>
            <a:ext cx="798992" cy="678966"/>
          </a:xfrm>
          <a:prstGeom prst="rect">
            <a:avLst/>
          </a:prstGeom>
        </p:spPr>
      </p:pic>
      <p:pic>
        <p:nvPicPr>
          <p:cNvPr id="16" name="Afbeelding 15">
            <a:extLst>
              <a:ext uri="{FF2B5EF4-FFF2-40B4-BE49-F238E27FC236}">
                <a16:creationId xmlns:a16="http://schemas.microsoft.com/office/drawing/2014/main" id="{434E1334-1A91-F745-B502-3420D75C981D}"/>
              </a:ext>
            </a:extLst>
          </p:cNvPr>
          <p:cNvPicPr>
            <a:picLocks noChangeAspect="1"/>
          </p:cNvPicPr>
          <p:nvPr userDrawn="1"/>
        </p:nvPicPr>
        <p:blipFill>
          <a:blip r:embed="rId3"/>
          <a:stretch>
            <a:fillRect/>
          </a:stretch>
        </p:blipFill>
        <p:spPr>
          <a:xfrm>
            <a:off x="176037" y="5990197"/>
            <a:ext cx="1754588" cy="690064"/>
          </a:xfrm>
          <a:prstGeom prst="rect">
            <a:avLst/>
          </a:prstGeom>
        </p:spPr>
      </p:pic>
    </p:spTree>
    <p:extLst>
      <p:ext uri="{BB962C8B-B14F-4D97-AF65-F5344CB8AC3E}">
        <p14:creationId xmlns:p14="http://schemas.microsoft.com/office/powerpoint/2010/main" val="557705425"/>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fbeelding links, tekst rechts">
    <p:bg bwMode="gray">
      <p:bgPr>
        <a:solidFill>
          <a:schemeClr val="bg1"/>
        </a:solidFill>
        <a:effectLst/>
      </p:bgPr>
    </p:bg>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336463" y="371475"/>
            <a:ext cx="7559293" cy="5542308"/>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Click icon to add an image</a:t>
            </a:r>
          </a:p>
        </p:txBody>
      </p:sp>
      <p:sp>
        <p:nvSpPr>
          <p:cNvPr id="8" name="Titel 1">
            <a:extLst>
              <a:ext uri="{FF2B5EF4-FFF2-40B4-BE49-F238E27FC236}">
                <a16:creationId xmlns:a16="http://schemas.microsoft.com/office/drawing/2014/main" id="{219C4ACB-0E7C-2E49-975D-15A9366B7B16}"/>
              </a:ext>
            </a:extLst>
          </p:cNvPr>
          <p:cNvSpPr>
            <a:spLocks noGrp="1"/>
          </p:cNvSpPr>
          <p:nvPr>
            <p:ph type="ctrTitle" hasCustomPrompt="1"/>
          </p:nvPr>
        </p:nvSpPr>
        <p:spPr>
          <a:xfrm>
            <a:off x="8239098" y="371475"/>
            <a:ext cx="3615819" cy="1080000"/>
          </a:xfrm>
          <a:prstGeom prst="rect">
            <a:avLst/>
          </a:prstGeom>
        </p:spPr>
        <p:txBody>
          <a:bodyPr anchor="t" anchorCtr="0"/>
          <a:lstStyle>
            <a:lvl1pPr marL="0" marR="0" indent="0" algn="l" defTabSz="914126" rtl="0" eaLnBrk="1" fontAlgn="auto" latinLnBrk="0" hangingPunct="1">
              <a:lnSpc>
                <a:spcPct val="100000"/>
              </a:lnSpc>
              <a:spcBef>
                <a:spcPct val="0"/>
              </a:spcBef>
              <a:spcAft>
                <a:spcPts val="0"/>
              </a:spcAft>
              <a:buClrTx/>
              <a:buSzTx/>
              <a:buFontTx/>
              <a:buNone/>
              <a:tabLst/>
              <a:defRPr lang="nl-NL" sz="2299" b="1" i="0" smtClean="0">
                <a:effectLst/>
                <a:latin typeface="Open Sans" panose="020B0606030504020204" pitchFamily="34" charset="0"/>
                <a:ea typeface="Open Sans" panose="020B0606030504020204" pitchFamily="34" charset="0"/>
                <a:cs typeface="Open Sans" panose="020B0606030504020204" pitchFamily="34" charset="0"/>
              </a:defRPr>
            </a:lvl1pPr>
          </a:lstStyle>
          <a:p>
            <a:r>
              <a:rPr lang="nl-NL" noProof="0" err="1"/>
              <a:t>Title</a:t>
            </a:r>
            <a:endParaRPr lang="nl-NL" noProof="0"/>
          </a:p>
        </p:txBody>
      </p:sp>
      <p:sp>
        <p:nvSpPr>
          <p:cNvPr id="3" name="Tijdelijke aanduiding voor tekst 2">
            <a:extLst>
              <a:ext uri="{FF2B5EF4-FFF2-40B4-BE49-F238E27FC236}">
                <a16:creationId xmlns:a16="http://schemas.microsoft.com/office/drawing/2014/main" id="{F82AB650-E7FC-9C49-B3D3-F4866960771A}"/>
              </a:ext>
            </a:extLst>
          </p:cNvPr>
          <p:cNvSpPr>
            <a:spLocks noGrp="1"/>
          </p:cNvSpPr>
          <p:nvPr>
            <p:ph type="body" sz="quarter" idx="10" hasCustomPrompt="1"/>
          </p:nvPr>
        </p:nvSpPr>
        <p:spPr>
          <a:xfrm>
            <a:off x="8239097" y="1627632"/>
            <a:ext cx="3616441" cy="4286151"/>
          </a:xfrm>
          <a:prstGeom prst="rect">
            <a:avLst/>
          </a:prstGeom>
        </p:spPr>
        <p:txBody>
          <a:bodyPr bIns="0" anchor="b" anchorCtr="0"/>
          <a:lstStyle>
            <a:lvl1pPr marL="0" marR="0" indent="0" algn="l" defTabSz="914126" rtl="0" eaLnBrk="1" fontAlgn="auto" latinLnBrk="0" hangingPunct="1">
              <a:lnSpc>
                <a:spcPct val="110000"/>
              </a:lnSpc>
              <a:spcBef>
                <a:spcPts val="0"/>
              </a:spcBef>
              <a:spcAft>
                <a:spcPts val="0"/>
              </a:spcAft>
              <a:buClr>
                <a:schemeClr val="tx1"/>
              </a:buClr>
              <a:buSzPct val="80000"/>
              <a:buFont typeface="Arial" panose="020B0604020202020204" pitchFamily="34" charset="0"/>
              <a:buNone/>
              <a:tabLst/>
              <a:defRPr lang="nl-NL" sz="2199" b="0" i="0" smtClean="0">
                <a:effectLst/>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noProof="0"/>
              <a:t>Pos mos </a:t>
            </a:r>
            <a:r>
              <a:rPr lang="nl-NL" noProof="0" err="1"/>
              <a:t>sed</a:t>
            </a:r>
            <a:r>
              <a:rPr lang="nl-NL" noProof="0"/>
              <a:t> </a:t>
            </a:r>
            <a:r>
              <a:rPr lang="nl-NL" noProof="0" err="1"/>
              <a:t>ulpa</a:t>
            </a:r>
            <a:r>
              <a:rPr lang="nl-NL" noProof="0"/>
              <a:t> </a:t>
            </a:r>
            <a:r>
              <a:rPr lang="nl-NL" noProof="0" err="1"/>
              <a:t>vitas</a:t>
            </a:r>
            <a:br>
              <a:rPr lang="nl-NL" noProof="0"/>
            </a:br>
            <a:r>
              <a:rPr lang="nl-NL" noProof="0" err="1"/>
              <a:t>Volor</a:t>
            </a:r>
            <a:r>
              <a:rPr lang="nl-NL" noProof="0"/>
              <a:t> a ad et ut </a:t>
            </a:r>
            <a:r>
              <a:rPr lang="nl-NL" noProof="0" err="1"/>
              <a:t>eum</a:t>
            </a:r>
            <a:r>
              <a:rPr lang="nl-NL" noProof="0"/>
              <a:t> se pos mos </a:t>
            </a:r>
            <a:r>
              <a:rPr lang="nl-NL" noProof="0" err="1"/>
              <a:t>sed</a:t>
            </a:r>
            <a:r>
              <a:rPr lang="nl-NL" noProof="0"/>
              <a:t> </a:t>
            </a:r>
            <a:r>
              <a:rPr lang="nl-NL" noProof="0" err="1"/>
              <a:t>ulpa</a:t>
            </a:r>
            <a:r>
              <a:rPr lang="nl-NL" noProof="0"/>
              <a:t> </a:t>
            </a:r>
            <a:r>
              <a:rPr lang="nl-NL" noProof="0" err="1"/>
              <a:t>vitas</a:t>
            </a:r>
            <a:r>
              <a:rPr lang="nl-NL" noProof="0"/>
              <a:t> </a:t>
            </a:r>
            <a:r>
              <a:rPr lang="nl-NL" noProof="0" err="1"/>
              <a:t>aut</a:t>
            </a:r>
            <a:r>
              <a:rPr lang="nl-NL" noProof="0"/>
              <a:t> </a:t>
            </a:r>
            <a:r>
              <a:rPr lang="nl-NL" noProof="0" err="1"/>
              <a:t>quia</a:t>
            </a:r>
            <a:r>
              <a:rPr lang="nl-NL" noProof="0"/>
              <a:t> </a:t>
            </a:r>
            <a:r>
              <a:rPr lang="nl-NL" noProof="0" err="1"/>
              <a:t>doluptio</a:t>
            </a:r>
            <a:r>
              <a:rPr lang="nl-NL" noProof="0"/>
              <a:t>. </a:t>
            </a:r>
            <a:r>
              <a:rPr lang="nl-NL" noProof="0" err="1"/>
              <a:t>Molorepudit</a:t>
            </a:r>
            <a:r>
              <a:rPr lang="nl-NL" noProof="0"/>
              <a:t> </a:t>
            </a:r>
            <a:r>
              <a:rPr lang="nl-NL" noProof="0" err="1"/>
              <a:t>ressimus</a:t>
            </a:r>
            <a:r>
              <a:rPr lang="nl-NL" noProof="0"/>
              <a:t> </a:t>
            </a:r>
            <a:r>
              <a:rPr lang="nl-NL" noProof="0" err="1"/>
              <a:t>exeri</a:t>
            </a:r>
            <a:r>
              <a:rPr lang="nl-NL" noProof="0"/>
              <a:t> </a:t>
            </a:r>
            <a:r>
              <a:rPr lang="nl-NL" noProof="0" err="1"/>
              <a:t>nus</a:t>
            </a:r>
            <a:r>
              <a:rPr lang="nl-NL" noProof="0"/>
              <a:t> et </a:t>
            </a:r>
            <a:r>
              <a:rPr lang="nl-NL" noProof="0" err="1"/>
              <a:t>ipienda</a:t>
            </a:r>
            <a:r>
              <a:rPr lang="nl-NL" noProof="0"/>
              <a:t>. Mos </a:t>
            </a:r>
            <a:r>
              <a:rPr lang="nl-NL" noProof="0" err="1"/>
              <a:t>sed</a:t>
            </a:r>
            <a:r>
              <a:rPr lang="nl-NL" noProof="0"/>
              <a:t> </a:t>
            </a:r>
            <a:r>
              <a:rPr lang="nl-NL" noProof="0" err="1"/>
              <a:t>ulpa</a:t>
            </a:r>
            <a:r>
              <a:rPr lang="nl-NL" noProof="0"/>
              <a:t> </a:t>
            </a:r>
            <a:r>
              <a:rPr lang="nl-NL" noProof="0" err="1"/>
              <a:t>vitas</a:t>
            </a:r>
            <a:r>
              <a:rPr lang="nl-NL" noProof="0"/>
              <a:t> </a:t>
            </a:r>
            <a:r>
              <a:rPr lang="nl-NL" noProof="0" err="1"/>
              <a:t>aut</a:t>
            </a:r>
            <a:r>
              <a:rPr lang="nl-NL" noProof="0"/>
              <a:t> </a:t>
            </a:r>
            <a:r>
              <a:rPr lang="nl-NL" noProof="0" err="1"/>
              <a:t>quia</a:t>
            </a:r>
            <a:r>
              <a:rPr lang="nl-NL" noProof="0"/>
              <a:t> </a:t>
            </a:r>
            <a:r>
              <a:rPr lang="nl-NL" noProof="0" err="1"/>
              <a:t>doluptio</a:t>
            </a:r>
            <a:r>
              <a:rPr lang="nl-NL" noProof="0"/>
              <a:t> </a:t>
            </a:r>
            <a:r>
              <a:rPr lang="nl-NL" noProof="0" err="1"/>
              <a:t>iduciis</a:t>
            </a:r>
            <a:r>
              <a:rPr lang="nl-NL" noProof="0"/>
              <a:t> </a:t>
            </a:r>
            <a:r>
              <a:rPr lang="nl-NL" noProof="0" err="1"/>
              <a:t>sedis</a:t>
            </a:r>
            <a:r>
              <a:rPr lang="nl-NL" noProof="0"/>
              <a:t> </a:t>
            </a:r>
            <a:r>
              <a:rPr lang="nl-NL" noProof="0" err="1"/>
              <a:t>sitat</a:t>
            </a:r>
            <a:r>
              <a:rPr lang="nl-NL" noProof="0"/>
              <a:t> es </a:t>
            </a:r>
            <a:r>
              <a:rPr lang="nl-NL" noProof="0" err="1"/>
              <a:t>nihition</a:t>
            </a:r>
            <a:r>
              <a:rPr lang="nl-NL" noProof="0"/>
              <a:t> </a:t>
            </a:r>
            <a:r>
              <a:rPr lang="nl-NL" noProof="0" err="1"/>
              <a:t>nonsecturi</a:t>
            </a:r>
            <a:r>
              <a:rPr lang="nl-NL" noProof="0"/>
              <a:t> </a:t>
            </a:r>
            <a:r>
              <a:rPr lang="nl-NL" noProof="0" err="1"/>
              <a:t>officidis</a:t>
            </a:r>
            <a:r>
              <a:rPr lang="nl-NL" noProof="0"/>
              <a:t> ex et que </a:t>
            </a:r>
            <a:r>
              <a:rPr lang="nl-NL" noProof="0" err="1"/>
              <a:t>esect</a:t>
            </a:r>
            <a:r>
              <a:rPr lang="nl-NL" noProof="0"/>
              <a:t>. </a:t>
            </a:r>
            <a:br>
              <a:rPr lang="nl-NL" noProof="0"/>
            </a:br>
            <a:r>
              <a:rPr lang="nl-NL" noProof="0"/>
              <a:t>&lt;Max. 40 woorden&gt; </a:t>
            </a:r>
          </a:p>
        </p:txBody>
      </p:sp>
      <p:sp>
        <p:nvSpPr>
          <p:cNvPr id="11" name="Slide Number Placeholder 5">
            <a:extLst>
              <a:ext uri="{FF2B5EF4-FFF2-40B4-BE49-F238E27FC236}">
                <a16:creationId xmlns:a16="http://schemas.microsoft.com/office/drawing/2014/main" id="{137B5D16-162A-554F-A61D-A7E52C727E7D}"/>
              </a:ext>
            </a:extLst>
          </p:cNvPr>
          <p:cNvSpPr>
            <a:spLocks noGrp="1"/>
          </p:cNvSpPr>
          <p:nvPr>
            <p:ph type="sldNum" sz="quarter" idx="12"/>
          </p:nvPr>
        </p:nvSpPr>
        <p:spPr>
          <a:xfrm>
            <a:off x="11141019" y="6153579"/>
            <a:ext cx="636561" cy="37440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6D22F896-40B5-4ADD-8801-0D06FADFA095}" type="slidenum">
              <a:rPr lang="en-US" smtClean="0"/>
              <a:pPr/>
              <a:t>‹#›</a:t>
            </a:fld>
            <a:endParaRPr lang="en-US"/>
          </a:p>
        </p:txBody>
      </p:sp>
      <p:sp>
        <p:nvSpPr>
          <p:cNvPr id="12" name="Date Placeholder 3">
            <a:extLst>
              <a:ext uri="{FF2B5EF4-FFF2-40B4-BE49-F238E27FC236}">
                <a16:creationId xmlns:a16="http://schemas.microsoft.com/office/drawing/2014/main" id="{FE3A4D6F-0051-0B4D-BB81-B095A7D20DD1}"/>
              </a:ext>
            </a:extLst>
          </p:cNvPr>
          <p:cNvSpPr>
            <a:spLocks noGrp="1"/>
          </p:cNvSpPr>
          <p:nvPr>
            <p:ph type="dt" sz="half" idx="13"/>
          </p:nvPr>
        </p:nvSpPr>
        <p:spPr>
          <a:xfrm>
            <a:off x="10305099" y="6157899"/>
            <a:ext cx="835920" cy="37008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0A6B5392-721E-564A-BA2F-EAE80BCCE18A}" type="datetime1">
              <a:rPr lang="nl-NL" smtClean="0"/>
              <a:t>01-05-2026</a:t>
            </a:fld>
            <a:endParaRPr lang="en-US"/>
          </a:p>
        </p:txBody>
      </p:sp>
      <p:sp>
        <p:nvSpPr>
          <p:cNvPr id="13" name="Tijdelijke aanduiding voor tekst 8">
            <a:extLst>
              <a:ext uri="{FF2B5EF4-FFF2-40B4-BE49-F238E27FC236}">
                <a16:creationId xmlns:a16="http://schemas.microsoft.com/office/drawing/2014/main" id="{F495A5A0-0122-8847-A661-682AEC568F92}"/>
              </a:ext>
            </a:extLst>
          </p:cNvPr>
          <p:cNvSpPr>
            <a:spLocks noGrp="1"/>
          </p:cNvSpPr>
          <p:nvPr>
            <p:ph type="body" sz="quarter" idx="14" hasCustomPrompt="1"/>
          </p:nvPr>
        </p:nvSpPr>
        <p:spPr>
          <a:xfrm>
            <a:off x="3914276" y="6153579"/>
            <a:ext cx="5972864" cy="399492"/>
          </a:xfrm>
          <a:prstGeom prst="rect">
            <a:avLst/>
          </a:prstGeom>
        </p:spPr>
        <p:txBody>
          <a:bodyPr lIns="0" tIns="0" rIns="0" bIns="0" anchor="ctr" anchorCtr="0"/>
          <a:lstStyle>
            <a:lvl1pPr algn="r">
              <a:defRPr lang="nl-NL" sz="1200"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lgn="r"/>
            <a:r>
              <a:rPr lang="nl-NL" err="1"/>
              <a:t>This</a:t>
            </a:r>
            <a:r>
              <a:rPr lang="nl-NL"/>
              <a:t> is </a:t>
            </a:r>
            <a:r>
              <a:rPr lang="nl-NL" err="1"/>
              <a:t>the</a:t>
            </a:r>
            <a:r>
              <a:rPr lang="nl-NL"/>
              <a:t> </a:t>
            </a:r>
            <a:r>
              <a:rPr lang="nl-NL" err="1"/>
              <a:t>footer</a:t>
            </a:r>
            <a:endParaRPr lang="nl-NL"/>
          </a:p>
        </p:txBody>
      </p:sp>
      <p:pic>
        <p:nvPicPr>
          <p:cNvPr id="9" name="Graphic 8">
            <a:extLst>
              <a:ext uri="{FF2B5EF4-FFF2-40B4-BE49-F238E27FC236}">
                <a16:creationId xmlns:a16="http://schemas.microsoft.com/office/drawing/2014/main" id="{5E0690EE-46D6-1748-84CA-FA1AB5DF53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905911" y="6002634"/>
            <a:ext cx="798992" cy="678966"/>
          </a:xfrm>
          <a:prstGeom prst="rect">
            <a:avLst/>
          </a:prstGeom>
        </p:spPr>
      </p:pic>
      <p:pic>
        <p:nvPicPr>
          <p:cNvPr id="10" name="Afbeelding 9">
            <a:extLst>
              <a:ext uri="{FF2B5EF4-FFF2-40B4-BE49-F238E27FC236}">
                <a16:creationId xmlns:a16="http://schemas.microsoft.com/office/drawing/2014/main" id="{2CDC2D8C-74C7-3840-8300-9E1F13E6EB39}"/>
              </a:ext>
            </a:extLst>
          </p:cNvPr>
          <p:cNvPicPr>
            <a:picLocks noChangeAspect="1"/>
          </p:cNvPicPr>
          <p:nvPr userDrawn="1"/>
        </p:nvPicPr>
        <p:blipFill>
          <a:blip r:embed="rId3"/>
          <a:stretch>
            <a:fillRect/>
          </a:stretch>
        </p:blipFill>
        <p:spPr>
          <a:xfrm>
            <a:off x="176037" y="5990197"/>
            <a:ext cx="1754588" cy="690064"/>
          </a:xfrm>
          <a:prstGeom prst="rect">
            <a:avLst/>
          </a:prstGeom>
        </p:spPr>
      </p:pic>
    </p:spTree>
    <p:extLst>
      <p:ext uri="{BB962C8B-B14F-4D97-AF65-F5344CB8AC3E}">
        <p14:creationId xmlns:p14="http://schemas.microsoft.com/office/powerpoint/2010/main" val="439357452"/>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Schermvullende afbeelding">
    <p:bg bwMode="gray">
      <p:bgPr>
        <a:solidFill>
          <a:schemeClr val="bg1"/>
        </a:solidFill>
        <a:effectLst/>
      </p:bgPr>
    </p:bg>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336463" y="368300"/>
            <a:ext cx="11519074" cy="6121400"/>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Click icon to add an image</a:t>
            </a:r>
          </a:p>
        </p:txBody>
      </p:sp>
    </p:spTree>
    <p:extLst>
      <p:ext uri="{BB962C8B-B14F-4D97-AF65-F5344CB8AC3E}">
        <p14:creationId xmlns:p14="http://schemas.microsoft.com/office/powerpoint/2010/main" val="2296666536"/>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chermvullende afbeelding + bijschrift">
    <p:bg bwMode="gray">
      <p:bgPr>
        <a:solidFill>
          <a:schemeClr val="bg1"/>
        </a:solidFill>
        <a:effectLst/>
      </p:bgPr>
    </p:bg>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336463" y="368300"/>
            <a:ext cx="11519074" cy="5580000"/>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Click icon to add an image</a:t>
            </a:r>
          </a:p>
        </p:txBody>
      </p:sp>
      <p:sp>
        <p:nvSpPr>
          <p:cNvPr id="4" name="Tijdelijke aanduiding voor tekst 3">
            <a:extLst>
              <a:ext uri="{FF2B5EF4-FFF2-40B4-BE49-F238E27FC236}">
                <a16:creationId xmlns:a16="http://schemas.microsoft.com/office/drawing/2014/main" id="{2644E85E-CA6A-F844-A413-BC9479C4FF28}"/>
              </a:ext>
            </a:extLst>
          </p:cNvPr>
          <p:cNvSpPr>
            <a:spLocks noGrp="1"/>
          </p:cNvSpPr>
          <p:nvPr>
            <p:ph type="body" sz="quarter" idx="19" hasCustomPrompt="1"/>
          </p:nvPr>
        </p:nvSpPr>
        <p:spPr>
          <a:xfrm>
            <a:off x="336463" y="5948301"/>
            <a:ext cx="11519075" cy="541399"/>
          </a:xfrm>
          <a:prstGeom prst="rect">
            <a:avLst/>
          </a:prstGeom>
        </p:spPr>
        <p:txBody>
          <a:bodyPr lIns="0" bIns="0" anchor="b" anchorCtr="0"/>
          <a:lstStyle>
            <a:lvl1pPr marL="0" marR="0" indent="0" algn="l" defTabSz="914126" rtl="0" eaLnBrk="1" fontAlgn="auto" latinLnBrk="0" hangingPunct="1">
              <a:lnSpc>
                <a:spcPct val="110000"/>
              </a:lnSpc>
              <a:spcBef>
                <a:spcPts val="0"/>
              </a:spcBef>
              <a:spcAft>
                <a:spcPts val="0"/>
              </a:spcAft>
              <a:buClrTx/>
              <a:buSzTx/>
              <a:buFont typeface="Arial" pitchFamily="34" charset="0"/>
              <a:buNone/>
              <a:tabLst/>
              <a:defRPr lang="nl-NL" sz="1200" b="0" i="0" smtClean="0">
                <a:effectLst/>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err="1"/>
              <a:t>Itasita</a:t>
            </a:r>
            <a:r>
              <a:rPr lang="nl-NL"/>
              <a:t> </a:t>
            </a:r>
            <a:r>
              <a:rPr lang="nl-NL" err="1"/>
              <a:t>sima</a:t>
            </a:r>
            <a:r>
              <a:rPr lang="nl-NL"/>
              <a:t> </a:t>
            </a:r>
            <a:r>
              <a:rPr lang="nl-NL" err="1"/>
              <a:t>dolor</a:t>
            </a:r>
            <a:r>
              <a:rPr lang="nl-NL"/>
              <a:t> min </a:t>
            </a:r>
            <a:r>
              <a:rPr lang="nl-NL" err="1"/>
              <a:t>evellor</a:t>
            </a:r>
            <a:r>
              <a:rPr lang="nl-NL"/>
              <a:t> </a:t>
            </a:r>
            <a:r>
              <a:rPr lang="nl-NL" err="1"/>
              <a:t>ratum</a:t>
            </a:r>
            <a:r>
              <a:rPr lang="nl-NL"/>
              <a:t> </a:t>
            </a:r>
            <a:r>
              <a:rPr lang="nl-NL" err="1"/>
              <a:t>laciis</a:t>
            </a:r>
            <a:r>
              <a:rPr lang="nl-NL"/>
              <a:t> et </a:t>
            </a:r>
            <a:r>
              <a:rPr lang="nl-NL" err="1"/>
              <a:t>quam</a:t>
            </a:r>
            <a:r>
              <a:rPr lang="nl-NL"/>
              <a:t> </a:t>
            </a:r>
            <a:r>
              <a:rPr lang="nl-NL" err="1"/>
              <a:t>voluptat</a:t>
            </a:r>
            <a:r>
              <a:rPr lang="nl-NL"/>
              <a:t> ut </a:t>
            </a:r>
            <a:r>
              <a:rPr lang="nl-NL" err="1"/>
              <a:t>lanis</a:t>
            </a:r>
            <a:r>
              <a:rPr lang="nl-NL"/>
              <a:t> </a:t>
            </a:r>
            <a:r>
              <a:rPr lang="nl-NL" err="1"/>
              <a:t>nit</a:t>
            </a:r>
            <a:r>
              <a:rPr lang="nl-NL"/>
              <a:t>, </a:t>
            </a:r>
            <a:r>
              <a:rPr lang="nl-NL" err="1"/>
              <a:t>eium</a:t>
            </a:r>
            <a:r>
              <a:rPr lang="nl-NL"/>
              <a:t> </a:t>
            </a:r>
            <a:r>
              <a:rPr lang="nl-NL" err="1"/>
              <a:t>quidus</a:t>
            </a:r>
            <a:r>
              <a:rPr lang="nl-NL"/>
              <a:t>, </a:t>
            </a:r>
            <a:r>
              <a:rPr lang="nl-NL" err="1"/>
              <a:t>quas</a:t>
            </a:r>
            <a:r>
              <a:rPr lang="nl-NL"/>
              <a:t> </a:t>
            </a:r>
            <a:r>
              <a:rPr lang="nl-NL" err="1"/>
              <a:t>nobis</a:t>
            </a:r>
            <a:r>
              <a:rPr lang="nl-NL"/>
              <a:t> </a:t>
            </a:r>
            <a:r>
              <a:rPr lang="nl-NL" err="1"/>
              <a:t>inusam</a:t>
            </a:r>
            <a:r>
              <a:rPr lang="nl-NL"/>
              <a:t> </a:t>
            </a:r>
            <a:r>
              <a:rPr lang="nl-NL" err="1"/>
              <a:t>cuptate</a:t>
            </a:r>
            <a:r>
              <a:rPr lang="nl-NL"/>
              <a:t> </a:t>
            </a:r>
            <a:r>
              <a:rPr lang="nl-NL" err="1"/>
              <a:t>mper</a:t>
            </a:r>
            <a:r>
              <a:rPr lang="nl-NL"/>
              <a:t> </a:t>
            </a:r>
            <a:r>
              <a:rPr lang="nl-NL" err="1"/>
              <a:t>nobit</a:t>
            </a:r>
            <a:r>
              <a:rPr lang="nl-NL"/>
              <a:t> hit </a:t>
            </a:r>
            <a:r>
              <a:rPr lang="nl-NL" err="1"/>
              <a:t>eliquam</a:t>
            </a:r>
            <a:r>
              <a:rPr lang="nl-NL"/>
              <a:t> </a:t>
            </a:r>
            <a:r>
              <a:rPr lang="nl-NL" err="1"/>
              <a:t>cori</a:t>
            </a:r>
            <a:r>
              <a:rPr lang="nl-NL"/>
              <a:t> </a:t>
            </a:r>
            <a:r>
              <a:rPr lang="nl-NL" err="1"/>
              <a:t>voloreicid</a:t>
            </a:r>
            <a:r>
              <a:rPr lang="nl-NL"/>
              <a:t> </a:t>
            </a:r>
            <a:r>
              <a:rPr lang="nl-NL" err="1"/>
              <a:t>mil</a:t>
            </a:r>
            <a:r>
              <a:rPr lang="nl-NL"/>
              <a:t> </a:t>
            </a:r>
            <a:r>
              <a:rPr lang="nl-NL" err="1"/>
              <a:t>minihilis</a:t>
            </a:r>
            <a:r>
              <a:rPr lang="nl-NL"/>
              <a:t> </a:t>
            </a:r>
            <a:r>
              <a:rPr lang="nl-NL" err="1"/>
              <a:t>aut</a:t>
            </a:r>
            <a:r>
              <a:rPr lang="nl-NL"/>
              <a:t> </a:t>
            </a:r>
            <a:r>
              <a:rPr lang="nl-NL" err="1"/>
              <a:t>milit</a:t>
            </a:r>
            <a:r>
              <a:rPr lang="nl-NL"/>
              <a:t> es </a:t>
            </a:r>
            <a:r>
              <a:rPr lang="nl-NL" err="1"/>
              <a:t>sum</a:t>
            </a:r>
            <a:r>
              <a:rPr lang="nl-NL"/>
              <a:t> </a:t>
            </a:r>
            <a:r>
              <a:rPr lang="nl-NL" err="1"/>
              <a:t>eicatet</a:t>
            </a:r>
            <a:r>
              <a:rPr lang="nl-NL"/>
              <a:t> ad mi, </a:t>
            </a:r>
            <a:r>
              <a:rPr lang="nl-NL" err="1"/>
              <a:t>unt</a:t>
            </a:r>
            <a:r>
              <a:rPr lang="nl-NL"/>
              <a:t> </a:t>
            </a:r>
            <a:r>
              <a:rPr lang="nl-NL" err="1"/>
              <a:t>qui</a:t>
            </a:r>
            <a:r>
              <a:rPr lang="nl-NL"/>
              <a:t> </a:t>
            </a:r>
            <a:r>
              <a:rPr lang="nl-NL" err="1"/>
              <a:t>dionseq</a:t>
            </a:r>
            <a:r>
              <a:rPr lang="nl-NL"/>
              <a:t> </a:t>
            </a:r>
            <a:r>
              <a:rPr lang="nl-NL" err="1"/>
              <a:t>uatusae</a:t>
            </a:r>
            <a:r>
              <a:rPr lang="nl-NL"/>
              <a:t> </a:t>
            </a:r>
            <a:r>
              <a:rPr lang="nl-NL" err="1"/>
              <a:t>verferf</a:t>
            </a:r>
            <a:r>
              <a:rPr lang="nl-NL"/>
              <a:t> </a:t>
            </a:r>
            <a:r>
              <a:rPr lang="nl-NL" err="1"/>
              <a:t>erumquunt</a:t>
            </a:r>
            <a:r>
              <a:rPr lang="nl-NL"/>
              <a:t>. &lt;Max. 40 woorden&gt; </a:t>
            </a:r>
          </a:p>
        </p:txBody>
      </p:sp>
    </p:spTree>
    <p:extLst>
      <p:ext uri="{BB962C8B-B14F-4D97-AF65-F5344CB8AC3E}">
        <p14:creationId xmlns:p14="http://schemas.microsoft.com/office/powerpoint/2010/main" val="3395637901"/>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Hoofdstuk / citaat">
    <p:bg bwMode="gray">
      <p:bgPr>
        <a:solidFill>
          <a:schemeClr val="bg1"/>
        </a:solidFill>
        <a:effectLst/>
      </p:bgPr>
    </p:bg>
    <p:spTree>
      <p:nvGrpSpPr>
        <p:cNvPr id="1" name=""/>
        <p:cNvGrpSpPr/>
        <p:nvPr/>
      </p:nvGrpSpPr>
      <p:grpSpPr>
        <a:xfrm>
          <a:off x="0" y="0"/>
          <a:ext cx="0" cy="0"/>
          <a:chOff x="0" y="0"/>
          <a:chExt cx="0" cy="0"/>
        </a:xfrm>
      </p:grpSpPr>
      <p:sp>
        <p:nvSpPr>
          <p:cNvPr id="18" name="Titel 1">
            <a:extLst>
              <a:ext uri="{FF2B5EF4-FFF2-40B4-BE49-F238E27FC236}">
                <a16:creationId xmlns:a16="http://schemas.microsoft.com/office/drawing/2014/main" id="{2133EB5A-69B9-1740-8101-0C004BB7DA6D}"/>
              </a:ext>
            </a:extLst>
          </p:cNvPr>
          <p:cNvSpPr>
            <a:spLocks noGrp="1"/>
          </p:cNvSpPr>
          <p:nvPr>
            <p:ph type="ctrTitle" hasCustomPrompt="1"/>
          </p:nvPr>
        </p:nvSpPr>
        <p:spPr>
          <a:xfrm>
            <a:off x="393188" y="1180848"/>
            <a:ext cx="11371679" cy="4459936"/>
          </a:xfrm>
          <a:prstGeom prst="rect">
            <a:avLst/>
          </a:prstGeom>
        </p:spPr>
        <p:txBody>
          <a:bodyPr anchor="ctr" anchorCtr="0"/>
          <a:lstStyle>
            <a:lvl1pPr marL="0" marR="0" indent="0" algn="ctr" defTabSz="914126" rtl="0" eaLnBrk="1" fontAlgn="auto" latinLnBrk="0" hangingPunct="1">
              <a:lnSpc>
                <a:spcPct val="100000"/>
              </a:lnSpc>
              <a:spcBef>
                <a:spcPct val="0"/>
              </a:spcBef>
              <a:spcAft>
                <a:spcPts val="0"/>
              </a:spcAft>
              <a:buClrTx/>
              <a:buSzTx/>
              <a:buFontTx/>
              <a:buNone/>
              <a:tabLst/>
              <a:defRPr sz="4099" b="0" i="1">
                <a:latin typeface="Merriweather Light" panose="02060503050406030704" pitchFamily="18" charset="77"/>
              </a:defRPr>
            </a:lvl1pPr>
          </a:lstStyle>
          <a:p>
            <a:r>
              <a:rPr lang="en-GB"/>
              <a:t>Chapter title or Quote slide.</a:t>
            </a:r>
            <a:br>
              <a:rPr lang="en-GB"/>
            </a:br>
            <a:r>
              <a:rPr lang="en-GB"/>
              <a:t>(Leave Name </a:t>
            </a:r>
            <a:r>
              <a:rPr lang="en-GB" err="1"/>
              <a:t>Lastname</a:t>
            </a:r>
            <a:r>
              <a:rPr lang="en-GB"/>
              <a:t> and Job title</a:t>
            </a:r>
            <a:br>
              <a:rPr lang="en-GB"/>
            </a:br>
            <a:r>
              <a:rPr lang="en-GB"/>
              <a:t>empty in case of chapter slide.)</a:t>
            </a:r>
            <a:endParaRPr lang="nl-NL" noProof="0"/>
          </a:p>
        </p:txBody>
      </p:sp>
      <p:sp>
        <p:nvSpPr>
          <p:cNvPr id="33" name="Tijdelijke aanduiding voor tekst 32">
            <a:extLst>
              <a:ext uri="{FF2B5EF4-FFF2-40B4-BE49-F238E27FC236}">
                <a16:creationId xmlns:a16="http://schemas.microsoft.com/office/drawing/2014/main" id="{509A3404-C322-574D-996D-93CFC2296001}"/>
              </a:ext>
            </a:extLst>
          </p:cNvPr>
          <p:cNvSpPr>
            <a:spLocks noGrp="1"/>
          </p:cNvSpPr>
          <p:nvPr>
            <p:ph type="body" sz="quarter" idx="15" hasCustomPrompt="1"/>
          </p:nvPr>
        </p:nvSpPr>
        <p:spPr>
          <a:xfrm>
            <a:off x="3577294" y="5640785"/>
            <a:ext cx="5037413" cy="217169"/>
          </a:xfrm>
          <a:prstGeom prst="rect">
            <a:avLst/>
          </a:prstGeom>
        </p:spPr>
        <p:txBody>
          <a:bodyPr/>
          <a:lstStyle>
            <a:lvl1pPr algn="ctr">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a:t>Name </a:t>
            </a:r>
            <a:r>
              <a:rPr lang="nl-NL" err="1"/>
              <a:t>Lastname</a:t>
            </a:r>
            <a:endParaRPr lang="nl-NL"/>
          </a:p>
        </p:txBody>
      </p:sp>
      <p:sp>
        <p:nvSpPr>
          <p:cNvPr id="35" name="Tijdelijke aanduiding voor tekst 34">
            <a:extLst>
              <a:ext uri="{FF2B5EF4-FFF2-40B4-BE49-F238E27FC236}">
                <a16:creationId xmlns:a16="http://schemas.microsoft.com/office/drawing/2014/main" id="{D6F025CA-08AA-BB4D-A7AA-3CD26CC85FA1}"/>
              </a:ext>
            </a:extLst>
          </p:cNvPr>
          <p:cNvSpPr>
            <a:spLocks noGrp="1"/>
          </p:cNvSpPr>
          <p:nvPr>
            <p:ph type="body" sz="quarter" idx="16" hasCustomPrompt="1"/>
          </p:nvPr>
        </p:nvSpPr>
        <p:spPr>
          <a:xfrm>
            <a:off x="3577294" y="5865904"/>
            <a:ext cx="5037413" cy="270592"/>
          </a:xfrm>
          <a:prstGeom prst="rect">
            <a:avLst/>
          </a:prstGeom>
        </p:spPr>
        <p:txBody>
          <a:bodyPr/>
          <a:lstStyle>
            <a:lvl1pPr algn="ct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Job </a:t>
            </a:r>
            <a:r>
              <a:rPr lang="nl-NL" err="1"/>
              <a:t>title</a:t>
            </a:r>
            <a:endParaRPr lang="nl-NL"/>
          </a:p>
        </p:txBody>
      </p:sp>
      <p:sp>
        <p:nvSpPr>
          <p:cNvPr id="10" name="Slide Number Placeholder 5">
            <a:extLst>
              <a:ext uri="{FF2B5EF4-FFF2-40B4-BE49-F238E27FC236}">
                <a16:creationId xmlns:a16="http://schemas.microsoft.com/office/drawing/2014/main" id="{F2079C86-6110-4848-A2CC-58ED58DB8020}"/>
              </a:ext>
            </a:extLst>
          </p:cNvPr>
          <p:cNvSpPr>
            <a:spLocks noGrp="1"/>
          </p:cNvSpPr>
          <p:nvPr>
            <p:ph type="sldNum" sz="quarter" idx="12"/>
          </p:nvPr>
        </p:nvSpPr>
        <p:spPr>
          <a:xfrm>
            <a:off x="11141019" y="6153579"/>
            <a:ext cx="636561" cy="37440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6D22F896-40B5-4ADD-8801-0D06FADFA095}" type="slidenum">
              <a:rPr lang="en-US" smtClean="0"/>
              <a:pPr/>
              <a:t>‹#›</a:t>
            </a:fld>
            <a:endParaRPr lang="en-US"/>
          </a:p>
        </p:txBody>
      </p:sp>
      <p:sp>
        <p:nvSpPr>
          <p:cNvPr id="11" name="Date Placeholder 3">
            <a:extLst>
              <a:ext uri="{FF2B5EF4-FFF2-40B4-BE49-F238E27FC236}">
                <a16:creationId xmlns:a16="http://schemas.microsoft.com/office/drawing/2014/main" id="{B01C4994-C59B-EF41-BC32-F6972465BEA8}"/>
              </a:ext>
            </a:extLst>
          </p:cNvPr>
          <p:cNvSpPr>
            <a:spLocks noGrp="1"/>
          </p:cNvSpPr>
          <p:nvPr>
            <p:ph type="dt" sz="half" idx="13"/>
          </p:nvPr>
        </p:nvSpPr>
        <p:spPr>
          <a:xfrm>
            <a:off x="10305099" y="6157899"/>
            <a:ext cx="835920" cy="37008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C0908938-AB0E-3A4D-8A8F-E64EFCF74EEF}" type="datetime1">
              <a:rPr lang="nl-NL" smtClean="0"/>
              <a:t>01-05-2026</a:t>
            </a:fld>
            <a:endParaRPr lang="en-US"/>
          </a:p>
        </p:txBody>
      </p:sp>
      <p:sp>
        <p:nvSpPr>
          <p:cNvPr id="12" name="Tijdelijke aanduiding voor tekst 8">
            <a:extLst>
              <a:ext uri="{FF2B5EF4-FFF2-40B4-BE49-F238E27FC236}">
                <a16:creationId xmlns:a16="http://schemas.microsoft.com/office/drawing/2014/main" id="{36B8F763-FA85-EF43-B208-0EB18872F120}"/>
              </a:ext>
            </a:extLst>
          </p:cNvPr>
          <p:cNvSpPr>
            <a:spLocks noGrp="1"/>
          </p:cNvSpPr>
          <p:nvPr>
            <p:ph type="body" sz="quarter" idx="14" hasCustomPrompt="1"/>
          </p:nvPr>
        </p:nvSpPr>
        <p:spPr>
          <a:xfrm>
            <a:off x="3577294" y="6153579"/>
            <a:ext cx="6309846" cy="399492"/>
          </a:xfrm>
          <a:prstGeom prst="rect">
            <a:avLst/>
          </a:prstGeom>
        </p:spPr>
        <p:txBody>
          <a:bodyPr lIns="0" tIns="0" rIns="0" bIns="0" anchor="ctr" anchorCtr="0"/>
          <a:lstStyle>
            <a:lvl1pPr algn="r">
              <a:defRPr lang="nl-NL" sz="1200"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lgn="r"/>
            <a:r>
              <a:rPr lang="nl-NL" err="1"/>
              <a:t>This</a:t>
            </a:r>
            <a:r>
              <a:rPr lang="nl-NL"/>
              <a:t> is </a:t>
            </a:r>
            <a:r>
              <a:rPr lang="nl-NL" err="1"/>
              <a:t>the</a:t>
            </a:r>
            <a:r>
              <a:rPr lang="nl-NL"/>
              <a:t> </a:t>
            </a:r>
            <a:r>
              <a:rPr lang="nl-NL" err="1"/>
              <a:t>footer</a:t>
            </a:r>
            <a:endParaRPr lang="nl-NL"/>
          </a:p>
        </p:txBody>
      </p:sp>
      <p:pic>
        <p:nvPicPr>
          <p:cNvPr id="9" name="Graphic 8">
            <a:extLst>
              <a:ext uri="{FF2B5EF4-FFF2-40B4-BE49-F238E27FC236}">
                <a16:creationId xmlns:a16="http://schemas.microsoft.com/office/drawing/2014/main" id="{C0D99516-C0FE-994B-B7F9-09F7DF1B17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905911" y="6002634"/>
            <a:ext cx="798992" cy="678966"/>
          </a:xfrm>
          <a:prstGeom prst="rect">
            <a:avLst/>
          </a:prstGeom>
        </p:spPr>
      </p:pic>
      <p:pic>
        <p:nvPicPr>
          <p:cNvPr id="14" name="Afbeelding 13">
            <a:extLst>
              <a:ext uri="{FF2B5EF4-FFF2-40B4-BE49-F238E27FC236}">
                <a16:creationId xmlns:a16="http://schemas.microsoft.com/office/drawing/2014/main" id="{D4B97138-899C-A34F-9C69-48BD8CC0BC9A}"/>
              </a:ext>
            </a:extLst>
          </p:cNvPr>
          <p:cNvPicPr>
            <a:picLocks noChangeAspect="1"/>
          </p:cNvPicPr>
          <p:nvPr userDrawn="1"/>
        </p:nvPicPr>
        <p:blipFill>
          <a:blip r:embed="rId3"/>
          <a:stretch>
            <a:fillRect/>
          </a:stretch>
        </p:blipFill>
        <p:spPr>
          <a:xfrm>
            <a:off x="176037" y="5990197"/>
            <a:ext cx="1754588" cy="690064"/>
          </a:xfrm>
          <a:prstGeom prst="rect">
            <a:avLst/>
          </a:prstGeom>
        </p:spPr>
      </p:pic>
    </p:spTree>
    <p:extLst>
      <p:ext uri="{BB962C8B-B14F-4D97-AF65-F5344CB8AC3E}">
        <p14:creationId xmlns:p14="http://schemas.microsoft.com/office/powerpoint/2010/main" val="3706373758"/>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11">
          <p15:clr>
            <a:srgbClr val="FBAE40"/>
          </p15:clr>
        </p15:guide>
        <p15:guide id="7" pos="6200">
          <p15:clr>
            <a:srgbClr val="FBAE40"/>
          </p15:clr>
        </p15:guide>
        <p15:guide id="8" pos="6290">
          <p15:clr>
            <a:srgbClr val="FBAE40"/>
          </p15:clr>
        </p15:guide>
        <p15:guide id="9" pos="4998">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6" orient="horz" pos="754">
          <p15:clr>
            <a:srgbClr val="FBAE40"/>
          </p15:clr>
        </p15:guide>
        <p15:guide id="17" orient="horz" pos="211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Hoofdstuk / citaat + afbeelding rechts">
    <p:bg bwMode="gray">
      <p:bgPr>
        <a:solidFill>
          <a:schemeClr val="bg1"/>
        </a:solidFill>
        <a:effectLst/>
      </p:bgPr>
    </p:bg>
    <p:spTree>
      <p:nvGrpSpPr>
        <p:cNvPr id="1" name=""/>
        <p:cNvGrpSpPr/>
        <p:nvPr/>
      </p:nvGrpSpPr>
      <p:grpSpPr>
        <a:xfrm>
          <a:off x="0" y="0"/>
          <a:ext cx="0" cy="0"/>
          <a:chOff x="0" y="0"/>
          <a:chExt cx="0" cy="0"/>
        </a:xfrm>
      </p:grpSpPr>
      <p:sp>
        <p:nvSpPr>
          <p:cNvPr id="18" name="Titel 1">
            <a:extLst>
              <a:ext uri="{FF2B5EF4-FFF2-40B4-BE49-F238E27FC236}">
                <a16:creationId xmlns:a16="http://schemas.microsoft.com/office/drawing/2014/main" id="{2133EB5A-69B9-1740-8101-0C004BB7DA6D}"/>
              </a:ext>
            </a:extLst>
          </p:cNvPr>
          <p:cNvSpPr>
            <a:spLocks noGrp="1"/>
          </p:cNvSpPr>
          <p:nvPr>
            <p:ph type="ctrTitle" hasCustomPrompt="1"/>
          </p:nvPr>
        </p:nvSpPr>
        <p:spPr>
          <a:xfrm>
            <a:off x="338050" y="371475"/>
            <a:ext cx="5578609" cy="4320000"/>
          </a:xfrm>
          <a:prstGeom prst="rect">
            <a:avLst/>
          </a:prstGeom>
        </p:spPr>
        <p:txBody>
          <a:bodyPr anchor="t" anchorCtr="0"/>
          <a:lstStyle>
            <a:lvl1pPr marL="0" marR="0" indent="0" algn="l" defTabSz="914126" rtl="0" eaLnBrk="1" fontAlgn="auto" latinLnBrk="0" hangingPunct="1">
              <a:lnSpc>
                <a:spcPct val="100000"/>
              </a:lnSpc>
              <a:spcBef>
                <a:spcPct val="0"/>
              </a:spcBef>
              <a:spcAft>
                <a:spcPts val="0"/>
              </a:spcAft>
              <a:buClrTx/>
              <a:buSzTx/>
              <a:buFontTx/>
              <a:buNone/>
              <a:tabLst/>
              <a:defRPr lang="nl-NL" sz="4099" b="0" i="1" smtClean="0">
                <a:effectLst/>
                <a:latin typeface="Merriweather Light" panose="02060503050406030704" pitchFamily="18" charset="77"/>
              </a:defRPr>
            </a:lvl1pPr>
          </a:lstStyle>
          <a:p>
            <a:r>
              <a:rPr lang="en-GB"/>
              <a:t>Chapter title or Quote slide. (Leave Name </a:t>
            </a:r>
            <a:r>
              <a:rPr lang="en-GB" err="1"/>
              <a:t>Lastname</a:t>
            </a:r>
            <a:r>
              <a:rPr lang="en-GB"/>
              <a:t> and Job title empty in case of chapter slide.)</a:t>
            </a:r>
            <a:endParaRPr lang="nl-NL" noProof="0"/>
          </a:p>
        </p:txBody>
      </p:sp>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6275341" y="368302"/>
            <a:ext cx="5580197" cy="5632899"/>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Click icon to add an image</a:t>
            </a:r>
          </a:p>
        </p:txBody>
      </p:sp>
      <p:sp>
        <p:nvSpPr>
          <p:cNvPr id="6" name="Tijdelijke aanduiding voor tekst 32">
            <a:extLst>
              <a:ext uri="{FF2B5EF4-FFF2-40B4-BE49-F238E27FC236}">
                <a16:creationId xmlns:a16="http://schemas.microsoft.com/office/drawing/2014/main" id="{8A6E6E10-CABC-FF47-8209-224B9E9C5A85}"/>
              </a:ext>
            </a:extLst>
          </p:cNvPr>
          <p:cNvSpPr>
            <a:spLocks noGrp="1"/>
          </p:cNvSpPr>
          <p:nvPr>
            <p:ph type="body" sz="quarter" idx="15" hasCustomPrompt="1"/>
          </p:nvPr>
        </p:nvSpPr>
        <p:spPr>
          <a:xfrm>
            <a:off x="338050" y="5498553"/>
            <a:ext cx="5578609" cy="217169"/>
          </a:xfrm>
          <a:prstGeom prst="rect">
            <a:avLst/>
          </a:prstGeom>
        </p:spPr>
        <p:txBody>
          <a:bodyPr/>
          <a:lstStyle>
            <a:lvl1pPr algn="l">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a:t>Name </a:t>
            </a:r>
            <a:r>
              <a:rPr lang="nl-NL" err="1"/>
              <a:t>Lastname</a:t>
            </a:r>
            <a:endParaRPr lang="nl-NL"/>
          </a:p>
        </p:txBody>
      </p:sp>
      <p:sp>
        <p:nvSpPr>
          <p:cNvPr id="7" name="Tijdelijke aanduiding voor tekst 34">
            <a:extLst>
              <a:ext uri="{FF2B5EF4-FFF2-40B4-BE49-F238E27FC236}">
                <a16:creationId xmlns:a16="http://schemas.microsoft.com/office/drawing/2014/main" id="{79749A39-F36C-EA43-9B19-3B58CEBDFCD8}"/>
              </a:ext>
            </a:extLst>
          </p:cNvPr>
          <p:cNvSpPr>
            <a:spLocks noGrp="1"/>
          </p:cNvSpPr>
          <p:nvPr>
            <p:ph type="body" sz="quarter" idx="16" hasCustomPrompt="1"/>
          </p:nvPr>
        </p:nvSpPr>
        <p:spPr>
          <a:xfrm>
            <a:off x="338050" y="5715721"/>
            <a:ext cx="5578609" cy="270592"/>
          </a:xfrm>
          <a:prstGeom prst="rect">
            <a:avLst/>
          </a:prstGeom>
        </p:spPr>
        <p:txBody>
          <a:bodyPr/>
          <a:lstStyle>
            <a:lvl1pPr algn="l">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Job </a:t>
            </a:r>
            <a:r>
              <a:rPr lang="nl-NL" err="1"/>
              <a:t>title</a:t>
            </a:r>
            <a:endParaRPr lang="nl-NL"/>
          </a:p>
        </p:txBody>
      </p:sp>
      <p:sp>
        <p:nvSpPr>
          <p:cNvPr id="12" name="Slide Number Placeholder 5">
            <a:extLst>
              <a:ext uri="{FF2B5EF4-FFF2-40B4-BE49-F238E27FC236}">
                <a16:creationId xmlns:a16="http://schemas.microsoft.com/office/drawing/2014/main" id="{1FB17AB4-0082-C545-AE10-6CD4E22A8FBC}"/>
              </a:ext>
            </a:extLst>
          </p:cNvPr>
          <p:cNvSpPr>
            <a:spLocks noGrp="1"/>
          </p:cNvSpPr>
          <p:nvPr>
            <p:ph type="sldNum" sz="quarter" idx="12"/>
          </p:nvPr>
        </p:nvSpPr>
        <p:spPr>
          <a:xfrm>
            <a:off x="11141019" y="6153579"/>
            <a:ext cx="636561" cy="37440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6D22F896-40B5-4ADD-8801-0D06FADFA095}" type="slidenum">
              <a:rPr lang="en-US" smtClean="0"/>
              <a:pPr/>
              <a:t>‹#›</a:t>
            </a:fld>
            <a:endParaRPr lang="en-US"/>
          </a:p>
        </p:txBody>
      </p:sp>
      <p:sp>
        <p:nvSpPr>
          <p:cNvPr id="13" name="Date Placeholder 3">
            <a:extLst>
              <a:ext uri="{FF2B5EF4-FFF2-40B4-BE49-F238E27FC236}">
                <a16:creationId xmlns:a16="http://schemas.microsoft.com/office/drawing/2014/main" id="{B96D777D-6838-2241-A8F6-0E529C377423}"/>
              </a:ext>
            </a:extLst>
          </p:cNvPr>
          <p:cNvSpPr>
            <a:spLocks noGrp="1"/>
          </p:cNvSpPr>
          <p:nvPr>
            <p:ph type="dt" sz="half" idx="13"/>
          </p:nvPr>
        </p:nvSpPr>
        <p:spPr>
          <a:xfrm>
            <a:off x="10305099" y="6157899"/>
            <a:ext cx="835920" cy="37008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0288A209-2549-E04C-A7F5-F3ED0DAE7EE3}" type="datetime1">
              <a:rPr lang="nl-NL" smtClean="0"/>
              <a:t>01-05-2026</a:t>
            </a:fld>
            <a:endParaRPr lang="en-US"/>
          </a:p>
        </p:txBody>
      </p:sp>
      <p:sp>
        <p:nvSpPr>
          <p:cNvPr id="14" name="Tijdelijke aanduiding voor tekst 8">
            <a:extLst>
              <a:ext uri="{FF2B5EF4-FFF2-40B4-BE49-F238E27FC236}">
                <a16:creationId xmlns:a16="http://schemas.microsoft.com/office/drawing/2014/main" id="{BF44BFE7-5102-9D42-BA8A-030BB463D77F}"/>
              </a:ext>
            </a:extLst>
          </p:cNvPr>
          <p:cNvSpPr>
            <a:spLocks noGrp="1"/>
          </p:cNvSpPr>
          <p:nvPr>
            <p:ph type="body" sz="quarter" idx="14" hasCustomPrompt="1"/>
          </p:nvPr>
        </p:nvSpPr>
        <p:spPr>
          <a:xfrm>
            <a:off x="3914276" y="6153579"/>
            <a:ext cx="5972864" cy="399492"/>
          </a:xfrm>
          <a:prstGeom prst="rect">
            <a:avLst/>
          </a:prstGeom>
        </p:spPr>
        <p:txBody>
          <a:bodyPr lIns="0" tIns="0" rIns="0" bIns="0" anchor="ctr" anchorCtr="0"/>
          <a:lstStyle>
            <a:lvl1pPr algn="r">
              <a:defRPr lang="nl-NL" sz="1200"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lgn="r"/>
            <a:r>
              <a:rPr lang="nl-NL" err="1"/>
              <a:t>This</a:t>
            </a:r>
            <a:r>
              <a:rPr lang="nl-NL"/>
              <a:t> is </a:t>
            </a:r>
            <a:r>
              <a:rPr lang="nl-NL" err="1"/>
              <a:t>the</a:t>
            </a:r>
            <a:r>
              <a:rPr lang="nl-NL"/>
              <a:t> </a:t>
            </a:r>
            <a:r>
              <a:rPr lang="nl-NL" err="1"/>
              <a:t>footer</a:t>
            </a:r>
            <a:endParaRPr lang="nl-NL"/>
          </a:p>
        </p:txBody>
      </p:sp>
      <p:pic>
        <p:nvPicPr>
          <p:cNvPr id="10" name="Graphic 9">
            <a:extLst>
              <a:ext uri="{FF2B5EF4-FFF2-40B4-BE49-F238E27FC236}">
                <a16:creationId xmlns:a16="http://schemas.microsoft.com/office/drawing/2014/main" id="{41FE8A16-5165-F54F-8F9F-BBE0E1AA78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905911" y="6002634"/>
            <a:ext cx="798992" cy="678966"/>
          </a:xfrm>
          <a:prstGeom prst="rect">
            <a:avLst/>
          </a:prstGeom>
        </p:spPr>
      </p:pic>
      <p:pic>
        <p:nvPicPr>
          <p:cNvPr id="15" name="Afbeelding 14">
            <a:extLst>
              <a:ext uri="{FF2B5EF4-FFF2-40B4-BE49-F238E27FC236}">
                <a16:creationId xmlns:a16="http://schemas.microsoft.com/office/drawing/2014/main" id="{DD70CED0-71CE-4245-8111-6987770AC982}"/>
              </a:ext>
            </a:extLst>
          </p:cNvPr>
          <p:cNvPicPr>
            <a:picLocks noChangeAspect="1"/>
          </p:cNvPicPr>
          <p:nvPr userDrawn="1"/>
        </p:nvPicPr>
        <p:blipFill>
          <a:blip r:embed="rId3"/>
          <a:stretch>
            <a:fillRect/>
          </a:stretch>
        </p:blipFill>
        <p:spPr>
          <a:xfrm>
            <a:off x="176037" y="5990197"/>
            <a:ext cx="1754588" cy="690064"/>
          </a:xfrm>
          <a:prstGeom prst="rect">
            <a:avLst/>
          </a:prstGeom>
        </p:spPr>
      </p:pic>
    </p:spTree>
    <p:extLst>
      <p:ext uri="{BB962C8B-B14F-4D97-AF65-F5344CB8AC3E}">
        <p14:creationId xmlns:p14="http://schemas.microsoft.com/office/powerpoint/2010/main" val="1691055866"/>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oofdstuk / citaat + afbeelding links">
    <p:bg bwMode="gray">
      <p:bgPr>
        <a:solidFill>
          <a:schemeClr val="bg1"/>
        </a:solidFill>
        <a:effectLst/>
      </p:bgPr>
    </p:bg>
    <p:spTree>
      <p:nvGrpSpPr>
        <p:cNvPr id="1" name=""/>
        <p:cNvGrpSpPr/>
        <p:nvPr/>
      </p:nvGrpSpPr>
      <p:grpSpPr>
        <a:xfrm>
          <a:off x="0" y="0"/>
          <a:ext cx="0" cy="0"/>
          <a:chOff x="0" y="0"/>
          <a:chExt cx="0" cy="0"/>
        </a:xfrm>
      </p:grpSpPr>
      <p:sp>
        <p:nvSpPr>
          <p:cNvPr id="18" name="Titel 1">
            <a:extLst>
              <a:ext uri="{FF2B5EF4-FFF2-40B4-BE49-F238E27FC236}">
                <a16:creationId xmlns:a16="http://schemas.microsoft.com/office/drawing/2014/main" id="{2133EB5A-69B9-1740-8101-0C004BB7DA6D}"/>
              </a:ext>
            </a:extLst>
          </p:cNvPr>
          <p:cNvSpPr>
            <a:spLocks noGrp="1"/>
          </p:cNvSpPr>
          <p:nvPr>
            <p:ph type="ctrTitle" hasCustomPrompt="1"/>
          </p:nvPr>
        </p:nvSpPr>
        <p:spPr>
          <a:xfrm>
            <a:off x="6276929" y="371475"/>
            <a:ext cx="5578609" cy="4320000"/>
          </a:xfrm>
          <a:prstGeom prst="rect">
            <a:avLst/>
          </a:prstGeom>
        </p:spPr>
        <p:txBody>
          <a:bodyPr anchor="t" anchorCtr="0"/>
          <a:lstStyle>
            <a:lvl1pPr marL="0" marR="0" indent="0" algn="l" defTabSz="914126" rtl="0" eaLnBrk="1" fontAlgn="auto" latinLnBrk="0" hangingPunct="1">
              <a:lnSpc>
                <a:spcPct val="100000"/>
              </a:lnSpc>
              <a:spcBef>
                <a:spcPct val="0"/>
              </a:spcBef>
              <a:spcAft>
                <a:spcPts val="0"/>
              </a:spcAft>
              <a:buClrTx/>
              <a:buSzTx/>
              <a:buFontTx/>
              <a:buNone/>
              <a:tabLst/>
              <a:defRPr lang="nl-NL" sz="4099" b="0" i="1" smtClean="0">
                <a:effectLst/>
                <a:latin typeface="Merriweather Light" panose="02060503050406030704" pitchFamily="18" charset="77"/>
              </a:defRPr>
            </a:lvl1pPr>
          </a:lstStyle>
          <a:p>
            <a:r>
              <a:rPr lang="en-GB"/>
              <a:t>Chapter title or Quote slide. (Leave Name </a:t>
            </a:r>
            <a:r>
              <a:rPr lang="en-GB" err="1"/>
              <a:t>Lastname</a:t>
            </a:r>
            <a:r>
              <a:rPr lang="en-GB"/>
              <a:t> and Job title empty in case of chapter slide.)</a:t>
            </a:r>
            <a:endParaRPr lang="nl-NL" noProof="0"/>
          </a:p>
        </p:txBody>
      </p:sp>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336462" y="368302"/>
            <a:ext cx="5580197" cy="5632899"/>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Click icon to add an image</a:t>
            </a:r>
          </a:p>
        </p:txBody>
      </p:sp>
      <p:sp>
        <p:nvSpPr>
          <p:cNvPr id="6" name="Tijdelijke aanduiding voor tekst 32">
            <a:extLst>
              <a:ext uri="{FF2B5EF4-FFF2-40B4-BE49-F238E27FC236}">
                <a16:creationId xmlns:a16="http://schemas.microsoft.com/office/drawing/2014/main" id="{8A6E6E10-CABC-FF47-8209-224B9E9C5A85}"/>
              </a:ext>
            </a:extLst>
          </p:cNvPr>
          <p:cNvSpPr>
            <a:spLocks noGrp="1"/>
          </p:cNvSpPr>
          <p:nvPr>
            <p:ph type="body" sz="quarter" idx="15" hasCustomPrompt="1"/>
          </p:nvPr>
        </p:nvSpPr>
        <p:spPr>
          <a:xfrm>
            <a:off x="6276929" y="5530400"/>
            <a:ext cx="5578609" cy="217169"/>
          </a:xfrm>
          <a:prstGeom prst="rect">
            <a:avLst/>
          </a:prstGeom>
        </p:spPr>
        <p:txBody>
          <a:bodyPr/>
          <a:lstStyle>
            <a:lvl1pPr algn="l">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a:t>Name </a:t>
            </a:r>
            <a:r>
              <a:rPr lang="nl-NL" err="1"/>
              <a:t>Lastname</a:t>
            </a:r>
            <a:endParaRPr lang="nl-NL"/>
          </a:p>
        </p:txBody>
      </p:sp>
      <p:sp>
        <p:nvSpPr>
          <p:cNvPr id="7" name="Tijdelijke aanduiding voor tekst 34">
            <a:extLst>
              <a:ext uri="{FF2B5EF4-FFF2-40B4-BE49-F238E27FC236}">
                <a16:creationId xmlns:a16="http://schemas.microsoft.com/office/drawing/2014/main" id="{79749A39-F36C-EA43-9B19-3B58CEBDFCD8}"/>
              </a:ext>
            </a:extLst>
          </p:cNvPr>
          <p:cNvSpPr>
            <a:spLocks noGrp="1"/>
          </p:cNvSpPr>
          <p:nvPr>
            <p:ph type="body" sz="quarter" idx="16" hasCustomPrompt="1"/>
          </p:nvPr>
        </p:nvSpPr>
        <p:spPr>
          <a:xfrm>
            <a:off x="6276929" y="5747568"/>
            <a:ext cx="5578609" cy="270592"/>
          </a:xfrm>
          <a:prstGeom prst="rect">
            <a:avLst/>
          </a:prstGeom>
        </p:spPr>
        <p:txBody>
          <a:bodyPr/>
          <a:lstStyle>
            <a:lvl1pPr algn="l">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a:t>Job </a:t>
            </a:r>
            <a:r>
              <a:rPr lang="nl-NL" err="1"/>
              <a:t>title</a:t>
            </a:r>
            <a:endParaRPr lang="nl-NL"/>
          </a:p>
        </p:txBody>
      </p:sp>
      <p:sp>
        <p:nvSpPr>
          <p:cNvPr id="12" name="Slide Number Placeholder 5">
            <a:extLst>
              <a:ext uri="{FF2B5EF4-FFF2-40B4-BE49-F238E27FC236}">
                <a16:creationId xmlns:a16="http://schemas.microsoft.com/office/drawing/2014/main" id="{2EB800D9-500C-9B4B-9ADB-B45DA2C4C579}"/>
              </a:ext>
            </a:extLst>
          </p:cNvPr>
          <p:cNvSpPr>
            <a:spLocks noGrp="1"/>
          </p:cNvSpPr>
          <p:nvPr>
            <p:ph type="sldNum" sz="quarter" idx="12"/>
          </p:nvPr>
        </p:nvSpPr>
        <p:spPr>
          <a:xfrm>
            <a:off x="11141019" y="6153579"/>
            <a:ext cx="636561" cy="37440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6D22F896-40B5-4ADD-8801-0D06FADFA095}" type="slidenum">
              <a:rPr lang="en-US" smtClean="0"/>
              <a:pPr/>
              <a:t>‹#›</a:t>
            </a:fld>
            <a:endParaRPr lang="en-US"/>
          </a:p>
        </p:txBody>
      </p:sp>
      <p:sp>
        <p:nvSpPr>
          <p:cNvPr id="13" name="Date Placeholder 3">
            <a:extLst>
              <a:ext uri="{FF2B5EF4-FFF2-40B4-BE49-F238E27FC236}">
                <a16:creationId xmlns:a16="http://schemas.microsoft.com/office/drawing/2014/main" id="{CC9F9180-932F-384C-888A-B304577C4C7F}"/>
              </a:ext>
            </a:extLst>
          </p:cNvPr>
          <p:cNvSpPr>
            <a:spLocks noGrp="1"/>
          </p:cNvSpPr>
          <p:nvPr>
            <p:ph type="dt" sz="half" idx="13"/>
          </p:nvPr>
        </p:nvSpPr>
        <p:spPr>
          <a:xfrm>
            <a:off x="10305099" y="6157899"/>
            <a:ext cx="835920" cy="37008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3A01C14D-06D9-604F-9B87-EF7E69EF7442}" type="datetime1">
              <a:rPr lang="nl-NL" smtClean="0"/>
              <a:t>01-05-2026</a:t>
            </a:fld>
            <a:endParaRPr lang="en-US"/>
          </a:p>
        </p:txBody>
      </p:sp>
      <p:sp>
        <p:nvSpPr>
          <p:cNvPr id="14" name="Tijdelijke aanduiding voor tekst 8">
            <a:extLst>
              <a:ext uri="{FF2B5EF4-FFF2-40B4-BE49-F238E27FC236}">
                <a16:creationId xmlns:a16="http://schemas.microsoft.com/office/drawing/2014/main" id="{5FF12FFF-9CB7-6E41-A2EE-AD8FBF779BFE}"/>
              </a:ext>
            </a:extLst>
          </p:cNvPr>
          <p:cNvSpPr>
            <a:spLocks noGrp="1"/>
          </p:cNvSpPr>
          <p:nvPr>
            <p:ph type="body" sz="quarter" idx="14" hasCustomPrompt="1"/>
          </p:nvPr>
        </p:nvSpPr>
        <p:spPr>
          <a:xfrm>
            <a:off x="3914276" y="6153579"/>
            <a:ext cx="5972864" cy="399492"/>
          </a:xfrm>
          <a:prstGeom prst="rect">
            <a:avLst/>
          </a:prstGeom>
        </p:spPr>
        <p:txBody>
          <a:bodyPr lIns="0" tIns="0" rIns="0" bIns="0" anchor="ctr" anchorCtr="0"/>
          <a:lstStyle>
            <a:lvl1pPr algn="r">
              <a:defRPr lang="nl-NL" sz="1200"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lgn="r"/>
            <a:r>
              <a:rPr lang="nl-NL" err="1"/>
              <a:t>This</a:t>
            </a:r>
            <a:r>
              <a:rPr lang="nl-NL"/>
              <a:t> is </a:t>
            </a:r>
            <a:r>
              <a:rPr lang="nl-NL" err="1"/>
              <a:t>the</a:t>
            </a:r>
            <a:r>
              <a:rPr lang="nl-NL"/>
              <a:t> </a:t>
            </a:r>
            <a:r>
              <a:rPr lang="nl-NL" err="1"/>
              <a:t>footer</a:t>
            </a:r>
            <a:endParaRPr lang="nl-NL"/>
          </a:p>
        </p:txBody>
      </p:sp>
      <p:pic>
        <p:nvPicPr>
          <p:cNvPr id="10" name="Graphic 9">
            <a:extLst>
              <a:ext uri="{FF2B5EF4-FFF2-40B4-BE49-F238E27FC236}">
                <a16:creationId xmlns:a16="http://schemas.microsoft.com/office/drawing/2014/main" id="{D18DA8C9-4D7F-8C40-BE3C-AA9FD75E51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905911" y="6002634"/>
            <a:ext cx="798992" cy="678966"/>
          </a:xfrm>
          <a:prstGeom prst="rect">
            <a:avLst/>
          </a:prstGeom>
        </p:spPr>
      </p:pic>
      <p:pic>
        <p:nvPicPr>
          <p:cNvPr id="16" name="Afbeelding 15">
            <a:extLst>
              <a:ext uri="{FF2B5EF4-FFF2-40B4-BE49-F238E27FC236}">
                <a16:creationId xmlns:a16="http://schemas.microsoft.com/office/drawing/2014/main" id="{5A09E8C2-3FF6-EE4E-A927-D6D8CC36EFF6}"/>
              </a:ext>
            </a:extLst>
          </p:cNvPr>
          <p:cNvPicPr>
            <a:picLocks noChangeAspect="1"/>
          </p:cNvPicPr>
          <p:nvPr userDrawn="1"/>
        </p:nvPicPr>
        <p:blipFill>
          <a:blip r:embed="rId3"/>
          <a:stretch>
            <a:fillRect/>
          </a:stretch>
        </p:blipFill>
        <p:spPr>
          <a:xfrm>
            <a:off x="176037" y="5990197"/>
            <a:ext cx="1754588" cy="690064"/>
          </a:xfrm>
          <a:prstGeom prst="rect">
            <a:avLst/>
          </a:prstGeom>
        </p:spPr>
      </p:pic>
    </p:spTree>
    <p:extLst>
      <p:ext uri="{BB962C8B-B14F-4D97-AF65-F5344CB8AC3E}">
        <p14:creationId xmlns:p14="http://schemas.microsoft.com/office/powerpoint/2010/main" val="166871906"/>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Disclaimer">
    <p:bg bwMode="gray">
      <p:bgPr>
        <a:solidFill>
          <a:srgbClr val="7A8285"/>
        </a:solidFill>
        <a:effectLst/>
      </p:bgPr>
    </p:bg>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9E891FC9-2407-1C49-AB39-A59ABFA128A3}"/>
              </a:ext>
            </a:extLst>
          </p:cNvPr>
          <p:cNvPicPr>
            <a:picLocks noChangeAspect="1"/>
          </p:cNvPicPr>
          <p:nvPr userDrawn="1"/>
        </p:nvPicPr>
        <p:blipFill>
          <a:blip r:embed="rId2"/>
          <a:stretch>
            <a:fillRect/>
          </a:stretch>
        </p:blipFill>
        <p:spPr>
          <a:xfrm>
            <a:off x="0" y="-7808"/>
            <a:ext cx="3247374" cy="1277164"/>
          </a:xfrm>
          <a:prstGeom prst="rect">
            <a:avLst/>
          </a:prstGeom>
        </p:spPr>
      </p:pic>
      <p:sp>
        <p:nvSpPr>
          <p:cNvPr id="22" name="Tekstvak 21">
            <a:extLst>
              <a:ext uri="{FF2B5EF4-FFF2-40B4-BE49-F238E27FC236}">
                <a16:creationId xmlns:a16="http://schemas.microsoft.com/office/drawing/2014/main" id="{C3DDE77D-D71F-704C-A2D4-463407928C14}"/>
              </a:ext>
            </a:extLst>
          </p:cNvPr>
          <p:cNvSpPr txBox="1"/>
          <p:nvPr/>
        </p:nvSpPr>
        <p:spPr>
          <a:xfrm>
            <a:off x="4314210" y="5861671"/>
            <a:ext cx="3528665" cy="192104"/>
          </a:xfrm>
          <a:prstGeom prst="rect">
            <a:avLst/>
          </a:prstGeom>
          <a:noFill/>
        </p:spPr>
        <p:txBody>
          <a:bodyPr wrap="square" lIns="0" tIns="0" rIns="0" bIns="0" rtlCol="0">
            <a:spAutoFit/>
          </a:bodyPr>
          <a:lstStyle/>
          <a:p>
            <a:pPr marL="0" marR="0" lvl="0" indent="0" algn="ctr" defTabSz="914126" rtl="0" eaLnBrk="1" fontAlgn="auto" latinLnBrk="0" hangingPunct="1">
              <a:lnSpc>
                <a:spcPct val="110000"/>
              </a:lnSpc>
              <a:spcBef>
                <a:spcPts val="0"/>
              </a:spcBef>
              <a:spcAft>
                <a:spcPts val="0"/>
              </a:spcAft>
              <a:buClrTx/>
              <a:buSzTx/>
              <a:buFont typeface="Arial" pitchFamily="34" charset="0"/>
              <a:buNone/>
              <a:tabLst/>
              <a:defRPr/>
            </a:pPr>
            <a:r>
              <a:rPr kumimoji="0" lang="nl-NL" sz="1200" b="0" i="0" u="none" strike="noStrike" kern="1200" cap="none" spc="0" normalizeH="0" baseline="0" noProof="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Utrecht University / UMC Utrecht</a:t>
            </a:r>
          </a:p>
        </p:txBody>
      </p:sp>
      <p:sp>
        <p:nvSpPr>
          <p:cNvPr id="3" name="Rechthoek 2">
            <a:extLst>
              <a:ext uri="{FF2B5EF4-FFF2-40B4-BE49-F238E27FC236}">
                <a16:creationId xmlns:a16="http://schemas.microsoft.com/office/drawing/2014/main" id="{733AA642-5FC3-A649-8D82-91CB9D7210E1}"/>
              </a:ext>
            </a:extLst>
          </p:cNvPr>
          <p:cNvSpPr/>
          <p:nvPr/>
        </p:nvSpPr>
        <p:spPr>
          <a:xfrm>
            <a:off x="2317148" y="3267706"/>
            <a:ext cx="7522790" cy="461665"/>
          </a:xfrm>
          <a:prstGeom prst="rect">
            <a:avLst/>
          </a:prstGeom>
        </p:spPr>
        <p:txBody>
          <a:bodyPr wrap="square">
            <a:spAutoFit/>
          </a:bodyPr>
          <a:lstStyle/>
          <a:p>
            <a:pPr algn="ctr"/>
            <a:r>
              <a:rPr kumimoji="0" lang="en-GB" sz="1200" b="0" i="0" u="none" strike="noStrike" kern="1200" cap="none" spc="0" normalizeH="0" baseline="0" noProof="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The information in this presentation has been compiled with the utmost care, </a:t>
            </a:r>
            <a:br>
              <a:rPr kumimoji="0" lang="en-GB" sz="1200" b="0" i="0" u="none" strike="noStrike" kern="1200" cap="none" spc="0" normalizeH="0" baseline="0" noProof="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br>
            <a:r>
              <a:rPr kumimoji="0" lang="en-GB" sz="1200" b="0" i="0" u="none" strike="noStrike" kern="1200" cap="none" spc="0" normalizeH="0" baseline="0" noProof="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but no rights can be derived from its contents.</a:t>
            </a:r>
            <a:endParaRPr lang="nl-NL" sz="12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5" name="Rechthoek 14">
            <a:extLst>
              <a:ext uri="{FF2B5EF4-FFF2-40B4-BE49-F238E27FC236}">
                <a16:creationId xmlns:a16="http://schemas.microsoft.com/office/drawing/2014/main" id="{8F262F07-769F-7344-8831-7C11624C7EB8}"/>
              </a:ext>
            </a:extLst>
          </p:cNvPr>
          <p:cNvSpPr/>
          <p:nvPr userDrawn="1"/>
        </p:nvSpPr>
        <p:spPr>
          <a:xfrm>
            <a:off x="10302605" y="521644"/>
            <a:ext cx="1552678" cy="276999"/>
          </a:xfrm>
          <a:prstGeom prst="rect">
            <a:avLst/>
          </a:prstGeom>
        </p:spPr>
        <p:txBody>
          <a:bodyPr wrap="square">
            <a:spAutoFit/>
          </a:bodyPr>
          <a:lstStyle/>
          <a:p>
            <a:pPr algn="r"/>
            <a:r>
              <a:rPr lang="nl-NL" sz="1200" b="0" i="0" u="none" kern="1200" cap="all" baseline="0" noProof="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DISCLAIMER</a:t>
            </a:r>
          </a:p>
        </p:txBody>
      </p:sp>
      <p:pic>
        <p:nvPicPr>
          <p:cNvPr id="4" name="Graphic 3">
            <a:extLst>
              <a:ext uri="{FF2B5EF4-FFF2-40B4-BE49-F238E27FC236}">
                <a16:creationId xmlns:a16="http://schemas.microsoft.com/office/drawing/2014/main" id="{8A804F82-CED2-1446-A57B-9365244AF2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02408" y="0"/>
            <a:ext cx="1490012" cy="1266181"/>
          </a:xfrm>
          <a:prstGeom prst="rect">
            <a:avLst/>
          </a:prstGeom>
        </p:spPr>
      </p:pic>
    </p:spTree>
    <p:extLst>
      <p:ext uri="{BB962C8B-B14F-4D97-AF65-F5344CB8AC3E}">
        <p14:creationId xmlns:p14="http://schemas.microsoft.com/office/powerpoint/2010/main" val="3083910613"/>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7" pos="6200">
          <p15:clr>
            <a:srgbClr val="FBAE40"/>
          </p15:clr>
        </p15:guide>
        <p15:guide id="8" pos="6290">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6" orient="horz" pos="754">
          <p15:clr>
            <a:srgbClr val="FBAE40"/>
          </p15:clr>
        </p15:guide>
        <p15:guide id="17" orient="horz" pos="2115">
          <p15:clr>
            <a:srgbClr val="FBAE40"/>
          </p15:clr>
        </p15:guide>
        <p15:guide id="22" pos="5134">
          <p15:clr>
            <a:srgbClr val="FBAE40"/>
          </p15:clr>
        </p15:guide>
        <p15:guide id="23" pos="5043">
          <p15:clr>
            <a:srgbClr val="FBAE40"/>
          </p15:clr>
        </p15:guide>
        <p15:guide id="24" orient="horz" pos="377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Leeg">
    <p:bg bwMode="gray">
      <p:bgPr>
        <a:solidFill>
          <a:schemeClr val="bg1"/>
        </a:solidFill>
        <a:effectLst/>
      </p:bgPr>
    </p:bg>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2EF9C9F6-2451-9347-8A46-50DAE1570F44}"/>
              </a:ext>
            </a:extLst>
          </p:cNvPr>
          <p:cNvSpPr>
            <a:spLocks noGrp="1"/>
          </p:cNvSpPr>
          <p:nvPr>
            <p:ph type="sldNum" sz="quarter" idx="12"/>
          </p:nvPr>
        </p:nvSpPr>
        <p:spPr>
          <a:xfrm>
            <a:off x="11141019" y="6153579"/>
            <a:ext cx="636561" cy="37440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6D22F896-40B5-4ADD-8801-0D06FADFA095}" type="slidenum">
              <a:rPr lang="en-US" smtClean="0"/>
              <a:pPr/>
              <a:t>‹#›</a:t>
            </a:fld>
            <a:endParaRPr lang="en-US"/>
          </a:p>
        </p:txBody>
      </p:sp>
      <p:sp>
        <p:nvSpPr>
          <p:cNvPr id="11" name="Date Placeholder 3">
            <a:extLst>
              <a:ext uri="{FF2B5EF4-FFF2-40B4-BE49-F238E27FC236}">
                <a16:creationId xmlns:a16="http://schemas.microsoft.com/office/drawing/2014/main" id="{8EC17950-828F-524B-BDC9-5F7D1E1B325C}"/>
              </a:ext>
            </a:extLst>
          </p:cNvPr>
          <p:cNvSpPr>
            <a:spLocks noGrp="1"/>
          </p:cNvSpPr>
          <p:nvPr>
            <p:ph type="dt" sz="half" idx="13"/>
          </p:nvPr>
        </p:nvSpPr>
        <p:spPr>
          <a:xfrm>
            <a:off x="10305099" y="6157899"/>
            <a:ext cx="835920" cy="370080"/>
          </a:xfrm>
          <a:prstGeom prst="rect">
            <a:avLst/>
          </a:prstGeom>
        </p:spPr>
        <p:txBody>
          <a:bodyPr lIns="0" tIns="0" rIns="0" bIns="0" anchor="ctr" anchorCtr="0"/>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D10B9923-703D-E242-B752-4EC09837538A}" type="datetime1">
              <a:rPr lang="nl-NL" smtClean="0"/>
              <a:t>01-05-2026</a:t>
            </a:fld>
            <a:endParaRPr lang="en-US"/>
          </a:p>
        </p:txBody>
      </p:sp>
      <p:sp>
        <p:nvSpPr>
          <p:cNvPr id="12" name="Tijdelijke aanduiding voor tekst 8">
            <a:extLst>
              <a:ext uri="{FF2B5EF4-FFF2-40B4-BE49-F238E27FC236}">
                <a16:creationId xmlns:a16="http://schemas.microsoft.com/office/drawing/2014/main" id="{CBBF8C73-AF62-4042-9B50-E52E9A912BCD}"/>
              </a:ext>
            </a:extLst>
          </p:cNvPr>
          <p:cNvSpPr>
            <a:spLocks noGrp="1"/>
          </p:cNvSpPr>
          <p:nvPr>
            <p:ph type="body" sz="quarter" idx="14" hasCustomPrompt="1"/>
          </p:nvPr>
        </p:nvSpPr>
        <p:spPr>
          <a:xfrm>
            <a:off x="3914276" y="6153579"/>
            <a:ext cx="5972864" cy="399492"/>
          </a:xfrm>
          <a:prstGeom prst="rect">
            <a:avLst/>
          </a:prstGeom>
        </p:spPr>
        <p:txBody>
          <a:bodyPr lIns="0" tIns="0" rIns="0" bIns="0" anchor="ctr" anchorCtr="0"/>
          <a:lstStyle>
            <a:lvl1pPr algn="r">
              <a:defRPr lang="nl-NL" sz="1200"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lgn="r"/>
            <a:r>
              <a:rPr lang="nl-NL" err="1"/>
              <a:t>This</a:t>
            </a:r>
            <a:r>
              <a:rPr lang="nl-NL"/>
              <a:t> is </a:t>
            </a:r>
            <a:r>
              <a:rPr lang="nl-NL" err="1"/>
              <a:t>the</a:t>
            </a:r>
            <a:r>
              <a:rPr lang="nl-NL"/>
              <a:t> </a:t>
            </a:r>
            <a:r>
              <a:rPr lang="nl-NL" err="1"/>
              <a:t>footer</a:t>
            </a:r>
            <a:endParaRPr lang="nl-NL"/>
          </a:p>
        </p:txBody>
      </p:sp>
      <p:pic>
        <p:nvPicPr>
          <p:cNvPr id="6" name="Graphic 5">
            <a:extLst>
              <a:ext uri="{FF2B5EF4-FFF2-40B4-BE49-F238E27FC236}">
                <a16:creationId xmlns:a16="http://schemas.microsoft.com/office/drawing/2014/main" id="{09518D0A-25A2-CE4F-A631-AC4ECAAF127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905911" y="6002634"/>
            <a:ext cx="798992" cy="678966"/>
          </a:xfrm>
          <a:prstGeom prst="rect">
            <a:avLst/>
          </a:prstGeom>
        </p:spPr>
      </p:pic>
      <p:pic>
        <p:nvPicPr>
          <p:cNvPr id="8" name="Afbeelding 7">
            <a:extLst>
              <a:ext uri="{FF2B5EF4-FFF2-40B4-BE49-F238E27FC236}">
                <a16:creationId xmlns:a16="http://schemas.microsoft.com/office/drawing/2014/main" id="{EBDBDF5C-9C8F-5F41-85A9-305079DB7658}"/>
              </a:ext>
            </a:extLst>
          </p:cNvPr>
          <p:cNvPicPr>
            <a:picLocks noChangeAspect="1"/>
          </p:cNvPicPr>
          <p:nvPr userDrawn="1"/>
        </p:nvPicPr>
        <p:blipFill>
          <a:blip r:embed="rId3"/>
          <a:stretch>
            <a:fillRect/>
          </a:stretch>
        </p:blipFill>
        <p:spPr>
          <a:xfrm>
            <a:off x="176037" y="5990197"/>
            <a:ext cx="1754588" cy="690064"/>
          </a:xfrm>
          <a:prstGeom prst="rect">
            <a:avLst/>
          </a:prstGeom>
        </p:spPr>
      </p:pic>
    </p:spTree>
    <p:extLst>
      <p:ext uri="{BB962C8B-B14F-4D97-AF65-F5344CB8AC3E}">
        <p14:creationId xmlns:p14="http://schemas.microsoft.com/office/powerpoint/2010/main" val="460132274"/>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34">
          <p15:clr>
            <a:srgbClr val="FBAE40"/>
          </p15:clr>
        </p15:guide>
        <p15:guide id="7" pos="6200">
          <p15:clr>
            <a:srgbClr val="FBAE40"/>
          </p15:clr>
        </p15:guide>
        <p15:guide id="8" pos="6290">
          <p15:clr>
            <a:srgbClr val="FBAE40"/>
          </p15:clr>
        </p15:guide>
        <p15:guide id="9" pos="5043">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6" orient="horz" pos="754">
          <p15:clr>
            <a:srgbClr val="FBAE40"/>
          </p15:clr>
        </p15:guide>
        <p15:guide id="17" orient="horz" pos="2115">
          <p15:clr>
            <a:srgbClr val="FBAE40"/>
          </p15:clr>
        </p15:guide>
        <p15:guide id="18" orient="horz" pos="377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9783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p:txStyles>
    <p:titleStyle>
      <a:lvl1pPr algn="l" defTabSz="914126" rtl="0" eaLnBrk="1" latinLnBrk="0" hangingPunct="1">
        <a:spcBef>
          <a:spcPct val="0"/>
        </a:spcBef>
        <a:buNone/>
        <a:defRPr sz="2099" b="0" i="0" kern="1200">
          <a:solidFill>
            <a:schemeClr val="tx1"/>
          </a:solidFill>
          <a:latin typeface="Merriweather Regular" panose="02060503050406030704" pitchFamily="18" charset="77"/>
          <a:ea typeface="+mj-ea"/>
          <a:cs typeface="+mj-cs"/>
        </a:defRPr>
      </a:lvl1pPr>
    </p:titleStyle>
    <p:bodyStyle>
      <a:lvl1pPr marL="0" indent="0" algn="l" defTabSz="914126" rtl="0" eaLnBrk="1" latinLnBrk="0" hangingPunct="1">
        <a:lnSpc>
          <a:spcPct val="110000"/>
        </a:lnSpc>
        <a:spcBef>
          <a:spcPts val="0"/>
        </a:spcBef>
        <a:buFont typeface="Arial" pitchFamily="34" charset="0"/>
        <a:buNone/>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0" indent="0" algn="l" defTabSz="914126" rtl="0" eaLnBrk="1" latinLnBrk="0" hangingPunct="1">
        <a:lnSpc>
          <a:spcPct val="110000"/>
        </a:lnSpc>
        <a:spcBef>
          <a:spcPts val="0"/>
        </a:spcBef>
        <a:buFont typeface="Arial" pitchFamily="34" charset="0"/>
        <a:buNone/>
        <a:defRPr sz="1600" b="1"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269919" indent="-269919" algn="l" defTabSz="914126" rtl="0" eaLnBrk="1" latinLnBrk="0" hangingPunct="1">
        <a:lnSpc>
          <a:spcPct val="110000"/>
        </a:lnSpc>
        <a:spcBef>
          <a:spcPts val="2099"/>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269919" indent="-269919" algn="l" defTabSz="914126" rtl="0" eaLnBrk="1" latinLnBrk="0" hangingPunct="1">
        <a:lnSpc>
          <a:spcPct val="110000"/>
        </a:lnSpc>
        <a:spcBef>
          <a:spcPts val="2099"/>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809757" indent="-269919" algn="l" defTabSz="914126" rtl="0" eaLnBrk="1" latinLnBrk="0" hangingPunct="1">
        <a:lnSpc>
          <a:spcPct val="110000"/>
        </a:lnSpc>
        <a:spcBef>
          <a:spcPts val="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3846"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nl-NL"/>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6.xml"/><Relationship Id="rId5" Type="http://schemas.openxmlformats.org/officeDocument/2006/relationships/hyperlink" Target="mailto:m.h.w.vanmil@umcutrecht.nl" TargetMode="External"/><Relationship Id="rId4" Type="http://schemas.openxmlformats.org/officeDocument/2006/relationships/hyperlink" Target="mailto:m.s.goudeau@uu.nl"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students.uu.nl/en/gsls/my-studies/profiles/life-sciences-and-society"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hyperlink" Target="https://teaching-and-learning-collection.sites.uu.nl/knowledge_item/uu-inclusive-teaching-toolbox/" TargetMode="Externa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hyperlink" Target="https://students.uu.nl/en/gsls/my-studies/profiles/life-sciences-and-society"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ww.uu.nl/en/university-library/advice-support-to/lecturers/open-educational-resources" TargetMode="External"/><Relationship Id="rId5" Type="http://schemas.openxmlformats.org/officeDocument/2006/relationships/hyperlink" Target="http://www.openjournals.nl/"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s://edusources.nl/communities/uu:cosie"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www.uu.nl/en/university-library/advice-support-to/lecturers/open-educational-resources" TargetMode="External"/><Relationship Id="rId13" Type="http://schemas.openxmlformats.org/officeDocument/2006/relationships/image" Target="../media/image11.svg"/><Relationship Id="rId3" Type="http://schemas.openxmlformats.org/officeDocument/2006/relationships/hyperlink" Target="https://commons.libretexts.org/" TargetMode="External"/><Relationship Id="rId7" Type="http://schemas.openxmlformats.org/officeDocument/2006/relationships/hyperlink" Target="https://edusources.nl/materials/search?page=1&amp;page_size=10&amp;filters=%5b%7b%22external_id%22:%22technical_type%22,%22items%22:%5b%22openaccess-textbook%22%5d%7d%5d&amp;search_text=" TargetMode="External"/><Relationship Id="rId12" Type="http://schemas.openxmlformats.org/officeDocument/2006/relationships/hyperlink" Target="https://hugoquene.github.io/QMS-EN/" TargetMode="External"/><Relationship Id="rId2" Type="http://schemas.openxmlformats.org/officeDocument/2006/relationships/hyperlink" Target="https://open.umn.edu/opentextbooks" TargetMode="External"/><Relationship Id="rId1" Type="http://schemas.openxmlformats.org/officeDocument/2006/relationships/slideLayout" Target="../slideLayouts/slideLayout2.xml"/><Relationship Id="rId6" Type="http://schemas.openxmlformats.org/officeDocument/2006/relationships/hyperlink" Target="https://openstax.org/subjects" TargetMode="External"/><Relationship Id="rId11" Type="http://schemas.openxmlformats.org/officeDocument/2006/relationships/hyperlink" Target="https://doi.org/10.11647/OBP.0323" TargetMode="External"/><Relationship Id="rId5" Type="http://schemas.openxmlformats.org/officeDocument/2006/relationships/hyperlink" Target="https://merlot.org/merlot/materials.htm?hasAwards=false&amp;hasComments=false&amp;hasCourses=false&amp;filterTypesOpen=false&amp;dateRange=0&amp;hasEtextReviews=false&amp;hasPeerReviews=false&amp;fromContentBuilderSawDialog=false&amp;isLeadershipLibrary=false&amp;hasCollections=false&amp;filterOtherOpen=false&amp;modifiedDays=7&amp;isContentBuilder=false&amp;filterSubjectsOpen=true&amp;hasAccessibilityForm=false&amp;selectedForReview=false&amp;hasAssignments=false&amp;filterPartnerAffiliationsOpen=true&amp;hasRatings=false&amp;hasSercActivitySheets=false&amp;days=7&amp;filterMobileOpen=false&amp;hasExternalReview=false&amp;sort.property=overallRating&amp;modifiedDateRange=0&amp;hasEditorReviews=false&amp;page=1&amp;materialType=15" TargetMode="External"/><Relationship Id="rId15" Type="http://schemas.openxmlformats.org/officeDocument/2006/relationships/image" Target="../media/image8.png"/><Relationship Id="rId10" Type="http://schemas.openxmlformats.org/officeDocument/2006/relationships/hyperlink" Target="https://maken.wikiwijs.nl/147644/Environmental_Toxicology__an_open_online_textbook#!page-5658449" TargetMode="External"/><Relationship Id="rId4" Type="http://schemas.openxmlformats.org/officeDocument/2006/relationships/hyperlink" Target="https://oercommons.org/browse?f.material_types=textbook" TargetMode="External"/><Relationship Id="rId9" Type="http://schemas.openxmlformats.org/officeDocument/2006/relationships/hyperlink" Target="https://libguides.rug.nl/OER/OpenTextbookResources" TargetMode="External"/><Relationship Id="rId1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maken.wikiwijs.nl/147644/Environmental_Toxicology__an_open_online_textbook#!page-5414981" TargetMode="External"/><Relationship Id="rId5" Type="http://schemas.openxmlformats.org/officeDocument/2006/relationships/image" Target="../media/image12.png"/><Relationship Id="rId4" Type="http://schemas.openxmlformats.org/officeDocument/2006/relationships/hyperlink" Target="https://hugoquene.github.io/QMS-EN/"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ww.uu.nl/en/news/i-get-messages-every-day-that-people-have-downloaded-my-book" TargetMode="External"/><Relationship Id="rId3" Type="http://schemas.openxmlformats.org/officeDocument/2006/relationships/hyperlink" Target="https://www.uu.nl/en/university-library/advice-support-to/lecturers/open-educational-resources" TargetMode="External"/><Relationship Id="rId7" Type="http://schemas.openxmlformats.org/officeDocument/2006/relationships/hyperlink" Target="https://hugoquene.github.io/QMS-EN/" TargetMode="External"/><Relationship Id="rId2" Type="http://schemas.openxmlformats.org/officeDocument/2006/relationships/hyperlink" Target="https://use.edusources.nl/leermaterialen-ontwikkelen-of-aanpassen/steps/stappenplan-maak-je-open-tekstboek-ondersteuners" TargetMode="External"/><Relationship Id="rId1" Type="http://schemas.openxmlformats.org/officeDocument/2006/relationships/slideLayout" Target="../slideLayouts/slideLayout2.xml"/><Relationship Id="rId6" Type="http://schemas.openxmlformats.org/officeDocument/2006/relationships/hyperlink" Target="https://doi.org/10.11647/OBP.0323" TargetMode="External"/><Relationship Id="rId5" Type="http://schemas.openxmlformats.org/officeDocument/2006/relationships/hyperlink" Target="https://maken.wikiwijs.nl/147644/Environmental_Toxicology__an_open_online_textbook#!page-5658449" TargetMode="External"/><Relationship Id="rId10" Type="http://schemas.openxmlformats.org/officeDocument/2006/relationships/image" Target="../media/image8.png"/><Relationship Id="rId4" Type="http://schemas.openxmlformats.org/officeDocument/2006/relationships/hyperlink" Target="https://libguides.rug.nl/OER/OpenTextbookResources" TargetMode="External"/><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maken.wikiwijs.nl/147644/Environmental_Toxicology__an_open_online_textbook#!page-5414981" TargetMode="External"/><Relationship Id="rId5" Type="http://schemas.openxmlformats.org/officeDocument/2006/relationships/image" Target="../media/image12.png"/><Relationship Id="rId4" Type="http://schemas.openxmlformats.org/officeDocument/2006/relationships/hyperlink" Target="https://hugoquene.github.io/QMS-EN/"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edusources.nl/materials/75ea852b-da07-463c-99e8-e1ef7c43742c/faces-of-open-science-workshop" TargetMode="External"/><Relationship Id="rId2" Type="http://schemas.openxmlformats.org/officeDocument/2006/relationships/hyperlink" Target="https://forrt.org/pedagogies/004-thomas-rhys-evans/"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ithub.com/SanliFaez/OS4Physicist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edusources.nl/materials/75ea852b-da07-463c-99e8-e1ef7c43742c/faces-of-open-science-workshop"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forrt.org/pedagogies/004-thomas-rhys-evans/" TargetMode="External"/><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unesco.org/en/open-science/about?hub=686" TargetMode="External"/><Relationship Id="rId5" Type="http://schemas.openxmlformats.org/officeDocument/2006/relationships/hyperlink" Target="https://edusources.nl/materials/75ea852b-da07-463c-99e8-e1ef7c43742c/faces-of-open-science-workshop" TargetMode="External"/><Relationship Id="rId4" Type="http://schemas.openxmlformats.org/officeDocument/2006/relationships/hyperlink" Target="https://zenodo.org/records/5345573"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tinyurl.com/os-workshop-practices" TargetMode="External"/><Relationship Id="rId3" Type="http://schemas.openxmlformats.org/officeDocument/2006/relationships/hyperlink" Target="https://unesdoc.unesco.org/ark:/48223/pf0000383323" TargetMode="External"/><Relationship Id="rId7" Type="http://schemas.openxmlformats.org/officeDocument/2006/relationships/slide" Target="slide10.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slide" Target="slide29.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hyperlink" Target="https://eprints.gla.ac.uk/196477/"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hyperlink" Target="https://reproducibilitynetwork.nl/" TargetMode="Externa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002/bmb.21663" TargetMode="External"/><Relationship Id="rId2" Type="http://schemas.openxmlformats.org/officeDocument/2006/relationships/hyperlink" Target="https://www.uu.nl/en/research/research-data-management/tools-services/finding-existing-data"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adav-course-2025.netlify.app/"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osiris-student.uu.nl/onderwijscatalogus/extern/cursus?cursuscode=INFOMDSPG&amp;taal=en&amp;collegejaar=huidig"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hyperlink" Target="https://www.uu.nl/en/research/open-science/knowledge-center/faq/fair-data-and-softwar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www.uu.nl/en/news/jasp-is-very-well-suited-to-the-open-science-era"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www.uu.nl/en/news/jasp-is-very-well-suited-to-the-open-science-era"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hyperlink" Target="https://www.uu.nl/en/education/educational-development-training/knowledge-dossier/a-four-stage-model-for-interdisciplinary-learning" TargetMode="External"/><Relationship Id="rId4" Type="http://schemas.openxmlformats.org/officeDocument/2006/relationships/hyperlink" Target="https://edusources.nl/communities/uu:ild?tab=1"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hyperlink" Target="https://mlarpis.github.io/reprodev/" TargetMode="External"/><Relationship Id="rId7" Type="http://schemas.openxmlformats.org/officeDocument/2006/relationships/hyperlink" Target="https://intranet.uu.nl/en/continuing-education/developing-continuing-education/step-by-step-plan-open-programme"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intranet.uu.nl/en/continuing-education/developing-continuing-education/toolkit" TargetMode="External"/><Relationship Id="rId4" Type="http://schemas.openxmlformats.org/officeDocument/2006/relationships/hyperlink" Target="https://www.uu.nl/en/organisation/utrecht-university-school-of-governance/usg-consultancy"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professionals.uu.nl/en/programmes"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8" Type="http://schemas.openxmlformats.org/officeDocument/2006/relationships/hyperlink" Target="https://www.betweterfestival.nl/" TargetMode="External"/><Relationship Id="rId3" Type="http://schemas.openxmlformats.org/officeDocument/2006/relationships/image" Target="../media/image7.png"/><Relationship Id="rId7" Type="http://schemas.openxmlformats.org/officeDocument/2006/relationships/hyperlink" Target="https://www.uu.nl/en/organisation/public-engagement-at-utrecht-university/how-to-engage/tips-trick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hyperlink" Target="https://www.sg.uu.nl/podcast" TargetMode="External"/><Relationship Id="rId5" Type="http://schemas.openxmlformats.org/officeDocument/2006/relationships/hyperlink" Target="https://u-talent.nl/" TargetMode="External"/><Relationship Id="rId10" Type="http://schemas.openxmlformats.org/officeDocument/2006/relationships/hyperlink" Target="https://www.uu.nl/en/organisation/meet-the-professor" TargetMode="External"/><Relationship Id="rId4" Type="http://schemas.openxmlformats.org/officeDocument/2006/relationships/hyperlink" Target="https://www.uu.nl/en/organisation/public-engagement-at-utrecht-university/stories-of-engagement" TargetMode="External"/><Relationship Id="rId9" Type="http://schemas.openxmlformats.org/officeDocument/2006/relationships/hyperlink" Target="https://umu.n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www.uu.nl/nieuws/niet-een-maar-twee-onderzoekers-fietsen-naar-de-basisschool" TargetMode="External"/><Relationship Id="rId5" Type="http://schemas.openxmlformats.org/officeDocument/2006/relationships/image" Target="../media/image26.jpeg"/><Relationship Id="rId4" Type="http://schemas.openxmlformats.org/officeDocument/2006/relationships/hyperlink" Target="http://www.betweterfestival.nl/"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www.uu.nl/en/education/community-engaged-learning/great-examples"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hyperlink" Target="http://TIChttps:/tic-to-tic.sites.uu.nl/" TargetMode="Externa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hyperlink" Target="https://tic-to-tic.sites.uu.nl/"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hyperlink" Target="https://students.uu.nl/en/university-college-utrecht/academics/curriculum-enrichment-options/student-led-honours-seminar" TargetMode="External"/><Relationship Id="rId4" Type="http://schemas.openxmlformats.org/officeDocument/2006/relationships/hyperlink" Target="https://libguides.lib.msu.edu/openpedagogy/renewable_assignment_characteristics"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students.uu.nl/en/university-college-utrecht/academics/curriculum-enrichment-options/student-led-honours-seminar"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8" Type="http://schemas.openxmlformats.org/officeDocument/2006/relationships/hyperlink" Target="https://www.uu.nl/en/university-library/advice-support-to/lecturers/open-educational-resources" TargetMode="External"/><Relationship Id="rId3" Type="http://schemas.openxmlformats.org/officeDocument/2006/relationships/hyperlink" Target="https://edusources.nl/materials/a9def3e4-06c1-47af-96f9-86d846e7e4c9/workshop-introduction-to-basics-of-copyright-for-students" TargetMode="External"/><Relationship Id="rId7" Type="http://schemas.openxmlformats.org/officeDocument/2006/relationships/hyperlink" Target="https://www.uu.nl/en/organisation/copyright-information-office/for-lecturers"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edusources.nl/" TargetMode="External"/><Relationship Id="rId5" Type="http://schemas.openxmlformats.org/officeDocument/2006/relationships/image" Target="../media/image8.png"/><Relationship Id="rId4" Type="http://schemas.openxmlformats.org/officeDocument/2006/relationships/hyperlink" Target="https://www.sharestats.nl/"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edusources.nl/materials/a9def3e4-06c1-47af-96f9-86d846e7e4c9/workshop-introduction-to-basics-of-copyright-for-students"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hyperlink" Target="https://eulawenforcement.com/?page_id=1286"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www.uu.nl/en/organisation/copyright-information-office/for-students"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hyperlink" Target="https://en.wikipedia.org/wiki/Eddy_saturation_and_eddy_compensation" TargetMode="External"/></Relationships>
</file>

<file path=ppt/slides/_rels/slide3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teaching-and-learning-collection.sites.uu.nl/" TargetMode="External"/><Relationship Id="rId7" Type="http://schemas.openxmlformats.org/officeDocument/2006/relationships/image" Target="../media/image11.svg"/><Relationship Id="rId2" Type="http://schemas.openxmlformats.org/officeDocument/2006/relationships/hyperlink" Target="https://edusources.nl/" TargetMode="External"/><Relationship Id="rId1" Type="http://schemas.openxmlformats.org/officeDocument/2006/relationships/slideLayout" Target="../slideLayouts/slideLayout2.xml"/><Relationship Id="rId6" Type="http://schemas.openxmlformats.org/officeDocument/2006/relationships/hyperlink" Target="https://edusources.nl/search" TargetMode="External"/><Relationship Id="rId5" Type="http://schemas.openxmlformats.org/officeDocument/2006/relationships/hyperlink" Target="https://www.uu.nl/en/university-library/advice-support-to/lecturers/open-educational-resources" TargetMode="External"/><Relationship Id="rId4" Type="http://schemas.openxmlformats.org/officeDocument/2006/relationships/hyperlink" Target="https://www.uu.nl/en/organisation/copyright-information-office/for-lecturers" TargetMode="External"/><Relationship Id="rId9"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hyperlink" Target="https://edusources.nl/communities/uu:cosie"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png"/><Relationship Id="rId7" Type="http://schemas.openxmlformats.org/officeDocument/2006/relationships/hyperlink" Target="https://students.uu.nl/sites/default/files/ARR%202025-2026.pdf"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teaching-and-learning-collection.sites.uu.nl/knowledge_item/interdisciplinarity-and-the-self-directed-learner/" TargetMode="External"/><Relationship Id="rId5" Type="http://schemas.openxmlformats.org/officeDocument/2006/relationships/hyperlink" Target="https://www.uu.nl/bachelors/liberal-arts-and-sciences" TargetMode="External"/><Relationship Id="rId4" Type="http://schemas.openxmlformats.org/officeDocument/2006/relationships/hyperlink" Target="https://students.uu.nl/en/university-college-utrecht"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24298-B295-F343-ABD9-A1FB7E5B1927}"/>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7A5F2DC1-B0AF-B65E-CE82-EC5F596DE1A2}"/>
              </a:ext>
            </a:extLst>
          </p:cNvPr>
          <p:cNvSpPr/>
          <p:nvPr/>
        </p:nvSpPr>
        <p:spPr>
          <a:xfrm>
            <a:off x="6634480" y="729496"/>
            <a:ext cx="3251200" cy="5793224"/>
          </a:xfrm>
          <a:prstGeom prst="rect">
            <a:avLst/>
          </a:prstGeom>
          <a:solidFill>
            <a:srgbClr val="E8E8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4" name="Groep 3">
            <a:extLst>
              <a:ext uri="{FF2B5EF4-FFF2-40B4-BE49-F238E27FC236}">
                <a16:creationId xmlns:a16="http://schemas.microsoft.com/office/drawing/2014/main" id="{8875B1CF-BA98-DB06-B842-217DD664397C}"/>
              </a:ext>
            </a:extLst>
          </p:cNvPr>
          <p:cNvGrpSpPr/>
          <p:nvPr/>
        </p:nvGrpSpPr>
        <p:grpSpPr>
          <a:xfrm>
            <a:off x="5303888" y="729497"/>
            <a:ext cx="6698697" cy="5802988"/>
            <a:chOff x="5570925" y="799934"/>
            <a:chExt cx="6337333" cy="5802988"/>
          </a:xfrm>
        </p:grpSpPr>
        <p:sp>
          <p:nvSpPr>
            <p:cNvPr id="6" name="Rectangle: Rounded Corners 5">
              <a:extLst>
                <a:ext uri="{FF2B5EF4-FFF2-40B4-BE49-F238E27FC236}">
                  <a16:creationId xmlns:a16="http://schemas.microsoft.com/office/drawing/2014/main" id="{DD99E28A-26DE-E454-44C7-0DBB2F492D8B}"/>
                </a:ext>
              </a:extLst>
            </p:cNvPr>
            <p:cNvSpPr/>
            <p:nvPr/>
          </p:nvSpPr>
          <p:spPr>
            <a:xfrm>
              <a:off x="5570925" y="799935"/>
              <a:ext cx="2693165"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3" name="Rectangle: Rounded Corners 5">
              <a:extLst>
                <a:ext uri="{FF2B5EF4-FFF2-40B4-BE49-F238E27FC236}">
                  <a16:creationId xmlns:a16="http://schemas.microsoft.com/office/drawing/2014/main" id="{A7678F94-8F94-DCAE-C625-4453603EF3B8}"/>
                </a:ext>
              </a:extLst>
            </p:cNvPr>
            <p:cNvSpPr/>
            <p:nvPr/>
          </p:nvSpPr>
          <p:spPr>
            <a:xfrm>
              <a:off x="8058152" y="799934"/>
              <a:ext cx="3850106"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grpSp>
      <p:sp>
        <p:nvSpPr>
          <p:cNvPr id="8" name="TextBox 7">
            <a:extLst>
              <a:ext uri="{FF2B5EF4-FFF2-40B4-BE49-F238E27FC236}">
                <a16:creationId xmlns:a16="http://schemas.microsoft.com/office/drawing/2014/main" id="{0367A191-3FA8-0434-1074-A4CE0D61D9C4}"/>
              </a:ext>
            </a:extLst>
          </p:cNvPr>
          <p:cNvSpPr txBox="1"/>
          <p:nvPr/>
        </p:nvSpPr>
        <p:spPr>
          <a:xfrm>
            <a:off x="5570643" y="1268815"/>
            <a:ext cx="5695101"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i="1" noProof="0">
                <a:latin typeface="Calibri"/>
                <a:ea typeface="Calibri"/>
                <a:cs typeface="Calibri"/>
              </a:rPr>
              <a:t>Work on the open science mindset of students:</a:t>
            </a:r>
          </a:p>
          <a:p>
            <a:endParaRPr lang="en-GB" sz="600" noProof="0">
              <a:latin typeface="Calibri"/>
              <a:ea typeface="Calibri"/>
              <a:cs typeface="Calibri"/>
            </a:endParaRPr>
          </a:p>
          <a:p>
            <a:r>
              <a:rPr lang="en-GB" noProof="0">
                <a:latin typeface="Calibri"/>
                <a:ea typeface="Calibri"/>
                <a:cs typeface="Calibri"/>
              </a:rPr>
              <a:t>5. Teaching open ways of working </a:t>
            </a:r>
          </a:p>
          <a:p>
            <a:endParaRPr lang="en-GB" sz="600" noProof="0">
              <a:latin typeface="Calibri"/>
              <a:ea typeface="Calibri"/>
              <a:cs typeface="Calibri"/>
            </a:endParaRPr>
          </a:p>
          <a:p>
            <a:r>
              <a:rPr lang="en-GB" noProof="0">
                <a:latin typeface="Calibri"/>
                <a:ea typeface="Calibri"/>
                <a:cs typeface="Calibri"/>
              </a:rPr>
              <a:t>6. Teaching open and reflexive thinking</a:t>
            </a:r>
          </a:p>
          <a:p>
            <a:endParaRPr lang="en-GB" sz="600" noProof="0">
              <a:latin typeface="Calibri"/>
              <a:ea typeface="Calibri"/>
              <a:cs typeface="Calibri"/>
            </a:endParaRPr>
          </a:p>
          <a:p>
            <a:r>
              <a:rPr lang="en-GB" sz="1600" i="1" noProof="0">
                <a:latin typeface="Calibri"/>
                <a:ea typeface="Calibri"/>
                <a:cs typeface="Calibri"/>
              </a:rPr>
              <a:t>Work on the open science skill set of students:</a:t>
            </a:r>
          </a:p>
          <a:p>
            <a:endParaRPr lang="en-GB" sz="600" u="sng" noProof="0">
              <a:latin typeface="Calibri"/>
              <a:ea typeface="Calibri"/>
              <a:cs typeface="Calibri"/>
            </a:endParaRPr>
          </a:p>
          <a:p>
            <a:r>
              <a:rPr lang="en-GB" noProof="0">
                <a:latin typeface="Calibri"/>
                <a:ea typeface="Calibri"/>
                <a:cs typeface="Calibri"/>
              </a:rPr>
              <a:t>7. Let students practice with reproducibility </a:t>
            </a:r>
          </a:p>
          <a:p>
            <a:endParaRPr lang="en-GB" sz="600" noProof="0">
              <a:latin typeface="Calibri"/>
              <a:ea typeface="Calibri"/>
              <a:cs typeface="Calibri"/>
            </a:endParaRPr>
          </a:p>
          <a:p>
            <a:r>
              <a:rPr lang="en-GB" noProof="0">
                <a:latin typeface="Calibri"/>
                <a:ea typeface="Calibri"/>
                <a:cs typeface="Calibri"/>
              </a:rPr>
              <a:t>8. Let students work with open data</a:t>
            </a:r>
          </a:p>
          <a:p>
            <a:endParaRPr lang="en-GB" sz="600" noProof="0">
              <a:latin typeface="Calibri"/>
              <a:ea typeface="Calibri"/>
              <a:cs typeface="Calibri"/>
            </a:endParaRPr>
          </a:p>
          <a:p>
            <a:r>
              <a:rPr lang="en-GB" noProof="0">
                <a:latin typeface="Calibri"/>
                <a:ea typeface="Calibri"/>
                <a:cs typeface="Calibri"/>
              </a:rPr>
              <a:t>9. Let students work with open-source software</a:t>
            </a:r>
          </a:p>
          <a:p>
            <a:endParaRPr lang="en-GB" sz="600" noProof="0">
              <a:latin typeface="Calibri"/>
              <a:ea typeface="Calibri"/>
              <a:cs typeface="Calibri"/>
            </a:endParaRPr>
          </a:p>
          <a:p>
            <a:r>
              <a:rPr lang="en-GB" sz="1600" i="1" noProof="0">
                <a:latin typeface="Calibri"/>
                <a:ea typeface="Calibri"/>
                <a:cs typeface="Calibri"/>
              </a:rPr>
              <a:t>Open Educational Practices:</a:t>
            </a:r>
          </a:p>
          <a:p>
            <a:endParaRPr lang="en-GB" sz="600" noProof="0">
              <a:latin typeface="Calibri"/>
              <a:ea typeface="Calibri"/>
              <a:cs typeface="Calibri"/>
            </a:endParaRPr>
          </a:p>
          <a:p>
            <a:r>
              <a:rPr lang="en-GB" noProof="0">
                <a:latin typeface="Calibri"/>
                <a:ea typeface="Calibri"/>
                <a:cs typeface="Calibri"/>
              </a:rPr>
              <a:t>10. Include interdisciplinary approaches in your teaching</a:t>
            </a:r>
          </a:p>
          <a:p>
            <a:endParaRPr lang="en-GB" sz="600" noProof="0">
              <a:latin typeface="Calibri"/>
              <a:ea typeface="Calibri"/>
              <a:cs typeface="Calibri"/>
            </a:endParaRPr>
          </a:p>
          <a:p>
            <a:r>
              <a:rPr lang="en-GB" noProof="0">
                <a:latin typeface="Calibri"/>
                <a:ea typeface="Calibri"/>
                <a:cs typeface="Calibri"/>
              </a:rPr>
              <a:t>11. Engage in teaching for professionals, beyond academia</a:t>
            </a:r>
          </a:p>
          <a:p>
            <a:r>
              <a:rPr lang="en-GB" sz="600" noProof="0">
                <a:latin typeface="Calibri"/>
                <a:ea typeface="Calibri"/>
                <a:cs typeface="Calibri"/>
              </a:rPr>
              <a:t> </a:t>
            </a:r>
          </a:p>
          <a:p>
            <a:r>
              <a:rPr lang="en-GB" noProof="0">
                <a:latin typeface="Calibri"/>
                <a:ea typeface="Calibri"/>
                <a:cs typeface="Calibri"/>
              </a:rPr>
              <a:t>12. Engage in teaching for non-professional and lay audiences </a:t>
            </a:r>
          </a:p>
          <a:p>
            <a:endParaRPr lang="en-GB" sz="600" noProof="0">
              <a:latin typeface="Calibri"/>
              <a:ea typeface="Calibri"/>
              <a:cs typeface="Calibri"/>
            </a:endParaRPr>
          </a:p>
          <a:p>
            <a:r>
              <a:rPr lang="en-GB" noProof="0">
                <a:latin typeface="Calibri"/>
                <a:ea typeface="Calibri"/>
                <a:cs typeface="Calibri"/>
              </a:rPr>
              <a:t>13. Have students work on projects with and for society</a:t>
            </a:r>
          </a:p>
          <a:p>
            <a:endParaRPr lang="en-GB" sz="600" noProof="0">
              <a:latin typeface="Calibri"/>
              <a:ea typeface="Calibri"/>
              <a:cs typeface="Calibri"/>
            </a:endParaRPr>
          </a:p>
          <a:p>
            <a:r>
              <a:rPr lang="en-GB" noProof="0">
                <a:latin typeface="Calibri"/>
                <a:ea typeface="Calibri"/>
                <a:cs typeface="Calibri"/>
              </a:rPr>
              <a:t>14. Involve students in creating a course</a:t>
            </a:r>
          </a:p>
        </p:txBody>
      </p:sp>
      <p:sp>
        <p:nvSpPr>
          <p:cNvPr id="2" name="Title 1">
            <a:extLst>
              <a:ext uri="{FF2B5EF4-FFF2-40B4-BE49-F238E27FC236}">
                <a16:creationId xmlns:a16="http://schemas.microsoft.com/office/drawing/2014/main" id="{2B3C2240-2058-DDED-2B30-822A5BC638FA}"/>
              </a:ext>
            </a:extLst>
          </p:cNvPr>
          <p:cNvSpPr>
            <a:spLocks noGrp="1"/>
          </p:cNvSpPr>
          <p:nvPr>
            <p:ph type="title"/>
          </p:nvPr>
        </p:nvSpPr>
        <p:spPr>
          <a:xfrm>
            <a:off x="-640" y="133"/>
            <a:ext cx="12193280" cy="576370"/>
          </a:xfrm>
          <a:solidFill>
            <a:srgbClr val="FFCD00"/>
          </a:solidFill>
        </p:spPr>
        <p:txBody>
          <a:bodyPr>
            <a:noAutofit/>
          </a:bodyPr>
          <a:lstStyle/>
          <a:p>
            <a:pPr algn="ctr"/>
            <a:r>
              <a:rPr lang="en-GB" sz="3000" b="1" noProof="0">
                <a:latin typeface="Calibri"/>
                <a:ea typeface="Calibri"/>
                <a:cs typeface="Calibri"/>
              </a:rPr>
              <a:t>Open Education Menu</a:t>
            </a:r>
            <a:endParaRPr lang="en-GB" sz="3000" b="1" noProof="0"/>
          </a:p>
        </p:txBody>
      </p:sp>
      <p:sp>
        <p:nvSpPr>
          <p:cNvPr id="9" name="Rectangle: Rounded Corners 8">
            <a:extLst>
              <a:ext uri="{FF2B5EF4-FFF2-40B4-BE49-F238E27FC236}">
                <a16:creationId xmlns:a16="http://schemas.microsoft.com/office/drawing/2014/main" id="{76EB3D17-8264-C120-D8A2-90124A2D16EE}"/>
              </a:ext>
            </a:extLst>
          </p:cNvPr>
          <p:cNvSpPr/>
          <p:nvPr/>
        </p:nvSpPr>
        <p:spPr>
          <a:xfrm>
            <a:off x="186280" y="3450518"/>
            <a:ext cx="4920073" cy="308196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B3601C98-7F85-3200-4D57-11CB76AA72AB}"/>
              </a:ext>
            </a:extLst>
          </p:cNvPr>
          <p:cNvSpPr txBox="1"/>
          <p:nvPr/>
        </p:nvSpPr>
        <p:spPr>
          <a:xfrm>
            <a:off x="379194" y="4160755"/>
            <a:ext cx="428630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noProof="0">
                <a:latin typeface="Calibri"/>
                <a:ea typeface="Calibri"/>
                <a:cs typeface="Calibri"/>
              </a:rPr>
              <a:t>15. Optimising teaching materials for reuse</a:t>
            </a:r>
          </a:p>
          <a:p>
            <a:endParaRPr lang="en-GB" sz="600" noProof="0">
              <a:latin typeface="Calibri"/>
              <a:ea typeface="Calibri"/>
              <a:cs typeface="Calibri"/>
            </a:endParaRPr>
          </a:p>
          <a:p>
            <a:r>
              <a:rPr lang="en-GB" noProof="0">
                <a:latin typeface="Calibri"/>
                <a:ea typeface="Calibri"/>
                <a:cs typeface="Calibri"/>
              </a:rPr>
              <a:t>16. Crediting student work and respecting their copyright</a:t>
            </a:r>
          </a:p>
          <a:p>
            <a:endParaRPr lang="en-GB" sz="600" noProof="0">
              <a:latin typeface="Calibri"/>
              <a:ea typeface="Calibri"/>
              <a:cs typeface="Calibri"/>
            </a:endParaRPr>
          </a:p>
          <a:p>
            <a:r>
              <a:rPr lang="en-GB" noProof="0">
                <a:latin typeface="Calibri"/>
                <a:ea typeface="Calibri"/>
                <a:cs typeface="Calibri"/>
              </a:rPr>
              <a:t>17. Openly share teaching materials</a:t>
            </a:r>
          </a:p>
          <a:p>
            <a:endParaRPr lang="en-GB" sz="600" noProof="0">
              <a:latin typeface="Calibri"/>
              <a:ea typeface="Calibri"/>
              <a:cs typeface="Calibri"/>
            </a:endParaRPr>
          </a:p>
          <a:p>
            <a:r>
              <a:rPr lang="en-GB" noProof="0">
                <a:latin typeface="Calibri"/>
                <a:ea typeface="Calibri"/>
                <a:cs typeface="Calibri"/>
              </a:rPr>
              <a:t>18. Encourage student autonomy in their study trajectory</a:t>
            </a:r>
            <a:endParaRPr lang="en-GB" sz="2000" noProof="0"/>
          </a:p>
        </p:txBody>
      </p:sp>
      <p:sp>
        <p:nvSpPr>
          <p:cNvPr id="11" name="Rectangle: Rounded Corners 10">
            <a:extLst>
              <a:ext uri="{FF2B5EF4-FFF2-40B4-BE49-F238E27FC236}">
                <a16:creationId xmlns:a16="http://schemas.microsoft.com/office/drawing/2014/main" id="{D88B1E7A-530F-28BC-B0CA-197722EEA9BA}"/>
              </a:ext>
            </a:extLst>
          </p:cNvPr>
          <p:cNvSpPr/>
          <p:nvPr/>
        </p:nvSpPr>
        <p:spPr>
          <a:xfrm>
            <a:off x="189415" y="729497"/>
            <a:ext cx="4919781" cy="255233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4" name="TextBox 13">
            <a:extLst>
              <a:ext uri="{FF2B5EF4-FFF2-40B4-BE49-F238E27FC236}">
                <a16:creationId xmlns:a16="http://schemas.microsoft.com/office/drawing/2014/main" id="{C8EFE724-F097-D9B4-30EF-4BC364E3D2F1}"/>
              </a:ext>
            </a:extLst>
          </p:cNvPr>
          <p:cNvSpPr txBox="1"/>
          <p:nvPr/>
        </p:nvSpPr>
        <p:spPr>
          <a:xfrm>
            <a:off x="42078" y="845972"/>
            <a:ext cx="509566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noProof="0">
                <a:latin typeface="Calibri"/>
                <a:ea typeface="Calibri"/>
                <a:cs typeface="Calibri"/>
              </a:rPr>
              <a:t>Starters: </a:t>
            </a:r>
            <a:r>
              <a:rPr lang="en-GB" sz="2000" i="1" noProof="0">
                <a:latin typeface="Calibri"/>
                <a:ea typeface="Calibri"/>
                <a:cs typeface="Calibri"/>
              </a:rPr>
              <a:t>What is possible </a:t>
            </a:r>
            <a:r>
              <a:rPr lang="en-GB" i="1" noProof="0">
                <a:latin typeface="Calibri"/>
                <a:ea typeface="Calibri"/>
                <a:cs typeface="Calibri"/>
              </a:rPr>
              <a:t>before a course?</a:t>
            </a:r>
            <a:endParaRPr lang="en-GB" noProof="0"/>
          </a:p>
        </p:txBody>
      </p:sp>
      <p:sp>
        <p:nvSpPr>
          <p:cNvPr id="15" name="TextBox 14">
            <a:extLst>
              <a:ext uri="{FF2B5EF4-FFF2-40B4-BE49-F238E27FC236}">
                <a16:creationId xmlns:a16="http://schemas.microsoft.com/office/drawing/2014/main" id="{55C95568-59B9-76C7-F512-11BF39A2498B}"/>
              </a:ext>
            </a:extLst>
          </p:cNvPr>
          <p:cNvSpPr txBox="1"/>
          <p:nvPr/>
        </p:nvSpPr>
        <p:spPr>
          <a:xfrm>
            <a:off x="6054638" y="781520"/>
            <a:ext cx="534008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noProof="0">
                <a:latin typeface="Calibri"/>
                <a:ea typeface="Calibri"/>
                <a:cs typeface="Calibri"/>
              </a:rPr>
              <a:t>Mains: </a:t>
            </a:r>
            <a:r>
              <a:rPr lang="en-GB" i="1" noProof="0">
                <a:latin typeface="Calibri"/>
                <a:ea typeface="Calibri"/>
                <a:cs typeface="Calibri"/>
              </a:rPr>
              <a:t>What can you offer during the course?</a:t>
            </a:r>
            <a:endParaRPr lang="en-GB" noProof="0"/>
          </a:p>
        </p:txBody>
      </p:sp>
      <p:sp>
        <p:nvSpPr>
          <p:cNvPr id="16" name="TextBox 15">
            <a:extLst>
              <a:ext uri="{FF2B5EF4-FFF2-40B4-BE49-F238E27FC236}">
                <a16:creationId xmlns:a16="http://schemas.microsoft.com/office/drawing/2014/main" id="{D818BA9B-EF7B-AA7D-1E57-ED37F530FC98}"/>
              </a:ext>
            </a:extLst>
          </p:cNvPr>
          <p:cNvSpPr txBox="1"/>
          <p:nvPr/>
        </p:nvSpPr>
        <p:spPr>
          <a:xfrm>
            <a:off x="20137" y="3566828"/>
            <a:ext cx="51395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noProof="0">
                <a:latin typeface="Calibri"/>
                <a:ea typeface="Calibri"/>
                <a:cs typeface="Calibri"/>
              </a:rPr>
              <a:t>Desserts: </a:t>
            </a:r>
            <a:r>
              <a:rPr lang="en-GB" i="1" noProof="0">
                <a:latin typeface="Calibri"/>
                <a:ea typeface="Calibri"/>
                <a:cs typeface="Calibri"/>
              </a:rPr>
              <a:t>What can you do after a course?</a:t>
            </a:r>
            <a:endParaRPr lang="en-GB" noProof="0"/>
          </a:p>
        </p:txBody>
      </p:sp>
      <p:sp>
        <p:nvSpPr>
          <p:cNvPr id="19" name="TextBox 18">
            <a:extLst>
              <a:ext uri="{FF2B5EF4-FFF2-40B4-BE49-F238E27FC236}">
                <a16:creationId xmlns:a16="http://schemas.microsoft.com/office/drawing/2014/main" id="{F0E36A37-023A-F1FD-BCA0-1C79BB74B05B}"/>
              </a:ext>
            </a:extLst>
          </p:cNvPr>
          <p:cNvSpPr txBox="1"/>
          <p:nvPr/>
        </p:nvSpPr>
        <p:spPr>
          <a:xfrm>
            <a:off x="561888" y="6542163"/>
            <a:ext cx="109854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noProof="0">
                <a:latin typeface="Calibri"/>
                <a:ea typeface="Calibri"/>
                <a:cs typeface="Calibri"/>
              </a:rPr>
              <a:t>= effort required compared to not doing it or compared to using traditional/closed approaches</a:t>
            </a:r>
          </a:p>
        </p:txBody>
      </p:sp>
      <p:pic>
        <p:nvPicPr>
          <p:cNvPr id="21" name="Picture 20">
            <a:extLst>
              <a:ext uri="{FF2B5EF4-FFF2-40B4-BE49-F238E27FC236}">
                <a16:creationId xmlns:a16="http://schemas.microsoft.com/office/drawing/2014/main" id="{38DE26AE-CFDB-5CFE-473A-EFC5F772AA0E}"/>
              </a:ext>
            </a:extLst>
          </p:cNvPr>
          <p:cNvPicPr>
            <a:picLocks noChangeAspect="1"/>
          </p:cNvPicPr>
          <p:nvPr/>
        </p:nvPicPr>
        <p:blipFill>
          <a:blip r:embed="rId3"/>
          <a:stretch>
            <a:fillRect/>
          </a:stretch>
        </p:blipFill>
        <p:spPr>
          <a:xfrm>
            <a:off x="26821" y="41464"/>
            <a:ext cx="523875" cy="523875"/>
          </a:xfrm>
          <a:prstGeom prst="rect">
            <a:avLst/>
          </a:prstGeom>
        </p:spPr>
      </p:pic>
      <p:pic>
        <p:nvPicPr>
          <p:cNvPr id="79" name="Picture 78">
            <a:extLst>
              <a:ext uri="{FF2B5EF4-FFF2-40B4-BE49-F238E27FC236}">
                <a16:creationId xmlns:a16="http://schemas.microsoft.com/office/drawing/2014/main" id="{38AF5E44-0625-5649-E1F6-099B70DA51CE}"/>
              </a:ext>
            </a:extLst>
          </p:cNvPr>
          <p:cNvPicPr>
            <a:picLocks noChangeAspect="1"/>
          </p:cNvPicPr>
          <p:nvPr/>
        </p:nvPicPr>
        <p:blipFill>
          <a:blip r:embed="rId4"/>
          <a:stretch>
            <a:fillRect/>
          </a:stretch>
        </p:blipFill>
        <p:spPr>
          <a:xfrm>
            <a:off x="3858124" y="5225996"/>
            <a:ext cx="204441" cy="189804"/>
          </a:xfrm>
          <a:prstGeom prst="rect">
            <a:avLst/>
          </a:prstGeom>
        </p:spPr>
      </p:pic>
      <p:sp>
        <p:nvSpPr>
          <p:cNvPr id="7" name="TextBox 11">
            <a:extLst>
              <a:ext uri="{FF2B5EF4-FFF2-40B4-BE49-F238E27FC236}">
                <a16:creationId xmlns:a16="http://schemas.microsoft.com/office/drawing/2014/main" id="{432A13E8-83A5-2B9A-9128-2DC39B088EF9}"/>
              </a:ext>
            </a:extLst>
          </p:cNvPr>
          <p:cNvSpPr txBox="1"/>
          <p:nvPr/>
        </p:nvSpPr>
        <p:spPr>
          <a:xfrm>
            <a:off x="369413" y="1315346"/>
            <a:ext cx="3847326" cy="17389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noProof="0">
                <a:latin typeface="Calibri"/>
                <a:ea typeface="Calibri"/>
                <a:cs typeface="Calibri"/>
              </a:rPr>
              <a:t>1. Set out openness goals at the start of a course</a:t>
            </a:r>
          </a:p>
          <a:p>
            <a:endParaRPr lang="en-GB" sz="600" noProof="0">
              <a:latin typeface="Calibri"/>
              <a:ea typeface="Calibri"/>
              <a:cs typeface="Calibri"/>
            </a:endParaRPr>
          </a:p>
          <a:p>
            <a:r>
              <a:rPr lang="en-GB" noProof="0">
                <a:latin typeface="Calibri"/>
                <a:ea typeface="Calibri"/>
                <a:cs typeface="Calibri"/>
              </a:rPr>
              <a:t>2. Using open (educational) resources</a:t>
            </a:r>
          </a:p>
          <a:p>
            <a:endParaRPr lang="en-GB" sz="600" noProof="0">
              <a:latin typeface="Calibri"/>
              <a:ea typeface="Calibri"/>
              <a:cs typeface="Calibri"/>
            </a:endParaRPr>
          </a:p>
          <a:p>
            <a:r>
              <a:rPr lang="en-GB" noProof="0">
                <a:latin typeface="Calibri"/>
                <a:ea typeface="Calibri"/>
                <a:cs typeface="Calibri"/>
              </a:rPr>
              <a:t>3. Using open textbooks</a:t>
            </a:r>
          </a:p>
          <a:p>
            <a:endParaRPr lang="en-GB" sz="500" noProof="0">
              <a:latin typeface="Calibri"/>
              <a:ea typeface="Calibri"/>
              <a:cs typeface="Calibri"/>
            </a:endParaRPr>
          </a:p>
          <a:p>
            <a:r>
              <a:rPr lang="en-GB" noProof="0">
                <a:latin typeface="Calibri"/>
                <a:ea typeface="Calibri"/>
                <a:cs typeface="Calibri"/>
              </a:rPr>
              <a:t>4. Creating open textbooks </a:t>
            </a:r>
            <a:endParaRPr lang="en-GB" noProof="0"/>
          </a:p>
        </p:txBody>
      </p:sp>
      <p:pic>
        <p:nvPicPr>
          <p:cNvPr id="13" name="Picture 28">
            <a:extLst>
              <a:ext uri="{FF2B5EF4-FFF2-40B4-BE49-F238E27FC236}">
                <a16:creationId xmlns:a16="http://schemas.microsoft.com/office/drawing/2014/main" id="{D1D36FDE-5C97-B36F-EB88-066F76EDF62C}"/>
              </a:ext>
            </a:extLst>
          </p:cNvPr>
          <p:cNvPicPr>
            <a:picLocks noChangeAspect="1"/>
          </p:cNvPicPr>
          <p:nvPr/>
        </p:nvPicPr>
        <p:blipFill>
          <a:blip r:embed="rId4"/>
          <a:stretch>
            <a:fillRect/>
          </a:stretch>
        </p:blipFill>
        <p:spPr>
          <a:xfrm>
            <a:off x="1526323" y="1647481"/>
            <a:ext cx="204441" cy="189804"/>
          </a:xfrm>
          <a:prstGeom prst="rect">
            <a:avLst/>
          </a:prstGeom>
        </p:spPr>
      </p:pic>
      <p:grpSp>
        <p:nvGrpSpPr>
          <p:cNvPr id="18" name="Groep 17">
            <a:extLst>
              <a:ext uri="{FF2B5EF4-FFF2-40B4-BE49-F238E27FC236}">
                <a16:creationId xmlns:a16="http://schemas.microsoft.com/office/drawing/2014/main" id="{4DFC0F20-2320-4F69-65DD-A69D00B9C024}"/>
              </a:ext>
            </a:extLst>
          </p:cNvPr>
          <p:cNvGrpSpPr/>
          <p:nvPr/>
        </p:nvGrpSpPr>
        <p:grpSpPr>
          <a:xfrm>
            <a:off x="2975150" y="2722599"/>
            <a:ext cx="635773" cy="204181"/>
            <a:chOff x="3369251" y="2740721"/>
            <a:chExt cx="635773" cy="204181"/>
          </a:xfrm>
        </p:grpSpPr>
        <p:pic>
          <p:nvPicPr>
            <p:cNvPr id="20" name="Picture 24">
              <a:extLst>
                <a:ext uri="{FF2B5EF4-FFF2-40B4-BE49-F238E27FC236}">
                  <a16:creationId xmlns:a16="http://schemas.microsoft.com/office/drawing/2014/main" id="{2A0454E1-A733-2401-E9E4-585511D6126D}"/>
                </a:ext>
              </a:extLst>
            </p:cNvPr>
            <p:cNvPicPr>
              <a:picLocks noChangeAspect="1"/>
            </p:cNvPicPr>
            <p:nvPr/>
          </p:nvPicPr>
          <p:blipFill>
            <a:blip r:embed="rId4"/>
            <a:stretch>
              <a:fillRect/>
            </a:stretch>
          </p:blipFill>
          <p:spPr>
            <a:xfrm>
              <a:off x="3587778" y="2755098"/>
              <a:ext cx="204441" cy="189804"/>
            </a:xfrm>
            <a:prstGeom prst="rect">
              <a:avLst/>
            </a:prstGeom>
          </p:spPr>
        </p:pic>
        <p:pic>
          <p:nvPicPr>
            <p:cNvPr id="22" name="Picture 26">
              <a:extLst>
                <a:ext uri="{FF2B5EF4-FFF2-40B4-BE49-F238E27FC236}">
                  <a16:creationId xmlns:a16="http://schemas.microsoft.com/office/drawing/2014/main" id="{B372D685-B1D5-795C-823C-081E606DDA75}"/>
                </a:ext>
              </a:extLst>
            </p:cNvPr>
            <p:cNvPicPr>
              <a:picLocks noChangeAspect="1"/>
            </p:cNvPicPr>
            <p:nvPr/>
          </p:nvPicPr>
          <p:blipFill>
            <a:blip r:embed="rId4"/>
            <a:stretch>
              <a:fillRect/>
            </a:stretch>
          </p:blipFill>
          <p:spPr>
            <a:xfrm>
              <a:off x="3800583" y="2740721"/>
              <a:ext cx="204441" cy="189804"/>
            </a:xfrm>
            <a:prstGeom prst="rect">
              <a:avLst/>
            </a:prstGeom>
          </p:spPr>
        </p:pic>
        <p:pic>
          <p:nvPicPr>
            <p:cNvPr id="23" name="Picture 79">
              <a:extLst>
                <a:ext uri="{FF2B5EF4-FFF2-40B4-BE49-F238E27FC236}">
                  <a16:creationId xmlns:a16="http://schemas.microsoft.com/office/drawing/2014/main" id="{5E4FBD83-AEDB-5CAA-5E21-E1CB653C55D9}"/>
                </a:ext>
              </a:extLst>
            </p:cNvPr>
            <p:cNvPicPr>
              <a:picLocks noChangeAspect="1"/>
            </p:cNvPicPr>
            <p:nvPr/>
          </p:nvPicPr>
          <p:blipFill>
            <a:blip r:embed="rId4"/>
            <a:stretch>
              <a:fillRect/>
            </a:stretch>
          </p:blipFill>
          <p:spPr>
            <a:xfrm>
              <a:off x="3369251" y="2740721"/>
              <a:ext cx="204441" cy="189804"/>
            </a:xfrm>
            <a:prstGeom prst="rect">
              <a:avLst/>
            </a:prstGeom>
          </p:spPr>
        </p:pic>
      </p:grpSp>
      <p:grpSp>
        <p:nvGrpSpPr>
          <p:cNvPr id="26" name="Groep 25">
            <a:extLst>
              <a:ext uri="{FF2B5EF4-FFF2-40B4-BE49-F238E27FC236}">
                <a16:creationId xmlns:a16="http://schemas.microsoft.com/office/drawing/2014/main" id="{1FF51DDB-100A-1869-6C46-DA9CFBED78C7}"/>
              </a:ext>
            </a:extLst>
          </p:cNvPr>
          <p:cNvGrpSpPr/>
          <p:nvPr/>
        </p:nvGrpSpPr>
        <p:grpSpPr>
          <a:xfrm>
            <a:off x="11118762" y="4505543"/>
            <a:ext cx="635773" cy="189804"/>
            <a:chOff x="3369251" y="2755098"/>
            <a:chExt cx="635773" cy="189804"/>
          </a:xfrm>
        </p:grpSpPr>
        <p:pic>
          <p:nvPicPr>
            <p:cNvPr id="28" name="Picture 24">
              <a:extLst>
                <a:ext uri="{FF2B5EF4-FFF2-40B4-BE49-F238E27FC236}">
                  <a16:creationId xmlns:a16="http://schemas.microsoft.com/office/drawing/2014/main" id="{9835BD1E-50A7-1FD9-0DAD-B28EC2B1D204}"/>
                </a:ext>
              </a:extLst>
            </p:cNvPr>
            <p:cNvPicPr>
              <a:picLocks noChangeAspect="1"/>
            </p:cNvPicPr>
            <p:nvPr/>
          </p:nvPicPr>
          <p:blipFill>
            <a:blip r:embed="rId4"/>
            <a:stretch>
              <a:fillRect/>
            </a:stretch>
          </p:blipFill>
          <p:spPr>
            <a:xfrm>
              <a:off x="3587778" y="2755098"/>
              <a:ext cx="204441" cy="189804"/>
            </a:xfrm>
            <a:prstGeom prst="rect">
              <a:avLst/>
            </a:prstGeom>
          </p:spPr>
        </p:pic>
        <p:pic>
          <p:nvPicPr>
            <p:cNvPr id="30" name="Picture 26">
              <a:extLst>
                <a:ext uri="{FF2B5EF4-FFF2-40B4-BE49-F238E27FC236}">
                  <a16:creationId xmlns:a16="http://schemas.microsoft.com/office/drawing/2014/main" id="{3F12A158-11E6-DF26-B9D4-C8F59D3E721D}"/>
                </a:ext>
              </a:extLst>
            </p:cNvPr>
            <p:cNvPicPr>
              <a:picLocks noChangeAspect="1"/>
            </p:cNvPicPr>
            <p:nvPr/>
          </p:nvPicPr>
          <p:blipFill>
            <a:blip r:embed="rId4"/>
            <a:stretch>
              <a:fillRect/>
            </a:stretch>
          </p:blipFill>
          <p:spPr>
            <a:xfrm>
              <a:off x="3800583" y="2755098"/>
              <a:ext cx="204441" cy="189804"/>
            </a:xfrm>
            <a:prstGeom prst="rect">
              <a:avLst/>
            </a:prstGeom>
          </p:spPr>
        </p:pic>
        <p:pic>
          <p:nvPicPr>
            <p:cNvPr id="31" name="Picture 79">
              <a:extLst>
                <a:ext uri="{FF2B5EF4-FFF2-40B4-BE49-F238E27FC236}">
                  <a16:creationId xmlns:a16="http://schemas.microsoft.com/office/drawing/2014/main" id="{A1868191-8BE1-586E-563E-67E4B188094F}"/>
                </a:ext>
              </a:extLst>
            </p:cNvPr>
            <p:cNvPicPr>
              <a:picLocks noChangeAspect="1"/>
            </p:cNvPicPr>
            <p:nvPr/>
          </p:nvPicPr>
          <p:blipFill>
            <a:blip r:embed="rId4"/>
            <a:stretch>
              <a:fillRect/>
            </a:stretch>
          </p:blipFill>
          <p:spPr>
            <a:xfrm>
              <a:off x="3369251" y="2755098"/>
              <a:ext cx="204441" cy="189804"/>
            </a:xfrm>
            <a:prstGeom prst="rect">
              <a:avLst/>
            </a:prstGeom>
          </p:spPr>
        </p:pic>
      </p:grpSp>
      <p:pic>
        <p:nvPicPr>
          <p:cNvPr id="32" name="Picture 78">
            <a:extLst>
              <a:ext uri="{FF2B5EF4-FFF2-40B4-BE49-F238E27FC236}">
                <a16:creationId xmlns:a16="http://schemas.microsoft.com/office/drawing/2014/main" id="{BB6602A7-138E-BA57-745C-089D25626C21}"/>
              </a:ext>
            </a:extLst>
          </p:cNvPr>
          <p:cNvPicPr>
            <a:picLocks noChangeAspect="1"/>
          </p:cNvPicPr>
          <p:nvPr/>
        </p:nvPicPr>
        <p:blipFill>
          <a:blip r:embed="rId4"/>
          <a:stretch>
            <a:fillRect/>
          </a:stretch>
        </p:blipFill>
        <p:spPr>
          <a:xfrm>
            <a:off x="331693" y="6583162"/>
            <a:ext cx="204441" cy="189804"/>
          </a:xfrm>
          <a:prstGeom prst="rect">
            <a:avLst/>
          </a:prstGeom>
        </p:spPr>
      </p:pic>
      <p:grpSp>
        <p:nvGrpSpPr>
          <p:cNvPr id="44" name="Groep 43">
            <a:extLst>
              <a:ext uri="{FF2B5EF4-FFF2-40B4-BE49-F238E27FC236}">
                <a16:creationId xmlns:a16="http://schemas.microsoft.com/office/drawing/2014/main" id="{E9E6D0D1-4C43-B5F5-7CCD-4A1466BA3B45}"/>
              </a:ext>
            </a:extLst>
          </p:cNvPr>
          <p:cNvGrpSpPr/>
          <p:nvPr/>
        </p:nvGrpSpPr>
        <p:grpSpPr>
          <a:xfrm>
            <a:off x="8891649" y="1677815"/>
            <a:ext cx="422968" cy="189804"/>
            <a:chOff x="10464500" y="1995011"/>
            <a:chExt cx="422968" cy="189804"/>
          </a:xfrm>
        </p:grpSpPr>
        <p:pic>
          <p:nvPicPr>
            <p:cNvPr id="36" name="Picture 24">
              <a:extLst>
                <a:ext uri="{FF2B5EF4-FFF2-40B4-BE49-F238E27FC236}">
                  <a16:creationId xmlns:a16="http://schemas.microsoft.com/office/drawing/2014/main" id="{CFCBE8A1-F2A2-0676-3B12-7572EC4011DF}"/>
                </a:ext>
              </a:extLst>
            </p:cNvPr>
            <p:cNvPicPr>
              <a:picLocks noChangeAspect="1"/>
            </p:cNvPicPr>
            <p:nvPr/>
          </p:nvPicPr>
          <p:blipFill>
            <a:blip r:embed="rId4"/>
            <a:stretch>
              <a:fillRect/>
            </a:stretch>
          </p:blipFill>
          <p:spPr>
            <a:xfrm>
              <a:off x="10683027" y="1995011"/>
              <a:ext cx="204441" cy="189804"/>
            </a:xfrm>
            <a:prstGeom prst="rect">
              <a:avLst/>
            </a:prstGeom>
          </p:spPr>
        </p:pic>
        <p:pic>
          <p:nvPicPr>
            <p:cNvPr id="38" name="Picture 79">
              <a:extLst>
                <a:ext uri="{FF2B5EF4-FFF2-40B4-BE49-F238E27FC236}">
                  <a16:creationId xmlns:a16="http://schemas.microsoft.com/office/drawing/2014/main" id="{7D489CD1-9763-DE7F-A95A-7F44B50B01B7}"/>
                </a:ext>
              </a:extLst>
            </p:cNvPr>
            <p:cNvPicPr>
              <a:picLocks noChangeAspect="1"/>
            </p:cNvPicPr>
            <p:nvPr/>
          </p:nvPicPr>
          <p:blipFill>
            <a:blip r:embed="rId4"/>
            <a:stretch>
              <a:fillRect/>
            </a:stretch>
          </p:blipFill>
          <p:spPr>
            <a:xfrm>
              <a:off x="10464500" y="1995011"/>
              <a:ext cx="204441" cy="189804"/>
            </a:xfrm>
            <a:prstGeom prst="rect">
              <a:avLst/>
            </a:prstGeom>
          </p:spPr>
        </p:pic>
      </p:grpSp>
      <p:grpSp>
        <p:nvGrpSpPr>
          <p:cNvPr id="60" name="Groep 59">
            <a:extLst>
              <a:ext uri="{FF2B5EF4-FFF2-40B4-BE49-F238E27FC236}">
                <a16:creationId xmlns:a16="http://schemas.microsoft.com/office/drawing/2014/main" id="{0590ABF2-0A73-0901-D275-B8B2D85942E7}"/>
              </a:ext>
            </a:extLst>
          </p:cNvPr>
          <p:cNvGrpSpPr/>
          <p:nvPr/>
        </p:nvGrpSpPr>
        <p:grpSpPr>
          <a:xfrm>
            <a:off x="9343693" y="2049123"/>
            <a:ext cx="422968" cy="189804"/>
            <a:chOff x="10306349" y="1966256"/>
            <a:chExt cx="422968" cy="189804"/>
          </a:xfrm>
        </p:grpSpPr>
        <p:pic>
          <p:nvPicPr>
            <p:cNvPr id="61" name="Picture 24">
              <a:extLst>
                <a:ext uri="{FF2B5EF4-FFF2-40B4-BE49-F238E27FC236}">
                  <a16:creationId xmlns:a16="http://schemas.microsoft.com/office/drawing/2014/main" id="{9C7E2D5B-4C8A-8F2F-0EAF-AC59F18F4D12}"/>
                </a:ext>
              </a:extLst>
            </p:cNvPr>
            <p:cNvPicPr>
              <a:picLocks noChangeAspect="1"/>
            </p:cNvPicPr>
            <p:nvPr/>
          </p:nvPicPr>
          <p:blipFill>
            <a:blip r:embed="rId4"/>
            <a:stretch>
              <a:fillRect/>
            </a:stretch>
          </p:blipFill>
          <p:spPr>
            <a:xfrm>
              <a:off x="10524876" y="1966256"/>
              <a:ext cx="204441" cy="189804"/>
            </a:xfrm>
            <a:prstGeom prst="rect">
              <a:avLst/>
            </a:prstGeom>
          </p:spPr>
        </p:pic>
        <p:pic>
          <p:nvPicPr>
            <p:cNvPr id="62" name="Picture 79">
              <a:extLst>
                <a:ext uri="{FF2B5EF4-FFF2-40B4-BE49-F238E27FC236}">
                  <a16:creationId xmlns:a16="http://schemas.microsoft.com/office/drawing/2014/main" id="{64B50CB3-FFF6-7776-32BD-FC4F3803B3BC}"/>
                </a:ext>
              </a:extLst>
            </p:cNvPr>
            <p:cNvPicPr>
              <a:picLocks noChangeAspect="1"/>
            </p:cNvPicPr>
            <p:nvPr/>
          </p:nvPicPr>
          <p:blipFill>
            <a:blip r:embed="rId4"/>
            <a:stretch>
              <a:fillRect/>
            </a:stretch>
          </p:blipFill>
          <p:spPr>
            <a:xfrm>
              <a:off x="10306349" y="1966256"/>
              <a:ext cx="204441" cy="189804"/>
            </a:xfrm>
            <a:prstGeom prst="rect">
              <a:avLst/>
            </a:prstGeom>
          </p:spPr>
        </p:pic>
      </p:grpSp>
      <p:grpSp>
        <p:nvGrpSpPr>
          <p:cNvPr id="63" name="Groep 62">
            <a:extLst>
              <a:ext uri="{FF2B5EF4-FFF2-40B4-BE49-F238E27FC236}">
                <a16:creationId xmlns:a16="http://schemas.microsoft.com/office/drawing/2014/main" id="{23CDFFB2-1746-0532-578E-40D8E7B1DEC0}"/>
              </a:ext>
            </a:extLst>
          </p:cNvPr>
          <p:cNvGrpSpPr/>
          <p:nvPr/>
        </p:nvGrpSpPr>
        <p:grpSpPr>
          <a:xfrm>
            <a:off x="9778097" y="2720816"/>
            <a:ext cx="422968" cy="189804"/>
            <a:chOff x="10464500" y="1995011"/>
            <a:chExt cx="422968" cy="189804"/>
          </a:xfrm>
        </p:grpSpPr>
        <p:pic>
          <p:nvPicPr>
            <p:cNvPr id="68" name="Picture 24">
              <a:extLst>
                <a:ext uri="{FF2B5EF4-FFF2-40B4-BE49-F238E27FC236}">
                  <a16:creationId xmlns:a16="http://schemas.microsoft.com/office/drawing/2014/main" id="{037B6C20-CB94-14C5-54C6-4B1DE80FFACE}"/>
                </a:ext>
              </a:extLst>
            </p:cNvPr>
            <p:cNvPicPr>
              <a:picLocks noChangeAspect="1"/>
            </p:cNvPicPr>
            <p:nvPr/>
          </p:nvPicPr>
          <p:blipFill>
            <a:blip r:embed="rId4"/>
            <a:stretch>
              <a:fillRect/>
            </a:stretch>
          </p:blipFill>
          <p:spPr>
            <a:xfrm>
              <a:off x="10683027" y="1995011"/>
              <a:ext cx="204441" cy="189804"/>
            </a:xfrm>
            <a:prstGeom prst="rect">
              <a:avLst/>
            </a:prstGeom>
          </p:spPr>
        </p:pic>
        <p:pic>
          <p:nvPicPr>
            <p:cNvPr id="69" name="Picture 79">
              <a:extLst>
                <a:ext uri="{FF2B5EF4-FFF2-40B4-BE49-F238E27FC236}">
                  <a16:creationId xmlns:a16="http://schemas.microsoft.com/office/drawing/2014/main" id="{FCE157E9-BD14-C6F7-222B-DFEBB2C03604}"/>
                </a:ext>
              </a:extLst>
            </p:cNvPr>
            <p:cNvPicPr>
              <a:picLocks noChangeAspect="1"/>
            </p:cNvPicPr>
            <p:nvPr/>
          </p:nvPicPr>
          <p:blipFill>
            <a:blip r:embed="rId4"/>
            <a:stretch>
              <a:fillRect/>
            </a:stretch>
          </p:blipFill>
          <p:spPr>
            <a:xfrm>
              <a:off x="10464500" y="1995011"/>
              <a:ext cx="204441" cy="189804"/>
            </a:xfrm>
            <a:prstGeom prst="rect">
              <a:avLst/>
            </a:prstGeom>
          </p:spPr>
        </p:pic>
      </p:grpSp>
      <p:grpSp>
        <p:nvGrpSpPr>
          <p:cNvPr id="70" name="Groep 69">
            <a:extLst>
              <a:ext uri="{FF2B5EF4-FFF2-40B4-BE49-F238E27FC236}">
                <a16:creationId xmlns:a16="http://schemas.microsoft.com/office/drawing/2014/main" id="{8806BB64-D2CC-D00B-A671-299C0098265C}"/>
              </a:ext>
            </a:extLst>
          </p:cNvPr>
          <p:cNvGrpSpPr/>
          <p:nvPr/>
        </p:nvGrpSpPr>
        <p:grpSpPr>
          <a:xfrm>
            <a:off x="10169166" y="3471926"/>
            <a:ext cx="422968" cy="189804"/>
            <a:chOff x="10464500" y="1995011"/>
            <a:chExt cx="422968" cy="189804"/>
          </a:xfrm>
        </p:grpSpPr>
        <p:pic>
          <p:nvPicPr>
            <p:cNvPr id="71" name="Picture 24">
              <a:extLst>
                <a:ext uri="{FF2B5EF4-FFF2-40B4-BE49-F238E27FC236}">
                  <a16:creationId xmlns:a16="http://schemas.microsoft.com/office/drawing/2014/main" id="{0E8A07F5-9DED-5070-CA6C-AC8FAAE81E15}"/>
                </a:ext>
              </a:extLst>
            </p:cNvPr>
            <p:cNvPicPr>
              <a:picLocks noChangeAspect="1"/>
            </p:cNvPicPr>
            <p:nvPr/>
          </p:nvPicPr>
          <p:blipFill>
            <a:blip r:embed="rId4"/>
            <a:stretch>
              <a:fillRect/>
            </a:stretch>
          </p:blipFill>
          <p:spPr>
            <a:xfrm>
              <a:off x="10683027" y="1995011"/>
              <a:ext cx="204441" cy="189804"/>
            </a:xfrm>
            <a:prstGeom prst="rect">
              <a:avLst/>
            </a:prstGeom>
          </p:spPr>
        </p:pic>
        <p:pic>
          <p:nvPicPr>
            <p:cNvPr id="72" name="Picture 79">
              <a:extLst>
                <a:ext uri="{FF2B5EF4-FFF2-40B4-BE49-F238E27FC236}">
                  <a16:creationId xmlns:a16="http://schemas.microsoft.com/office/drawing/2014/main" id="{0C634DC8-E097-4502-3B30-F5592B4857BA}"/>
                </a:ext>
              </a:extLst>
            </p:cNvPr>
            <p:cNvPicPr>
              <a:picLocks noChangeAspect="1"/>
            </p:cNvPicPr>
            <p:nvPr/>
          </p:nvPicPr>
          <p:blipFill>
            <a:blip r:embed="rId4"/>
            <a:stretch>
              <a:fillRect/>
            </a:stretch>
          </p:blipFill>
          <p:spPr>
            <a:xfrm>
              <a:off x="10464500" y="1995011"/>
              <a:ext cx="204441" cy="189804"/>
            </a:xfrm>
            <a:prstGeom prst="rect">
              <a:avLst/>
            </a:prstGeom>
          </p:spPr>
        </p:pic>
      </p:grpSp>
      <p:grpSp>
        <p:nvGrpSpPr>
          <p:cNvPr id="73" name="Groep 72">
            <a:extLst>
              <a:ext uri="{FF2B5EF4-FFF2-40B4-BE49-F238E27FC236}">
                <a16:creationId xmlns:a16="http://schemas.microsoft.com/office/drawing/2014/main" id="{FAFD8454-0114-C1ED-CF9C-52E0FC5D5A44}"/>
              </a:ext>
            </a:extLst>
          </p:cNvPr>
          <p:cNvGrpSpPr/>
          <p:nvPr/>
        </p:nvGrpSpPr>
        <p:grpSpPr>
          <a:xfrm>
            <a:off x="11020595" y="4181734"/>
            <a:ext cx="422968" cy="189804"/>
            <a:chOff x="10464500" y="1995011"/>
            <a:chExt cx="422968" cy="189804"/>
          </a:xfrm>
        </p:grpSpPr>
        <p:pic>
          <p:nvPicPr>
            <p:cNvPr id="74" name="Picture 24">
              <a:extLst>
                <a:ext uri="{FF2B5EF4-FFF2-40B4-BE49-F238E27FC236}">
                  <a16:creationId xmlns:a16="http://schemas.microsoft.com/office/drawing/2014/main" id="{B9E58314-948E-40C5-0D4F-8EE0CB047602}"/>
                </a:ext>
              </a:extLst>
            </p:cNvPr>
            <p:cNvPicPr>
              <a:picLocks noChangeAspect="1"/>
            </p:cNvPicPr>
            <p:nvPr/>
          </p:nvPicPr>
          <p:blipFill>
            <a:blip r:embed="rId4"/>
            <a:stretch>
              <a:fillRect/>
            </a:stretch>
          </p:blipFill>
          <p:spPr>
            <a:xfrm>
              <a:off x="10683027" y="1995011"/>
              <a:ext cx="204441" cy="189804"/>
            </a:xfrm>
            <a:prstGeom prst="rect">
              <a:avLst/>
            </a:prstGeom>
          </p:spPr>
        </p:pic>
        <p:pic>
          <p:nvPicPr>
            <p:cNvPr id="75" name="Picture 79">
              <a:extLst>
                <a:ext uri="{FF2B5EF4-FFF2-40B4-BE49-F238E27FC236}">
                  <a16:creationId xmlns:a16="http://schemas.microsoft.com/office/drawing/2014/main" id="{C77AADFC-AD53-3B57-486C-A47FD8A1A0EE}"/>
                </a:ext>
              </a:extLst>
            </p:cNvPr>
            <p:cNvPicPr>
              <a:picLocks noChangeAspect="1"/>
            </p:cNvPicPr>
            <p:nvPr/>
          </p:nvPicPr>
          <p:blipFill>
            <a:blip r:embed="rId4"/>
            <a:stretch>
              <a:fillRect/>
            </a:stretch>
          </p:blipFill>
          <p:spPr>
            <a:xfrm>
              <a:off x="10464500" y="1995011"/>
              <a:ext cx="204441" cy="189804"/>
            </a:xfrm>
            <a:prstGeom prst="rect">
              <a:avLst/>
            </a:prstGeom>
          </p:spPr>
        </p:pic>
      </p:grpSp>
      <p:grpSp>
        <p:nvGrpSpPr>
          <p:cNvPr id="83" name="Groep 82">
            <a:extLst>
              <a:ext uri="{FF2B5EF4-FFF2-40B4-BE49-F238E27FC236}">
                <a16:creationId xmlns:a16="http://schemas.microsoft.com/office/drawing/2014/main" id="{5351BCDE-06F1-CF8A-B2B5-330E3B9D543C}"/>
              </a:ext>
            </a:extLst>
          </p:cNvPr>
          <p:cNvGrpSpPr/>
          <p:nvPr/>
        </p:nvGrpSpPr>
        <p:grpSpPr>
          <a:xfrm>
            <a:off x="10884638" y="5498667"/>
            <a:ext cx="635773" cy="189804"/>
            <a:chOff x="3383628" y="2755098"/>
            <a:chExt cx="635773" cy="189804"/>
          </a:xfrm>
        </p:grpSpPr>
        <p:pic>
          <p:nvPicPr>
            <p:cNvPr id="84" name="Picture 24">
              <a:extLst>
                <a:ext uri="{FF2B5EF4-FFF2-40B4-BE49-F238E27FC236}">
                  <a16:creationId xmlns:a16="http://schemas.microsoft.com/office/drawing/2014/main" id="{A4B147D6-8A33-0609-521D-2CE6484DA972}"/>
                </a:ext>
              </a:extLst>
            </p:cNvPr>
            <p:cNvPicPr>
              <a:picLocks noChangeAspect="1"/>
            </p:cNvPicPr>
            <p:nvPr/>
          </p:nvPicPr>
          <p:blipFill>
            <a:blip r:embed="rId4"/>
            <a:stretch>
              <a:fillRect/>
            </a:stretch>
          </p:blipFill>
          <p:spPr>
            <a:xfrm>
              <a:off x="3587778" y="2755098"/>
              <a:ext cx="204441" cy="189804"/>
            </a:xfrm>
            <a:prstGeom prst="rect">
              <a:avLst/>
            </a:prstGeom>
          </p:spPr>
        </p:pic>
        <p:pic>
          <p:nvPicPr>
            <p:cNvPr id="85" name="Picture 26">
              <a:extLst>
                <a:ext uri="{FF2B5EF4-FFF2-40B4-BE49-F238E27FC236}">
                  <a16:creationId xmlns:a16="http://schemas.microsoft.com/office/drawing/2014/main" id="{6021976A-A17C-DA30-8C93-6FC0A790D9CC}"/>
                </a:ext>
              </a:extLst>
            </p:cNvPr>
            <p:cNvPicPr>
              <a:picLocks noChangeAspect="1"/>
            </p:cNvPicPr>
            <p:nvPr/>
          </p:nvPicPr>
          <p:blipFill>
            <a:blip r:embed="rId4"/>
            <a:stretch>
              <a:fillRect/>
            </a:stretch>
          </p:blipFill>
          <p:spPr>
            <a:xfrm>
              <a:off x="3814960" y="2755098"/>
              <a:ext cx="204441" cy="189804"/>
            </a:xfrm>
            <a:prstGeom prst="rect">
              <a:avLst/>
            </a:prstGeom>
          </p:spPr>
        </p:pic>
        <p:pic>
          <p:nvPicPr>
            <p:cNvPr id="86" name="Picture 79">
              <a:extLst>
                <a:ext uri="{FF2B5EF4-FFF2-40B4-BE49-F238E27FC236}">
                  <a16:creationId xmlns:a16="http://schemas.microsoft.com/office/drawing/2014/main" id="{CEE45E7C-AC60-DD90-1C75-6879B5BD385E}"/>
                </a:ext>
              </a:extLst>
            </p:cNvPr>
            <p:cNvPicPr>
              <a:picLocks noChangeAspect="1"/>
            </p:cNvPicPr>
            <p:nvPr/>
          </p:nvPicPr>
          <p:blipFill>
            <a:blip r:embed="rId4"/>
            <a:stretch>
              <a:fillRect/>
            </a:stretch>
          </p:blipFill>
          <p:spPr>
            <a:xfrm>
              <a:off x="3383628" y="2755098"/>
              <a:ext cx="204441" cy="189804"/>
            </a:xfrm>
            <a:prstGeom prst="rect">
              <a:avLst/>
            </a:prstGeom>
          </p:spPr>
        </p:pic>
      </p:grpSp>
      <p:grpSp>
        <p:nvGrpSpPr>
          <p:cNvPr id="87" name="Groep 86">
            <a:extLst>
              <a:ext uri="{FF2B5EF4-FFF2-40B4-BE49-F238E27FC236}">
                <a16:creationId xmlns:a16="http://schemas.microsoft.com/office/drawing/2014/main" id="{26497663-1E71-4182-B5B3-151E33788B0F}"/>
              </a:ext>
            </a:extLst>
          </p:cNvPr>
          <p:cNvGrpSpPr/>
          <p:nvPr/>
        </p:nvGrpSpPr>
        <p:grpSpPr>
          <a:xfrm>
            <a:off x="6650413" y="5138732"/>
            <a:ext cx="635773" cy="189804"/>
            <a:chOff x="3369251" y="2755098"/>
            <a:chExt cx="635773" cy="189804"/>
          </a:xfrm>
        </p:grpSpPr>
        <p:pic>
          <p:nvPicPr>
            <p:cNvPr id="88" name="Picture 24">
              <a:extLst>
                <a:ext uri="{FF2B5EF4-FFF2-40B4-BE49-F238E27FC236}">
                  <a16:creationId xmlns:a16="http://schemas.microsoft.com/office/drawing/2014/main" id="{0C26C365-DB18-6E9A-96CC-74B3151AECF1}"/>
                </a:ext>
              </a:extLst>
            </p:cNvPr>
            <p:cNvPicPr>
              <a:picLocks noChangeAspect="1"/>
            </p:cNvPicPr>
            <p:nvPr/>
          </p:nvPicPr>
          <p:blipFill>
            <a:blip r:embed="rId4"/>
            <a:stretch>
              <a:fillRect/>
            </a:stretch>
          </p:blipFill>
          <p:spPr>
            <a:xfrm>
              <a:off x="3587778" y="2755098"/>
              <a:ext cx="204441" cy="189804"/>
            </a:xfrm>
            <a:prstGeom prst="rect">
              <a:avLst/>
            </a:prstGeom>
          </p:spPr>
        </p:pic>
        <p:pic>
          <p:nvPicPr>
            <p:cNvPr id="89" name="Picture 26">
              <a:extLst>
                <a:ext uri="{FF2B5EF4-FFF2-40B4-BE49-F238E27FC236}">
                  <a16:creationId xmlns:a16="http://schemas.microsoft.com/office/drawing/2014/main" id="{958D46EB-22D9-A442-A2AC-BAADF5D41D7D}"/>
                </a:ext>
              </a:extLst>
            </p:cNvPr>
            <p:cNvPicPr>
              <a:picLocks noChangeAspect="1"/>
            </p:cNvPicPr>
            <p:nvPr/>
          </p:nvPicPr>
          <p:blipFill>
            <a:blip r:embed="rId4"/>
            <a:stretch>
              <a:fillRect/>
            </a:stretch>
          </p:blipFill>
          <p:spPr>
            <a:xfrm>
              <a:off x="3800583" y="2755098"/>
              <a:ext cx="204441" cy="189804"/>
            </a:xfrm>
            <a:prstGeom prst="rect">
              <a:avLst/>
            </a:prstGeom>
          </p:spPr>
        </p:pic>
        <p:pic>
          <p:nvPicPr>
            <p:cNvPr id="90" name="Picture 79">
              <a:extLst>
                <a:ext uri="{FF2B5EF4-FFF2-40B4-BE49-F238E27FC236}">
                  <a16:creationId xmlns:a16="http://schemas.microsoft.com/office/drawing/2014/main" id="{D6CC60CA-5954-73E8-CEC8-2ACDF05C21C2}"/>
                </a:ext>
              </a:extLst>
            </p:cNvPr>
            <p:cNvPicPr>
              <a:picLocks noChangeAspect="1"/>
            </p:cNvPicPr>
            <p:nvPr/>
          </p:nvPicPr>
          <p:blipFill>
            <a:blip r:embed="rId4"/>
            <a:stretch>
              <a:fillRect/>
            </a:stretch>
          </p:blipFill>
          <p:spPr>
            <a:xfrm>
              <a:off x="3369251" y="2755098"/>
              <a:ext cx="204441" cy="189804"/>
            </a:xfrm>
            <a:prstGeom prst="rect">
              <a:avLst/>
            </a:prstGeom>
          </p:spPr>
        </p:pic>
      </p:grpSp>
      <p:grpSp>
        <p:nvGrpSpPr>
          <p:cNvPr id="91" name="Groep 90">
            <a:extLst>
              <a:ext uri="{FF2B5EF4-FFF2-40B4-BE49-F238E27FC236}">
                <a16:creationId xmlns:a16="http://schemas.microsoft.com/office/drawing/2014/main" id="{B6F51D7E-CF69-7DD3-27CD-9EE8F223A4AF}"/>
              </a:ext>
            </a:extLst>
          </p:cNvPr>
          <p:cNvGrpSpPr/>
          <p:nvPr/>
        </p:nvGrpSpPr>
        <p:grpSpPr>
          <a:xfrm>
            <a:off x="1988184" y="5869501"/>
            <a:ext cx="422968" cy="189804"/>
            <a:chOff x="10464500" y="1995011"/>
            <a:chExt cx="422968" cy="189804"/>
          </a:xfrm>
        </p:grpSpPr>
        <p:pic>
          <p:nvPicPr>
            <p:cNvPr id="92" name="Picture 24">
              <a:extLst>
                <a:ext uri="{FF2B5EF4-FFF2-40B4-BE49-F238E27FC236}">
                  <a16:creationId xmlns:a16="http://schemas.microsoft.com/office/drawing/2014/main" id="{881DEAFB-28B1-C49A-F3EF-372A9FF1C9C4}"/>
                </a:ext>
              </a:extLst>
            </p:cNvPr>
            <p:cNvPicPr>
              <a:picLocks noChangeAspect="1"/>
            </p:cNvPicPr>
            <p:nvPr/>
          </p:nvPicPr>
          <p:blipFill>
            <a:blip r:embed="rId4"/>
            <a:stretch>
              <a:fillRect/>
            </a:stretch>
          </p:blipFill>
          <p:spPr>
            <a:xfrm>
              <a:off x="10683027" y="1995011"/>
              <a:ext cx="204441" cy="189804"/>
            </a:xfrm>
            <a:prstGeom prst="rect">
              <a:avLst/>
            </a:prstGeom>
          </p:spPr>
        </p:pic>
        <p:pic>
          <p:nvPicPr>
            <p:cNvPr id="93" name="Picture 79">
              <a:extLst>
                <a:ext uri="{FF2B5EF4-FFF2-40B4-BE49-F238E27FC236}">
                  <a16:creationId xmlns:a16="http://schemas.microsoft.com/office/drawing/2014/main" id="{28358194-36AF-B5BB-0B7D-2BC6620E9CFD}"/>
                </a:ext>
              </a:extLst>
            </p:cNvPr>
            <p:cNvPicPr>
              <a:picLocks noChangeAspect="1"/>
            </p:cNvPicPr>
            <p:nvPr/>
          </p:nvPicPr>
          <p:blipFill>
            <a:blip r:embed="rId4"/>
            <a:stretch>
              <a:fillRect/>
            </a:stretch>
          </p:blipFill>
          <p:spPr>
            <a:xfrm>
              <a:off x="10464500" y="1995011"/>
              <a:ext cx="204441" cy="189804"/>
            </a:xfrm>
            <a:prstGeom prst="rect">
              <a:avLst/>
            </a:prstGeom>
          </p:spPr>
        </p:pic>
      </p:grpSp>
      <p:grpSp>
        <p:nvGrpSpPr>
          <p:cNvPr id="94" name="Groep 93">
            <a:extLst>
              <a:ext uri="{FF2B5EF4-FFF2-40B4-BE49-F238E27FC236}">
                <a16:creationId xmlns:a16="http://schemas.microsoft.com/office/drawing/2014/main" id="{C4D4CCB7-969F-E74F-4320-287AB455B152}"/>
              </a:ext>
            </a:extLst>
          </p:cNvPr>
          <p:cNvGrpSpPr/>
          <p:nvPr/>
        </p:nvGrpSpPr>
        <p:grpSpPr>
          <a:xfrm>
            <a:off x="4517183" y="4240211"/>
            <a:ext cx="422968" cy="189804"/>
            <a:chOff x="10464500" y="1995011"/>
            <a:chExt cx="422968" cy="189804"/>
          </a:xfrm>
        </p:grpSpPr>
        <p:pic>
          <p:nvPicPr>
            <p:cNvPr id="95" name="Picture 24">
              <a:extLst>
                <a:ext uri="{FF2B5EF4-FFF2-40B4-BE49-F238E27FC236}">
                  <a16:creationId xmlns:a16="http://schemas.microsoft.com/office/drawing/2014/main" id="{324D1793-94F4-C2A0-189C-CF970E4B69C1}"/>
                </a:ext>
              </a:extLst>
            </p:cNvPr>
            <p:cNvPicPr>
              <a:picLocks noChangeAspect="1"/>
            </p:cNvPicPr>
            <p:nvPr/>
          </p:nvPicPr>
          <p:blipFill>
            <a:blip r:embed="rId4"/>
            <a:stretch>
              <a:fillRect/>
            </a:stretch>
          </p:blipFill>
          <p:spPr>
            <a:xfrm>
              <a:off x="10683027" y="1995011"/>
              <a:ext cx="204441" cy="189804"/>
            </a:xfrm>
            <a:prstGeom prst="rect">
              <a:avLst/>
            </a:prstGeom>
          </p:spPr>
        </p:pic>
        <p:pic>
          <p:nvPicPr>
            <p:cNvPr id="96" name="Picture 79">
              <a:extLst>
                <a:ext uri="{FF2B5EF4-FFF2-40B4-BE49-F238E27FC236}">
                  <a16:creationId xmlns:a16="http://schemas.microsoft.com/office/drawing/2014/main" id="{55BF6094-15E8-87FC-27FC-7C85077EFB20}"/>
                </a:ext>
              </a:extLst>
            </p:cNvPr>
            <p:cNvPicPr>
              <a:picLocks noChangeAspect="1"/>
            </p:cNvPicPr>
            <p:nvPr/>
          </p:nvPicPr>
          <p:blipFill>
            <a:blip r:embed="rId4"/>
            <a:stretch>
              <a:fillRect/>
            </a:stretch>
          </p:blipFill>
          <p:spPr>
            <a:xfrm>
              <a:off x="10464500" y="1995011"/>
              <a:ext cx="204441" cy="189804"/>
            </a:xfrm>
            <a:prstGeom prst="rect">
              <a:avLst/>
            </a:prstGeom>
          </p:spPr>
        </p:pic>
      </p:grpSp>
      <p:grpSp>
        <p:nvGrpSpPr>
          <p:cNvPr id="97" name="Groep 96">
            <a:extLst>
              <a:ext uri="{FF2B5EF4-FFF2-40B4-BE49-F238E27FC236}">
                <a16:creationId xmlns:a16="http://schemas.microsoft.com/office/drawing/2014/main" id="{CD746791-C513-38EB-6FEE-2D6C2A35DD10}"/>
              </a:ext>
            </a:extLst>
          </p:cNvPr>
          <p:cNvGrpSpPr/>
          <p:nvPr/>
        </p:nvGrpSpPr>
        <p:grpSpPr>
          <a:xfrm>
            <a:off x="9456320" y="5853626"/>
            <a:ext cx="422968" cy="189804"/>
            <a:chOff x="10464500" y="1995011"/>
            <a:chExt cx="422968" cy="189804"/>
          </a:xfrm>
        </p:grpSpPr>
        <p:pic>
          <p:nvPicPr>
            <p:cNvPr id="98" name="Picture 24">
              <a:extLst>
                <a:ext uri="{FF2B5EF4-FFF2-40B4-BE49-F238E27FC236}">
                  <a16:creationId xmlns:a16="http://schemas.microsoft.com/office/drawing/2014/main" id="{E2250DB1-BE96-27B5-7F03-918573EB4E9E}"/>
                </a:ext>
              </a:extLst>
            </p:cNvPr>
            <p:cNvPicPr>
              <a:picLocks noChangeAspect="1"/>
            </p:cNvPicPr>
            <p:nvPr/>
          </p:nvPicPr>
          <p:blipFill>
            <a:blip r:embed="rId4"/>
            <a:stretch>
              <a:fillRect/>
            </a:stretch>
          </p:blipFill>
          <p:spPr>
            <a:xfrm>
              <a:off x="10683027" y="1995011"/>
              <a:ext cx="204441" cy="189804"/>
            </a:xfrm>
            <a:prstGeom prst="rect">
              <a:avLst/>
            </a:prstGeom>
          </p:spPr>
        </p:pic>
        <p:pic>
          <p:nvPicPr>
            <p:cNvPr id="99" name="Picture 79">
              <a:extLst>
                <a:ext uri="{FF2B5EF4-FFF2-40B4-BE49-F238E27FC236}">
                  <a16:creationId xmlns:a16="http://schemas.microsoft.com/office/drawing/2014/main" id="{7E2AF1CA-E25F-0CF3-2BBA-05E03E3B618A}"/>
                </a:ext>
              </a:extLst>
            </p:cNvPr>
            <p:cNvPicPr>
              <a:picLocks noChangeAspect="1"/>
            </p:cNvPicPr>
            <p:nvPr/>
          </p:nvPicPr>
          <p:blipFill>
            <a:blip r:embed="rId4"/>
            <a:stretch>
              <a:fillRect/>
            </a:stretch>
          </p:blipFill>
          <p:spPr>
            <a:xfrm>
              <a:off x="10464500" y="1995011"/>
              <a:ext cx="204441" cy="189804"/>
            </a:xfrm>
            <a:prstGeom prst="rect">
              <a:avLst/>
            </a:prstGeom>
          </p:spPr>
        </p:pic>
      </p:grpSp>
      <p:pic>
        <p:nvPicPr>
          <p:cNvPr id="5" name="Picture 28">
            <a:extLst>
              <a:ext uri="{FF2B5EF4-FFF2-40B4-BE49-F238E27FC236}">
                <a16:creationId xmlns:a16="http://schemas.microsoft.com/office/drawing/2014/main" id="{6C127032-1122-13DB-1A55-F3DC24490701}"/>
              </a:ext>
            </a:extLst>
          </p:cNvPr>
          <p:cNvPicPr>
            <a:picLocks noChangeAspect="1"/>
          </p:cNvPicPr>
          <p:nvPr/>
        </p:nvPicPr>
        <p:blipFill>
          <a:blip r:embed="rId4"/>
          <a:stretch>
            <a:fillRect/>
          </a:stretch>
        </p:blipFill>
        <p:spPr>
          <a:xfrm>
            <a:off x="3972050" y="2038333"/>
            <a:ext cx="204441" cy="189804"/>
          </a:xfrm>
          <a:prstGeom prst="rect">
            <a:avLst/>
          </a:prstGeom>
        </p:spPr>
      </p:pic>
      <p:pic>
        <p:nvPicPr>
          <p:cNvPr id="12" name="Picture 28">
            <a:extLst>
              <a:ext uri="{FF2B5EF4-FFF2-40B4-BE49-F238E27FC236}">
                <a16:creationId xmlns:a16="http://schemas.microsoft.com/office/drawing/2014/main" id="{6159E2B6-9813-1238-B2C0-26E15AE92547}"/>
              </a:ext>
            </a:extLst>
          </p:cNvPr>
          <p:cNvPicPr>
            <a:picLocks noChangeAspect="1"/>
          </p:cNvPicPr>
          <p:nvPr/>
        </p:nvPicPr>
        <p:blipFill>
          <a:blip r:embed="rId4"/>
          <a:stretch>
            <a:fillRect/>
          </a:stretch>
        </p:blipFill>
        <p:spPr>
          <a:xfrm>
            <a:off x="9104766" y="3087880"/>
            <a:ext cx="204441" cy="189804"/>
          </a:xfrm>
          <a:prstGeom prst="rect">
            <a:avLst/>
          </a:prstGeom>
        </p:spPr>
      </p:pic>
      <p:pic>
        <p:nvPicPr>
          <p:cNvPr id="25" name="Picture 28">
            <a:extLst>
              <a:ext uri="{FF2B5EF4-FFF2-40B4-BE49-F238E27FC236}">
                <a16:creationId xmlns:a16="http://schemas.microsoft.com/office/drawing/2014/main" id="{0A41D83D-DFD0-B5D3-E506-3DB8D378D099}"/>
              </a:ext>
            </a:extLst>
          </p:cNvPr>
          <p:cNvPicPr>
            <a:picLocks noChangeAspect="1"/>
          </p:cNvPicPr>
          <p:nvPr/>
        </p:nvPicPr>
        <p:blipFill>
          <a:blip r:embed="rId4"/>
          <a:stretch>
            <a:fillRect/>
          </a:stretch>
        </p:blipFill>
        <p:spPr>
          <a:xfrm>
            <a:off x="2706842" y="2383389"/>
            <a:ext cx="204441" cy="189804"/>
          </a:xfrm>
          <a:prstGeom prst="rect">
            <a:avLst/>
          </a:prstGeom>
        </p:spPr>
      </p:pic>
      <p:pic>
        <p:nvPicPr>
          <p:cNvPr id="27" name="Picture 28">
            <a:extLst>
              <a:ext uri="{FF2B5EF4-FFF2-40B4-BE49-F238E27FC236}">
                <a16:creationId xmlns:a16="http://schemas.microsoft.com/office/drawing/2014/main" id="{8811C594-A4B3-2B8F-EE6E-B1DE0B43320E}"/>
              </a:ext>
            </a:extLst>
          </p:cNvPr>
          <p:cNvPicPr>
            <a:picLocks noChangeAspect="1"/>
          </p:cNvPicPr>
          <p:nvPr/>
        </p:nvPicPr>
        <p:blipFill>
          <a:blip r:embed="rId4"/>
          <a:stretch>
            <a:fillRect/>
          </a:stretch>
        </p:blipFill>
        <p:spPr>
          <a:xfrm>
            <a:off x="1887333" y="4859739"/>
            <a:ext cx="204441" cy="189804"/>
          </a:xfrm>
          <a:prstGeom prst="rect">
            <a:avLst/>
          </a:prstGeom>
        </p:spPr>
      </p:pic>
    </p:spTree>
    <p:extLst>
      <p:ext uri="{BB962C8B-B14F-4D97-AF65-F5344CB8AC3E}">
        <p14:creationId xmlns:p14="http://schemas.microsoft.com/office/powerpoint/2010/main" val="89637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5BB3C49-169B-6228-720E-2449FF2256E0}"/>
            </a:ext>
          </a:extLst>
        </p:cNvPr>
        <p:cNvGrpSpPr/>
        <p:nvPr/>
      </p:nvGrpSpPr>
      <p:grpSpPr>
        <a:xfrm>
          <a:off x="0" y="0"/>
          <a:ext cx="0" cy="0"/>
          <a:chOff x="0" y="0"/>
          <a:chExt cx="0" cy="0"/>
        </a:xfrm>
      </p:grpSpPr>
      <p:sp>
        <p:nvSpPr>
          <p:cNvPr id="25" name="Text Placeholder 6">
            <a:extLst>
              <a:ext uri="{FF2B5EF4-FFF2-40B4-BE49-F238E27FC236}">
                <a16:creationId xmlns:a16="http://schemas.microsoft.com/office/drawing/2014/main" id="{8FA6D94A-2E4E-778C-B370-D1779AD21053}"/>
              </a:ext>
            </a:extLst>
          </p:cNvPr>
          <p:cNvSpPr>
            <a:spLocks noGrp="1"/>
          </p:cNvSpPr>
          <p:nvPr>
            <p:ph type="body" sz="quarter" idx="14"/>
          </p:nvPr>
        </p:nvSpPr>
        <p:spPr>
          <a:xfrm>
            <a:off x="269644" y="6395941"/>
            <a:ext cx="2700747" cy="380178"/>
          </a:xfrm>
        </p:spPr>
        <p:txBody>
          <a:bodyPr/>
          <a:lstStyle/>
          <a:p>
            <a:r>
              <a:rPr lang="en-GB" noProof="0">
                <a:latin typeface="Open Sans Light"/>
                <a:ea typeface="Open Sans Light"/>
                <a:cs typeface="Open Sans Light"/>
              </a:rPr>
              <a:t>Credits: Kernteam Open Science UU </a:t>
            </a:r>
          </a:p>
        </p:txBody>
      </p:sp>
      <p:sp>
        <p:nvSpPr>
          <p:cNvPr id="7" name="Vrije vorm: vorm 6">
            <a:extLst>
              <a:ext uri="{FF2B5EF4-FFF2-40B4-BE49-F238E27FC236}">
                <a16:creationId xmlns:a16="http://schemas.microsoft.com/office/drawing/2014/main" id="{6D283896-A138-8DD6-9207-A2BE3DFBF1D8}"/>
              </a:ext>
            </a:extLst>
          </p:cNvPr>
          <p:cNvSpPr/>
          <p:nvPr/>
        </p:nvSpPr>
        <p:spPr>
          <a:xfrm>
            <a:off x="1160986" y="708125"/>
            <a:ext cx="5553101" cy="5553101"/>
          </a:xfrm>
          <a:custGeom>
            <a:avLst/>
            <a:gdLst>
              <a:gd name="connsiteX0" fmla="*/ 2777273 w 5554547"/>
              <a:gd name="connsiteY0" fmla="*/ 0 h 5554547"/>
              <a:gd name="connsiteX1" fmla="*/ 5418618 w 5554547"/>
              <a:gd name="connsiteY1" fmla="*/ 1919049 h 5554547"/>
              <a:gd name="connsiteX2" fmla="*/ 2777274 w 5554547"/>
              <a:gd name="connsiteY2" fmla="*/ 2777274 h 5554547"/>
              <a:gd name="connsiteX3" fmla="*/ 2777273 w 5554547"/>
              <a:gd name="connsiteY3" fmla="*/ 0 h 5554547"/>
            </a:gdLst>
            <a:ahLst/>
            <a:cxnLst>
              <a:cxn ang="0">
                <a:pos x="connsiteX0" y="connsiteY0"/>
              </a:cxn>
              <a:cxn ang="0">
                <a:pos x="connsiteX1" y="connsiteY1"/>
              </a:cxn>
              <a:cxn ang="0">
                <a:pos x="connsiteX2" y="connsiteY2"/>
              </a:cxn>
              <a:cxn ang="0">
                <a:pos x="connsiteX3" y="connsiteY3"/>
              </a:cxn>
            </a:cxnLst>
            <a:rect l="l" t="t" r="r" b="b"/>
            <a:pathLst>
              <a:path w="5554547" h="5554547">
                <a:moveTo>
                  <a:pt x="2777273" y="0"/>
                </a:moveTo>
                <a:cubicBezTo>
                  <a:pt x="3980461" y="0"/>
                  <a:pt x="5046812" y="774749"/>
                  <a:pt x="5418618" y="1919049"/>
                </a:cubicBezTo>
                <a:lnTo>
                  <a:pt x="2777274" y="2777274"/>
                </a:lnTo>
                <a:cubicBezTo>
                  <a:pt x="2777274" y="1851516"/>
                  <a:pt x="2777273" y="925758"/>
                  <a:pt x="2777273" y="0"/>
                </a:cubicBezTo>
                <a:close/>
              </a:path>
            </a:pathLst>
          </a:custGeom>
          <a:ln w="1270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927340" tIns="963922" rIns="901780" bIns="3460173" numCol="1" spcCol="1270" anchor="ctr" anchorCtr="0">
            <a:noAutofit/>
          </a:bodyPr>
          <a:lstStyle>
            <a:defPPr lvl="0">
              <a:defRPr lang="nl-NL"/>
            </a:defPPr>
            <a:lvl1pPr marL="0" lvl="1" algn="l" defTabSz="914400" rtl="0" eaLnBrk="1" latinLnBrk="0" hangingPunct="1">
              <a:defRPr sz="1800" kern="1200">
                <a:solidFill>
                  <a:schemeClr val="lt1"/>
                </a:solidFill>
                <a:latin typeface="+mn-lt"/>
                <a:ea typeface="+mn-ea"/>
                <a:cs typeface="+mn-cs"/>
              </a:defRPr>
            </a:lvl1pPr>
            <a:lvl2pPr marL="457200" lvl="2" algn="l" defTabSz="914400" rtl="0" eaLnBrk="1" latinLnBrk="0" hangingPunct="1">
              <a:defRPr sz="1800" kern="1200">
                <a:solidFill>
                  <a:schemeClr val="lt1"/>
                </a:solidFill>
                <a:latin typeface="+mn-lt"/>
                <a:ea typeface="+mn-ea"/>
                <a:cs typeface="+mn-cs"/>
              </a:defRPr>
            </a:lvl2pPr>
            <a:lvl3pPr marL="914400" lvl="3" algn="l" defTabSz="914400" rtl="0" eaLnBrk="1" latinLnBrk="0" hangingPunct="1">
              <a:defRPr sz="1800" kern="1200">
                <a:solidFill>
                  <a:schemeClr val="lt1"/>
                </a:solidFill>
                <a:latin typeface="+mn-lt"/>
                <a:ea typeface="+mn-ea"/>
                <a:cs typeface="+mn-cs"/>
              </a:defRPr>
            </a:lvl3pPr>
            <a:lvl4pPr marL="1371600" lvl="4"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66480">
              <a:lnSpc>
                <a:spcPct val="90000"/>
              </a:lnSpc>
              <a:spcBef>
                <a:spcPct val="0"/>
              </a:spcBef>
              <a:spcAft>
                <a:spcPct val="35000"/>
              </a:spcAft>
            </a:pPr>
            <a:r>
              <a:rPr lang="en-GB" sz="1999" noProof="0">
                <a:solidFill>
                  <a:srgbClr val="000000"/>
                </a:solidFill>
                <a:latin typeface="Open Sans" panose="020B0606030504020204" pitchFamily="34" charset="0"/>
                <a:ea typeface="Open Sans" panose="020B0606030504020204" pitchFamily="34" charset="0"/>
                <a:cs typeface="Open Sans" panose="020B0606030504020204" pitchFamily="34" charset="0"/>
              </a:rPr>
              <a:t>Open Educational Practices</a:t>
            </a:r>
          </a:p>
        </p:txBody>
      </p:sp>
      <p:sp>
        <p:nvSpPr>
          <p:cNvPr id="11" name="Vrije vorm: vorm 10">
            <a:extLst>
              <a:ext uri="{FF2B5EF4-FFF2-40B4-BE49-F238E27FC236}">
                <a16:creationId xmlns:a16="http://schemas.microsoft.com/office/drawing/2014/main" id="{5D5C5ED2-45BD-83E5-BB3A-BFF81E6041BD}"/>
              </a:ext>
            </a:extLst>
          </p:cNvPr>
          <p:cNvSpPr/>
          <p:nvPr/>
        </p:nvSpPr>
        <p:spPr>
          <a:xfrm>
            <a:off x="1208585" y="856207"/>
            <a:ext cx="5553101" cy="5553101"/>
          </a:xfrm>
          <a:custGeom>
            <a:avLst/>
            <a:gdLst>
              <a:gd name="connsiteX0" fmla="*/ 5418618 w 5554547"/>
              <a:gd name="connsiteY0" fmla="*/ 1919049 h 5554547"/>
              <a:gd name="connsiteX1" fmla="*/ 4409714 w 5554547"/>
              <a:gd name="connsiteY1" fmla="*/ 5024136 h 5554547"/>
              <a:gd name="connsiteX2" fmla="*/ 2777274 w 5554547"/>
              <a:gd name="connsiteY2" fmla="*/ 2777274 h 5554547"/>
              <a:gd name="connsiteX3" fmla="*/ 5418618 w 5554547"/>
              <a:gd name="connsiteY3" fmla="*/ 1919049 h 5554547"/>
            </a:gdLst>
            <a:ahLst/>
            <a:cxnLst>
              <a:cxn ang="0">
                <a:pos x="connsiteX0" y="connsiteY0"/>
              </a:cxn>
              <a:cxn ang="0">
                <a:pos x="connsiteX1" y="connsiteY1"/>
              </a:cxn>
              <a:cxn ang="0">
                <a:pos x="connsiteX2" y="connsiteY2"/>
              </a:cxn>
              <a:cxn ang="0">
                <a:pos x="connsiteX3" y="connsiteY3"/>
              </a:cxn>
            </a:cxnLst>
            <a:rect l="l" t="t" r="r" b="b"/>
            <a:pathLst>
              <a:path w="5554547" h="5554547">
                <a:moveTo>
                  <a:pt x="5418618" y="1919049"/>
                </a:moveTo>
                <a:cubicBezTo>
                  <a:pt x="5790424" y="3063349"/>
                  <a:pt x="5383114" y="4316920"/>
                  <a:pt x="4409714" y="5024136"/>
                </a:cubicBezTo>
                <a:lnTo>
                  <a:pt x="2777274" y="2777274"/>
                </a:lnTo>
                <a:lnTo>
                  <a:pt x="5418618" y="1919049"/>
                </a:lnTo>
                <a:close/>
              </a:path>
            </a:pathLst>
          </a:custGeom>
          <a:ln w="1270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606933" tIns="2567710" rIns="354404" bIns="1724168" numCol="1" spcCol="1270" anchor="ctr" anchorCtr="0">
            <a:noAutofit/>
          </a:bodyPr>
          <a:lstStyle>
            <a:defPPr lvl="0">
              <a:defRPr lang="nl-NL"/>
            </a:defPPr>
            <a:lvl1pPr marL="0" lvl="1" algn="l" defTabSz="914400" rtl="0" eaLnBrk="1" latinLnBrk="0" hangingPunct="1">
              <a:defRPr sz="1800" kern="1200">
                <a:solidFill>
                  <a:schemeClr val="lt1"/>
                </a:solidFill>
                <a:latin typeface="+mn-lt"/>
                <a:ea typeface="+mn-ea"/>
                <a:cs typeface="+mn-cs"/>
              </a:defRPr>
            </a:lvl1pPr>
            <a:lvl2pPr marL="457200" lvl="2" algn="l" defTabSz="914400" rtl="0" eaLnBrk="1" latinLnBrk="0" hangingPunct="1">
              <a:defRPr sz="1800" kern="1200">
                <a:solidFill>
                  <a:schemeClr val="lt1"/>
                </a:solidFill>
                <a:latin typeface="+mn-lt"/>
                <a:ea typeface="+mn-ea"/>
                <a:cs typeface="+mn-cs"/>
              </a:defRPr>
            </a:lvl2pPr>
            <a:lvl3pPr marL="914400" lvl="3" algn="l" defTabSz="914400" rtl="0" eaLnBrk="1" latinLnBrk="0" hangingPunct="1">
              <a:defRPr sz="1800" kern="1200">
                <a:solidFill>
                  <a:schemeClr val="lt1"/>
                </a:solidFill>
                <a:latin typeface="+mn-lt"/>
                <a:ea typeface="+mn-ea"/>
                <a:cs typeface="+mn-cs"/>
              </a:defRPr>
            </a:lvl3pPr>
            <a:lvl4pPr marL="1371600" lvl="4"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66480">
              <a:lnSpc>
                <a:spcPct val="90000"/>
              </a:lnSpc>
              <a:spcBef>
                <a:spcPct val="0"/>
              </a:spcBef>
              <a:spcAft>
                <a:spcPct val="35000"/>
              </a:spcAft>
            </a:pPr>
            <a:r>
              <a:rPr lang="en-GB" sz="1999" noProof="0">
                <a:solidFill>
                  <a:srgbClr val="000000"/>
                </a:solidFill>
                <a:latin typeface="Open Sans" panose="020B0606030504020204" pitchFamily="34" charset="0"/>
                <a:ea typeface="Open Sans" panose="020B0606030504020204" pitchFamily="34" charset="0"/>
                <a:cs typeface="Open Sans" panose="020B0606030504020204" pitchFamily="34" charset="0"/>
              </a:rPr>
              <a:t>Open Materials</a:t>
            </a:r>
          </a:p>
        </p:txBody>
      </p:sp>
      <p:sp>
        <p:nvSpPr>
          <p:cNvPr id="12" name="Vrije vorm: vorm 11">
            <a:extLst>
              <a:ext uri="{FF2B5EF4-FFF2-40B4-BE49-F238E27FC236}">
                <a16:creationId xmlns:a16="http://schemas.microsoft.com/office/drawing/2014/main" id="{268E0879-CCD0-96C8-C9AE-B2DB178B31B8}"/>
              </a:ext>
            </a:extLst>
          </p:cNvPr>
          <p:cNvSpPr/>
          <p:nvPr/>
        </p:nvSpPr>
        <p:spPr>
          <a:xfrm>
            <a:off x="1082978" y="947436"/>
            <a:ext cx="5553101" cy="5553101"/>
          </a:xfrm>
          <a:custGeom>
            <a:avLst/>
            <a:gdLst>
              <a:gd name="connsiteX0" fmla="*/ 4409714 w 5554547"/>
              <a:gd name="connsiteY0" fmla="*/ 5024135 h 5554547"/>
              <a:gd name="connsiteX1" fmla="*/ 1144833 w 5554547"/>
              <a:gd name="connsiteY1" fmla="*/ 5024135 h 5554547"/>
              <a:gd name="connsiteX2" fmla="*/ 2777274 w 5554547"/>
              <a:gd name="connsiteY2" fmla="*/ 2777274 h 5554547"/>
              <a:gd name="connsiteX3" fmla="*/ 4409714 w 5554547"/>
              <a:gd name="connsiteY3" fmla="*/ 5024135 h 5554547"/>
            </a:gdLst>
            <a:ahLst/>
            <a:cxnLst>
              <a:cxn ang="0">
                <a:pos x="connsiteX0" y="connsiteY0"/>
              </a:cxn>
              <a:cxn ang="0">
                <a:pos x="connsiteX1" y="connsiteY1"/>
              </a:cxn>
              <a:cxn ang="0">
                <a:pos x="connsiteX2" y="connsiteY2"/>
              </a:cxn>
              <a:cxn ang="0">
                <a:pos x="connsiteX3" y="connsiteY3"/>
              </a:cxn>
            </a:cxnLst>
            <a:rect l="l" t="t" r="r" b="b"/>
            <a:pathLst>
              <a:path w="5554547" h="5554547">
                <a:moveTo>
                  <a:pt x="4409714" y="5024135"/>
                </a:moveTo>
                <a:cubicBezTo>
                  <a:pt x="3436314" y="5731351"/>
                  <a:pt x="2118232" y="5731351"/>
                  <a:pt x="1144833" y="5024135"/>
                </a:cubicBezTo>
                <a:lnTo>
                  <a:pt x="2777274" y="2777274"/>
                </a:lnTo>
                <a:lnTo>
                  <a:pt x="4409714" y="502413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13723" tIns="3930864" rIns="2013723" bIns="228797" numCol="1" spcCol="1270" anchor="ctr" anchorCtr="0">
            <a:noAutofit/>
          </a:bodyPr>
          <a:lstStyle>
            <a:defPPr lvl="0">
              <a:defRPr lang="nl-NL"/>
            </a:defPPr>
            <a:lvl1pPr marL="0" lvl="1" algn="l" defTabSz="914400" rtl="0" eaLnBrk="1" latinLnBrk="0" hangingPunct="1">
              <a:defRPr sz="1800" kern="1200">
                <a:solidFill>
                  <a:schemeClr val="lt1"/>
                </a:solidFill>
                <a:latin typeface="+mn-lt"/>
                <a:ea typeface="+mn-ea"/>
                <a:cs typeface="+mn-cs"/>
              </a:defRPr>
            </a:lvl1pPr>
            <a:lvl2pPr marL="457200" lvl="2" algn="l" defTabSz="914400" rtl="0" eaLnBrk="1" latinLnBrk="0" hangingPunct="1">
              <a:defRPr sz="1800" kern="1200">
                <a:solidFill>
                  <a:schemeClr val="lt1"/>
                </a:solidFill>
                <a:latin typeface="+mn-lt"/>
                <a:ea typeface="+mn-ea"/>
                <a:cs typeface="+mn-cs"/>
              </a:defRPr>
            </a:lvl2pPr>
            <a:lvl3pPr marL="914400" lvl="3" algn="l" defTabSz="914400" rtl="0" eaLnBrk="1" latinLnBrk="0" hangingPunct="1">
              <a:defRPr sz="1800" kern="1200">
                <a:solidFill>
                  <a:schemeClr val="lt1"/>
                </a:solidFill>
                <a:latin typeface="+mn-lt"/>
                <a:ea typeface="+mn-ea"/>
                <a:cs typeface="+mn-cs"/>
              </a:defRPr>
            </a:lvl3pPr>
            <a:lvl4pPr marL="1371600" lvl="4"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66480">
              <a:lnSpc>
                <a:spcPct val="90000"/>
              </a:lnSpc>
              <a:spcBef>
                <a:spcPct val="0"/>
              </a:spcBef>
              <a:spcAft>
                <a:spcPct val="35000"/>
              </a:spcAft>
            </a:pPr>
            <a:r>
              <a:rPr lang="en-GB" sz="1999" noProof="0">
                <a:solidFill>
                  <a:srgbClr val="000000"/>
                </a:solidFill>
                <a:latin typeface="Open Sans" panose="020B0606030504020204" pitchFamily="34" charset="0"/>
                <a:ea typeface="Open Sans" panose="020B0606030504020204" pitchFamily="34" charset="0"/>
                <a:cs typeface="Open Sans" panose="020B0606030504020204" pitchFamily="34" charset="0"/>
              </a:rPr>
              <a:t>Recognition &amp; Rewards</a:t>
            </a:r>
          </a:p>
        </p:txBody>
      </p:sp>
      <p:sp>
        <p:nvSpPr>
          <p:cNvPr id="13" name="Vrije vorm: vorm 12">
            <a:extLst>
              <a:ext uri="{FF2B5EF4-FFF2-40B4-BE49-F238E27FC236}">
                <a16:creationId xmlns:a16="http://schemas.microsoft.com/office/drawing/2014/main" id="{7E84DD25-BFA3-626B-7DD9-B42E2208B1B6}"/>
              </a:ext>
            </a:extLst>
          </p:cNvPr>
          <p:cNvSpPr/>
          <p:nvPr/>
        </p:nvSpPr>
        <p:spPr>
          <a:xfrm>
            <a:off x="303725" y="819631"/>
            <a:ext cx="6316477" cy="5804853"/>
          </a:xfrm>
          <a:custGeom>
            <a:avLst/>
            <a:gdLst>
              <a:gd name="connsiteX0" fmla="*/ 1144833 w 5554547"/>
              <a:gd name="connsiteY0" fmla="*/ 5024135 h 5554547"/>
              <a:gd name="connsiteX1" fmla="*/ 135929 w 5554547"/>
              <a:gd name="connsiteY1" fmla="*/ 1919048 h 5554547"/>
              <a:gd name="connsiteX2" fmla="*/ 2777274 w 5554547"/>
              <a:gd name="connsiteY2" fmla="*/ 2777274 h 5554547"/>
              <a:gd name="connsiteX3" fmla="*/ 1144833 w 5554547"/>
              <a:gd name="connsiteY3" fmla="*/ 5024135 h 5554547"/>
            </a:gdLst>
            <a:ahLst/>
            <a:cxnLst>
              <a:cxn ang="0">
                <a:pos x="connsiteX0" y="connsiteY0"/>
              </a:cxn>
              <a:cxn ang="0">
                <a:pos x="connsiteX1" y="connsiteY1"/>
              </a:cxn>
              <a:cxn ang="0">
                <a:pos x="connsiteX2" y="connsiteY2"/>
              </a:cxn>
              <a:cxn ang="0">
                <a:pos x="connsiteX3" y="connsiteY3"/>
              </a:cxn>
            </a:cxnLst>
            <a:rect l="l" t="t" r="r" b="b"/>
            <a:pathLst>
              <a:path w="5554547" h="5554547">
                <a:moveTo>
                  <a:pt x="1144833" y="5024135"/>
                </a:moveTo>
                <a:cubicBezTo>
                  <a:pt x="171433" y="4316919"/>
                  <a:pt x="-235876" y="3063348"/>
                  <a:pt x="135929" y="1919048"/>
                </a:cubicBezTo>
                <a:lnTo>
                  <a:pt x="2777274" y="2777274"/>
                </a:lnTo>
                <a:lnTo>
                  <a:pt x="1144833" y="5024135"/>
                </a:lnTo>
                <a:close/>
              </a:path>
            </a:pathLst>
          </a:custGeom>
          <a:ln>
            <a:solidFill>
              <a:srgbClr val="FF000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4404" tIns="2567710" rIns="3606933" bIns="1724168" numCol="1" spcCol="1270" anchor="ctr" anchorCtr="0">
            <a:noAutofit/>
          </a:bodyPr>
          <a:lstStyle>
            <a:defPPr lvl="0">
              <a:defRPr lang="nl-NL"/>
            </a:defPPr>
            <a:lvl1pPr marL="0" lvl="1" algn="l" defTabSz="914400" rtl="0" eaLnBrk="1" latinLnBrk="0" hangingPunct="1">
              <a:defRPr sz="1800" kern="1200">
                <a:solidFill>
                  <a:schemeClr val="lt1"/>
                </a:solidFill>
                <a:latin typeface="+mn-lt"/>
                <a:ea typeface="+mn-ea"/>
                <a:cs typeface="+mn-cs"/>
              </a:defRPr>
            </a:lvl1pPr>
            <a:lvl2pPr marL="457200" lvl="2" algn="l" defTabSz="914400" rtl="0" eaLnBrk="1" latinLnBrk="0" hangingPunct="1">
              <a:defRPr sz="1800" kern="1200">
                <a:solidFill>
                  <a:schemeClr val="lt1"/>
                </a:solidFill>
                <a:latin typeface="+mn-lt"/>
                <a:ea typeface="+mn-ea"/>
                <a:cs typeface="+mn-cs"/>
              </a:defRPr>
            </a:lvl2pPr>
            <a:lvl3pPr marL="914400" lvl="3" algn="l" defTabSz="914400" rtl="0" eaLnBrk="1" latinLnBrk="0" hangingPunct="1">
              <a:defRPr sz="1800" kern="1200">
                <a:solidFill>
                  <a:schemeClr val="lt1"/>
                </a:solidFill>
                <a:latin typeface="+mn-lt"/>
                <a:ea typeface="+mn-ea"/>
                <a:cs typeface="+mn-cs"/>
              </a:defRPr>
            </a:lvl3pPr>
            <a:lvl4pPr marL="1371600" lvl="4"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66480">
              <a:lnSpc>
                <a:spcPct val="90000"/>
              </a:lnSpc>
              <a:spcBef>
                <a:spcPct val="0"/>
              </a:spcBef>
              <a:spcAft>
                <a:spcPct val="35000"/>
              </a:spcAft>
            </a:pPr>
            <a:endParaRPr lang="en-GB" sz="1999" noProof="0">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Vrije vorm: vorm 13">
            <a:extLst>
              <a:ext uri="{FF2B5EF4-FFF2-40B4-BE49-F238E27FC236}">
                <a16:creationId xmlns:a16="http://schemas.microsoft.com/office/drawing/2014/main" id="{1181B1F2-8B44-0831-2361-C5AD7299817C}"/>
              </a:ext>
            </a:extLst>
          </p:cNvPr>
          <p:cNvSpPr/>
          <p:nvPr/>
        </p:nvSpPr>
        <p:spPr>
          <a:xfrm>
            <a:off x="1004971" y="708125"/>
            <a:ext cx="5553101" cy="5553101"/>
          </a:xfrm>
          <a:custGeom>
            <a:avLst/>
            <a:gdLst>
              <a:gd name="connsiteX0" fmla="*/ 135929 w 5554547"/>
              <a:gd name="connsiteY0" fmla="*/ 1919049 h 5554547"/>
              <a:gd name="connsiteX1" fmla="*/ 2777274 w 5554547"/>
              <a:gd name="connsiteY1" fmla="*/ 0 h 5554547"/>
              <a:gd name="connsiteX2" fmla="*/ 2777274 w 5554547"/>
              <a:gd name="connsiteY2" fmla="*/ 2777274 h 5554547"/>
              <a:gd name="connsiteX3" fmla="*/ 135929 w 5554547"/>
              <a:gd name="connsiteY3" fmla="*/ 1919049 h 5554547"/>
            </a:gdLst>
            <a:ahLst/>
            <a:cxnLst>
              <a:cxn ang="0">
                <a:pos x="connsiteX0" y="connsiteY0"/>
              </a:cxn>
              <a:cxn ang="0">
                <a:pos x="connsiteX1" y="connsiteY1"/>
              </a:cxn>
              <a:cxn ang="0">
                <a:pos x="connsiteX2" y="connsiteY2"/>
              </a:cxn>
              <a:cxn ang="0">
                <a:pos x="connsiteX3" y="connsiteY3"/>
              </a:cxn>
            </a:cxnLst>
            <a:rect l="l" t="t" r="r" b="b"/>
            <a:pathLst>
              <a:path w="5554547" h="5554547">
                <a:moveTo>
                  <a:pt x="135929" y="1919049"/>
                </a:moveTo>
                <a:cubicBezTo>
                  <a:pt x="507735" y="774749"/>
                  <a:pt x="1574086" y="0"/>
                  <a:pt x="2777274" y="0"/>
                </a:cubicBezTo>
                <a:lnTo>
                  <a:pt x="2777274" y="2777274"/>
                </a:lnTo>
                <a:lnTo>
                  <a:pt x="135929" y="1919049"/>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01780" tIns="963922" rIns="2927340" bIns="3460173" numCol="1" spcCol="1270" anchor="ctr" anchorCtr="0">
            <a:noAutofit/>
          </a:bodyPr>
          <a:lstStyle>
            <a:defPPr lvl="0">
              <a:defRPr lang="nl-NL"/>
            </a:defPPr>
            <a:lvl1pPr marL="0" lvl="1" algn="l" defTabSz="914400" rtl="0" eaLnBrk="1" latinLnBrk="0" hangingPunct="1">
              <a:defRPr sz="1800" kern="1200">
                <a:solidFill>
                  <a:schemeClr val="lt1"/>
                </a:solidFill>
                <a:latin typeface="+mn-lt"/>
                <a:ea typeface="+mn-ea"/>
                <a:cs typeface="+mn-cs"/>
              </a:defRPr>
            </a:lvl1pPr>
            <a:lvl2pPr marL="457200" lvl="2" algn="l" defTabSz="914400" rtl="0" eaLnBrk="1" latinLnBrk="0" hangingPunct="1">
              <a:defRPr sz="1800" kern="1200">
                <a:solidFill>
                  <a:schemeClr val="lt1"/>
                </a:solidFill>
                <a:latin typeface="+mn-lt"/>
                <a:ea typeface="+mn-ea"/>
                <a:cs typeface="+mn-cs"/>
              </a:defRPr>
            </a:lvl2pPr>
            <a:lvl3pPr marL="914400" lvl="3" algn="l" defTabSz="914400" rtl="0" eaLnBrk="1" latinLnBrk="0" hangingPunct="1">
              <a:defRPr sz="1800" kern="1200">
                <a:solidFill>
                  <a:schemeClr val="lt1"/>
                </a:solidFill>
                <a:latin typeface="+mn-lt"/>
                <a:ea typeface="+mn-ea"/>
                <a:cs typeface="+mn-cs"/>
              </a:defRPr>
            </a:lvl3pPr>
            <a:lvl4pPr marL="1371600" lvl="4"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066480">
              <a:lnSpc>
                <a:spcPct val="90000"/>
              </a:lnSpc>
              <a:spcBef>
                <a:spcPct val="0"/>
              </a:spcBef>
              <a:spcAft>
                <a:spcPct val="35000"/>
              </a:spcAft>
            </a:pPr>
            <a:r>
              <a:rPr lang="en-GB" sz="1999" noProof="0">
                <a:solidFill>
                  <a:srgbClr val="000000"/>
                </a:solidFill>
                <a:latin typeface="Open Sans" panose="020B0606030504020204" pitchFamily="34" charset="0"/>
                <a:ea typeface="Open Sans" panose="020B0606030504020204" pitchFamily="34" charset="0"/>
                <a:cs typeface="Open Sans" panose="020B0606030504020204" pitchFamily="34" charset="0"/>
              </a:rPr>
              <a:t>Open Learning Opportunities</a:t>
            </a:r>
          </a:p>
        </p:txBody>
      </p:sp>
      <p:sp>
        <p:nvSpPr>
          <p:cNvPr id="3" name="Tekstvak 2">
            <a:extLst>
              <a:ext uri="{FF2B5EF4-FFF2-40B4-BE49-F238E27FC236}">
                <a16:creationId xmlns:a16="http://schemas.microsoft.com/office/drawing/2014/main" id="{D577FD63-0112-CC4D-94A7-23A93D822E54}"/>
              </a:ext>
            </a:extLst>
          </p:cNvPr>
          <p:cNvSpPr txBox="1"/>
          <p:nvPr/>
        </p:nvSpPr>
        <p:spPr>
          <a:xfrm>
            <a:off x="535496" y="3912936"/>
            <a:ext cx="1942594" cy="747702"/>
          </a:xfrm>
          <a:prstGeom prst="rect">
            <a:avLst/>
          </a:prstGeom>
          <a:noFill/>
        </p:spPr>
        <p:txBody>
          <a:bodyPr wrap="square" lIns="0" tIns="0" rIns="0" bIns="0" rtlCol="0">
            <a:spAutoFit/>
          </a:bodyPr>
          <a:lstStyle/>
          <a:p>
            <a:pPr algn="ctr" defTabSz="1066480">
              <a:lnSpc>
                <a:spcPct val="90000"/>
              </a:lnSpc>
              <a:spcBef>
                <a:spcPct val="0"/>
              </a:spcBef>
              <a:spcAft>
                <a:spcPct val="35000"/>
              </a:spcAft>
            </a:pPr>
            <a:r>
              <a:rPr lang="en-GB" sz="1799" b="1" noProof="0">
                <a:solidFill>
                  <a:srgbClr val="000000"/>
                </a:solidFill>
                <a:latin typeface="Open Sans" panose="020B0606030504020204" pitchFamily="34" charset="0"/>
                <a:ea typeface="Open Sans" panose="020B0606030504020204" pitchFamily="34" charset="0"/>
                <a:cs typeface="Open Sans" panose="020B0606030504020204" pitchFamily="34" charset="0"/>
              </a:rPr>
              <a:t>Teaching </a:t>
            </a:r>
            <a:br>
              <a:rPr lang="en-GB" sz="1799" b="1" noProof="0">
                <a:solidFill>
                  <a:srgbClr val="000000"/>
                </a:solidFill>
                <a:latin typeface="Open Sans" panose="020B0606030504020204" pitchFamily="34" charset="0"/>
                <a:ea typeface="Open Sans" panose="020B0606030504020204" pitchFamily="34" charset="0"/>
                <a:cs typeface="Open Sans" panose="020B0606030504020204" pitchFamily="34" charset="0"/>
              </a:rPr>
            </a:br>
            <a:r>
              <a:rPr lang="en-GB" sz="1799" b="1" noProof="0">
                <a:solidFill>
                  <a:srgbClr val="000000"/>
                </a:solidFill>
                <a:latin typeface="Open Sans" panose="020B0606030504020204" pitchFamily="34" charset="0"/>
                <a:ea typeface="Open Sans" panose="020B0606030504020204" pitchFamily="34" charset="0"/>
                <a:cs typeface="Open Sans" panose="020B0606030504020204" pitchFamily="34" charset="0"/>
              </a:rPr>
              <a:t>Open </a:t>
            </a:r>
            <a:br>
              <a:rPr lang="en-GB" sz="1799" b="1" noProof="0">
                <a:solidFill>
                  <a:srgbClr val="000000"/>
                </a:solidFill>
                <a:latin typeface="Open Sans" panose="020B0606030504020204" pitchFamily="34" charset="0"/>
                <a:ea typeface="Open Sans" panose="020B0606030504020204" pitchFamily="34" charset="0"/>
                <a:cs typeface="Open Sans" panose="020B0606030504020204" pitchFamily="34" charset="0"/>
              </a:rPr>
            </a:br>
            <a:r>
              <a:rPr lang="en-GB" sz="1799" b="1" noProof="0">
                <a:solidFill>
                  <a:srgbClr val="000000"/>
                </a:solidFill>
                <a:latin typeface="Open Sans" panose="020B0606030504020204" pitchFamily="34" charset="0"/>
                <a:ea typeface="Open Sans" panose="020B0606030504020204" pitchFamily="34" charset="0"/>
                <a:cs typeface="Open Sans" panose="020B0606030504020204" pitchFamily="34" charset="0"/>
              </a:rPr>
              <a:t>Science</a:t>
            </a:r>
          </a:p>
        </p:txBody>
      </p:sp>
      <p:sp>
        <p:nvSpPr>
          <p:cNvPr id="8" name="Title 1">
            <a:extLst>
              <a:ext uri="{FF2B5EF4-FFF2-40B4-BE49-F238E27FC236}">
                <a16:creationId xmlns:a16="http://schemas.microsoft.com/office/drawing/2014/main" id="{41E0B379-16E1-9CAB-D7EB-C71F8A26B748}"/>
              </a:ext>
            </a:extLst>
          </p:cNvPr>
          <p:cNvSpPr txBox="1">
            <a:spLocks/>
          </p:cNvSpPr>
          <p:nvPr/>
        </p:nvSpPr>
        <p:spPr>
          <a:xfrm>
            <a:off x="-1280" y="1250"/>
            <a:ext cx="12193280" cy="576370"/>
          </a:xfrm>
          <a:prstGeom prst="rect">
            <a:avLst/>
          </a:prstGeom>
          <a:solidFill>
            <a:srgbClr val="FFCD00"/>
          </a:solidFill>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000" b="1" noProof="0">
                <a:latin typeface="Calibri"/>
                <a:ea typeface="Calibri"/>
                <a:cs typeface="Calibri"/>
              </a:rPr>
              <a:t>Open Education @UU</a:t>
            </a:r>
            <a:endParaRPr lang="en-GB" sz="3000" b="1" noProof="0"/>
          </a:p>
        </p:txBody>
      </p:sp>
      <p:pic>
        <p:nvPicPr>
          <p:cNvPr id="2" name="Picture 20">
            <a:extLst>
              <a:ext uri="{FF2B5EF4-FFF2-40B4-BE49-F238E27FC236}">
                <a16:creationId xmlns:a16="http://schemas.microsoft.com/office/drawing/2014/main" id="{17A6B085-EFB3-CB5B-0F8F-130CC57953B9}"/>
              </a:ext>
            </a:extLst>
          </p:cNvPr>
          <p:cNvPicPr>
            <a:picLocks noChangeAspect="1"/>
          </p:cNvPicPr>
          <p:nvPr/>
        </p:nvPicPr>
        <p:blipFill>
          <a:blip r:embed="rId3"/>
          <a:stretch>
            <a:fillRect/>
          </a:stretch>
        </p:blipFill>
        <p:spPr>
          <a:xfrm>
            <a:off x="26821" y="39975"/>
            <a:ext cx="523875" cy="523875"/>
          </a:xfrm>
          <a:prstGeom prst="rect">
            <a:avLst/>
          </a:prstGeom>
        </p:spPr>
      </p:pic>
      <p:sp>
        <p:nvSpPr>
          <p:cNvPr id="4" name="TextBox 3">
            <a:extLst>
              <a:ext uri="{FF2B5EF4-FFF2-40B4-BE49-F238E27FC236}">
                <a16:creationId xmlns:a16="http://schemas.microsoft.com/office/drawing/2014/main" id="{DF35CC32-6811-A0B7-F253-CF91D24B83B4}"/>
              </a:ext>
            </a:extLst>
          </p:cNvPr>
          <p:cNvSpPr txBox="1"/>
          <p:nvPr/>
        </p:nvSpPr>
        <p:spPr>
          <a:xfrm>
            <a:off x="7089677" y="857077"/>
            <a:ext cx="4768014" cy="5424562"/>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en-GB" b="1" noProof="0"/>
              <a:t>Community for Open Science in Education (COSiE)</a:t>
            </a:r>
          </a:p>
          <a:p>
            <a:pPr fontAlgn="base"/>
            <a:endParaRPr lang="en-GB" sz="1050" noProof="0"/>
          </a:p>
          <a:p>
            <a:pPr fontAlgn="base"/>
            <a:r>
              <a:rPr lang="en-GB" sz="1600" noProof="0"/>
              <a:t>Goals:​</a:t>
            </a:r>
          </a:p>
          <a:p>
            <a:pPr fontAlgn="base"/>
            <a:endParaRPr lang="en-GB" sz="200" noProof="0"/>
          </a:p>
          <a:p>
            <a:pPr marL="285750" indent="-285750" fontAlgn="base">
              <a:buFont typeface="Arial" panose="020B0604020202020204" pitchFamily="34" charset="0"/>
              <a:buChar char="•"/>
            </a:pPr>
            <a:r>
              <a:rPr lang="en-GB" sz="1600" noProof="0"/>
              <a:t>Identify the core Open Science values shared across all disciplines​</a:t>
            </a:r>
            <a:endParaRPr lang="en-GB" sz="1600" noProof="0">
              <a:ea typeface="Calibri"/>
              <a:cs typeface="Calibri"/>
            </a:endParaRPr>
          </a:p>
          <a:p>
            <a:pPr marL="285750" indent="-285750" fontAlgn="base">
              <a:buFont typeface="Arial" panose="020B0604020202020204" pitchFamily="34" charset="0"/>
              <a:buChar char="•"/>
            </a:pPr>
            <a:r>
              <a:rPr lang="en-GB" sz="1600" noProof="0"/>
              <a:t>Translate this ambition into concrete educational strategies​</a:t>
            </a:r>
          </a:p>
          <a:p>
            <a:pPr fontAlgn="base"/>
            <a:endParaRPr lang="en-GB" sz="1100" noProof="0"/>
          </a:p>
          <a:p>
            <a:pPr fontAlgn="base"/>
            <a:r>
              <a:rPr lang="en-GB" sz="1600">
                <a:ea typeface="Calibri"/>
                <a:cs typeface="Calibri"/>
              </a:rPr>
              <a:t>March 2026</a:t>
            </a:r>
            <a:endParaRPr lang="en-GB" sz="1600"/>
          </a:p>
          <a:p>
            <a:r>
              <a:rPr lang="en-GB" sz="1600" noProof="0"/>
              <a:t>Funded by: Utrecht Incentive Fund (USO)</a:t>
            </a:r>
            <a:endParaRPr lang="en-GB"/>
          </a:p>
          <a:p>
            <a:endParaRPr lang="en-GB"/>
          </a:p>
          <a:p>
            <a:endParaRPr lang="en-GB"/>
          </a:p>
          <a:p>
            <a:endParaRPr lang="en-GB"/>
          </a:p>
          <a:p>
            <a:endParaRPr lang="en-GB"/>
          </a:p>
          <a:p>
            <a:endParaRPr lang="en-GB"/>
          </a:p>
          <a:p>
            <a:endParaRPr lang="en-GB"/>
          </a:p>
          <a:p>
            <a:pPr fontAlgn="base"/>
            <a:r>
              <a:rPr lang="en-GB" sz="1600" b="1" noProof="0"/>
              <a:t>Contact information</a:t>
            </a:r>
            <a:r>
              <a:rPr lang="en-GB" sz="1600" noProof="0"/>
              <a:t>​</a:t>
            </a:r>
            <a:endParaRPr lang="en-GB" sz="1600" noProof="0">
              <a:ea typeface="Calibri"/>
              <a:cs typeface="Calibri"/>
            </a:endParaRPr>
          </a:p>
          <a:p>
            <a:pPr fontAlgn="base"/>
            <a:r>
              <a:rPr lang="en-GB" sz="1600" noProof="0"/>
              <a:t>​Marie-Louise Goudeau​ (community manager)</a:t>
            </a:r>
            <a:endParaRPr lang="en-GB" sz="1600" noProof="0">
              <a:ea typeface="Calibri"/>
              <a:cs typeface="Calibri"/>
            </a:endParaRPr>
          </a:p>
          <a:p>
            <a:pPr fontAlgn="base"/>
            <a:r>
              <a:rPr lang="en-GB" sz="1600" u="sng" noProof="0">
                <a:hlinkClick r:id="rId4"/>
              </a:rPr>
              <a:t>m.s.goudeau@uu.nl</a:t>
            </a:r>
            <a:r>
              <a:rPr lang="en-GB" sz="1600" noProof="0"/>
              <a:t> ​</a:t>
            </a:r>
            <a:endParaRPr lang="en-GB" sz="1600" noProof="0">
              <a:ea typeface="Calibri"/>
              <a:cs typeface="Calibri"/>
            </a:endParaRPr>
          </a:p>
          <a:p>
            <a:pPr fontAlgn="base"/>
            <a:endParaRPr lang="en-GB" sz="1100" noProof="0">
              <a:ea typeface="Calibri"/>
              <a:cs typeface="Calibri"/>
            </a:endParaRPr>
          </a:p>
          <a:p>
            <a:pPr fontAlgn="base"/>
            <a:r>
              <a:rPr lang="en-GB" sz="1600" noProof="0"/>
              <a:t>​Marc van Mil​ (project leader)</a:t>
            </a:r>
            <a:endParaRPr lang="en-GB" sz="1600" noProof="0">
              <a:ea typeface="Calibri"/>
              <a:cs typeface="Calibri"/>
            </a:endParaRPr>
          </a:p>
          <a:p>
            <a:pPr fontAlgn="base"/>
            <a:r>
              <a:rPr lang="en-GB" sz="1600" u="sng" noProof="0">
                <a:hlinkClick r:id="rId5"/>
              </a:rPr>
              <a:t>m.h.w.vanmil@umcutrecht.nl</a:t>
            </a:r>
            <a:r>
              <a:rPr lang="en-GB" sz="1600" noProof="0"/>
              <a:t> </a:t>
            </a:r>
            <a:endParaRPr lang="en-GB" sz="1600" noProof="0">
              <a:ea typeface="Calibri"/>
              <a:cs typeface="Calibri"/>
            </a:endParaRPr>
          </a:p>
        </p:txBody>
      </p:sp>
    </p:spTree>
    <p:extLst>
      <p:ext uri="{BB962C8B-B14F-4D97-AF65-F5344CB8AC3E}">
        <p14:creationId xmlns:p14="http://schemas.microsoft.com/office/powerpoint/2010/main" val="1745932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6EFC-1BDE-CC83-CCFF-F8697CB75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290D9-4C1F-74F8-796B-C80A96F3BED8}"/>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1. Set out openness goals at the start of a course</a:t>
            </a:r>
            <a:endParaRPr lang="en-GB" noProof="0"/>
          </a:p>
        </p:txBody>
      </p:sp>
      <p:sp>
        <p:nvSpPr>
          <p:cNvPr id="4" name="Rectangle: Rounded Corners 3">
            <a:extLst>
              <a:ext uri="{FF2B5EF4-FFF2-40B4-BE49-F238E27FC236}">
                <a16:creationId xmlns:a16="http://schemas.microsoft.com/office/drawing/2014/main" id="{035E8DE2-7D68-B630-5F82-09550D042F21}"/>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468CB35E-C4F7-304F-B4AB-9926D392EF34}"/>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A1C570E7-8415-F2F7-9430-386B3C07450A}"/>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74E6B230-7E0A-8DB3-E242-2762CD02F8E1}"/>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FE3FC31A-6B09-B593-A3B2-9E228611E062}"/>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B63E2A42-2117-EA04-1C9B-5FD773F28D53}"/>
              </a:ext>
            </a:extLst>
          </p:cNvPr>
          <p:cNvSpPr txBox="1"/>
          <p:nvPr/>
        </p:nvSpPr>
        <p:spPr>
          <a:xfrm>
            <a:off x="224888" y="853042"/>
            <a:ext cx="401069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'In this course we work openly' </a:t>
            </a:r>
            <a:endParaRPr lang="en-GB" noProof="0"/>
          </a:p>
        </p:txBody>
      </p:sp>
      <p:sp>
        <p:nvSpPr>
          <p:cNvPr id="11" name="TextBox 10">
            <a:extLst>
              <a:ext uri="{FF2B5EF4-FFF2-40B4-BE49-F238E27FC236}">
                <a16:creationId xmlns:a16="http://schemas.microsoft.com/office/drawing/2014/main" id="{5F6265F4-7BDC-BA14-11FA-668796160F88}"/>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9227F5CA-E6B8-7388-8813-67D21B6E4B5A}"/>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A5746A90-F963-CBE7-609D-72293C80FEE3}"/>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D93ED4D5-397F-EA7F-EEAA-3ACCDA9426ED}"/>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EED3DA7F-8C5E-02F8-5421-C7648D7CD17E}"/>
              </a:ext>
            </a:extLst>
          </p:cNvPr>
          <p:cNvPicPr>
            <a:picLocks noChangeAspect="1"/>
          </p:cNvPicPr>
          <p:nvPr/>
        </p:nvPicPr>
        <p:blipFill>
          <a:blip r:embed="rId2"/>
          <a:stretch>
            <a:fillRect/>
          </a:stretch>
        </p:blipFill>
        <p:spPr>
          <a:xfrm>
            <a:off x="26821" y="30831"/>
            <a:ext cx="523875" cy="523875"/>
          </a:xfrm>
          <a:prstGeom prst="rect">
            <a:avLst/>
          </a:prstGeom>
        </p:spPr>
      </p:pic>
      <p:sp>
        <p:nvSpPr>
          <p:cNvPr id="16" name="TextBox 15">
            <a:extLst>
              <a:ext uri="{FF2B5EF4-FFF2-40B4-BE49-F238E27FC236}">
                <a16:creationId xmlns:a16="http://schemas.microsoft.com/office/drawing/2014/main" id="{E3797FAF-B2D0-E481-C100-34F08DA321E0}"/>
              </a:ext>
            </a:extLst>
          </p:cNvPr>
          <p:cNvSpPr txBox="1"/>
          <p:nvPr/>
        </p:nvSpPr>
        <p:spPr>
          <a:xfrm>
            <a:off x="430389" y="1210958"/>
            <a:ext cx="3640666"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Course descriptions, course manuals, LMS pages or in the oral course introduction you can make explicit why and how (elements) of the course are based on open education principles.</a:t>
            </a:r>
            <a:endParaRPr lang="en-GB" noProof="0">
              <a:latin typeface="Aptos" panose="020B0004020202020204"/>
              <a:ea typeface="Calibri"/>
              <a:cs typeface="Calibri"/>
            </a:endParaRPr>
          </a:p>
          <a:p>
            <a:r>
              <a:rPr lang="en-GB" sz="1600" noProof="0">
                <a:latin typeface="Calibri"/>
                <a:ea typeface="Calibri"/>
                <a:cs typeface="Calibri"/>
              </a:rPr>
              <a:t>It can include remarks on the role/position of the teacher in this open way of working. </a:t>
            </a:r>
            <a:endParaRPr lang="en-GB" noProof="0"/>
          </a:p>
        </p:txBody>
      </p:sp>
      <p:sp>
        <p:nvSpPr>
          <p:cNvPr id="17" name="TextBox 16">
            <a:extLst>
              <a:ext uri="{FF2B5EF4-FFF2-40B4-BE49-F238E27FC236}">
                <a16:creationId xmlns:a16="http://schemas.microsoft.com/office/drawing/2014/main" id="{27AF2FEE-6717-0711-1B70-EDDEE4624280}"/>
              </a:ext>
            </a:extLst>
          </p:cNvPr>
          <p:cNvSpPr txBox="1"/>
          <p:nvPr/>
        </p:nvSpPr>
        <p:spPr>
          <a:xfrm>
            <a:off x="427463" y="4293220"/>
            <a:ext cx="3401122"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Segoe UI"/>
                <a:cs typeface="Segoe UI"/>
              </a:rPr>
              <a:t>Making OE-elements of the course explicit right from the start</a:t>
            </a:r>
            <a:r>
              <a:rPr lang="en-GB" sz="1600" baseline="0" noProof="0">
                <a:latin typeface="Calibri"/>
                <a:ea typeface="Segoe UI"/>
                <a:cs typeface="Segoe UI"/>
              </a:rPr>
              <a:t> </a:t>
            </a:r>
            <a:r>
              <a:rPr lang="en-GB" sz="1600" noProof="0">
                <a:latin typeface="Calibri"/>
                <a:ea typeface="Segoe UI"/>
                <a:cs typeface="Segoe UI"/>
              </a:rPr>
              <a:t>helps get</a:t>
            </a:r>
            <a:r>
              <a:rPr lang="en-GB" sz="1600" baseline="0" noProof="0">
                <a:latin typeface="Calibri"/>
                <a:ea typeface="Segoe UI"/>
                <a:cs typeface="Segoe UI"/>
              </a:rPr>
              <a:t> students in the right mindset to </a:t>
            </a:r>
            <a:r>
              <a:rPr lang="en-GB" sz="1600" noProof="0">
                <a:latin typeface="Calibri"/>
                <a:ea typeface="Segoe UI"/>
                <a:cs typeface="Segoe UI"/>
              </a:rPr>
              <a:t>profit from</a:t>
            </a:r>
            <a:r>
              <a:rPr lang="en-GB" sz="1600" baseline="0" noProof="0">
                <a:latin typeface="Calibri"/>
                <a:ea typeface="Segoe UI"/>
                <a:cs typeface="Segoe UI"/>
              </a:rPr>
              <a:t> and contribute to that </a:t>
            </a:r>
            <a:r>
              <a:rPr lang="en-GB" sz="1600" noProof="0">
                <a:latin typeface="Calibri"/>
                <a:ea typeface="Segoe UI"/>
                <a:cs typeface="Segoe UI"/>
              </a:rPr>
              <a:t>open approach</a:t>
            </a:r>
            <a:r>
              <a:rPr lang="en-GB" sz="1600" baseline="0" noProof="0">
                <a:latin typeface="Calibri"/>
                <a:ea typeface="Segoe UI"/>
                <a:cs typeface="Segoe UI"/>
              </a:rPr>
              <a:t>, especially </a:t>
            </a:r>
            <a:r>
              <a:rPr lang="en-GB" sz="1600" noProof="0">
                <a:latin typeface="Calibri"/>
                <a:ea typeface="Segoe UI"/>
                <a:cs typeface="Segoe UI"/>
              </a:rPr>
              <a:t>if it implies a new or unfamiliar way of working for students</a:t>
            </a:r>
            <a:r>
              <a:rPr lang="en-GB" sz="1600" baseline="0" noProof="0">
                <a:latin typeface="Calibri"/>
                <a:ea typeface="Segoe UI"/>
                <a:cs typeface="Segoe UI"/>
              </a:rPr>
              <a:t>.</a:t>
            </a:r>
            <a:endParaRPr lang="en-GB" noProof="0"/>
          </a:p>
          <a:p>
            <a:pPr algn="ctr"/>
            <a:endParaRPr lang="en-GB" noProof="0"/>
          </a:p>
        </p:txBody>
      </p:sp>
      <p:sp>
        <p:nvSpPr>
          <p:cNvPr id="18" name="TextBox 17">
            <a:extLst>
              <a:ext uri="{FF2B5EF4-FFF2-40B4-BE49-F238E27FC236}">
                <a16:creationId xmlns:a16="http://schemas.microsoft.com/office/drawing/2014/main" id="{1B08210F-1008-E083-E8F3-2ADAB7D12115}"/>
              </a:ext>
            </a:extLst>
          </p:cNvPr>
          <p:cNvSpPr txBox="1"/>
          <p:nvPr/>
        </p:nvSpPr>
        <p:spPr>
          <a:xfrm>
            <a:off x="4739267" y="1179279"/>
            <a:ext cx="459058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Most practical is to start with a statement on the what: which open practices might students encounter in your course, especially ones that they should reckon with from the start, like using open licensed resources, using open licenses on resources shared, fostering reproducibility in experiments and especially giving students any say in the content or process of the course.</a:t>
            </a:r>
          </a:p>
          <a:p>
            <a:endParaRPr lang="en-GB" sz="1100" noProof="0">
              <a:latin typeface="Calibri"/>
              <a:ea typeface="Calibri"/>
              <a:cs typeface="Calibri"/>
            </a:endParaRPr>
          </a:p>
          <a:p>
            <a:r>
              <a:rPr lang="en-GB" sz="1600" noProof="0">
                <a:latin typeface="Calibri"/>
                <a:ea typeface="Calibri"/>
                <a:cs typeface="Calibri"/>
              </a:rPr>
              <a:t>This could lead to a brief Q&amp;A on the why of your open approach. In that </a:t>
            </a:r>
            <a:r>
              <a:rPr lang="en-GB" sz="1600" b="1" noProof="0">
                <a:latin typeface="Calibri"/>
                <a:ea typeface="Calibri"/>
                <a:cs typeface="Calibri"/>
              </a:rPr>
              <a:t>advantages at system level</a:t>
            </a:r>
            <a:r>
              <a:rPr lang="en-GB" sz="1600" noProof="0">
                <a:latin typeface="Calibri"/>
                <a:ea typeface="Calibri"/>
                <a:cs typeface="Calibri"/>
              </a:rPr>
              <a:t> (functioning of the science system) could be separated from </a:t>
            </a:r>
            <a:r>
              <a:rPr lang="en-GB" sz="1600" b="1" noProof="0">
                <a:latin typeface="Calibri"/>
                <a:ea typeface="Calibri"/>
                <a:cs typeface="Calibri"/>
              </a:rPr>
              <a:t>advantages in the course or project itself</a:t>
            </a:r>
            <a:r>
              <a:rPr lang="en-GB" sz="1600" noProof="0">
                <a:latin typeface="Calibri"/>
                <a:ea typeface="Calibri"/>
                <a:cs typeface="Calibri"/>
              </a:rPr>
              <a:t> (e.g. good RDM and documentation or using  free OA and open-source resources) and from </a:t>
            </a:r>
            <a:r>
              <a:rPr lang="en-GB" sz="1600" b="1" noProof="0">
                <a:latin typeface="Calibri"/>
                <a:ea typeface="Calibri"/>
                <a:cs typeface="Calibri"/>
              </a:rPr>
              <a:t>advantages for students' expertise and skills</a:t>
            </a:r>
            <a:r>
              <a:rPr lang="en-GB" sz="1600" noProof="0">
                <a:latin typeface="Calibri"/>
                <a:ea typeface="Calibri"/>
                <a:cs typeface="Calibri"/>
              </a:rPr>
              <a:t> that with an open approach might be a better match for future functions in society.</a:t>
            </a:r>
          </a:p>
          <a:p>
            <a:endParaRPr lang="en-GB" sz="1100" noProof="0">
              <a:latin typeface="Calibri"/>
              <a:ea typeface="Calibri"/>
              <a:cs typeface="Calibri"/>
            </a:endParaRPr>
          </a:p>
          <a:p>
            <a:r>
              <a:rPr lang="en-GB" sz="1600" noProof="0">
                <a:latin typeface="Calibri"/>
                <a:ea typeface="Calibri"/>
                <a:cs typeface="Calibri"/>
              </a:rPr>
              <a:t>In all this honesty about pros/cons and uncertainties during this transition to open is key.</a:t>
            </a:r>
          </a:p>
        </p:txBody>
      </p:sp>
      <p:sp>
        <p:nvSpPr>
          <p:cNvPr id="20" name="TextBox 19">
            <a:extLst>
              <a:ext uri="{FF2B5EF4-FFF2-40B4-BE49-F238E27FC236}">
                <a16:creationId xmlns:a16="http://schemas.microsoft.com/office/drawing/2014/main" id="{245225E1-3B01-1096-7EAE-763D703B1F83}"/>
              </a:ext>
            </a:extLst>
          </p:cNvPr>
          <p:cNvSpPr txBox="1"/>
          <p:nvPr/>
        </p:nvSpPr>
        <p:spPr>
          <a:xfrm>
            <a:off x="9936803" y="1148590"/>
            <a:ext cx="1828593"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Life Science &amp; Society Profile</a:t>
            </a:r>
            <a:r>
              <a:rPr lang="en-GB" sz="1600" noProof="0">
                <a:latin typeface="Calibri"/>
                <a:ea typeface="Calibri"/>
                <a:cs typeface="Calibri"/>
              </a:rPr>
              <a:t> of the UU Graduate School of Life Sciences</a:t>
            </a:r>
          </a:p>
        </p:txBody>
      </p:sp>
      <p:pic>
        <p:nvPicPr>
          <p:cNvPr id="3" name="Picture 26">
            <a:extLst>
              <a:ext uri="{FF2B5EF4-FFF2-40B4-BE49-F238E27FC236}">
                <a16:creationId xmlns:a16="http://schemas.microsoft.com/office/drawing/2014/main" id="{34A64F7C-0965-CAF6-1193-143308AE6129}"/>
              </a:ext>
            </a:extLst>
          </p:cNvPr>
          <p:cNvPicPr>
            <a:picLocks noChangeAspect="1"/>
          </p:cNvPicPr>
          <p:nvPr/>
        </p:nvPicPr>
        <p:blipFill>
          <a:blip r:embed="rId4"/>
          <a:stretch>
            <a:fillRect/>
          </a:stretch>
        </p:blipFill>
        <p:spPr>
          <a:xfrm>
            <a:off x="11571081" y="108056"/>
            <a:ext cx="399072" cy="370500"/>
          </a:xfrm>
          <a:prstGeom prst="rect">
            <a:avLst/>
          </a:prstGeom>
        </p:spPr>
      </p:pic>
      <p:sp>
        <p:nvSpPr>
          <p:cNvPr id="6" name="TextBox 19">
            <a:extLst>
              <a:ext uri="{FF2B5EF4-FFF2-40B4-BE49-F238E27FC236}">
                <a16:creationId xmlns:a16="http://schemas.microsoft.com/office/drawing/2014/main" id="{3C431629-6231-E0AA-4320-D45EFE5A6833}"/>
              </a:ext>
            </a:extLst>
          </p:cNvPr>
          <p:cNvSpPr txBox="1"/>
          <p:nvPr/>
        </p:nvSpPr>
        <p:spPr>
          <a:xfrm>
            <a:off x="9935944" y="4292948"/>
            <a:ext cx="1871181"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panose="020F0502020204030204" pitchFamily="34" charset="0"/>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Toolbox Inclusive Teaching UU</a:t>
            </a:r>
            <a:r>
              <a:rPr lang="en-GB" sz="1600" noProof="0">
                <a:latin typeface="Calibri" panose="020F0502020204030204" pitchFamily="34" charset="0"/>
                <a:ea typeface="Calibri" panose="020F0502020204030204" pitchFamily="34" charset="0"/>
                <a:cs typeface="Calibri" panose="020F0502020204030204" pitchFamily="34" charset="0"/>
              </a:rPr>
              <a:t> </a:t>
            </a:r>
          </a:p>
          <a:p>
            <a:endParaRPr lang="en-GB" sz="1600" noProof="0">
              <a:latin typeface="Calibri" panose="020F0502020204030204" pitchFamily="34" charset="0"/>
              <a:ea typeface="Calibri" panose="020F0502020204030204" pitchFamily="34" charset="0"/>
              <a:cs typeface="Calibri" panose="020F0502020204030204" pitchFamily="34" charset="0"/>
            </a:endParaRPr>
          </a:p>
          <a:p>
            <a:endParaRPr lang="en-GB" sz="1400" noProof="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3413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D0F1F-CAA6-A858-4C14-981FD15EE2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1FB44-84A5-8E1E-4E1F-97061134C586}"/>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Set out openness goals at the start of a course</a:t>
            </a:r>
            <a:endParaRPr lang="en-GB" noProof="0"/>
          </a:p>
        </p:txBody>
      </p:sp>
      <p:pic>
        <p:nvPicPr>
          <p:cNvPr id="22" name="Picture 21">
            <a:extLst>
              <a:ext uri="{FF2B5EF4-FFF2-40B4-BE49-F238E27FC236}">
                <a16:creationId xmlns:a16="http://schemas.microsoft.com/office/drawing/2014/main" id="{D09877AF-99C6-6F91-B54B-3076189795E4}"/>
              </a:ext>
            </a:extLst>
          </p:cNvPr>
          <p:cNvPicPr>
            <a:picLocks noChangeAspect="1"/>
          </p:cNvPicPr>
          <p:nvPr/>
        </p:nvPicPr>
        <p:blipFill>
          <a:blip r:embed="rId2"/>
          <a:stretch>
            <a:fillRect/>
          </a:stretch>
        </p:blipFill>
        <p:spPr>
          <a:xfrm>
            <a:off x="26821" y="30831"/>
            <a:ext cx="523875" cy="523875"/>
          </a:xfrm>
          <a:prstGeom prst="rect">
            <a:avLst/>
          </a:prstGeom>
        </p:spPr>
      </p:pic>
      <p:pic>
        <p:nvPicPr>
          <p:cNvPr id="4" name="Afbeelding 3" descr="Afbeelding met tekst, schermopname, Lettertype, document&#10;&#10;Door AI gegenereerde inhoud is mogelijk onjuist.">
            <a:hlinkClick r:id="rId3"/>
            <a:extLst>
              <a:ext uri="{FF2B5EF4-FFF2-40B4-BE49-F238E27FC236}">
                <a16:creationId xmlns:a16="http://schemas.microsoft.com/office/drawing/2014/main" id="{C4B77AB9-D242-203A-9F91-2F98FEF88901}"/>
              </a:ext>
            </a:extLst>
          </p:cNvPr>
          <p:cNvPicPr>
            <a:picLocks noChangeAspect="1"/>
          </p:cNvPicPr>
          <p:nvPr/>
        </p:nvPicPr>
        <p:blipFill>
          <a:blip r:embed="rId4"/>
          <a:stretch>
            <a:fillRect/>
          </a:stretch>
        </p:blipFill>
        <p:spPr>
          <a:xfrm>
            <a:off x="578161" y="1158948"/>
            <a:ext cx="6684264" cy="5558938"/>
          </a:xfrm>
          <a:prstGeom prst="rect">
            <a:avLst/>
          </a:prstGeom>
        </p:spPr>
      </p:pic>
      <p:sp>
        <p:nvSpPr>
          <p:cNvPr id="8" name="Tekstvak 7">
            <a:extLst>
              <a:ext uri="{FF2B5EF4-FFF2-40B4-BE49-F238E27FC236}">
                <a16:creationId xmlns:a16="http://schemas.microsoft.com/office/drawing/2014/main" id="{42799466-F941-1793-446F-9A3833BCDF52}"/>
              </a:ext>
            </a:extLst>
          </p:cNvPr>
          <p:cNvSpPr txBox="1"/>
          <p:nvPr/>
        </p:nvSpPr>
        <p:spPr>
          <a:xfrm>
            <a:off x="550696" y="780104"/>
            <a:ext cx="4137928" cy="400110"/>
          </a:xfrm>
          <a:prstGeom prst="rect">
            <a:avLst/>
          </a:prstGeom>
          <a:noFill/>
        </p:spPr>
        <p:txBody>
          <a:bodyPr wrap="non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Life Sciences and Society profile GSLS</a:t>
            </a:r>
          </a:p>
        </p:txBody>
      </p:sp>
      <p:sp>
        <p:nvSpPr>
          <p:cNvPr id="9" name="Rechteraccolade 8">
            <a:extLst>
              <a:ext uri="{FF2B5EF4-FFF2-40B4-BE49-F238E27FC236}">
                <a16:creationId xmlns:a16="http://schemas.microsoft.com/office/drawing/2014/main" id="{2441C6A1-D255-D230-C0E6-4944CA920324}"/>
              </a:ext>
            </a:extLst>
          </p:cNvPr>
          <p:cNvSpPr/>
          <p:nvPr/>
        </p:nvSpPr>
        <p:spPr>
          <a:xfrm>
            <a:off x="7453427" y="1733106"/>
            <a:ext cx="308344" cy="155235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10" name="Rechteraccolade 9">
            <a:extLst>
              <a:ext uri="{FF2B5EF4-FFF2-40B4-BE49-F238E27FC236}">
                <a16:creationId xmlns:a16="http://schemas.microsoft.com/office/drawing/2014/main" id="{3642E0A0-2C0D-42FA-D842-20A7B96CA42B}"/>
              </a:ext>
            </a:extLst>
          </p:cNvPr>
          <p:cNvSpPr/>
          <p:nvPr/>
        </p:nvSpPr>
        <p:spPr>
          <a:xfrm>
            <a:off x="7453427" y="3938417"/>
            <a:ext cx="308344" cy="110141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11" name="Rechteraccolade 10">
            <a:extLst>
              <a:ext uri="{FF2B5EF4-FFF2-40B4-BE49-F238E27FC236}">
                <a16:creationId xmlns:a16="http://schemas.microsoft.com/office/drawing/2014/main" id="{3005723D-E319-E194-E4F6-37C9AC11F158}"/>
              </a:ext>
            </a:extLst>
          </p:cNvPr>
          <p:cNvSpPr/>
          <p:nvPr/>
        </p:nvSpPr>
        <p:spPr>
          <a:xfrm>
            <a:off x="7453427" y="5692789"/>
            <a:ext cx="308344" cy="77180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a:p>
        </p:txBody>
      </p:sp>
      <p:sp>
        <p:nvSpPr>
          <p:cNvPr id="12" name="Tekstvak 11">
            <a:extLst>
              <a:ext uri="{FF2B5EF4-FFF2-40B4-BE49-F238E27FC236}">
                <a16:creationId xmlns:a16="http://schemas.microsoft.com/office/drawing/2014/main" id="{B9408473-B0E5-661F-A2C5-C35173DA1EF4}"/>
              </a:ext>
            </a:extLst>
          </p:cNvPr>
          <p:cNvSpPr txBox="1"/>
          <p:nvPr/>
        </p:nvSpPr>
        <p:spPr>
          <a:xfrm>
            <a:off x="8147704" y="4165958"/>
            <a:ext cx="3413051" cy="646331"/>
          </a:xfrm>
          <a:prstGeom prst="rect">
            <a:avLst/>
          </a:prstGeom>
          <a:noFill/>
        </p:spPr>
        <p:txBody>
          <a:bodyPr wrap="square" rtlCol="0" anchor="ctr">
            <a:spAutoFit/>
          </a:bodyPr>
          <a:lstStyle/>
          <a:p>
            <a:r>
              <a:rPr lang="en-GB" noProof="0">
                <a:latin typeface="Calibri" panose="020F0502020204030204" pitchFamily="34" charset="0"/>
                <a:ea typeface="Calibri" panose="020F0502020204030204" pitchFamily="34" charset="0"/>
                <a:cs typeface="Calibri" panose="020F0502020204030204" pitchFamily="34" charset="0"/>
              </a:rPr>
              <a:t>The </a:t>
            </a:r>
            <a:r>
              <a:rPr lang="en-GB" b="1" noProof="0">
                <a:latin typeface="Calibri" panose="020F0502020204030204" pitchFamily="34" charset="0"/>
                <a:ea typeface="Calibri" panose="020F0502020204030204" pitchFamily="34" charset="0"/>
                <a:cs typeface="Calibri" panose="020F0502020204030204" pitchFamily="34" charset="0"/>
              </a:rPr>
              <a:t>methods</a:t>
            </a:r>
            <a:r>
              <a:rPr lang="en-GB" noProof="0">
                <a:latin typeface="Calibri" panose="020F0502020204030204" pitchFamily="34" charset="0"/>
                <a:ea typeface="Calibri" panose="020F0502020204030204" pitchFamily="34" charset="0"/>
                <a:cs typeface="Calibri" panose="020F0502020204030204" pitchFamily="34" charset="0"/>
              </a:rPr>
              <a:t> used to teach these subjects during the course</a:t>
            </a:r>
          </a:p>
        </p:txBody>
      </p:sp>
      <p:sp>
        <p:nvSpPr>
          <p:cNvPr id="13" name="Tekstvak 12">
            <a:extLst>
              <a:ext uri="{FF2B5EF4-FFF2-40B4-BE49-F238E27FC236}">
                <a16:creationId xmlns:a16="http://schemas.microsoft.com/office/drawing/2014/main" id="{0080FC8E-E536-D785-A335-7A753E3AF4E3}"/>
              </a:ext>
            </a:extLst>
          </p:cNvPr>
          <p:cNvSpPr txBox="1"/>
          <p:nvPr/>
        </p:nvSpPr>
        <p:spPr>
          <a:xfrm>
            <a:off x="8147705" y="2338517"/>
            <a:ext cx="3413051" cy="646331"/>
          </a:xfrm>
          <a:prstGeom prst="rect">
            <a:avLst/>
          </a:prstGeom>
          <a:noFill/>
        </p:spPr>
        <p:txBody>
          <a:bodyPr wrap="square" rtlCol="0" anchor="ctr">
            <a:spAutoFit/>
          </a:bodyPr>
          <a:lstStyle/>
          <a:p>
            <a:r>
              <a:rPr lang="en-GB" noProof="0">
                <a:latin typeface="Calibri" panose="020F0502020204030204" pitchFamily="34" charset="0"/>
                <a:ea typeface="Calibri" panose="020F0502020204030204" pitchFamily="34" charset="0"/>
                <a:cs typeface="Calibri" panose="020F0502020204030204" pitchFamily="34" charset="0"/>
              </a:rPr>
              <a:t>Open Science </a:t>
            </a:r>
            <a:r>
              <a:rPr lang="en-GB" b="1" noProof="0">
                <a:latin typeface="Calibri" panose="020F0502020204030204" pitchFamily="34" charset="0"/>
                <a:ea typeface="Calibri" panose="020F0502020204030204" pitchFamily="34" charset="0"/>
                <a:cs typeface="Calibri" panose="020F0502020204030204" pitchFamily="34" charset="0"/>
              </a:rPr>
              <a:t>subjects</a:t>
            </a:r>
            <a:r>
              <a:rPr lang="en-GB" noProof="0">
                <a:latin typeface="Calibri" panose="020F0502020204030204" pitchFamily="34" charset="0"/>
                <a:ea typeface="Calibri" panose="020F0502020204030204" pitchFamily="34" charset="0"/>
                <a:cs typeface="Calibri" panose="020F0502020204030204" pitchFamily="34" charset="0"/>
              </a:rPr>
              <a:t> that are discussed during the course</a:t>
            </a:r>
          </a:p>
        </p:txBody>
      </p:sp>
      <p:sp>
        <p:nvSpPr>
          <p:cNvPr id="14" name="Tekstvak 13">
            <a:extLst>
              <a:ext uri="{FF2B5EF4-FFF2-40B4-BE49-F238E27FC236}">
                <a16:creationId xmlns:a16="http://schemas.microsoft.com/office/drawing/2014/main" id="{AD145311-20DA-5B6C-A1A3-3DCC93F4158E}"/>
              </a:ext>
            </a:extLst>
          </p:cNvPr>
          <p:cNvSpPr txBox="1"/>
          <p:nvPr/>
        </p:nvSpPr>
        <p:spPr>
          <a:xfrm>
            <a:off x="8147703" y="5617026"/>
            <a:ext cx="3413051" cy="923330"/>
          </a:xfrm>
          <a:prstGeom prst="rect">
            <a:avLst/>
          </a:prstGeom>
          <a:noFill/>
        </p:spPr>
        <p:txBody>
          <a:bodyPr wrap="square" rtlCol="0" anchor="ctr">
            <a:spAutoFit/>
          </a:bodyPr>
          <a:lstStyle/>
          <a:p>
            <a:r>
              <a:rPr lang="en-GB" noProof="0">
                <a:latin typeface="Calibri" panose="020F0502020204030204" pitchFamily="34" charset="0"/>
                <a:ea typeface="Calibri" panose="020F0502020204030204" pitchFamily="34" charset="0"/>
                <a:cs typeface="Calibri" panose="020F0502020204030204" pitchFamily="34" charset="0"/>
              </a:rPr>
              <a:t>Which </a:t>
            </a:r>
            <a:r>
              <a:rPr lang="en-GB" b="1" noProof="0">
                <a:latin typeface="Calibri" panose="020F0502020204030204" pitchFamily="34" charset="0"/>
                <a:ea typeface="Calibri" panose="020F0502020204030204" pitchFamily="34" charset="0"/>
                <a:cs typeface="Calibri" panose="020F0502020204030204" pitchFamily="34" charset="0"/>
              </a:rPr>
              <a:t>tools</a:t>
            </a:r>
            <a:r>
              <a:rPr lang="en-GB" noProof="0">
                <a:latin typeface="Calibri" panose="020F0502020204030204" pitchFamily="34" charset="0"/>
                <a:ea typeface="Calibri" panose="020F0502020204030204" pitchFamily="34" charset="0"/>
                <a:cs typeface="Calibri" panose="020F0502020204030204" pitchFamily="34" charset="0"/>
              </a:rPr>
              <a:t> are students given to continue using their knowledge after the course?</a:t>
            </a:r>
          </a:p>
        </p:txBody>
      </p:sp>
    </p:spTree>
    <p:extLst>
      <p:ext uri="{BB962C8B-B14F-4D97-AF65-F5344CB8AC3E}">
        <p14:creationId xmlns:p14="http://schemas.microsoft.com/office/powerpoint/2010/main" val="1812226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347AF-18D9-063F-44EC-AD3D4E093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E7536-0CFD-FC64-2FC2-40A5C92700C2}"/>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2. Using open (educational) resources</a:t>
            </a:r>
            <a:endParaRPr lang="en-GB" noProof="0"/>
          </a:p>
        </p:txBody>
      </p:sp>
      <p:sp>
        <p:nvSpPr>
          <p:cNvPr id="4" name="Rectangle: Rounded Corners 3">
            <a:extLst>
              <a:ext uri="{FF2B5EF4-FFF2-40B4-BE49-F238E27FC236}">
                <a16:creationId xmlns:a16="http://schemas.microsoft.com/office/drawing/2014/main" id="{AECCE2F1-3BE5-07A1-46DC-0F16290D2B6F}"/>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BEBF3ACD-34E7-81D9-43E6-A430803C6775}"/>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5462F295-6F76-B7A3-05BB-57C53471F860}"/>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FB3EE235-12C3-D1DE-7D8B-62835D284FEC}"/>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4D26E504-ED47-DDDC-56D9-4C56AF90C7CC}"/>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83C25EF0-02A6-E6B4-FF7E-C15265375F7A}"/>
              </a:ext>
            </a:extLst>
          </p:cNvPr>
          <p:cNvSpPr txBox="1"/>
          <p:nvPr/>
        </p:nvSpPr>
        <p:spPr>
          <a:xfrm>
            <a:off x="224888" y="853042"/>
            <a:ext cx="401069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There are many different open resources available!</a:t>
            </a:r>
            <a:endParaRPr lang="en-GB" noProof="0"/>
          </a:p>
        </p:txBody>
      </p:sp>
      <p:sp>
        <p:nvSpPr>
          <p:cNvPr id="11" name="TextBox 10">
            <a:extLst>
              <a:ext uri="{FF2B5EF4-FFF2-40B4-BE49-F238E27FC236}">
                <a16:creationId xmlns:a16="http://schemas.microsoft.com/office/drawing/2014/main" id="{AE0E88E3-2FAA-2D92-F83B-A3BBB106125F}"/>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880614C3-80C0-7C67-DE70-1921196EAE17}"/>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375A4A13-928B-30BF-7489-86D22699630D}"/>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CEC8A6A6-1A5E-E973-2EF9-740D78AC2A09}"/>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0FC70164-7C69-07FE-64D0-2A0C15486AC1}"/>
              </a:ext>
            </a:extLst>
          </p:cNvPr>
          <p:cNvPicPr>
            <a:picLocks noChangeAspect="1"/>
          </p:cNvPicPr>
          <p:nvPr/>
        </p:nvPicPr>
        <p:blipFill>
          <a:blip r:embed="rId3"/>
          <a:stretch>
            <a:fillRect/>
          </a:stretch>
        </p:blipFill>
        <p:spPr>
          <a:xfrm>
            <a:off x="26821" y="30831"/>
            <a:ext cx="523875" cy="523875"/>
          </a:xfrm>
          <a:prstGeom prst="rect">
            <a:avLst/>
          </a:prstGeom>
        </p:spPr>
      </p:pic>
      <p:sp>
        <p:nvSpPr>
          <p:cNvPr id="3" name="TextBox 15">
            <a:extLst>
              <a:ext uri="{FF2B5EF4-FFF2-40B4-BE49-F238E27FC236}">
                <a16:creationId xmlns:a16="http://schemas.microsoft.com/office/drawing/2014/main" id="{20B444AB-9F7D-DB36-0311-65005A144E0A}"/>
              </a:ext>
            </a:extLst>
          </p:cNvPr>
          <p:cNvSpPr txBox="1"/>
          <p:nvPr/>
        </p:nvSpPr>
        <p:spPr>
          <a:xfrm>
            <a:off x="430389" y="1512710"/>
            <a:ext cx="364066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Open (educational) resources (OER) offer a wide variety of materials, such as textbooks, articles, slides or exercises, that are openly licensed and freely accessible. These sources can be (re)used, adapted and shared. </a:t>
            </a:r>
          </a:p>
        </p:txBody>
      </p:sp>
      <p:sp>
        <p:nvSpPr>
          <p:cNvPr id="6" name="TextBox 16">
            <a:extLst>
              <a:ext uri="{FF2B5EF4-FFF2-40B4-BE49-F238E27FC236}">
                <a16:creationId xmlns:a16="http://schemas.microsoft.com/office/drawing/2014/main" id="{36954925-B604-2862-C561-4FBA6725674E}"/>
              </a:ext>
            </a:extLst>
          </p:cNvPr>
          <p:cNvSpPr txBox="1"/>
          <p:nvPr/>
        </p:nvSpPr>
        <p:spPr>
          <a:xfrm>
            <a:off x="404775" y="4247969"/>
            <a:ext cx="364066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noProof="0">
                <a:latin typeface="Calibri"/>
                <a:ea typeface="Calibri"/>
                <a:cs typeface="Calibri"/>
              </a:rPr>
              <a:t>Increased accessibility of learning materials for students. </a:t>
            </a:r>
          </a:p>
          <a:p>
            <a:pPr marL="285750" indent="-285750">
              <a:buFont typeface="Arial"/>
              <a:buChar char="•"/>
            </a:pPr>
            <a:r>
              <a:rPr lang="en-GB" sz="1600" noProof="0">
                <a:latin typeface="Calibri"/>
                <a:ea typeface="Calibri"/>
                <a:cs typeface="Calibri"/>
              </a:rPr>
              <a:t>Reuse, adaptation and continuous improvement of teaching materials</a:t>
            </a:r>
          </a:p>
          <a:p>
            <a:pPr marL="285750" indent="-285750">
              <a:buFont typeface="Arial"/>
              <a:buChar char="•"/>
            </a:pPr>
            <a:endParaRPr lang="en-GB" sz="1600" noProof="0">
              <a:latin typeface="Calibri"/>
              <a:ea typeface="Calibri"/>
              <a:cs typeface="Calibri"/>
            </a:endParaRPr>
          </a:p>
          <a:p>
            <a:r>
              <a:rPr lang="en-GB" sz="1600" noProof="0">
                <a:latin typeface="Calibri"/>
                <a:ea typeface="Calibri"/>
                <a:cs typeface="Calibri"/>
              </a:rPr>
              <a:t>	 </a:t>
            </a:r>
          </a:p>
        </p:txBody>
      </p:sp>
      <p:sp>
        <p:nvSpPr>
          <p:cNvPr id="13" name="TextBox 17">
            <a:extLst>
              <a:ext uri="{FF2B5EF4-FFF2-40B4-BE49-F238E27FC236}">
                <a16:creationId xmlns:a16="http://schemas.microsoft.com/office/drawing/2014/main" id="{2A2FBBE6-82EC-6BC9-1EC8-74A6F966E855}"/>
              </a:ext>
            </a:extLst>
          </p:cNvPr>
          <p:cNvSpPr txBox="1"/>
          <p:nvPr/>
        </p:nvSpPr>
        <p:spPr>
          <a:xfrm>
            <a:off x="4739267" y="1179279"/>
            <a:ext cx="459058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Start by identifying suitable open resources. To properly integrate the material in your course, you can pay attention to the following:</a:t>
            </a:r>
          </a:p>
          <a:p>
            <a:pPr marL="285750" indent="-285750">
              <a:buFont typeface="Arial" panose="020B0604020202020204" pitchFamily="34" charset="0"/>
              <a:buChar char="•"/>
            </a:pPr>
            <a:r>
              <a:rPr lang="en-GB" sz="1600" noProof="0">
                <a:latin typeface="Calibri"/>
                <a:ea typeface="Calibri"/>
                <a:cs typeface="Calibri"/>
              </a:rPr>
              <a:t>Does the material align with the course learning objectives?</a:t>
            </a:r>
          </a:p>
          <a:p>
            <a:pPr marL="285750" indent="-285750">
              <a:buFont typeface="Arial" panose="020B0604020202020204" pitchFamily="34" charset="0"/>
              <a:buChar char="•"/>
            </a:pPr>
            <a:r>
              <a:rPr lang="en-GB" sz="1600" noProof="0">
                <a:latin typeface="Calibri"/>
                <a:ea typeface="Calibri"/>
                <a:cs typeface="Calibri"/>
              </a:rPr>
              <a:t>Is the material clearly licensed with an open license (e.g. Creative Commons)? Always properly attribute the original authors and make sure the material can be freely reused, adapted and redistributed. </a:t>
            </a:r>
          </a:p>
          <a:p>
            <a:pPr marL="285750" indent="-285750">
              <a:buFont typeface="Arial" panose="020B0604020202020204" pitchFamily="34" charset="0"/>
              <a:buChar char="•"/>
            </a:pPr>
            <a:r>
              <a:rPr lang="en-GB" sz="1600" noProof="0">
                <a:latin typeface="Calibri"/>
                <a:ea typeface="Calibri"/>
                <a:cs typeface="Calibri"/>
              </a:rPr>
              <a:t>Is the material up to date and of sufficient quality?</a:t>
            </a:r>
          </a:p>
          <a:p>
            <a:endParaRPr lang="en-GB" sz="1600" noProof="0">
              <a:latin typeface="Calibri"/>
              <a:ea typeface="Calibri"/>
              <a:cs typeface="Calibri"/>
            </a:endParaRPr>
          </a:p>
          <a:p>
            <a:r>
              <a:rPr lang="en-GB" sz="1600" b="1" noProof="0">
                <a:latin typeface="Calibri"/>
                <a:ea typeface="Calibri"/>
                <a:cs typeface="Calibri"/>
              </a:rPr>
              <a:t>Extra’s </a:t>
            </a:r>
          </a:p>
          <a:p>
            <a:r>
              <a:rPr lang="en-GB" sz="1600" noProof="0">
                <a:latin typeface="Calibri"/>
                <a:ea typeface="Calibri"/>
                <a:cs typeface="Calibri"/>
              </a:rPr>
              <a:t>To make this course more ‘spicy’, you can adapt the material to fit your specific educational context better. </a:t>
            </a:r>
          </a:p>
          <a:p>
            <a:pPr marL="285750" indent="-285750">
              <a:buFont typeface="Arial" panose="020B0604020202020204" pitchFamily="34" charset="0"/>
              <a:buChar char="•"/>
            </a:pPr>
            <a:r>
              <a:rPr lang="en-GB" sz="1600" noProof="0">
                <a:latin typeface="Calibri"/>
                <a:ea typeface="Calibri"/>
                <a:cs typeface="Calibri"/>
              </a:rPr>
              <a:t>Align resources with learning objectives</a:t>
            </a:r>
          </a:p>
          <a:p>
            <a:pPr marL="285750" indent="-285750">
              <a:buFont typeface="Arial" panose="020B0604020202020204" pitchFamily="34" charset="0"/>
              <a:buChar char="•"/>
            </a:pPr>
            <a:r>
              <a:rPr lang="en-GB" sz="1600" noProof="0">
                <a:latin typeface="Calibri"/>
                <a:ea typeface="Calibri"/>
                <a:cs typeface="Calibri"/>
              </a:rPr>
              <a:t>Adjust the level to your students</a:t>
            </a:r>
          </a:p>
          <a:p>
            <a:pPr marL="285750" indent="-285750">
              <a:buFont typeface="Arial" panose="020B0604020202020204" pitchFamily="34" charset="0"/>
              <a:buChar char="•"/>
            </a:pPr>
            <a:r>
              <a:rPr lang="en-GB" sz="1600" noProof="0">
                <a:latin typeface="Calibri"/>
                <a:ea typeface="Calibri"/>
                <a:cs typeface="Calibri"/>
              </a:rPr>
              <a:t>Contextualize with discipline-specific cases</a:t>
            </a:r>
          </a:p>
          <a:p>
            <a:pPr marL="285750" indent="-285750">
              <a:buFont typeface="Arial" panose="020B0604020202020204" pitchFamily="34" charset="0"/>
              <a:buChar char="•"/>
            </a:pPr>
            <a:r>
              <a:rPr lang="en-GB" sz="1600" noProof="0">
                <a:latin typeface="Calibri"/>
                <a:ea typeface="Calibri"/>
                <a:cs typeface="Calibri"/>
              </a:rPr>
              <a:t>Combine and remix multiple open resources</a:t>
            </a:r>
          </a:p>
        </p:txBody>
      </p:sp>
      <p:pic>
        <p:nvPicPr>
          <p:cNvPr id="18" name="Picture 26">
            <a:extLst>
              <a:ext uri="{FF2B5EF4-FFF2-40B4-BE49-F238E27FC236}">
                <a16:creationId xmlns:a16="http://schemas.microsoft.com/office/drawing/2014/main" id="{59F23F4A-0F1A-F4DB-191A-CD6305B9435C}"/>
              </a:ext>
            </a:extLst>
          </p:cNvPr>
          <p:cNvPicPr>
            <a:picLocks noChangeAspect="1"/>
          </p:cNvPicPr>
          <p:nvPr/>
        </p:nvPicPr>
        <p:blipFill>
          <a:blip r:embed="rId4"/>
          <a:stretch>
            <a:fillRect/>
          </a:stretch>
        </p:blipFill>
        <p:spPr>
          <a:xfrm>
            <a:off x="11571081" y="108056"/>
            <a:ext cx="399072" cy="370500"/>
          </a:xfrm>
          <a:prstGeom prst="rect">
            <a:avLst/>
          </a:prstGeom>
        </p:spPr>
      </p:pic>
      <p:sp>
        <p:nvSpPr>
          <p:cNvPr id="16" name="TextBox 19">
            <a:extLst>
              <a:ext uri="{FF2B5EF4-FFF2-40B4-BE49-F238E27FC236}">
                <a16:creationId xmlns:a16="http://schemas.microsoft.com/office/drawing/2014/main" id="{C771D273-49D1-8321-7640-5AF8670B1E69}"/>
              </a:ext>
            </a:extLst>
          </p:cNvPr>
          <p:cNvSpPr txBox="1"/>
          <p:nvPr/>
        </p:nvSpPr>
        <p:spPr>
          <a:xfrm>
            <a:off x="9936803" y="1159223"/>
            <a:ext cx="1828593"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AI-Literacy modules UU are based on AI-Literacy modules GSLS. </a:t>
            </a:r>
          </a:p>
          <a:p>
            <a:endParaRPr lang="en-GB" sz="1600" noProof="0">
              <a:latin typeface="Calibri"/>
              <a:ea typeface="Calibri"/>
              <a:cs typeface="Calibri"/>
            </a:endParaRPr>
          </a:p>
          <a:p>
            <a:r>
              <a:rPr lang="en-GB" sz="1600" noProof="0">
                <a:latin typeface="Calibri"/>
                <a:ea typeface="Calibri"/>
                <a:cs typeface="Calibri"/>
              </a:rPr>
              <a:t>Open access journals:</a:t>
            </a:r>
          </a:p>
          <a:p>
            <a:r>
              <a:rPr lang="en-GB" sz="1600" noProof="0">
                <a:latin typeface="Calibri"/>
                <a:ea typeface="Calibri"/>
                <a:cs typeface="Calibri"/>
                <a:hlinkClick r:id="rId5">
                  <a:extLst>
                    <a:ext uri="{A12FA001-AC4F-418D-AE19-62706E023703}">
                      <ahyp:hlinkClr xmlns:ahyp="http://schemas.microsoft.com/office/drawing/2018/hyperlinkcolor" val="tx"/>
                    </a:ext>
                  </a:extLst>
                </a:hlinkClick>
              </a:rPr>
              <a:t>openjournals.nl</a:t>
            </a:r>
            <a:r>
              <a:rPr lang="en-GB" sz="1600" noProof="0">
                <a:latin typeface="Calibri"/>
                <a:ea typeface="Calibri"/>
                <a:cs typeface="Calibri"/>
              </a:rPr>
              <a:t> </a:t>
            </a:r>
          </a:p>
        </p:txBody>
      </p:sp>
      <p:sp>
        <p:nvSpPr>
          <p:cNvPr id="17" name="TextBox 19">
            <a:extLst>
              <a:ext uri="{FF2B5EF4-FFF2-40B4-BE49-F238E27FC236}">
                <a16:creationId xmlns:a16="http://schemas.microsoft.com/office/drawing/2014/main" id="{021CED87-987C-95E2-610A-DDFDD0495A9B}"/>
              </a:ext>
            </a:extLst>
          </p:cNvPr>
          <p:cNvSpPr txBox="1"/>
          <p:nvPr/>
        </p:nvSpPr>
        <p:spPr>
          <a:xfrm>
            <a:off x="9946164" y="4286066"/>
            <a:ext cx="202288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Utrecht University Library - </a:t>
            </a:r>
            <a:r>
              <a:rPr lang="en-GB" sz="1600" noProof="0">
                <a:solidFill>
                  <a:srgbClr val="0D0D0D"/>
                </a:solidFill>
                <a:latin typeface="Calibri"/>
                <a:ea typeface="Calibri"/>
                <a:cs typeface="Calibri"/>
                <a:hlinkClick r:id="rId6">
                  <a:extLst>
                    <a:ext uri="{A12FA001-AC4F-418D-AE19-62706E023703}">
                      <ahyp:hlinkClr xmlns:ahyp="http://schemas.microsoft.com/office/drawing/2018/hyperlinkcolor" val="tx"/>
                    </a:ext>
                  </a:extLst>
                </a:hlinkClick>
              </a:rPr>
              <a:t>Open Educational Resources</a:t>
            </a:r>
            <a:endParaRPr lang="en-GB" sz="1600" noProof="0">
              <a:latin typeface="Calibri"/>
              <a:ea typeface="Calibri"/>
              <a:cs typeface="Calibri"/>
            </a:endParaRPr>
          </a:p>
        </p:txBody>
      </p:sp>
    </p:spTree>
    <p:extLst>
      <p:ext uri="{BB962C8B-B14F-4D97-AF65-F5344CB8AC3E}">
        <p14:creationId xmlns:p14="http://schemas.microsoft.com/office/powerpoint/2010/main" val="2066822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A8B74-A606-99F8-313D-1947D8C93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BC682-44AD-3E17-D687-5CA853001BD1}"/>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Using open (educational) resources – Edusources.nl</a:t>
            </a:r>
            <a:endParaRPr lang="en-GB" noProof="0"/>
          </a:p>
        </p:txBody>
      </p:sp>
      <p:pic>
        <p:nvPicPr>
          <p:cNvPr id="22" name="Picture 21">
            <a:extLst>
              <a:ext uri="{FF2B5EF4-FFF2-40B4-BE49-F238E27FC236}">
                <a16:creationId xmlns:a16="http://schemas.microsoft.com/office/drawing/2014/main" id="{40338531-5F17-B3F3-F75B-5D1A22103598}"/>
              </a:ext>
            </a:extLst>
          </p:cNvPr>
          <p:cNvPicPr>
            <a:picLocks noChangeAspect="1"/>
          </p:cNvPicPr>
          <p:nvPr/>
        </p:nvPicPr>
        <p:blipFill>
          <a:blip r:embed="rId3"/>
          <a:stretch>
            <a:fillRect/>
          </a:stretch>
        </p:blipFill>
        <p:spPr>
          <a:xfrm>
            <a:off x="26821" y="30831"/>
            <a:ext cx="523875" cy="523875"/>
          </a:xfrm>
          <a:prstGeom prst="rect">
            <a:avLst/>
          </a:prstGeom>
        </p:spPr>
      </p:pic>
      <p:pic>
        <p:nvPicPr>
          <p:cNvPr id="4" name="Afbeelding 3" descr="Afbeelding met tekst, schermopname, Webpagina, Website&#10;&#10;Door AI gegenereerde inhoud is mogelijk onjuist.">
            <a:hlinkClick r:id="rId4"/>
            <a:extLst>
              <a:ext uri="{FF2B5EF4-FFF2-40B4-BE49-F238E27FC236}">
                <a16:creationId xmlns:a16="http://schemas.microsoft.com/office/drawing/2014/main" id="{1E29E585-027E-914B-61FB-378128104275}"/>
              </a:ext>
            </a:extLst>
          </p:cNvPr>
          <p:cNvPicPr>
            <a:picLocks noChangeAspect="1"/>
          </p:cNvPicPr>
          <p:nvPr/>
        </p:nvPicPr>
        <p:blipFill>
          <a:blip r:embed="rId5"/>
          <a:stretch>
            <a:fillRect/>
          </a:stretch>
        </p:blipFill>
        <p:spPr>
          <a:xfrm>
            <a:off x="550695" y="2764468"/>
            <a:ext cx="7699779" cy="3734304"/>
          </a:xfrm>
          <a:prstGeom prst="rect">
            <a:avLst/>
          </a:prstGeom>
        </p:spPr>
      </p:pic>
      <p:sp>
        <p:nvSpPr>
          <p:cNvPr id="6" name="Tekstvak 5">
            <a:extLst>
              <a:ext uri="{FF2B5EF4-FFF2-40B4-BE49-F238E27FC236}">
                <a16:creationId xmlns:a16="http://schemas.microsoft.com/office/drawing/2014/main" id="{A846A62D-6FEA-A74B-A908-F5AE5ABEBF1F}"/>
              </a:ext>
            </a:extLst>
          </p:cNvPr>
          <p:cNvSpPr txBox="1"/>
          <p:nvPr/>
        </p:nvSpPr>
        <p:spPr>
          <a:xfrm>
            <a:off x="550696" y="780104"/>
            <a:ext cx="4965527" cy="400110"/>
          </a:xfrm>
          <a:prstGeom prst="rect">
            <a:avLst/>
          </a:prstGeom>
          <a:noFill/>
        </p:spPr>
        <p:txBody>
          <a:bodyPr wrap="non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Open educational resources on edusources.nl</a:t>
            </a:r>
          </a:p>
        </p:txBody>
      </p:sp>
      <p:sp>
        <p:nvSpPr>
          <p:cNvPr id="7" name="Tekstvak 6">
            <a:extLst>
              <a:ext uri="{FF2B5EF4-FFF2-40B4-BE49-F238E27FC236}">
                <a16:creationId xmlns:a16="http://schemas.microsoft.com/office/drawing/2014/main" id="{0EA22863-9F97-C5C2-1F1D-EC6BCD393C40}"/>
              </a:ext>
            </a:extLst>
          </p:cNvPr>
          <p:cNvSpPr txBox="1"/>
          <p:nvPr/>
        </p:nvSpPr>
        <p:spPr>
          <a:xfrm>
            <a:off x="550696" y="1273668"/>
            <a:ext cx="5649050" cy="1077218"/>
          </a:xfrm>
          <a:prstGeom prst="rect">
            <a:avLst/>
          </a:prstGeom>
          <a:noFill/>
        </p:spPr>
        <p:txBody>
          <a:bodyPr wrap="square" rtlCol="0" anchor="ctr">
            <a:spAutoFit/>
          </a:bodyPr>
          <a:lstStyle/>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(Re)use open educational resources</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Search for educational materials</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Share your own materials</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Examples on how to use open resources in practice</a:t>
            </a:r>
          </a:p>
        </p:txBody>
      </p:sp>
    </p:spTree>
    <p:extLst>
      <p:ext uri="{BB962C8B-B14F-4D97-AF65-F5344CB8AC3E}">
        <p14:creationId xmlns:p14="http://schemas.microsoft.com/office/powerpoint/2010/main" val="1061648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D06C4-C1CF-16B2-D284-FFEC50B0B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8E187-132B-7749-CC39-3E69477F8494}"/>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3. Using open textbooks</a:t>
            </a:r>
          </a:p>
        </p:txBody>
      </p:sp>
      <p:sp>
        <p:nvSpPr>
          <p:cNvPr id="4" name="Rectangle: Rounded Corners 3">
            <a:extLst>
              <a:ext uri="{FF2B5EF4-FFF2-40B4-BE49-F238E27FC236}">
                <a16:creationId xmlns:a16="http://schemas.microsoft.com/office/drawing/2014/main" id="{D4EAFF6F-3E45-0DB6-5357-A95E31D5469A}"/>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7C6F17AF-F277-30EE-45BB-56EB479CDD52}"/>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3B88E62C-1AF8-0A1C-71A6-8BFD8ED4ED1D}"/>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5A404127-0EB6-7E3B-03AC-4F1612DC83D2}"/>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4078C6B0-3576-B0E6-3A8C-8D1AF96CE205}"/>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6A070282-13B9-5AED-1CDE-C319BD69A456}"/>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Working with open textbooks</a:t>
            </a:r>
          </a:p>
        </p:txBody>
      </p:sp>
      <p:sp>
        <p:nvSpPr>
          <p:cNvPr id="11" name="TextBox 10">
            <a:extLst>
              <a:ext uri="{FF2B5EF4-FFF2-40B4-BE49-F238E27FC236}">
                <a16:creationId xmlns:a16="http://schemas.microsoft.com/office/drawing/2014/main" id="{75D7E825-0B5D-ABDD-26C5-E4D2AC4B456F}"/>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FCFD25F1-BAA4-2F99-84D6-955A63F3FE9E}"/>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DFCFC2AD-A5B7-C578-A211-C7FCB02D073D}"/>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6B0FB256-3038-4352-4DBC-D0FFE599550B}"/>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sp>
        <p:nvSpPr>
          <p:cNvPr id="16" name="TextBox 15">
            <a:extLst>
              <a:ext uri="{FF2B5EF4-FFF2-40B4-BE49-F238E27FC236}">
                <a16:creationId xmlns:a16="http://schemas.microsoft.com/office/drawing/2014/main" id="{D4E6D9FD-3D87-3872-2DC1-EE8AD84CEF9A}"/>
              </a:ext>
            </a:extLst>
          </p:cNvPr>
          <p:cNvSpPr txBox="1"/>
          <p:nvPr/>
        </p:nvSpPr>
        <p:spPr>
          <a:xfrm>
            <a:off x="430389" y="1210958"/>
            <a:ext cx="364066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An open textbook is a textbook that freely accessible to everyone, written by experts in the field. These textbooks have an open license and can thus be used and modified, increasing collaboration and promoting high quality educational resources. They can be classic, but also more innovative, dynamic or interactive. They can have an editable format.</a:t>
            </a:r>
          </a:p>
        </p:txBody>
      </p:sp>
      <p:sp>
        <p:nvSpPr>
          <p:cNvPr id="17" name="TextBox 16">
            <a:extLst>
              <a:ext uri="{FF2B5EF4-FFF2-40B4-BE49-F238E27FC236}">
                <a16:creationId xmlns:a16="http://schemas.microsoft.com/office/drawing/2014/main" id="{91C4D9EB-32E8-DED6-8442-C2CF2E21B290}"/>
              </a:ext>
            </a:extLst>
          </p:cNvPr>
          <p:cNvSpPr txBox="1"/>
          <p:nvPr/>
        </p:nvSpPr>
        <p:spPr>
          <a:xfrm>
            <a:off x="404775" y="4247969"/>
            <a:ext cx="364066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noProof="0">
                <a:latin typeface="Calibri"/>
                <a:ea typeface="Calibri"/>
                <a:cs typeface="Calibri"/>
              </a:rPr>
              <a:t>Increase affordability to students</a:t>
            </a:r>
          </a:p>
          <a:p>
            <a:pPr marL="285750" indent="-285750">
              <a:buFont typeface="Arial"/>
              <a:buChar char="•"/>
            </a:pPr>
            <a:r>
              <a:rPr lang="en-GB" sz="1600" noProof="0">
                <a:latin typeface="Calibri"/>
                <a:ea typeface="Calibri"/>
                <a:cs typeface="Calibri"/>
              </a:rPr>
              <a:t>Increase collaboration and expansion of educational text/works</a:t>
            </a:r>
          </a:p>
          <a:p>
            <a:pPr marL="285750" indent="-285750">
              <a:buFont typeface="Arial"/>
              <a:buChar char="•"/>
            </a:pPr>
            <a:r>
              <a:rPr lang="en-GB" sz="1600" noProof="0">
                <a:latin typeface="Calibri"/>
                <a:ea typeface="Calibri"/>
                <a:cs typeface="Calibri"/>
              </a:rPr>
              <a:t>Support the transition to open textbooks </a:t>
            </a:r>
          </a:p>
          <a:p>
            <a:pPr marL="285750" indent="-285750">
              <a:buFont typeface="Arial"/>
              <a:buChar char="•"/>
            </a:pPr>
            <a:r>
              <a:rPr lang="en-GB" sz="1600" noProof="0">
                <a:latin typeface="Calibri"/>
                <a:ea typeface="Calibri"/>
                <a:cs typeface="Calibri"/>
              </a:rPr>
              <a:t>Up-to-date information</a:t>
            </a:r>
          </a:p>
        </p:txBody>
      </p:sp>
      <p:sp>
        <p:nvSpPr>
          <p:cNvPr id="18" name="TextBox 17">
            <a:extLst>
              <a:ext uri="{FF2B5EF4-FFF2-40B4-BE49-F238E27FC236}">
                <a16:creationId xmlns:a16="http://schemas.microsoft.com/office/drawing/2014/main" id="{A352F6DE-4D0F-9D53-9AB4-573D2BB7D68B}"/>
              </a:ext>
            </a:extLst>
          </p:cNvPr>
          <p:cNvSpPr txBox="1"/>
          <p:nvPr/>
        </p:nvSpPr>
        <p:spPr>
          <a:xfrm>
            <a:off x="4534942" y="1320830"/>
            <a:ext cx="4948576" cy="49552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This is something you likely consider when setting up a new course or when you want to switch textbooks anyway.</a:t>
            </a:r>
          </a:p>
          <a:p>
            <a:endParaRPr lang="en-GB" sz="1600" noProof="0">
              <a:latin typeface="Calibri"/>
              <a:ea typeface="Calibri"/>
              <a:cs typeface="Calibri"/>
            </a:endParaRPr>
          </a:p>
          <a:p>
            <a:r>
              <a:rPr lang="en-GB" sz="1600" noProof="0">
                <a:latin typeface="Calibri"/>
                <a:ea typeface="Calibri"/>
                <a:cs typeface="Calibri"/>
              </a:rPr>
              <a:t>You can search for textbooks in </a:t>
            </a:r>
            <a:r>
              <a:rPr lang="en-GB" sz="1600" b="1" noProof="0">
                <a:latin typeface="Calibri"/>
                <a:ea typeface="Calibri"/>
                <a:cs typeface="Calibri"/>
              </a:rPr>
              <a:t>online libraries</a:t>
            </a:r>
            <a:r>
              <a:rPr lang="en-GB" sz="1600" noProof="0">
                <a:latin typeface="Calibri"/>
                <a:ea typeface="Calibri"/>
                <a:cs typeface="Calibri"/>
              </a:rPr>
              <a:t> like </a:t>
            </a:r>
            <a:r>
              <a:rPr lang="en-GB" sz="1600" noProof="0">
                <a:latin typeface="Calibri"/>
                <a:ea typeface="Calibri"/>
                <a:cs typeface="Calibri"/>
                <a:hlinkClick r:id="rId2">
                  <a:extLst>
                    <a:ext uri="{A12FA001-AC4F-418D-AE19-62706E023703}">
                      <ahyp:hlinkClr xmlns:ahyp="http://schemas.microsoft.com/office/drawing/2018/hyperlinkcolor" val="tx"/>
                    </a:ext>
                  </a:extLst>
                </a:hlinkClick>
              </a:rPr>
              <a:t>Open Textbook Library</a:t>
            </a:r>
            <a:r>
              <a:rPr lang="en-GB" sz="1600" noProof="0">
                <a:latin typeface="Calibri"/>
                <a:ea typeface="Calibri"/>
                <a:cs typeface="Calibri"/>
              </a:rPr>
              <a:t>, </a:t>
            </a:r>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LibreText</a:t>
            </a:r>
            <a:r>
              <a:rPr lang="en-GB" sz="1600" noProof="0">
                <a:latin typeface="Calibri"/>
                <a:ea typeface="Calibri"/>
                <a:cs typeface="Calibri"/>
              </a:rPr>
              <a:t>, </a:t>
            </a:r>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OER Commons</a:t>
            </a:r>
            <a:r>
              <a:rPr lang="en-GB" sz="1600" noProof="0">
                <a:latin typeface="Calibri"/>
                <a:ea typeface="Calibri"/>
                <a:cs typeface="Calibri"/>
              </a:rPr>
              <a:t>, </a:t>
            </a:r>
            <a:r>
              <a:rPr lang="en-GB" sz="1600" noProof="0">
                <a:latin typeface="Calibri"/>
                <a:ea typeface="Calibri"/>
                <a:cs typeface="Calibri"/>
                <a:hlinkClick r:id="rId5">
                  <a:extLst>
                    <a:ext uri="{A12FA001-AC4F-418D-AE19-62706E023703}">
                      <ahyp:hlinkClr xmlns:ahyp="http://schemas.microsoft.com/office/drawing/2018/hyperlinkcolor" val="tx"/>
                    </a:ext>
                  </a:extLst>
                </a:hlinkClick>
              </a:rPr>
              <a:t>MERLOT</a:t>
            </a:r>
            <a:r>
              <a:rPr lang="en-GB" sz="1600" noProof="0">
                <a:latin typeface="Calibri"/>
                <a:ea typeface="Calibri"/>
                <a:cs typeface="Calibri"/>
              </a:rPr>
              <a:t>, or </a:t>
            </a:r>
            <a:r>
              <a:rPr lang="en-GB" sz="1600" noProof="0">
                <a:latin typeface="Calibri"/>
                <a:ea typeface="Calibri"/>
                <a:cs typeface="Calibri"/>
                <a:hlinkClick r:id="rId6">
                  <a:extLst>
                    <a:ext uri="{A12FA001-AC4F-418D-AE19-62706E023703}">
                      <ahyp:hlinkClr xmlns:ahyp="http://schemas.microsoft.com/office/drawing/2018/hyperlinkcolor" val="tx"/>
                    </a:ext>
                  </a:extLst>
                </a:hlinkClick>
              </a:rPr>
              <a:t>OpenStax</a:t>
            </a:r>
            <a:r>
              <a:rPr lang="en-GB" sz="1600" noProof="0">
                <a:latin typeface="Calibri"/>
                <a:ea typeface="Calibri"/>
                <a:cs typeface="Calibri"/>
              </a:rPr>
              <a:t>. Edusources lists many </a:t>
            </a:r>
            <a:r>
              <a:rPr lang="en-GB" sz="1600" noProof="0">
                <a:latin typeface="Calibri"/>
                <a:ea typeface="Calibri"/>
                <a:cs typeface="Calibri"/>
                <a:hlinkClick r:id="rId7">
                  <a:extLst>
                    <a:ext uri="{A12FA001-AC4F-418D-AE19-62706E023703}">
                      <ahyp:hlinkClr xmlns:ahyp="http://schemas.microsoft.com/office/drawing/2018/hyperlinkcolor" val="tx"/>
                    </a:ext>
                  </a:extLst>
                </a:hlinkClick>
              </a:rPr>
              <a:t>open textbooks from Dutch HE institutions</a:t>
            </a:r>
            <a:r>
              <a:rPr lang="en-GB" sz="1600" noProof="0">
                <a:latin typeface="Calibri"/>
                <a:ea typeface="Calibri"/>
                <a:cs typeface="Calibri"/>
              </a:rPr>
              <a:t>.</a:t>
            </a:r>
          </a:p>
          <a:p>
            <a:endParaRPr lang="en-GB" noProof="0">
              <a:latin typeface="Aptos" panose="020B0004020202020204"/>
              <a:ea typeface="Calibri"/>
              <a:cs typeface="Calibri"/>
            </a:endParaRPr>
          </a:p>
          <a:p>
            <a:r>
              <a:rPr lang="en-GB" sz="1600" noProof="0">
                <a:latin typeface="Calibri"/>
                <a:ea typeface="Calibri"/>
                <a:cs typeface="Calibri"/>
              </a:rPr>
              <a:t>Additionally, </a:t>
            </a:r>
            <a:r>
              <a:rPr lang="en-GB" sz="1600" b="1" noProof="0">
                <a:latin typeface="Calibri"/>
                <a:ea typeface="Calibri"/>
                <a:cs typeface="Calibri"/>
              </a:rPr>
              <a:t>colleagues</a:t>
            </a:r>
            <a:r>
              <a:rPr lang="en-GB" sz="1600" noProof="0">
                <a:latin typeface="Calibri"/>
                <a:ea typeface="Calibri"/>
                <a:cs typeface="Calibri"/>
              </a:rPr>
              <a:t> or </a:t>
            </a:r>
            <a:r>
              <a:rPr lang="en-GB" sz="1600" b="1" noProof="0">
                <a:latin typeface="Calibri"/>
                <a:ea typeface="Calibri"/>
                <a:cs typeface="Calibri"/>
              </a:rPr>
              <a:t>librarians </a:t>
            </a:r>
            <a:r>
              <a:rPr lang="en-GB" sz="1600" noProof="0">
                <a:latin typeface="Calibri"/>
                <a:ea typeface="Calibri"/>
                <a:cs typeface="Calibri"/>
              </a:rPr>
              <a:t>can help in your search or might already have some recommendations!</a:t>
            </a:r>
            <a:endParaRPr lang="en-GB" noProof="0"/>
          </a:p>
          <a:p>
            <a:endParaRPr lang="en-GB" sz="1600" noProof="0">
              <a:latin typeface="Calibri"/>
              <a:ea typeface="Calibri"/>
              <a:cs typeface="Calibri"/>
            </a:endParaRPr>
          </a:p>
          <a:p>
            <a:r>
              <a:rPr lang="en-GB" sz="1600" noProof="0">
                <a:latin typeface="Calibri"/>
                <a:ea typeface="Calibri"/>
                <a:cs typeface="Calibri"/>
              </a:rPr>
              <a:t>Check the sustainability of the open textbook: what is the license, is it dynamically updated, are there stable versions, can it be downloaded? </a:t>
            </a:r>
          </a:p>
          <a:p>
            <a:endParaRPr lang="en-GB" sz="1600" noProof="0">
              <a:latin typeface="Calibri"/>
              <a:ea typeface="Calibri"/>
              <a:cs typeface="Calibri"/>
            </a:endParaRPr>
          </a:p>
          <a:p>
            <a:endParaRPr lang="en-GB" sz="1600" noProof="0">
              <a:latin typeface="Calibri"/>
              <a:ea typeface="Calibri"/>
              <a:cs typeface="Calibri"/>
            </a:endParaRPr>
          </a:p>
          <a:p>
            <a:r>
              <a:rPr lang="en-GB" sz="1400" b="1" i="1" noProof="0">
                <a:latin typeface="Calibri"/>
                <a:ea typeface="Calibri"/>
                <a:cs typeface="Calibri"/>
              </a:rPr>
              <a:t>     Chef’s Tip:</a:t>
            </a:r>
            <a:endParaRPr lang="en-GB" sz="1400" noProof="0">
              <a:latin typeface="Calibri"/>
              <a:ea typeface="Calibri"/>
              <a:cs typeface="Calibri"/>
            </a:endParaRPr>
          </a:p>
          <a:p>
            <a:r>
              <a:rPr lang="en-GB" sz="1400" i="1" noProof="0">
                <a:latin typeface="Calibri"/>
                <a:ea typeface="Calibri"/>
                <a:cs typeface="Calibri"/>
              </a:rPr>
              <a:t>     Ask the COSiE Community or the UU library for help	on finding open textbooks!</a:t>
            </a:r>
            <a:endParaRPr lang="en-GB" sz="1400" noProof="0">
              <a:latin typeface="Calibri"/>
              <a:ea typeface="Calibri"/>
              <a:cs typeface="Calibri"/>
            </a:endParaRPr>
          </a:p>
        </p:txBody>
      </p:sp>
      <p:sp>
        <p:nvSpPr>
          <p:cNvPr id="20" name="TextBox 19">
            <a:extLst>
              <a:ext uri="{FF2B5EF4-FFF2-40B4-BE49-F238E27FC236}">
                <a16:creationId xmlns:a16="http://schemas.microsoft.com/office/drawing/2014/main" id="{C4B9A0DB-558C-6994-D92A-65CF38AF144C}"/>
              </a:ext>
            </a:extLst>
          </p:cNvPr>
          <p:cNvSpPr txBox="1"/>
          <p:nvPr/>
        </p:nvSpPr>
        <p:spPr>
          <a:xfrm>
            <a:off x="9946164" y="4286066"/>
            <a:ext cx="2022885"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Utrecht University Library - </a:t>
            </a:r>
            <a:r>
              <a:rPr lang="en-GB" sz="1600" noProof="0">
                <a:solidFill>
                  <a:srgbClr val="0D0D0D"/>
                </a:solidFill>
                <a:latin typeface="Calibri"/>
                <a:ea typeface="Calibri"/>
                <a:cs typeface="Calibri"/>
                <a:hlinkClick r:id="rId8">
                  <a:extLst>
                    <a:ext uri="{A12FA001-AC4F-418D-AE19-62706E023703}">
                      <ahyp:hlinkClr xmlns:ahyp="http://schemas.microsoft.com/office/drawing/2018/hyperlinkcolor" val="tx"/>
                    </a:ext>
                  </a:extLst>
                </a:hlinkClick>
              </a:rPr>
              <a:t>Open Educational Resources</a:t>
            </a:r>
            <a:endParaRPr lang="en-GB" sz="1600" noProof="0">
              <a:latin typeface="Calibri"/>
              <a:ea typeface="Calibri"/>
              <a:cs typeface="Calibri"/>
            </a:endParaRPr>
          </a:p>
          <a:p>
            <a:endParaRPr lang="en-GB" sz="1600" noProof="0">
              <a:latin typeface="Calibri"/>
              <a:ea typeface="Calibri"/>
              <a:cs typeface="Calibri"/>
            </a:endParaRPr>
          </a:p>
          <a:p>
            <a:r>
              <a:rPr lang="en-GB" sz="1600" noProof="0">
                <a:latin typeface="Calibri"/>
                <a:ea typeface="Calibri"/>
                <a:cs typeface="Calibri"/>
              </a:rPr>
              <a:t>RUG - </a:t>
            </a:r>
            <a:r>
              <a:rPr lang="en-GB" sz="1600" noProof="0">
                <a:latin typeface="Calibri"/>
                <a:ea typeface="Calibri"/>
                <a:cs typeface="Calibri"/>
                <a:hlinkClick r:id="rId9">
                  <a:extLst>
                    <a:ext uri="{A12FA001-AC4F-418D-AE19-62706E023703}">
                      <ahyp:hlinkClr xmlns:ahyp="http://schemas.microsoft.com/office/drawing/2018/hyperlinkcolor" val="tx"/>
                    </a:ext>
                  </a:extLst>
                </a:hlinkClick>
              </a:rPr>
              <a:t>Open textbook links</a:t>
            </a:r>
            <a:endParaRPr lang="en-GB" sz="1600" noProof="0">
              <a:latin typeface="Calibri"/>
              <a:ea typeface="Calibri"/>
              <a:cs typeface="Calibri"/>
              <a:hlinkClick r:id="" action="ppaction://noaction">
                <a:extLst>
                  <a:ext uri="{A12FA001-AC4F-418D-AE19-62706E023703}">
                    <ahyp:hlinkClr xmlns:ahyp="http://schemas.microsoft.com/office/drawing/2018/hyperlinkcolor" val="tx"/>
                  </a:ext>
                </a:extLst>
              </a:hlinkClick>
            </a:endParaRPr>
          </a:p>
        </p:txBody>
      </p:sp>
      <p:sp>
        <p:nvSpPr>
          <p:cNvPr id="21" name="TextBox 20">
            <a:extLst>
              <a:ext uri="{FF2B5EF4-FFF2-40B4-BE49-F238E27FC236}">
                <a16:creationId xmlns:a16="http://schemas.microsoft.com/office/drawing/2014/main" id="{D1CD61A3-E9FC-4500-5E98-3E7221F545E2}"/>
              </a:ext>
            </a:extLst>
          </p:cNvPr>
          <p:cNvSpPr txBox="1"/>
          <p:nvPr/>
        </p:nvSpPr>
        <p:spPr>
          <a:xfrm>
            <a:off x="9947060" y="1253907"/>
            <a:ext cx="1951529"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A few good examples  are </a:t>
            </a:r>
            <a:r>
              <a:rPr lang="en-GB" sz="1600" noProof="0">
                <a:latin typeface="Calibri"/>
                <a:ea typeface="Calibri"/>
                <a:cs typeface="Calibri"/>
                <a:hlinkClick r:id="rId10">
                  <a:extLst>
                    <a:ext uri="{A12FA001-AC4F-418D-AE19-62706E023703}">
                      <ahyp:hlinkClr xmlns:ahyp="http://schemas.microsoft.com/office/drawing/2018/hyperlinkcolor" val="tx"/>
                    </a:ext>
                  </a:extLst>
                </a:hlinkClick>
              </a:rPr>
              <a:t>Environmental Toxicology</a:t>
            </a:r>
            <a:r>
              <a:rPr lang="en-GB" sz="1600" noProof="0">
                <a:latin typeface="Calibri"/>
                <a:ea typeface="Calibri"/>
                <a:cs typeface="Calibri"/>
              </a:rPr>
              <a:t>, </a:t>
            </a:r>
            <a:r>
              <a:rPr lang="en-GB" sz="1600" noProof="0">
                <a:latin typeface="Calibri"/>
                <a:ea typeface="Calibri"/>
                <a:cs typeface="Calibri"/>
                <a:hlinkClick r:id="rId11">
                  <a:extLst>
                    <a:ext uri="{A12FA001-AC4F-418D-AE19-62706E023703}">
                      <ahyp:hlinkClr xmlns:ahyp="http://schemas.microsoft.com/office/drawing/2018/hyperlinkcolor" val="tx"/>
                    </a:ext>
                  </a:extLst>
                </a:hlinkClick>
              </a:rPr>
              <a:t>The European Experience</a:t>
            </a:r>
            <a:r>
              <a:rPr lang="en-GB" sz="1600" noProof="0">
                <a:latin typeface="Calibri"/>
                <a:ea typeface="Calibri"/>
                <a:cs typeface="Calibri"/>
              </a:rPr>
              <a:t> and  </a:t>
            </a:r>
            <a:r>
              <a:rPr lang="en-GB" sz="1600" noProof="0">
                <a:latin typeface="Calibri"/>
                <a:ea typeface="Calibri"/>
                <a:cs typeface="Calibri"/>
                <a:hlinkClick r:id="rId12">
                  <a:extLst>
                    <a:ext uri="{A12FA001-AC4F-418D-AE19-62706E023703}">
                      <ahyp:hlinkClr xmlns:ahyp="http://schemas.microsoft.com/office/drawing/2018/hyperlinkcolor" val="tx"/>
                    </a:ext>
                  </a:extLst>
                </a:hlinkClick>
              </a:rPr>
              <a:t>Quantitative Methods and Statistics</a:t>
            </a:r>
            <a:r>
              <a:rPr lang="en-GB" sz="1600" noProof="0">
                <a:latin typeface="Calibri"/>
                <a:ea typeface="Calibri"/>
                <a:cs typeface="Calibri"/>
              </a:rPr>
              <a:t>.</a:t>
            </a:r>
            <a:endParaRPr lang="en-GB" sz="1600" noProof="0">
              <a:latin typeface="Calibri"/>
              <a:ea typeface="Calibri"/>
              <a:cs typeface="Calibri"/>
              <a:hlinkClick r:id="rId12">
                <a:extLst>
                  <a:ext uri="{A12FA001-AC4F-418D-AE19-62706E023703}">
                    <ahyp:hlinkClr xmlns:ahyp="http://schemas.microsoft.com/office/drawing/2018/hyperlinkcolor" val="tx"/>
                  </a:ext>
                </a:extLst>
              </a:hlinkClick>
            </a:endParaRPr>
          </a:p>
        </p:txBody>
      </p:sp>
      <p:pic>
        <p:nvPicPr>
          <p:cNvPr id="6" name="Graphic 5" descr="Duim omhoog met effen opvulling">
            <a:extLst>
              <a:ext uri="{FF2B5EF4-FFF2-40B4-BE49-F238E27FC236}">
                <a16:creationId xmlns:a16="http://schemas.microsoft.com/office/drawing/2014/main" id="{8E4C444C-8E67-D0BB-CF02-2D94CEB8603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008950" y="5637629"/>
            <a:ext cx="360000" cy="360000"/>
          </a:xfrm>
          <a:prstGeom prst="rect">
            <a:avLst/>
          </a:prstGeom>
        </p:spPr>
      </p:pic>
      <p:pic>
        <p:nvPicPr>
          <p:cNvPr id="19" name="Picture 18">
            <a:extLst>
              <a:ext uri="{FF2B5EF4-FFF2-40B4-BE49-F238E27FC236}">
                <a16:creationId xmlns:a16="http://schemas.microsoft.com/office/drawing/2014/main" id="{2575A290-CE12-272D-F91A-A12E78F69026}"/>
              </a:ext>
            </a:extLst>
          </p:cNvPr>
          <p:cNvPicPr>
            <a:picLocks noChangeAspect="1"/>
          </p:cNvPicPr>
          <p:nvPr/>
        </p:nvPicPr>
        <p:blipFill>
          <a:blip r:embed="rId14"/>
          <a:stretch>
            <a:fillRect/>
          </a:stretch>
        </p:blipFill>
        <p:spPr>
          <a:xfrm>
            <a:off x="26821" y="30831"/>
            <a:ext cx="523875" cy="523875"/>
          </a:xfrm>
          <a:prstGeom prst="rect">
            <a:avLst/>
          </a:prstGeom>
        </p:spPr>
      </p:pic>
      <p:pic>
        <p:nvPicPr>
          <p:cNvPr id="3" name="Picture 26">
            <a:extLst>
              <a:ext uri="{FF2B5EF4-FFF2-40B4-BE49-F238E27FC236}">
                <a16:creationId xmlns:a16="http://schemas.microsoft.com/office/drawing/2014/main" id="{594455AB-C709-F22F-DEFF-9198C2874D3E}"/>
              </a:ext>
            </a:extLst>
          </p:cNvPr>
          <p:cNvPicPr>
            <a:picLocks noChangeAspect="1"/>
          </p:cNvPicPr>
          <p:nvPr/>
        </p:nvPicPr>
        <p:blipFill>
          <a:blip r:embed="rId15"/>
          <a:stretch>
            <a:fillRect/>
          </a:stretch>
        </p:blipFill>
        <p:spPr>
          <a:xfrm>
            <a:off x="11571081" y="108056"/>
            <a:ext cx="399072" cy="370500"/>
          </a:xfrm>
          <a:prstGeom prst="rect">
            <a:avLst/>
          </a:prstGeom>
        </p:spPr>
      </p:pic>
    </p:spTree>
    <p:extLst>
      <p:ext uri="{BB962C8B-B14F-4D97-AF65-F5344CB8AC3E}">
        <p14:creationId xmlns:p14="http://schemas.microsoft.com/office/powerpoint/2010/main" val="1477630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D1D3E-F8C3-7444-0E20-9F5DA619C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B2E0E-63B0-7D15-ED99-30D6D92116A4}"/>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Using open textbooks – What do they look like?</a:t>
            </a:r>
          </a:p>
        </p:txBody>
      </p:sp>
      <p:pic>
        <p:nvPicPr>
          <p:cNvPr id="19" name="Picture 18">
            <a:extLst>
              <a:ext uri="{FF2B5EF4-FFF2-40B4-BE49-F238E27FC236}">
                <a16:creationId xmlns:a16="http://schemas.microsoft.com/office/drawing/2014/main" id="{520F880D-714F-CE8D-3026-9DA4616573E7}"/>
              </a:ext>
            </a:extLst>
          </p:cNvPr>
          <p:cNvPicPr>
            <a:picLocks noChangeAspect="1"/>
          </p:cNvPicPr>
          <p:nvPr/>
        </p:nvPicPr>
        <p:blipFill>
          <a:blip r:embed="rId3"/>
          <a:stretch>
            <a:fillRect/>
          </a:stretch>
        </p:blipFill>
        <p:spPr>
          <a:xfrm>
            <a:off x="26821" y="30831"/>
            <a:ext cx="523875" cy="523875"/>
          </a:xfrm>
          <a:prstGeom prst="rect">
            <a:avLst/>
          </a:prstGeom>
        </p:spPr>
      </p:pic>
      <p:sp>
        <p:nvSpPr>
          <p:cNvPr id="5" name="Tekstvak 4">
            <a:extLst>
              <a:ext uri="{FF2B5EF4-FFF2-40B4-BE49-F238E27FC236}">
                <a16:creationId xmlns:a16="http://schemas.microsoft.com/office/drawing/2014/main" id="{B8B3B567-3407-C778-6BED-6CD61A1D9D58}"/>
              </a:ext>
            </a:extLst>
          </p:cNvPr>
          <p:cNvSpPr txBox="1"/>
          <p:nvPr/>
        </p:nvSpPr>
        <p:spPr>
          <a:xfrm>
            <a:off x="550696" y="780104"/>
            <a:ext cx="5605061" cy="400110"/>
          </a:xfrm>
          <a:prstGeom prst="rect">
            <a:avLst/>
          </a:prstGeom>
          <a:noFill/>
        </p:spPr>
        <p:txBody>
          <a:bodyPr wrap="non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Examples of Open Textbooks on different platforms</a:t>
            </a:r>
          </a:p>
        </p:txBody>
      </p:sp>
      <p:pic>
        <p:nvPicPr>
          <p:cNvPr id="9" name="Afbeelding 8" descr="Afbeelding met tekst, schermopname, document, Lettertype&#10;&#10;Door AI gegenereerde inhoud is mogelijk onjuist.">
            <a:hlinkClick r:id="rId4"/>
            <a:extLst>
              <a:ext uri="{FF2B5EF4-FFF2-40B4-BE49-F238E27FC236}">
                <a16:creationId xmlns:a16="http://schemas.microsoft.com/office/drawing/2014/main" id="{8AA9472B-57A6-622D-3412-9F63119A8A21}"/>
              </a:ext>
            </a:extLst>
          </p:cNvPr>
          <p:cNvPicPr>
            <a:picLocks noChangeAspect="1"/>
          </p:cNvPicPr>
          <p:nvPr/>
        </p:nvPicPr>
        <p:blipFill>
          <a:blip r:embed="rId5"/>
          <a:stretch>
            <a:fillRect/>
          </a:stretch>
        </p:blipFill>
        <p:spPr>
          <a:xfrm>
            <a:off x="6452887" y="1655160"/>
            <a:ext cx="5027069" cy="4866116"/>
          </a:xfrm>
          <a:prstGeom prst="rect">
            <a:avLst/>
          </a:prstGeom>
        </p:spPr>
      </p:pic>
      <p:pic>
        <p:nvPicPr>
          <p:cNvPr id="11" name="Afbeelding 10" descr="Afbeelding met tekst, schermopname, Lettertype, document&#10;&#10;Door AI gegenereerde inhoud is mogelijk onjuist.">
            <a:hlinkClick r:id="rId6"/>
            <a:extLst>
              <a:ext uri="{FF2B5EF4-FFF2-40B4-BE49-F238E27FC236}">
                <a16:creationId xmlns:a16="http://schemas.microsoft.com/office/drawing/2014/main" id="{DF0028B0-90EE-19AD-F595-8238F4B5EC3F}"/>
              </a:ext>
            </a:extLst>
          </p:cNvPr>
          <p:cNvPicPr>
            <a:picLocks noChangeAspect="1"/>
          </p:cNvPicPr>
          <p:nvPr/>
        </p:nvPicPr>
        <p:blipFill>
          <a:blip r:embed="rId7"/>
          <a:stretch>
            <a:fillRect/>
          </a:stretch>
        </p:blipFill>
        <p:spPr>
          <a:xfrm>
            <a:off x="550696" y="1662197"/>
            <a:ext cx="5188418" cy="4859079"/>
          </a:xfrm>
          <a:prstGeom prst="rect">
            <a:avLst/>
          </a:prstGeom>
        </p:spPr>
      </p:pic>
      <p:sp>
        <p:nvSpPr>
          <p:cNvPr id="12" name="Tekstvak 11">
            <a:extLst>
              <a:ext uri="{FF2B5EF4-FFF2-40B4-BE49-F238E27FC236}">
                <a16:creationId xmlns:a16="http://schemas.microsoft.com/office/drawing/2014/main" id="{D4A6DC08-4FD3-8952-FB3B-F83B36A5D1BA}"/>
              </a:ext>
            </a:extLst>
          </p:cNvPr>
          <p:cNvSpPr txBox="1"/>
          <p:nvPr/>
        </p:nvSpPr>
        <p:spPr>
          <a:xfrm>
            <a:off x="550696" y="1250169"/>
            <a:ext cx="4244588" cy="338554"/>
          </a:xfrm>
          <a:prstGeom prst="rect">
            <a:avLst/>
          </a:prstGeom>
          <a:noFill/>
        </p:spPr>
        <p:txBody>
          <a:bodyPr wrap="square" rtlCol="0" anchor="ctr">
            <a:spAutoFit/>
          </a:bodyPr>
          <a:lstStyle/>
          <a:p>
            <a:pPr marL="285750" indent="-285750">
              <a:buFont typeface="Arial" panose="020B0604020202020204" pitchFamily="34" charset="0"/>
              <a:buChar char="•"/>
            </a:pPr>
            <a:r>
              <a:rPr lang="en-GB" sz="1600" noProof="0" dirty="0">
                <a:latin typeface="Calibri" panose="020F0502020204030204" pitchFamily="34" charset="0"/>
                <a:ea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rPr>
              <a:t>Environmental Toxicology </a:t>
            </a:r>
            <a:r>
              <a:rPr lang="en-GB" sz="1600" noProof="0" dirty="0">
                <a:latin typeface="Calibri" panose="020F0502020204030204" pitchFamily="34" charset="0"/>
                <a:ea typeface="Calibri" panose="020F0502020204030204" pitchFamily="34" charset="0"/>
                <a:cs typeface="Calibri" panose="020F0502020204030204" pitchFamily="34" charset="0"/>
              </a:rPr>
              <a:t>(</a:t>
            </a:r>
            <a:r>
              <a:rPr lang="en-GB" sz="1600" noProof="0" dirty="0" err="1">
                <a:latin typeface="Calibri" panose="020F0502020204030204" pitchFamily="34" charset="0"/>
                <a:ea typeface="Calibri" panose="020F0502020204030204" pitchFamily="34" charset="0"/>
                <a:cs typeface="Calibri" panose="020F0502020204030204" pitchFamily="34" charset="0"/>
              </a:rPr>
              <a:t>Wikiwijs</a:t>
            </a:r>
            <a:r>
              <a:rPr lang="en-GB" sz="1600" noProof="0" dirty="0">
                <a:latin typeface="Calibri" panose="020F0502020204030204" pitchFamily="34" charset="0"/>
                <a:ea typeface="Calibri" panose="020F0502020204030204" pitchFamily="34" charset="0"/>
                <a:cs typeface="Calibri" panose="020F0502020204030204" pitchFamily="34" charset="0"/>
              </a:rPr>
              <a:t>)</a:t>
            </a:r>
          </a:p>
        </p:txBody>
      </p:sp>
      <p:sp>
        <p:nvSpPr>
          <p:cNvPr id="13" name="Tekstvak 12">
            <a:extLst>
              <a:ext uri="{FF2B5EF4-FFF2-40B4-BE49-F238E27FC236}">
                <a16:creationId xmlns:a16="http://schemas.microsoft.com/office/drawing/2014/main" id="{9A69A9CF-518E-CAB4-B387-6B33C6DAC6A4}"/>
              </a:ext>
            </a:extLst>
          </p:cNvPr>
          <p:cNvSpPr txBox="1"/>
          <p:nvPr/>
        </p:nvSpPr>
        <p:spPr>
          <a:xfrm>
            <a:off x="6452887" y="1250169"/>
            <a:ext cx="4573075" cy="338554"/>
          </a:xfrm>
          <a:prstGeom prst="rect">
            <a:avLst/>
          </a:prstGeom>
          <a:noFill/>
        </p:spPr>
        <p:txBody>
          <a:bodyPr wrap="square" rtlCol="0" anchor="ctr">
            <a:spAutoFit/>
          </a:bodyPr>
          <a:lstStyle/>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Quantitative Methods and Statistics </a:t>
            </a:r>
            <a:r>
              <a:rPr lang="en-GB" sz="1600" noProof="0">
                <a:latin typeface="Calibri" panose="020F0502020204030204" pitchFamily="34" charset="0"/>
                <a:ea typeface="Calibri" panose="020F0502020204030204" pitchFamily="34" charset="0"/>
                <a:cs typeface="Calibri" panose="020F0502020204030204" pitchFamily="34" charset="0"/>
              </a:rPr>
              <a:t>(GitHub)</a:t>
            </a:r>
          </a:p>
        </p:txBody>
      </p:sp>
    </p:spTree>
    <p:extLst>
      <p:ext uri="{BB962C8B-B14F-4D97-AF65-F5344CB8AC3E}">
        <p14:creationId xmlns:p14="http://schemas.microsoft.com/office/powerpoint/2010/main" val="1210868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28846-40DC-9841-2318-297EFD369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29BC8-A1AC-F64C-DBEE-8C76E5AD6B94}"/>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4. Creating open textbooks</a:t>
            </a:r>
          </a:p>
        </p:txBody>
      </p:sp>
      <p:sp>
        <p:nvSpPr>
          <p:cNvPr id="4" name="Rectangle: Rounded Corners 3">
            <a:extLst>
              <a:ext uri="{FF2B5EF4-FFF2-40B4-BE49-F238E27FC236}">
                <a16:creationId xmlns:a16="http://schemas.microsoft.com/office/drawing/2014/main" id="{8D553ADB-2988-87F8-4E9D-2B17207C9D02}"/>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9AED49C1-0B6F-538E-CD1E-C34889FF7EC0}"/>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4A5293F2-8166-965E-CC8D-B9BD6B017840}"/>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81C776EC-D7F0-18BE-C8AD-683F621B15C4}"/>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7AB6936F-E517-F4A1-52F9-9673FD9D1ED1}"/>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830A574D-091D-12C5-D7F6-C6BD57304F2A}"/>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Creating an open textbook</a:t>
            </a:r>
          </a:p>
        </p:txBody>
      </p:sp>
      <p:sp>
        <p:nvSpPr>
          <p:cNvPr id="11" name="TextBox 10">
            <a:extLst>
              <a:ext uri="{FF2B5EF4-FFF2-40B4-BE49-F238E27FC236}">
                <a16:creationId xmlns:a16="http://schemas.microsoft.com/office/drawing/2014/main" id="{97F201A6-95BD-DDFE-8BDB-E0607B010E5B}"/>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F6B90C21-99B3-6A08-FBD5-D2306C11B015}"/>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A3AA635E-8AC7-D87C-162F-C2BD28BB95E8}"/>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496F0831-92D5-FB2D-D4EA-398C54095444}"/>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sp>
        <p:nvSpPr>
          <p:cNvPr id="16" name="TextBox 15">
            <a:extLst>
              <a:ext uri="{FF2B5EF4-FFF2-40B4-BE49-F238E27FC236}">
                <a16:creationId xmlns:a16="http://schemas.microsoft.com/office/drawing/2014/main" id="{F26B976A-BE2B-24DE-EAEE-B23E233E9480}"/>
              </a:ext>
            </a:extLst>
          </p:cNvPr>
          <p:cNvSpPr txBox="1"/>
          <p:nvPr/>
        </p:nvSpPr>
        <p:spPr>
          <a:xfrm>
            <a:off x="384875" y="1193992"/>
            <a:ext cx="364066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Open textbooks are freely accessible to everyone, written by experts in the field. These textbooks have an open license and can thus be used and modified, increasing collaboration and promoting high quality educational resources. They can be classic, but also more innovative, dynamic, interactive. They can have an editable format.</a:t>
            </a:r>
          </a:p>
        </p:txBody>
      </p:sp>
      <p:sp>
        <p:nvSpPr>
          <p:cNvPr id="17" name="TextBox 16">
            <a:extLst>
              <a:ext uri="{FF2B5EF4-FFF2-40B4-BE49-F238E27FC236}">
                <a16:creationId xmlns:a16="http://schemas.microsoft.com/office/drawing/2014/main" id="{B315B9D3-8E96-C0F7-A2FA-3AB4D6F1B003}"/>
              </a:ext>
            </a:extLst>
          </p:cNvPr>
          <p:cNvSpPr txBox="1"/>
          <p:nvPr/>
        </p:nvSpPr>
        <p:spPr>
          <a:xfrm>
            <a:off x="384875" y="4286066"/>
            <a:ext cx="364066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noProof="0">
                <a:latin typeface="Calibri"/>
                <a:ea typeface="Calibri"/>
                <a:cs typeface="Calibri"/>
              </a:rPr>
              <a:t>Increase affordability to students</a:t>
            </a:r>
          </a:p>
          <a:p>
            <a:pPr marL="285750" indent="-285750">
              <a:buFont typeface="Arial"/>
              <a:buChar char="•"/>
            </a:pPr>
            <a:r>
              <a:rPr lang="en-GB" sz="1600" noProof="0">
                <a:latin typeface="Calibri"/>
                <a:ea typeface="Calibri"/>
                <a:cs typeface="Calibri"/>
              </a:rPr>
              <a:t>Increase collaboration and expansion of educational text/works</a:t>
            </a:r>
          </a:p>
          <a:p>
            <a:pPr marL="285750" indent="-285750">
              <a:buFont typeface="Arial"/>
              <a:buChar char="•"/>
            </a:pPr>
            <a:r>
              <a:rPr lang="en-GB" sz="1600" noProof="0">
                <a:latin typeface="Calibri"/>
                <a:ea typeface="Calibri"/>
                <a:cs typeface="Calibri"/>
              </a:rPr>
              <a:t>Increase efficiency in creating education (not duplicating efforts) </a:t>
            </a:r>
          </a:p>
          <a:p>
            <a:pPr marL="285750" indent="-285750">
              <a:buFont typeface="Arial"/>
              <a:buChar char="•"/>
            </a:pPr>
            <a:r>
              <a:rPr lang="en-GB" sz="1600" noProof="0">
                <a:latin typeface="Calibri"/>
                <a:ea typeface="Calibri"/>
                <a:cs typeface="Calibri"/>
              </a:rPr>
              <a:t>Up-to-date information</a:t>
            </a:r>
          </a:p>
        </p:txBody>
      </p:sp>
      <p:sp>
        <p:nvSpPr>
          <p:cNvPr id="18" name="TextBox 17">
            <a:extLst>
              <a:ext uri="{FF2B5EF4-FFF2-40B4-BE49-F238E27FC236}">
                <a16:creationId xmlns:a16="http://schemas.microsoft.com/office/drawing/2014/main" id="{16402014-B0F1-24AE-DAB4-AAF276755D38}"/>
              </a:ext>
            </a:extLst>
          </p:cNvPr>
          <p:cNvSpPr txBox="1"/>
          <p:nvPr/>
        </p:nvSpPr>
        <p:spPr>
          <a:xfrm>
            <a:off x="4562185" y="1196656"/>
            <a:ext cx="494857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There are various ways of creating or contributing to an open textbook: from scratch, based on a tried and tested syllabus, adding to an existing open textbook or reformatting a (closed) textbook that you have the full copyright and necessary exploitation rights of. Simply publishing a classic textbook open access is also helpful.</a:t>
            </a:r>
          </a:p>
          <a:p>
            <a:endParaRPr lang="en-GB" sz="1600" noProof="0">
              <a:latin typeface="Calibri"/>
              <a:ea typeface="Calibri"/>
              <a:cs typeface="Calibri"/>
            </a:endParaRPr>
          </a:p>
          <a:p>
            <a:r>
              <a:rPr lang="en-GB" sz="1600" noProof="0">
                <a:latin typeface="Calibri"/>
                <a:ea typeface="Calibri"/>
                <a:cs typeface="Calibri"/>
              </a:rPr>
              <a:t>Creating a full open textbook from scratch requires a lot of effort, like any textbook, but perhaps even more because ideally you want to build on the openness advantage by making it dynamic and perhaps even interactive, with online assignments. The task could become more manageable by making it a collaborative project.</a:t>
            </a:r>
          </a:p>
          <a:p>
            <a:endParaRPr lang="en-GB" sz="1600" noProof="0">
              <a:latin typeface="Calibri"/>
              <a:ea typeface="Calibri"/>
              <a:cs typeface="Calibri"/>
            </a:endParaRPr>
          </a:p>
          <a:p>
            <a:r>
              <a:rPr lang="en-GB" sz="1600" noProof="0">
                <a:latin typeface="Calibri"/>
                <a:ea typeface="Calibri"/>
                <a:cs typeface="Calibri"/>
              </a:rPr>
              <a:t>The library can advise on platforms and publishers that are suitable for creating, publishing and hosting open textbooks.</a:t>
            </a:r>
          </a:p>
        </p:txBody>
      </p:sp>
      <p:sp>
        <p:nvSpPr>
          <p:cNvPr id="20" name="TextBox 19">
            <a:extLst>
              <a:ext uri="{FF2B5EF4-FFF2-40B4-BE49-F238E27FC236}">
                <a16:creationId xmlns:a16="http://schemas.microsoft.com/office/drawing/2014/main" id="{B9F27018-9C37-5D56-2EEF-2891C1DA81B5}"/>
              </a:ext>
            </a:extLst>
          </p:cNvPr>
          <p:cNvSpPr txBox="1"/>
          <p:nvPr/>
        </p:nvSpPr>
        <p:spPr>
          <a:xfrm>
            <a:off x="9946164" y="4286066"/>
            <a:ext cx="2022885"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sz="1600" noProof="0">
                <a:latin typeface="Calibri"/>
                <a:ea typeface="Calibri"/>
                <a:cs typeface="Calibri"/>
              </a:rPr>
              <a:t>Edusources guide: </a:t>
            </a:r>
            <a:r>
              <a:rPr lang="en-GB" sz="1600" noProof="0">
                <a:latin typeface="Calibri"/>
                <a:ea typeface="Calibri"/>
                <a:cs typeface="Calibri"/>
                <a:hlinkClick r:id="rId2">
                  <a:extLst>
                    <a:ext uri="{A12FA001-AC4F-418D-AE19-62706E023703}">
                      <ahyp:hlinkClr xmlns:ahyp="http://schemas.microsoft.com/office/drawing/2018/hyperlinkcolor" val="tx"/>
                    </a:ext>
                  </a:extLst>
                </a:hlinkClick>
              </a:rPr>
              <a:t>How to make an open textbook</a:t>
            </a:r>
          </a:p>
          <a:p>
            <a:pPr marL="285750" indent="-285750">
              <a:buFont typeface="Arial" panose="020B0604020202020204" pitchFamily="34" charset="0"/>
              <a:buChar char="•"/>
            </a:pPr>
            <a:r>
              <a:rPr lang="en-GB" sz="1600" noProof="0">
                <a:latin typeface="Calibri"/>
                <a:ea typeface="Calibri"/>
                <a:cs typeface="Calibri"/>
              </a:rPr>
              <a:t>UU Library </a:t>
            </a:r>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OER support</a:t>
            </a:r>
          </a:p>
          <a:p>
            <a:pPr marL="285750" indent="-285750">
              <a:buFont typeface="Arial" panose="020B0604020202020204" pitchFamily="34" charset="0"/>
              <a:buChar char="•"/>
            </a:pPr>
            <a:r>
              <a:rPr lang="en-GB" sz="1600" noProof="0">
                <a:latin typeface="Calibri"/>
                <a:ea typeface="Calibri"/>
                <a:cs typeface="Calibri"/>
              </a:rPr>
              <a:t>RUG – </a:t>
            </a:r>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Open textbook links</a:t>
            </a:r>
            <a:endParaRPr lang="en-GB" sz="1600" noProof="0">
              <a:latin typeface="Calibri"/>
              <a:ea typeface="Calibri"/>
              <a:cs typeface="Calibri"/>
            </a:endParaRPr>
          </a:p>
        </p:txBody>
      </p:sp>
      <p:sp>
        <p:nvSpPr>
          <p:cNvPr id="21" name="TextBox 20">
            <a:extLst>
              <a:ext uri="{FF2B5EF4-FFF2-40B4-BE49-F238E27FC236}">
                <a16:creationId xmlns:a16="http://schemas.microsoft.com/office/drawing/2014/main" id="{C62C5CAC-530D-D83A-5D6B-50313B604884}"/>
              </a:ext>
            </a:extLst>
          </p:cNvPr>
          <p:cNvSpPr txBox="1"/>
          <p:nvPr/>
        </p:nvSpPr>
        <p:spPr>
          <a:xfrm>
            <a:off x="9903098" y="1193992"/>
            <a:ext cx="2156842"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550" noProof="0">
                <a:latin typeface="Calibri"/>
                <a:ea typeface="Calibri"/>
                <a:cs typeface="Calibri"/>
                <a:hlinkClick r:id="rId5">
                  <a:extLst>
                    <a:ext uri="{A12FA001-AC4F-418D-AE19-62706E023703}">
                      <ahyp:hlinkClr xmlns:ahyp="http://schemas.microsoft.com/office/drawing/2018/hyperlinkcolor" val="tx"/>
                    </a:ext>
                  </a:extLst>
                </a:hlinkClick>
              </a:rPr>
              <a:t>Environmental Toxicology</a:t>
            </a:r>
            <a:r>
              <a:rPr lang="en-GB" sz="1550" noProof="0">
                <a:latin typeface="Calibri"/>
                <a:ea typeface="Calibri"/>
                <a:cs typeface="Calibri"/>
              </a:rPr>
              <a:t>, </a:t>
            </a:r>
            <a:r>
              <a:rPr lang="en-GB" sz="1550" noProof="0">
                <a:latin typeface="Calibri"/>
                <a:ea typeface="Calibri"/>
                <a:cs typeface="Calibri"/>
                <a:hlinkClick r:id="rId6">
                  <a:extLst>
                    <a:ext uri="{A12FA001-AC4F-418D-AE19-62706E023703}">
                      <ahyp:hlinkClr xmlns:ahyp="http://schemas.microsoft.com/office/drawing/2018/hyperlinkcolor" val="tx"/>
                    </a:ext>
                  </a:extLst>
                </a:hlinkClick>
              </a:rPr>
              <a:t>The European Experience</a:t>
            </a:r>
            <a:r>
              <a:rPr lang="en-GB" sz="1550" noProof="0">
                <a:latin typeface="Calibri"/>
                <a:ea typeface="Calibri"/>
                <a:cs typeface="Calibri"/>
              </a:rPr>
              <a:t> and </a:t>
            </a:r>
            <a:r>
              <a:rPr lang="en-GB" sz="1550" noProof="0">
                <a:latin typeface="Calibri"/>
                <a:ea typeface="Calibri"/>
                <a:cs typeface="Calibri"/>
                <a:hlinkClick r:id="rId7">
                  <a:extLst>
                    <a:ext uri="{A12FA001-AC4F-418D-AE19-62706E023703}">
                      <ahyp:hlinkClr xmlns:ahyp="http://schemas.microsoft.com/office/drawing/2018/hyperlinkcolor" val="tx"/>
                    </a:ext>
                  </a:extLst>
                </a:hlinkClick>
              </a:rPr>
              <a:t>Quantitative Methods and Statistics</a:t>
            </a:r>
            <a:r>
              <a:rPr lang="en-GB" sz="1550" noProof="0">
                <a:latin typeface="Calibri"/>
                <a:ea typeface="Calibri"/>
                <a:cs typeface="Calibri"/>
              </a:rPr>
              <a:t>.</a:t>
            </a:r>
          </a:p>
          <a:p>
            <a:endParaRPr lang="en-GB" sz="1550" noProof="0">
              <a:latin typeface="Calibri"/>
              <a:ea typeface="Calibri"/>
              <a:cs typeface="Calibri"/>
            </a:endParaRPr>
          </a:p>
          <a:p>
            <a:r>
              <a:rPr lang="en-GB" sz="1550" noProof="0">
                <a:latin typeface="Calibri"/>
                <a:ea typeface="Calibri"/>
                <a:cs typeface="Calibri"/>
              </a:rPr>
              <a:t>See this </a:t>
            </a:r>
            <a:r>
              <a:rPr lang="en-GB" sz="1550" noProof="0">
                <a:latin typeface="Calibri"/>
                <a:ea typeface="Calibri"/>
                <a:cs typeface="Calibri"/>
                <a:hlinkClick r:id="rId8">
                  <a:extLst>
                    <a:ext uri="{A12FA001-AC4F-418D-AE19-62706E023703}">
                      <ahyp:hlinkClr xmlns:ahyp="http://schemas.microsoft.com/office/drawing/2018/hyperlinkcolor" val="tx"/>
                    </a:ext>
                  </a:extLst>
                </a:hlinkClick>
              </a:rPr>
              <a:t>meeting report on open textbooks</a:t>
            </a:r>
          </a:p>
        </p:txBody>
      </p:sp>
      <p:pic>
        <p:nvPicPr>
          <p:cNvPr id="22" name="Picture 21">
            <a:extLst>
              <a:ext uri="{FF2B5EF4-FFF2-40B4-BE49-F238E27FC236}">
                <a16:creationId xmlns:a16="http://schemas.microsoft.com/office/drawing/2014/main" id="{BAFDDF58-30F0-736B-417A-33D87C01E50D}"/>
              </a:ext>
            </a:extLst>
          </p:cNvPr>
          <p:cNvPicPr>
            <a:picLocks noChangeAspect="1"/>
          </p:cNvPicPr>
          <p:nvPr/>
        </p:nvPicPr>
        <p:blipFill>
          <a:blip r:embed="rId9"/>
          <a:stretch>
            <a:fillRect/>
          </a:stretch>
        </p:blipFill>
        <p:spPr>
          <a:xfrm>
            <a:off x="26821" y="30831"/>
            <a:ext cx="523875" cy="523875"/>
          </a:xfrm>
          <a:prstGeom prst="rect">
            <a:avLst/>
          </a:prstGeom>
        </p:spPr>
      </p:pic>
      <p:grpSp>
        <p:nvGrpSpPr>
          <p:cNvPr id="3" name="Groep 2">
            <a:extLst>
              <a:ext uri="{FF2B5EF4-FFF2-40B4-BE49-F238E27FC236}">
                <a16:creationId xmlns:a16="http://schemas.microsoft.com/office/drawing/2014/main" id="{EE87E41F-F43B-89F6-5EB3-12C5B0781D51}"/>
              </a:ext>
            </a:extLst>
          </p:cNvPr>
          <p:cNvGrpSpPr>
            <a:grpSpLocks noChangeAspect="1"/>
          </p:cNvGrpSpPr>
          <p:nvPr/>
        </p:nvGrpSpPr>
        <p:grpSpPr>
          <a:xfrm>
            <a:off x="10729120" y="108056"/>
            <a:ext cx="1241039" cy="370500"/>
            <a:chOff x="3369251" y="2755098"/>
            <a:chExt cx="635773" cy="189804"/>
          </a:xfrm>
        </p:grpSpPr>
        <p:pic>
          <p:nvPicPr>
            <p:cNvPr id="6" name="Picture 24">
              <a:extLst>
                <a:ext uri="{FF2B5EF4-FFF2-40B4-BE49-F238E27FC236}">
                  <a16:creationId xmlns:a16="http://schemas.microsoft.com/office/drawing/2014/main" id="{44953D32-9CDB-185E-9461-B7EFD14DDCBC}"/>
                </a:ext>
              </a:extLst>
            </p:cNvPr>
            <p:cNvPicPr>
              <a:picLocks noChangeAspect="1"/>
            </p:cNvPicPr>
            <p:nvPr/>
          </p:nvPicPr>
          <p:blipFill>
            <a:blip r:embed="rId10"/>
            <a:stretch>
              <a:fillRect/>
            </a:stretch>
          </p:blipFill>
          <p:spPr>
            <a:xfrm>
              <a:off x="3587778" y="2755098"/>
              <a:ext cx="204441" cy="189804"/>
            </a:xfrm>
            <a:prstGeom prst="rect">
              <a:avLst/>
            </a:prstGeom>
          </p:spPr>
        </p:pic>
        <p:pic>
          <p:nvPicPr>
            <p:cNvPr id="13" name="Picture 26">
              <a:extLst>
                <a:ext uri="{FF2B5EF4-FFF2-40B4-BE49-F238E27FC236}">
                  <a16:creationId xmlns:a16="http://schemas.microsoft.com/office/drawing/2014/main" id="{209ADEBB-532A-B07C-FF14-1769097B7C5E}"/>
                </a:ext>
              </a:extLst>
            </p:cNvPr>
            <p:cNvPicPr>
              <a:picLocks noChangeAspect="1"/>
            </p:cNvPicPr>
            <p:nvPr/>
          </p:nvPicPr>
          <p:blipFill>
            <a:blip r:embed="rId10"/>
            <a:stretch>
              <a:fillRect/>
            </a:stretch>
          </p:blipFill>
          <p:spPr>
            <a:xfrm>
              <a:off x="3800583" y="2755098"/>
              <a:ext cx="204441" cy="189804"/>
            </a:xfrm>
            <a:prstGeom prst="rect">
              <a:avLst/>
            </a:prstGeom>
          </p:spPr>
        </p:pic>
        <p:pic>
          <p:nvPicPr>
            <p:cNvPr id="25" name="Picture 79">
              <a:extLst>
                <a:ext uri="{FF2B5EF4-FFF2-40B4-BE49-F238E27FC236}">
                  <a16:creationId xmlns:a16="http://schemas.microsoft.com/office/drawing/2014/main" id="{2F4FFFB3-083B-B5EB-FBA8-CCA4AA320EC2}"/>
                </a:ext>
              </a:extLst>
            </p:cNvPr>
            <p:cNvPicPr>
              <a:picLocks noChangeAspect="1"/>
            </p:cNvPicPr>
            <p:nvPr/>
          </p:nvPicPr>
          <p:blipFill>
            <a:blip r:embed="rId10"/>
            <a:stretch>
              <a:fillRect/>
            </a:stretch>
          </p:blipFill>
          <p:spPr>
            <a:xfrm>
              <a:off x="3369251" y="2755098"/>
              <a:ext cx="204441" cy="189804"/>
            </a:xfrm>
            <a:prstGeom prst="rect">
              <a:avLst/>
            </a:prstGeom>
          </p:spPr>
        </p:pic>
      </p:grpSp>
    </p:spTree>
    <p:extLst>
      <p:ext uri="{BB962C8B-B14F-4D97-AF65-F5344CB8AC3E}">
        <p14:creationId xmlns:p14="http://schemas.microsoft.com/office/powerpoint/2010/main" val="2624027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69FDF-A6F4-BFAA-6E44-A2A9C4B5B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60DA4-6A88-D4BB-C269-367F6D8EA9BD}"/>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Creating open textbooks – How does that look?</a:t>
            </a:r>
          </a:p>
        </p:txBody>
      </p:sp>
      <p:pic>
        <p:nvPicPr>
          <p:cNvPr id="19" name="Picture 18">
            <a:extLst>
              <a:ext uri="{FF2B5EF4-FFF2-40B4-BE49-F238E27FC236}">
                <a16:creationId xmlns:a16="http://schemas.microsoft.com/office/drawing/2014/main" id="{06570EDE-9DD4-9368-39D5-82F2127B7F73}"/>
              </a:ext>
            </a:extLst>
          </p:cNvPr>
          <p:cNvPicPr>
            <a:picLocks noChangeAspect="1"/>
          </p:cNvPicPr>
          <p:nvPr/>
        </p:nvPicPr>
        <p:blipFill>
          <a:blip r:embed="rId3"/>
          <a:stretch>
            <a:fillRect/>
          </a:stretch>
        </p:blipFill>
        <p:spPr>
          <a:xfrm>
            <a:off x="26821" y="30831"/>
            <a:ext cx="523875" cy="523875"/>
          </a:xfrm>
          <a:prstGeom prst="rect">
            <a:avLst/>
          </a:prstGeom>
        </p:spPr>
      </p:pic>
      <p:sp>
        <p:nvSpPr>
          <p:cNvPr id="5" name="Tekstvak 4">
            <a:extLst>
              <a:ext uri="{FF2B5EF4-FFF2-40B4-BE49-F238E27FC236}">
                <a16:creationId xmlns:a16="http://schemas.microsoft.com/office/drawing/2014/main" id="{B4B46B3D-90DD-5AE6-4E93-D74AB24B55DE}"/>
              </a:ext>
            </a:extLst>
          </p:cNvPr>
          <p:cNvSpPr txBox="1"/>
          <p:nvPr/>
        </p:nvSpPr>
        <p:spPr>
          <a:xfrm>
            <a:off x="550696" y="780104"/>
            <a:ext cx="5605061" cy="400110"/>
          </a:xfrm>
          <a:prstGeom prst="rect">
            <a:avLst/>
          </a:prstGeom>
          <a:noFill/>
        </p:spPr>
        <p:txBody>
          <a:bodyPr wrap="non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Examples of Open Textbooks on different platforms</a:t>
            </a:r>
          </a:p>
        </p:txBody>
      </p:sp>
      <p:pic>
        <p:nvPicPr>
          <p:cNvPr id="9" name="Afbeelding 8" descr="Afbeelding met tekst, schermopname, document, Lettertype&#10;&#10;Door AI gegenereerde inhoud is mogelijk onjuist.">
            <a:hlinkClick r:id="rId4"/>
            <a:extLst>
              <a:ext uri="{FF2B5EF4-FFF2-40B4-BE49-F238E27FC236}">
                <a16:creationId xmlns:a16="http://schemas.microsoft.com/office/drawing/2014/main" id="{E11F576F-6E6C-A945-516C-BBE26EB82C2B}"/>
              </a:ext>
            </a:extLst>
          </p:cNvPr>
          <p:cNvPicPr>
            <a:picLocks noChangeAspect="1"/>
          </p:cNvPicPr>
          <p:nvPr/>
        </p:nvPicPr>
        <p:blipFill>
          <a:blip r:embed="rId5"/>
          <a:stretch>
            <a:fillRect/>
          </a:stretch>
        </p:blipFill>
        <p:spPr>
          <a:xfrm>
            <a:off x="6452887" y="1655160"/>
            <a:ext cx="5027069" cy="4866116"/>
          </a:xfrm>
          <a:prstGeom prst="rect">
            <a:avLst/>
          </a:prstGeom>
        </p:spPr>
      </p:pic>
      <p:pic>
        <p:nvPicPr>
          <p:cNvPr id="11" name="Afbeelding 10" descr="Afbeelding met tekst, schermopname, Lettertype, document&#10;&#10;Door AI gegenereerde inhoud is mogelijk onjuist.">
            <a:hlinkClick r:id="rId6"/>
            <a:extLst>
              <a:ext uri="{FF2B5EF4-FFF2-40B4-BE49-F238E27FC236}">
                <a16:creationId xmlns:a16="http://schemas.microsoft.com/office/drawing/2014/main" id="{873C06D3-186B-9A42-A1CB-1341046CB827}"/>
              </a:ext>
            </a:extLst>
          </p:cNvPr>
          <p:cNvPicPr>
            <a:picLocks noChangeAspect="1"/>
          </p:cNvPicPr>
          <p:nvPr/>
        </p:nvPicPr>
        <p:blipFill>
          <a:blip r:embed="rId7"/>
          <a:stretch>
            <a:fillRect/>
          </a:stretch>
        </p:blipFill>
        <p:spPr>
          <a:xfrm>
            <a:off x="550696" y="1662197"/>
            <a:ext cx="5188418" cy="4859079"/>
          </a:xfrm>
          <a:prstGeom prst="rect">
            <a:avLst/>
          </a:prstGeom>
        </p:spPr>
      </p:pic>
      <p:sp>
        <p:nvSpPr>
          <p:cNvPr id="12" name="Tekstvak 11">
            <a:extLst>
              <a:ext uri="{FF2B5EF4-FFF2-40B4-BE49-F238E27FC236}">
                <a16:creationId xmlns:a16="http://schemas.microsoft.com/office/drawing/2014/main" id="{13AC6DE8-48A8-3041-4EF3-3614149EDAD5}"/>
              </a:ext>
            </a:extLst>
          </p:cNvPr>
          <p:cNvSpPr txBox="1"/>
          <p:nvPr/>
        </p:nvSpPr>
        <p:spPr>
          <a:xfrm>
            <a:off x="550696" y="1250169"/>
            <a:ext cx="4244588" cy="338554"/>
          </a:xfrm>
          <a:prstGeom prst="rect">
            <a:avLst/>
          </a:prstGeom>
          <a:noFill/>
        </p:spPr>
        <p:txBody>
          <a:bodyPr wrap="square" rtlCol="0" anchor="ctr">
            <a:spAutoFit/>
          </a:bodyPr>
          <a:lstStyle/>
          <a:p>
            <a:pPr marL="285750" indent="-285750">
              <a:buFont typeface="Arial" panose="020B0604020202020204" pitchFamily="34" charset="0"/>
              <a:buChar char="•"/>
            </a:pPr>
            <a:r>
              <a:rPr lang="en-GB" sz="1600" noProof="0" dirty="0">
                <a:latin typeface="Calibri" panose="020F0502020204030204" pitchFamily="34" charset="0"/>
                <a:ea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rPr>
              <a:t>Environmental Toxicology </a:t>
            </a:r>
            <a:r>
              <a:rPr lang="en-GB" sz="1600" noProof="0" dirty="0">
                <a:latin typeface="Calibri" panose="020F0502020204030204" pitchFamily="34" charset="0"/>
                <a:ea typeface="Calibri" panose="020F0502020204030204" pitchFamily="34" charset="0"/>
                <a:cs typeface="Calibri" panose="020F0502020204030204" pitchFamily="34" charset="0"/>
              </a:rPr>
              <a:t>(</a:t>
            </a:r>
            <a:r>
              <a:rPr lang="en-GB" sz="1600" noProof="0" dirty="0" err="1">
                <a:latin typeface="Calibri" panose="020F0502020204030204" pitchFamily="34" charset="0"/>
                <a:ea typeface="Calibri" panose="020F0502020204030204" pitchFamily="34" charset="0"/>
                <a:cs typeface="Calibri" panose="020F0502020204030204" pitchFamily="34" charset="0"/>
              </a:rPr>
              <a:t>Wikiwijs</a:t>
            </a:r>
            <a:r>
              <a:rPr lang="en-GB" sz="1600" noProof="0" dirty="0">
                <a:latin typeface="Calibri" panose="020F0502020204030204" pitchFamily="34" charset="0"/>
                <a:ea typeface="Calibri" panose="020F0502020204030204" pitchFamily="34" charset="0"/>
                <a:cs typeface="Calibri" panose="020F0502020204030204" pitchFamily="34" charset="0"/>
              </a:rPr>
              <a:t>)</a:t>
            </a:r>
          </a:p>
        </p:txBody>
      </p:sp>
      <p:sp>
        <p:nvSpPr>
          <p:cNvPr id="13" name="Tekstvak 12">
            <a:extLst>
              <a:ext uri="{FF2B5EF4-FFF2-40B4-BE49-F238E27FC236}">
                <a16:creationId xmlns:a16="http://schemas.microsoft.com/office/drawing/2014/main" id="{BD5606F1-490F-E8BA-9267-3C64F649BFF4}"/>
              </a:ext>
            </a:extLst>
          </p:cNvPr>
          <p:cNvSpPr txBox="1"/>
          <p:nvPr/>
        </p:nvSpPr>
        <p:spPr>
          <a:xfrm>
            <a:off x="6452887" y="1250169"/>
            <a:ext cx="4573075" cy="338554"/>
          </a:xfrm>
          <a:prstGeom prst="rect">
            <a:avLst/>
          </a:prstGeom>
          <a:noFill/>
        </p:spPr>
        <p:txBody>
          <a:bodyPr wrap="square" rtlCol="0" anchor="ctr">
            <a:spAutoFit/>
          </a:bodyPr>
          <a:lstStyle/>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Quantitative Methods and Statistics </a:t>
            </a:r>
            <a:r>
              <a:rPr lang="en-GB" sz="1600" noProof="0">
                <a:latin typeface="Calibri" panose="020F0502020204030204" pitchFamily="34" charset="0"/>
                <a:ea typeface="Calibri" panose="020F0502020204030204" pitchFamily="34" charset="0"/>
                <a:cs typeface="Calibri" panose="020F0502020204030204" pitchFamily="34" charset="0"/>
              </a:rPr>
              <a:t>(GitHub)</a:t>
            </a:r>
          </a:p>
        </p:txBody>
      </p:sp>
    </p:spTree>
    <p:extLst>
      <p:ext uri="{BB962C8B-B14F-4D97-AF65-F5344CB8AC3E}">
        <p14:creationId xmlns:p14="http://schemas.microsoft.com/office/powerpoint/2010/main" val="1088655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AD339-73B2-6F78-0812-27DA3D089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DB561-C895-BEC2-605D-48A834B73205}"/>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5. Mindset: Teaching open ways of working</a:t>
            </a:r>
          </a:p>
        </p:txBody>
      </p:sp>
      <p:sp>
        <p:nvSpPr>
          <p:cNvPr id="4" name="Rectangle: Rounded Corners 3">
            <a:extLst>
              <a:ext uri="{FF2B5EF4-FFF2-40B4-BE49-F238E27FC236}">
                <a16:creationId xmlns:a16="http://schemas.microsoft.com/office/drawing/2014/main" id="{01DEAE26-7876-4ADB-793A-78BD87AE0022}"/>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B659D7B2-46C1-C5D9-30AA-49578A661400}"/>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2D5B8F7D-157D-34D8-B696-3BF90407795C}"/>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83E77E85-0426-9465-4B9F-5AF0017B47ED}"/>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38F81281-AD52-CC70-C84D-AA411360AA7C}"/>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B788D46C-A303-00D8-B9CB-CBDEAA48F2C9}"/>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Open ways of working</a:t>
            </a:r>
          </a:p>
        </p:txBody>
      </p:sp>
      <p:sp>
        <p:nvSpPr>
          <p:cNvPr id="12" name="TextBox 11">
            <a:extLst>
              <a:ext uri="{FF2B5EF4-FFF2-40B4-BE49-F238E27FC236}">
                <a16:creationId xmlns:a16="http://schemas.microsoft.com/office/drawing/2014/main" id="{7FD214EB-ABB1-341C-224E-4607D197CC56}"/>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3B7AF117-EE7F-EE8E-CBED-C35D4928B0AF}"/>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AD039493-97C4-0963-A81D-6AE086D34A68}"/>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sp>
        <p:nvSpPr>
          <p:cNvPr id="16" name="TextBox 15">
            <a:extLst>
              <a:ext uri="{FF2B5EF4-FFF2-40B4-BE49-F238E27FC236}">
                <a16:creationId xmlns:a16="http://schemas.microsoft.com/office/drawing/2014/main" id="{92763B0B-C972-F366-B5CB-3998F35E795A}"/>
              </a:ext>
            </a:extLst>
          </p:cNvPr>
          <p:cNvSpPr txBox="1"/>
          <p:nvPr/>
        </p:nvSpPr>
        <p:spPr>
          <a:xfrm>
            <a:off x="430389" y="1210958"/>
            <a:ext cx="3640666"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panose="020F0502020204030204" pitchFamily="34" charset="0"/>
                <a:cs typeface="Calibri" panose="020F0502020204030204" pitchFamily="34" charset="0"/>
              </a:rPr>
              <a:t>To be able to practice Open Science effectively, students not only need to know how to practice Open Science, but also why Open Science matters. </a:t>
            </a:r>
          </a:p>
          <a:p>
            <a:r>
              <a:rPr lang="en-GB" sz="1600" noProof="0">
                <a:latin typeface="Calibri" panose="020F0502020204030204" pitchFamily="34" charset="0"/>
                <a:cs typeface="Calibri" panose="020F0502020204030204" pitchFamily="34" charset="0"/>
              </a:rPr>
              <a:t>Open ways of working is about sharing and reusing, involving all relevant parties. It includes notions on transparency, reproducibility, collaboration, inclusivity and integrity. </a:t>
            </a:r>
          </a:p>
          <a:p>
            <a:endParaRPr lang="en-GB" sz="1400" noProof="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52FB7D78-EEB1-177C-3F35-A4971F22F491}"/>
              </a:ext>
            </a:extLst>
          </p:cNvPr>
          <p:cNvSpPr txBox="1"/>
          <p:nvPr/>
        </p:nvSpPr>
        <p:spPr>
          <a:xfrm>
            <a:off x="404775" y="4205437"/>
            <a:ext cx="364066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Let students experience working openly around shared resources. The goal is to reflect on their way of working and help them realize that open approaches likely constitute the most obvious, productive and motivating way of working during their courses, as well as providing essential skills and disposition for their professional careers.</a:t>
            </a:r>
          </a:p>
        </p:txBody>
      </p:sp>
      <p:sp>
        <p:nvSpPr>
          <p:cNvPr id="18" name="TextBox 17">
            <a:extLst>
              <a:ext uri="{FF2B5EF4-FFF2-40B4-BE49-F238E27FC236}">
                <a16:creationId xmlns:a16="http://schemas.microsoft.com/office/drawing/2014/main" id="{DFD9300F-CCB4-C73D-92E9-4CAA915D4A34}"/>
              </a:ext>
            </a:extLst>
          </p:cNvPr>
          <p:cNvSpPr txBox="1"/>
          <p:nvPr/>
        </p:nvSpPr>
        <p:spPr>
          <a:xfrm>
            <a:off x="4630727" y="1209333"/>
            <a:ext cx="4818252" cy="52937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Implementation of any practice, big and small, into coursework contributes to creating an open science mindset, but above all the actual sharing, reusing and engagement practices.</a:t>
            </a:r>
            <a:r>
              <a:rPr lang="en-GB" noProof="0"/>
              <a:t> </a:t>
            </a:r>
            <a:r>
              <a:rPr lang="en-GB" sz="1600" noProof="0">
                <a:latin typeface="Calibri"/>
                <a:ea typeface="Calibri"/>
                <a:cs typeface="Calibri"/>
              </a:rPr>
              <a:t>Let students discuss and reflect on those practices. Help them to explicitly weigh underlying values to decide when, why and how to use Open Science practices to help improve science and scholarship.</a:t>
            </a:r>
            <a:endParaRPr lang="en-GB" noProof="0"/>
          </a:p>
          <a:p>
            <a:endParaRPr lang="en-GB" sz="1600" noProof="0">
              <a:latin typeface="Calibri"/>
              <a:ea typeface="Calibri"/>
              <a:cs typeface="Calibri"/>
            </a:endParaRPr>
          </a:p>
          <a:p>
            <a:r>
              <a:rPr lang="en-GB" sz="1600" noProof="0">
                <a:latin typeface="Calibri"/>
                <a:ea typeface="Calibri"/>
                <a:cs typeface="Calibri"/>
              </a:rPr>
              <a:t>Show that science is the result of individuals working in teams, building on and contributing to a global endeavour. For example, by documenting their decision processes: it improves their process and is essential for others to build on their work. Probe students’ reflection by helping them ask critical questions about the academic system, scientific knowledge, and practices.</a:t>
            </a:r>
          </a:p>
          <a:p>
            <a:endParaRPr lang="en-GB" sz="1600" noProof="0">
              <a:latin typeface="Calibri"/>
              <a:ea typeface="Calibri"/>
              <a:cs typeface="Calibri"/>
            </a:endParaRPr>
          </a:p>
          <a:p>
            <a:r>
              <a:rPr lang="en-GB" sz="1600" noProof="0">
                <a:latin typeface="Calibri"/>
                <a:ea typeface="Calibri"/>
                <a:cs typeface="Calibri"/>
              </a:rPr>
              <a:t>Try not to treat open science as a set of rules, instead focus on open science as good practices, shared values and shared aspirations to make science and scholarship valuable for society.   </a:t>
            </a:r>
          </a:p>
        </p:txBody>
      </p:sp>
      <p:sp>
        <p:nvSpPr>
          <p:cNvPr id="20" name="TextBox 19">
            <a:extLst>
              <a:ext uri="{FF2B5EF4-FFF2-40B4-BE49-F238E27FC236}">
                <a16:creationId xmlns:a16="http://schemas.microsoft.com/office/drawing/2014/main" id="{E576C107-89B2-E496-D02F-80B363E53D7A}"/>
              </a:ext>
            </a:extLst>
          </p:cNvPr>
          <p:cNvSpPr txBox="1"/>
          <p:nvPr/>
        </p:nvSpPr>
        <p:spPr>
          <a:xfrm>
            <a:off x="9939737" y="4292948"/>
            <a:ext cx="195885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hlinkClick r:id="rId2">
                  <a:extLst>
                    <a:ext uri="{A12FA001-AC4F-418D-AE19-62706E023703}">
                      <ahyp:hlinkClr xmlns:ahyp="http://schemas.microsoft.com/office/drawing/2018/hyperlinkcolor" val="tx"/>
                    </a:ext>
                  </a:extLst>
                </a:hlinkClick>
              </a:rPr>
              <a:t>Interview with Thomas Rhys Evans</a:t>
            </a:r>
            <a:r>
              <a:rPr lang="en-GB" sz="1600" noProof="0">
                <a:latin typeface="Calibri"/>
                <a:ea typeface="Calibri"/>
                <a:cs typeface="Calibri"/>
              </a:rPr>
              <a:t> on open science mindset (FORRT)</a:t>
            </a:r>
          </a:p>
        </p:txBody>
      </p:sp>
      <p:sp>
        <p:nvSpPr>
          <p:cNvPr id="21" name="TextBox 20">
            <a:extLst>
              <a:ext uri="{FF2B5EF4-FFF2-40B4-BE49-F238E27FC236}">
                <a16:creationId xmlns:a16="http://schemas.microsoft.com/office/drawing/2014/main" id="{B8EDB367-1310-FCBF-F5FC-6F3C160CFD3D}"/>
              </a:ext>
            </a:extLst>
          </p:cNvPr>
          <p:cNvSpPr txBox="1"/>
          <p:nvPr/>
        </p:nvSpPr>
        <p:spPr>
          <a:xfrm>
            <a:off x="9939738" y="1200742"/>
            <a:ext cx="195885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600" noProof="0">
                <a:latin typeface="Calibri"/>
                <a:ea typeface="Calibri"/>
                <a:cs typeface="Calibri"/>
              </a:rPr>
              <a:t>Workshop:</a:t>
            </a:r>
          </a:p>
          <a:p>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The Faces of Open Science</a:t>
            </a:r>
          </a:p>
          <a:p>
            <a:endParaRPr lang="en-GB" sz="1600" noProof="0">
              <a:latin typeface="Calibri"/>
              <a:ea typeface="Calibri"/>
              <a:cs typeface="Calibri"/>
            </a:endParaRPr>
          </a:p>
          <a:p>
            <a:r>
              <a:rPr lang="en-GB" sz="1600" noProof="0">
                <a:latin typeface="Calibri"/>
                <a:ea typeface="Calibri"/>
                <a:cs typeface="Calibri"/>
              </a:rPr>
              <a:t>The course </a:t>
            </a:r>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Open Science for Physicists</a:t>
            </a:r>
            <a:r>
              <a:rPr lang="en-GB" sz="1600" noProof="0">
                <a:latin typeface="Calibri"/>
                <a:ea typeface="Calibri"/>
                <a:cs typeface="Calibri"/>
              </a:rPr>
              <a:t> has been created using the open mindset idea</a:t>
            </a:r>
          </a:p>
        </p:txBody>
      </p:sp>
      <p:pic>
        <p:nvPicPr>
          <p:cNvPr id="22" name="Picture 21">
            <a:extLst>
              <a:ext uri="{FF2B5EF4-FFF2-40B4-BE49-F238E27FC236}">
                <a16:creationId xmlns:a16="http://schemas.microsoft.com/office/drawing/2014/main" id="{5516555A-9EA4-5666-8ACE-671E2848DB06}"/>
              </a:ext>
            </a:extLst>
          </p:cNvPr>
          <p:cNvPicPr>
            <a:picLocks noChangeAspect="1"/>
          </p:cNvPicPr>
          <p:nvPr/>
        </p:nvPicPr>
        <p:blipFill>
          <a:blip r:embed="rId5"/>
          <a:stretch>
            <a:fillRect/>
          </a:stretch>
        </p:blipFill>
        <p:spPr>
          <a:xfrm>
            <a:off x="26821" y="30831"/>
            <a:ext cx="523875" cy="523875"/>
          </a:xfrm>
          <a:prstGeom prst="rect">
            <a:avLst/>
          </a:prstGeom>
        </p:spPr>
      </p:pic>
      <p:grpSp>
        <p:nvGrpSpPr>
          <p:cNvPr id="3" name="Groep 2">
            <a:extLst>
              <a:ext uri="{FF2B5EF4-FFF2-40B4-BE49-F238E27FC236}">
                <a16:creationId xmlns:a16="http://schemas.microsoft.com/office/drawing/2014/main" id="{B69E9FBA-5182-2D55-28E9-E278E83A3DEF}"/>
              </a:ext>
            </a:extLst>
          </p:cNvPr>
          <p:cNvGrpSpPr/>
          <p:nvPr/>
        </p:nvGrpSpPr>
        <p:grpSpPr>
          <a:xfrm>
            <a:off x="11155683" y="108056"/>
            <a:ext cx="814470" cy="370500"/>
            <a:chOff x="11155683" y="108056"/>
            <a:chExt cx="814470" cy="370500"/>
          </a:xfrm>
        </p:grpSpPr>
        <p:pic>
          <p:nvPicPr>
            <p:cNvPr id="6" name="Picture 24">
              <a:extLst>
                <a:ext uri="{FF2B5EF4-FFF2-40B4-BE49-F238E27FC236}">
                  <a16:creationId xmlns:a16="http://schemas.microsoft.com/office/drawing/2014/main" id="{70E78A49-CA36-12B8-A9B3-61A8E1770811}"/>
                </a:ext>
              </a:extLst>
            </p:cNvPr>
            <p:cNvPicPr>
              <a:picLocks noChangeAspect="1"/>
            </p:cNvPicPr>
            <p:nvPr/>
          </p:nvPicPr>
          <p:blipFill>
            <a:blip r:embed="rId6"/>
            <a:stretch>
              <a:fillRect/>
            </a:stretch>
          </p:blipFill>
          <p:spPr>
            <a:xfrm>
              <a:off x="11155683" y="108056"/>
              <a:ext cx="399072" cy="370500"/>
            </a:xfrm>
            <a:prstGeom prst="rect">
              <a:avLst/>
            </a:prstGeom>
          </p:spPr>
        </p:pic>
        <p:pic>
          <p:nvPicPr>
            <p:cNvPr id="13" name="Picture 26">
              <a:extLst>
                <a:ext uri="{FF2B5EF4-FFF2-40B4-BE49-F238E27FC236}">
                  <a16:creationId xmlns:a16="http://schemas.microsoft.com/office/drawing/2014/main" id="{7B76EC93-3E7C-765B-3A16-DE9E7B2D46B9}"/>
                </a:ext>
              </a:extLst>
            </p:cNvPr>
            <p:cNvPicPr>
              <a:picLocks noChangeAspect="1"/>
            </p:cNvPicPr>
            <p:nvPr/>
          </p:nvPicPr>
          <p:blipFill>
            <a:blip r:embed="rId6"/>
            <a:stretch>
              <a:fillRect/>
            </a:stretch>
          </p:blipFill>
          <p:spPr>
            <a:xfrm>
              <a:off x="11571081" y="108056"/>
              <a:ext cx="399072" cy="370500"/>
            </a:xfrm>
            <a:prstGeom prst="rect">
              <a:avLst/>
            </a:prstGeom>
          </p:spPr>
        </p:pic>
      </p:grpSp>
      <p:sp>
        <p:nvSpPr>
          <p:cNvPr id="19" name="TextBox 10">
            <a:extLst>
              <a:ext uri="{FF2B5EF4-FFF2-40B4-BE49-F238E27FC236}">
                <a16:creationId xmlns:a16="http://schemas.microsoft.com/office/drawing/2014/main" id="{23AB643F-4C6B-8259-9EB0-9CADB0FA3CD1}"/>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Tree>
    <p:extLst>
      <p:ext uri="{BB962C8B-B14F-4D97-AF65-F5344CB8AC3E}">
        <p14:creationId xmlns:p14="http://schemas.microsoft.com/office/powerpoint/2010/main" val="179505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7C63D-0279-173D-2E04-1B8C292C1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F785F-C4E4-895A-971E-7BC4C1086D59}"/>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Mindset: Teaching open ways of working</a:t>
            </a:r>
          </a:p>
        </p:txBody>
      </p:sp>
      <p:pic>
        <p:nvPicPr>
          <p:cNvPr id="22" name="Picture 21">
            <a:extLst>
              <a:ext uri="{FF2B5EF4-FFF2-40B4-BE49-F238E27FC236}">
                <a16:creationId xmlns:a16="http://schemas.microsoft.com/office/drawing/2014/main" id="{F240446C-1B70-E6FC-EAE0-2DD04FEE8D97}"/>
              </a:ext>
            </a:extLst>
          </p:cNvPr>
          <p:cNvPicPr>
            <a:picLocks noChangeAspect="1"/>
          </p:cNvPicPr>
          <p:nvPr/>
        </p:nvPicPr>
        <p:blipFill>
          <a:blip r:embed="rId2"/>
          <a:stretch>
            <a:fillRect/>
          </a:stretch>
        </p:blipFill>
        <p:spPr>
          <a:xfrm>
            <a:off x="26821" y="30831"/>
            <a:ext cx="523875" cy="523875"/>
          </a:xfrm>
          <a:prstGeom prst="rect">
            <a:avLst/>
          </a:prstGeom>
        </p:spPr>
      </p:pic>
      <p:sp>
        <p:nvSpPr>
          <p:cNvPr id="6" name="Tekstvak 5">
            <a:extLst>
              <a:ext uri="{FF2B5EF4-FFF2-40B4-BE49-F238E27FC236}">
                <a16:creationId xmlns:a16="http://schemas.microsoft.com/office/drawing/2014/main" id="{0F8BAC86-19BD-6F98-8D28-37CE1C6A4431}"/>
              </a:ext>
            </a:extLst>
          </p:cNvPr>
          <p:cNvSpPr txBox="1"/>
          <p:nvPr/>
        </p:nvSpPr>
        <p:spPr>
          <a:xfrm>
            <a:off x="550696" y="1383815"/>
            <a:ext cx="3702296" cy="4524315"/>
          </a:xfrm>
          <a:prstGeom prst="rect">
            <a:avLst/>
          </a:prstGeom>
          <a:noFill/>
        </p:spPr>
        <p:txBody>
          <a:bodyPr wrap="square">
            <a:spAutoFit/>
          </a:bodyPr>
          <a:lstStyle/>
          <a:p>
            <a:r>
              <a:rPr lang="en-GB" noProof="0">
                <a:latin typeface="Calibri" panose="020F0502020204030204" pitchFamily="34" charset="0"/>
                <a:ea typeface="Calibri" panose="020F0502020204030204" pitchFamily="34" charset="0"/>
                <a:cs typeface="Calibri" panose="020F0502020204030204" pitchFamily="34" charset="0"/>
              </a:rPr>
              <a:t>Participants explore the different perspectives within the Open Science movement.​</a:t>
            </a:r>
          </a:p>
          <a:p>
            <a:endParaRPr lang="en-GB" noProof="0">
              <a:latin typeface="Calibri" panose="020F0502020204030204" pitchFamily="34" charset="0"/>
              <a:ea typeface="Calibri" panose="020F0502020204030204" pitchFamily="34" charset="0"/>
              <a:cs typeface="Calibri" panose="020F0502020204030204" pitchFamily="34" charset="0"/>
            </a:endParaRPr>
          </a:p>
          <a:p>
            <a:r>
              <a:rPr lang="en-GB" noProof="0">
                <a:latin typeface="Calibri" panose="020F0502020204030204" pitchFamily="34" charset="0"/>
                <a:ea typeface="Calibri" panose="020F0502020204030204" pitchFamily="34" charset="0"/>
                <a:cs typeface="Calibri" panose="020F0502020204030204" pitchFamily="34" charset="0"/>
              </a:rPr>
              <a:t>Broad target audience: ​</a:t>
            </a:r>
          </a:p>
          <a:p>
            <a:pPr marL="285750" indent="-285750">
              <a:buFont typeface="Arial" panose="020B0604020202020204" pitchFamily="34" charset="0"/>
              <a:buChar char="•"/>
            </a:pPr>
            <a:r>
              <a:rPr lang="en-GB" noProof="0">
                <a:latin typeface="Calibri" panose="020F0502020204030204" pitchFamily="34" charset="0"/>
                <a:ea typeface="Calibri" panose="020F0502020204030204" pitchFamily="34" charset="0"/>
                <a:cs typeface="Calibri" panose="020F0502020204030204" pitchFamily="34" charset="0"/>
              </a:rPr>
              <a:t>Bachelor, graduate and PhD students​</a:t>
            </a:r>
          </a:p>
          <a:p>
            <a:pPr marL="285750" indent="-285750">
              <a:buFont typeface="Arial" panose="020B0604020202020204" pitchFamily="34" charset="0"/>
              <a:buChar char="•"/>
            </a:pPr>
            <a:r>
              <a:rPr lang="en-GB" noProof="0">
                <a:latin typeface="Calibri" panose="020F0502020204030204" pitchFamily="34" charset="0"/>
                <a:ea typeface="Calibri" panose="020F0502020204030204" pitchFamily="34" charset="0"/>
                <a:cs typeface="Calibri" panose="020F0502020204030204" pitchFamily="34" charset="0"/>
              </a:rPr>
              <a:t>Academic and support staff​</a:t>
            </a:r>
          </a:p>
          <a:p>
            <a:pPr marL="285750" indent="-285750">
              <a:buFont typeface="Arial" panose="020B0604020202020204" pitchFamily="34" charset="0"/>
              <a:buChar char="•"/>
            </a:pPr>
            <a:r>
              <a:rPr lang="en-GB" noProof="0">
                <a:latin typeface="Calibri" panose="020F0502020204030204" pitchFamily="34" charset="0"/>
                <a:ea typeface="Calibri" panose="020F0502020204030204" pitchFamily="34" charset="0"/>
                <a:cs typeface="Calibri" panose="020F0502020204030204" pitchFamily="34" charset="0"/>
              </a:rPr>
              <a:t>Educators, trainers and curriculum developers​</a:t>
            </a:r>
          </a:p>
          <a:p>
            <a:endParaRPr lang="en-GB" noProof="0">
              <a:latin typeface="Calibri" panose="020F0502020204030204" pitchFamily="34" charset="0"/>
              <a:ea typeface="Calibri" panose="020F0502020204030204" pitchFamily="34" charset="0"/>
              <a:cs typeface="Calibri" panose="020F0502020204030204" pitchFamily="34" charset="0"/>
            </a:endParaRPr>
          </a:p>
          <a:p>
            <a:r>
              <a:rPr lang="en-GB" noProof="0">
                <a:latin typeface="Calibri" panose="020F0502020204030204" pitchFamily="34" charset="0"/>
                <a:ea typeface="Calibri" panose="020F0502020204030204" pitchFamily="34" charset="0"/>
                <a:cs typeface="Calibri" panose="020F0502020204030204" pitchFamily="34" charset="0"/>
              </a:rPr>
              <a:t>The diversity of the Open Science community is visualized through the Eleven Personae and Four Ideal Academies within the Open Science community.</a:t>
            </a:r>
          </a:p>
        </p:txBody>
      </p:sp>
      <p:sp>
        <p:nvSpPr>
          <p:cNvPr id="7" name="Tekstvak 6">
            <a:extLst>
              <a:ext uri="{FF2B5EF4-FFF2-40B4-BE49-F238E27FC236}">
                <a16:creationId xmlns:a16="http://schemas.microsoft.com/office/drawing/2014/main" id="{7C698978-5B6A-2E30-88D1-711A39AA9EBA}"/>
              </a:ext>
            </a:extLst>
          </p:cNvPr>
          <p:cNvSpPr txBox="1"/>
          <p:nvPr/>
        </p:nvSpPr>
        <p:spPr>
          <a:xfrm>
            <a:off x="550696" y="780104"/>
            <a:ext cx="3702296" cy="400110"/>
          </a:xfrm>
          <a:prstGeom prst="rect">
            <a:avLst/>
          </a:prstGeom>
          <a:noFill/>
        </p:spPr>
        <p:txBody>
          <a:bodyPr wrap="non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Workshop: </a:t>
            </a:r>
            <a:r>
              <a:rPr lang="en-GB" sz="2000" b="1" i="1" noProof="0">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Faces of Open Science</a:t>
            </a:r>
            <a:endParaRPr lang="en-GB" sz="2000" b="1" i="1" noProof="0">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a:hlinkClick r:id="rId3"/>
            <a:extLst>
              <a:ext uri="{FF2B5EF4-FFF2-40B4-BE49-F238E27FC236}">
                <a16:creationId xmlns:a16="http://schemas.microsoft.com/office/drawing/2014/main" id="{69B6A44B-D14D-6A4E-9CE2-B69E456AB5B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915" b="8954"/>
          <a:stretch>
            <a:fillRect/>
          </a:stretch>
        </p:blipFill>
        <p:spPr bwMode="auto">
          <a:xfrm>
            <a:off x="5774329" y="980159"/>
            <a:ext cx="5866975" cy="27313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hlinkClick r:id="rId3"/>
            <a:extLst>
              <a:ext uri="{FF2B5EF4-FFF2-40B4-BE49-F238E27FC236}">
                <a16:creationId xmlns:a16="http://schemas.microsoft.com/office/drawing/2014/main" id="{58B25793-0B3E-BC3F-DACD-0E9BE16094F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837" b="4348"/>
          <a:stretch>
            <a:fillRect/>
          </a:stretch>
        </p:blipFill>
        <p:spPr bwMode="auto">
          <a:xfrm>
            <a:off x="5753033" y="4315126"/>
            <a:ext cx="3702296" cy="1843615"/>
          </a:xfrm>
          <a:prstGeom prst="rect">
            <a:avLst/>
          </a:prstGeom>
          <a:noFill/>
          <a:extLst>
            <a:ext uri="{909E8E84-426E-40DD-AFC4-6F175D3DCCD1}">
              <a14:hiddenFill xmlns:a14="http://schemas.microsoft.com/office/drawing/2010/main">
                <a:solidFill>
                  <a:srgbClr val="FFFFFF"/>
                </a:solidFill>
              </a14:hiddenFill>
            </a:ext>
          </a:extLst>
        </p:spPr>
      </p:pic>
      <p:sp>
        <p:nvSpPr>
          <p:cNvPr id="8" name="Tekstvak 7">
            <a:extLst>
              <a:ext uri="{FF2B5EF4-FFF2-40B4-BE49-F238E27FC236}">
                <a16:creationId xmlns:a16="http://schemas.microsoft.com/office/drawing/2014/main" id="{B2E500E3-E63A-C8CC-0605-BD8264D4A38F}"/>
              </a:ext>
            </a:extLst>
          </p:cNvPr>
          <p:cNvSpPr txBox="1"/>
          <p:nvPr/>
        </p:nvSpPr>
        <p:spPr>
          <a:xfrm>
            <a:off x="5753033" y="699259"/>
            <a:ext cx="4244588" cy="338554"/>
          </a:xfrm>
          <a:prstGeom prst="rect">
            <a:avLst/>
          </a:prstGeom>
          <a:noFill/>
        </p:spPr>
        <p:txBody>
          <a:bodyPr wrap="square" rtlCol="0" anchor="ctr">
            <a:spAutoFit/>
          </a:bodyPr>
          <a:lstStyle/>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Eleven Personae</a:t>
            </a:r>
          </a:p>
        </p:txBody>
      </p:sp>
      <p:sp>
        <p:nvSpPr>
          <p:cNvPr id="9" name="Tekstvak 8">
            <a:extLst>
              <a:ext uri="{FF2B5EF4-FFF2-40B4-BE49-F238E27FC236}">
                <a16:creationId xmlns:a16="http://schemas.microsoft.com/office/drawing/2014/main" id="{0C9189B5-A3F6-E052-312C-D977417884CC}"/>
              </a:ext>
            </a:extLst>
          </p:cNvPr>
          <p:cNvSpPr txBox="1"/>
          <p:nvPr/>
        </p:nvSpPr>
        <p:spPr>
          <a:xfrm>
            <a:off x="5753033" y="3976572"/>
            <a:ext cx="4244588" cy="338554"/>
          </a:xfrm>
          <a:prstGeom prst="rect">
            <a:avLst/>
          </a:prstGeom>
          <a:noFill/>
        </p:spPr>
        <p:txBody>
          <a:bodyPr wrap="square" rtlCol="0" anchor="ctr">
            <a:spAutoFit/>
          </a:bodyPr>
          <a:lstStyle/>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Four Ideal Academies</a:t>
            </a:r>
          </a:p>
        </p:txBody>
      </p:sp>
    </p:spTree>
    <p:extLst>
      <p:ext uri="{BB962C8B-B14F-4D97-AF65-F5344CB8AC3E}">
        <p14:creationId xmlns:p14="http://schemas.microsoft.com/office/powerpoint/2010/main" val="784153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179CB-28FC-5EA1-D271-7AA9BFBFE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7C509-7A75-DE0B-CCDA-BD44CE7DAF93}"/>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6. Mindset: Teaching open and reflexive thinking</a:t>
            </a:r>
          </a:p>
        </p:txBody>
      </p:sp>
      <p:sp>
        <p:nvSpPr>
          <p:cNvPr id="4" name="Rectangle: Rounded Corners 3">
            <a:extLst>
              <a:ext uri="{FF2B5EF4-FFF2-40B4-BE49-F238E27FC236}">
                <a16:creationId xmlns:a16="http://schemas.microsoft.com/office/drawing/2014/main" id="{E084AA20-E966-7669-3268-C16C56BC70AE}"/>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E57DC82F-FE0A-EBA4-08BB-D124B06C0B7C}"/>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F2157174-30E0-7B6E-6FA7-A66D29D3F172}"/>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0F5E1A57-19FB-DC1C-E39D-E39A353F77A4}"/>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AD783285-E163-64CA-F768-25FC4546A1B4}"/>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9D2CEEF9-6D4D-DB77-B962-B31DC5A17CC5}"/>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Open and reflexive thinking</a:t>
            </a:r>
          </a:p>
        </p:txBody>
      </p:sp>
      <p:sp>
        <p:nvSpPr>
          <p:cNvPr id="12" name="TextBox 11">
            <a:extLst>
              <a:ext uri="{FF2B5EF4-FFF2-40B4-BE49-F238E27FC236}">
                <a16:creationId xmlns:a16="http://schemas.microsoft.com/office/drawing/2014/main" id="{45A998A6-48F8-A2A0-9663-510666BFC3DF}"/>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43E5D02C-3B0A-3855-14F7-593E6FDEE7A2}"/>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4AE334EB-AA93-D17F-2570-7506EB7D748E}"/>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sp>
        <p:nvSpPr>
          <p:cNvPr id="16" name="TextBox 15">
            <a:extLst>
              <a:ext uri="{FF2B5EF4-FFF2-40B4-BE49-F238E27FC236}">
                <a16:creationId xmlns:a16="http://schemas.microsoft.com/office/drawing/2014/main" id="{408F1E04-BE0D-70DC-C155-EED94141F4D5}"/>
              </a:ext>
            </a:extLst>
          </p:cNvPr>
          <p:cNvSpPr txBox="1"/>
          <p:nvPr/>
        </p:nvSpPr>
        <p:spPr>
          <a:xfrm>
            <a:off x="430389" y="1210958"/>
            <a:ext cx="3640666"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Students not only need to know how to practice Open Science, but also why it matters. Open and reflexive thinking refers to students’ and teachers’ (self-) critical attitude towards the academic system and scientific knowledge. It involves weighing values like quality, integrity, collective benefit, equity, fairness, diversity and inclusiveness.</a:t>
            </a:r>
          </a:p>
          <a:p>
            <a:endParaRPr lang="en-GB" sz="1600" noProof="0">
              <a:latin typeface="Calibri"/>
              <a:ea typeface="Calibri"/>
              <a:cs typeface="Calibri"/>
            </a:endParaRPr>
          </a:p>
        </p:txBody>
      </p:sp>
      <p:sp>
        <p:nvSpPr>
          <p:cNvPr id="18" name="TextBox 17">
            <a:extLst>
              <a:ext uri="{FF2B5EF4-FFF2-40B4-BE49-F238E27FC236}">
                <a16:creationId xmlns:a16="http://schemas.microsoft.com/office/drawing/2014/main" id="{6F0A200C-EF4C-9616-97AA-B6C5E9C09A66}"/>
              </a:ext>
            </a:extLst>
          </p:cNvPr>
          <p:cNvSpPr txBox="1"/>
          <p:nvPr/>
        </p:nvSpPr>
        <p:spPr>
          <a:xfrm>
            <a:off x="4675817" y="1195801"/>
            <a:ext cx="4818252"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Introduce the underlying values of Open Science (for example with the UNESCO Recommendation) and relate these to current problems in academia. Help students to explicitly weigh values to decide when, why and how to use Open Science practices to help improve science and scholarship.</a:t>
            </a:r>
            <a:endParaRPr lang="en-GB" noProof="0"/>
          </a:p>
          <a:p>
            <a:endParaRPr lang="en-GB" sz="1600" noProof="0">
              <a:latin typeface="Calibri"/>
              <a:ea typeface="Calibri"/>
              <a:cs typeface="Calibri"/>
            </a:endParaRPr>
          </a:p>
          <a:p>
            <a:r>
              <a:rPr lang="en-GB" sz="1600" noProof="0">
                <a:latin typeface="Calibri"/>
                <a:ea typeface="Calibri"/>
                <a:cs typeface="Calibri"/>
              </a:rPr>
              <a:t>Try not to treat open science as a set of rules or fixed guidelines, instead focus on open science as good practices, shared values and shared aspirations to make science and scholarship valuable for society.</a:t>
            </a:r>
          </a:p>
          <a:p>
            <a:endParaRPr lang="en-GB" sz="1600" noProof="0">
              <a:latin typeface="Calibri"/>
              <a:ea typeface="Calibri"/>
              <a:cs typeface="Calibri"/>
            </a:endParaRPr>
          </a:p>
          <a:p>
            <a:r>
              <a:rPr lang="en-GB" sz="1600" noProof="0">
                <a:latin typeface="Calibri"/>
                <a:ea typeface="Calibri"/>
                <a:cs typeface="Calibri"/>
              </a:rPr>
              <a:t>Give examples of complex decisions from your own practice. For example, the decision to make pseudonymized data openly available: To which extent do data need to be pseudonymized? And with strict pseudonymization, are data still valuable or too de-contextualized to have meaning? Or discuss how to balance spending public money on particularly time-consuming Open Science processes and the extent to which they add value.</a:t>
            </a:r>
          </a:p>
        </p:txBody>
      </p:sp>
      <p:sp>
        <p:nvSpPr>
          <p:cNvPr id="20" name="TextBox 19">
            <a:extLst>
              <a:ext uri="{FF2B5EF4-FFF2-40B4-BE49-F238E27FC236}">
                <a16:creationId xmlns:a16="http://schemas.microsoft.com/office/drawing/2014/main" id="{515089D0-F20F-34D8-BA14-C5AF2251E86B}"/>
              </a:ext>
            </a:extLst>
          </p:cNvPr>
          <p:cNvSpPr txBox="1"/>
          <p:nvPr/>
        </p:nvSpPr>
        <p:spPr>
          <a:xfrm>
            <a:off x="9939737" y="4292948"/>
            <a:ext cx="1958852"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Interview with Thomas Rhys Evans</a:t>
            </a:r>
            <a:r>
              <a:rPr lang="en-GB" sz="1600" noProof="0">
                <a:latin typeface="Calibri"/>
                <a:ea typeface="Calibri"/>
                <a:cs typeface="Calibri"/>
              </a:rPr>
              <a:t> on open science mindset (FORRT)</a:t>
            </a:r>
          </a:p>
          <a:p>
            <a:endParaRPr lang="en-GB" sz="1600" noProof="0">
              <a:latin typeface="Calibri"/>
              <a:ea typeface="Calibri"/>
              <a:cs typeface="Calibri"/>
            </a:endParaRPr>
          </a:p>
          <a:p>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UU manifest</a:t>
            </a:r>
            <a:r>
              <a:rPr lang="en-GB" sz="1600" noProof="0">
                <a:latin typeface="Calibri"/>
                <a:ea typeface="Calibri"/>
                <a:cs typeface="Calibri"/>
              </a:rPr>
              <a:t> about Open Science mindset.</a:t>
            </a:r>
          </a:p>
        </p:txBody>
      </p:sp>
      <p:sp>
        <p:nvSpPr>
          <p:cNvPr id="21" name="TextBox 20">
            <a:extLst>
              <a:ext uri="{FF2B5EF4-FFF2-40B4-BE49-F238E27FC236}">
                <a16:creationId xmlns:a16="http://schemas.microsoft.com/office/drawing/2014/main" id="{C97595C4-5C50-F8D9-FE48-1423A93E4E60}"/>
              </a:ext>
            </a:extLst>
          </p:cNvPr>
          <p:cNvSpPr txBox="1"/>
          <p:nvPr/>
        </p:nvSpPr>
        <p:spPr>
          <a:xfrm>
            <a:off x="9939737" y="1200742"/>
            <a:ext cx="196480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600" noProof="0">
                <a:latin typeface="Calibri"/>
                <a:ea typeface="Calibri"/>
                <a:cs typeface="Calibri"/>
              </a:rPr>
              <a:t>Workshop:</a:t>
            </a:r>
          </a:p>
          <a:p>
            <a:r>
              <a:rPr lang="en-GB" sz="1600" noProof="0">
                <a:latin typeface="Calibri"/>
                <a:ea typeface="Calibri"/>
                <a:cs typeface="Calibri"/>
                <a:hlinkClick r:id="rId5">
                  <a:extLst>
                    <a:ext uri="{A12FA001-AC4F-418D-AE19-62706E023703}">
                      <ahyp:hlinkClr xmlns:ahyp="http://schemas.microsoft.com/office/drawing/2018/hyperlinkcolor" val="tx"/>
                    </a:ext>
                  </a:extLst>
                </a:hlinkClick>
              </a:rPr>
              <a:t>The Faces of Open Science</a:t>
            </a:r>
          </a:p>
          <a:p>
            <a:endParaRPr lang="en-GB" sz="1600" noProof="0">
              <a:latin typeface="Calibri"/>
              <a:ea typeface="Calibri"/>
              <a:cs typeface="Calibri"/>
            </a:endParaRPr>
          </a:p>
          <a:p>
            <a:r>
              <a:rPr lang="en-GB" sz="1600" noProof="0">
                <a:latin typeface="Calibri"/>
                <a:ea typeface="Calibri"/>
                <a:cs typeface="Calibri"/>
              </a:rPr>
              <a:t>Using the </a:t>
            </a:r>
            <a:r>
              <a:rPr lang="en-GB" sz="1600" noProof="0">
                <a:latin typeface="Calibri"/>
                <a:ea typeface="Calibri"/>
                <a:cs typeface="Calibri"/>
                <a:hlinkClick r:id="rId6">
                  <a:extLst>
                    <a:ext uri="{A12FA001-AC4F-418D-AE19-62706E023703}">
                      <ahyp:hlinkClr xmlns:ahyp="http://schemas.microsoft.com/office/drawing/2018/hyperlinkcolor" val="tx"/>
                    </a:ext>
                  </a:extLst>
                </a:hlinkClick>
              </a:rPr>
              <a:t>UNESCO Recommendation on Open Science</a:t>
            </a:r>
            <a:r>
              <a:rPr lang="en-GB" sz="1600" noProof="0">
                <a:latin typeface="Calibri"/>
                <a:ea typeface="Calibri"/>
                <a:cs typeface="Calibri"/>
              </a:rPr>
              <a:t> for underlying values and principles.</a:t>
            </a:r>
          </a:p>
        </p:txBody>
      </p:sp>
      <p:pic>
        <p:nvPicPr>
          <p:cNvPr id="22" name="Picture 21">
            <a:extLst>
              <a:ext uri="{FF2B5EF4-FFF2-40B4-BE49-F238E27FC236}">
                <a16:creationId xmlns:a16="http://schemas.microsoft.com/office/drawing/2014/main" id="{B3716D7D-D564-0112-E32F-6B73B0D9342C}"/>
              </a:ext>
            </a:extLst>
          </p:cNvPr>
          <p:cNvPicPr>
            <a:picLocks noChangeAspect="1"/>
          </p:cNvPicPr>
          <p:nvPr/>
        </p:nvPicPr>
        <p:blipFill>
          <a:blip r:embed="rId7"/>
          <a:stretch>
            <a:fillRect/>
          </a:stretch>
        </p:blipFill>
        <p:spPr>
          <a:xfrm>
            <a:off x="26821" y="30831"/>
            <a:ext cx="523875" cy="523875"/>
          </a:xfrm>
          <a:prstGeom prst="rect">
            <a:avLst/>
          </a:prstGeom>
        </p:spPr>
      </p:pic>
      <p:grpSp>
        <p:nvGrpSpPr>
          <p:cNvPr id="3" name="Groep 2">
            <a:extLst>
              <a:ext uri="{FF2B5EF4-FFF2-40B4-BE49-F238E27FC236}">
                <a16:creationId xmlns:a16="http://schemas.microsoft.com/office/drawing/2014/main" id="{23FB7056-23C7-748B-9D45-432ECC381E84}"/>
              </a:ext>
            </a:extLst>
          </p:cNvPr>
          <p:cNvGrpSpPr/>
          <p:nvPr/>
        </p:nvGrpSpPr>
        <p:grpSpPr>
          <a:xfrm>
            <a:off x="11155683" y="108056"/>
            <a:ext cx="814470" cy="370500"/>
            <a:chOff x="11155683" y="108056"/>
            <a:chExt cx="814470" cy="370500"/>
          </a:xfrm>
        </p:grpSpPr>
        <p:pic>
          <p:nvPicPr>
            <p:cNvPr id="6" name="Picture 24">
              <a:extLst>
                <a:ext uri="{FF2B5EF4-FFF2-40B4-BE49-F238E27FC236}">
                  <a16:creationId xmlns:a16="http://schemas.microsoft.com/office/drawing/2014/main" id="{D8CC168B-60F6-80F0-6B31-4C2FC7CE352E}"/>
                </a:ext>
              </a:extLst>
            </p:cNvPr>
            <p:cNvPicPr>
              <a:picLocks noChangeAspect="1"/>
            </p:cNvPicPr>
            <p:nvPr/>
          </p:nvPicPr>
          <p:blipFill>
            <a:blip r:embed="rId8"/>
            <a:stretch>
              <a:fillRect/>
            </a:stretch>
          </p:blipFill>
          <p:spPr>
            <a:xfrm>
              <a:off x="11155683" y="108056"/>
              <a:ext cx="399072" cy="370500"/>
            </a:xfrm>
            <a:prstGeom prst="rect">
              <a:avLst/>
            </a:prstGeom>
          </p:spPr>
        </p:pic>
        <p:pic>
          <p:nvPicPr>
            <p:cNvPr id="13" name="Picture 26">
              <a:extLst>
                <a:ext uri="{FF2B5EF4-FFF2-40B4-BE49-F238E27FC236}">
                  <a16:creationId xmlns:a16="http://schemas.microsoft.com/office/drawing/2014/main" id="{6B783065-CD08-D432-CCAC-516F235571A2}"/>
                </a:ext>
              </a:extLst>
            </p:cNvPr>
            <p:cNvPicPr>
              <a:picLocks noChangeAspect="1"/>
            </p:cNvPicPr>
            <p:nvPr/>
          </p:nvPicPr>
          <p:blipFill>
            <a:blip r:embed="rId8"/>
            <a:stretch>
              <a:fillRect/>
            </a:stretch>
          </p:blipFill>
          <p:spPr>
            <a:xfrm>
              <a:off x="11571081" y="108056"/>
              <a:ext cx="399072" cy="370500"/>
            </a:xfrm>
            <a:prstGeom prst="rect">
              <a:avLst/>
            </a:prstGeom>
          </p:spPr>
        </p:pic>
      </p:grpSp>
      <p:sp>
        <p:nvSpPr>
          <p:cNvPr id="17" name="TextBox 10">
            <a:extLst>
              <a:ext uri="{FF2B5EF4-FFF2-40B4-BE49-F238E27FC236}">
                <a16:creationId xmlns:a16="http://schemas.microsoft.com/office/drawing/2014/main" id="{1706318A-F7A2-CECC-7A98-0DB67BC8AEB0}"/>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1" name="TextBox 10">
            <a:extLst>
              <a:ext uri="{FF2B5EF4-FFF2-40B4-BE49-F238E27FC236}">
                <a16:creationId xmlns:a16="http://schemas.microsoft.com/office/drawing/2014/main" id="{797A76B7-7EE6-2829-D6BB-EFD33BAA0EC1}"/>
              </a:ext>
            </a:extLst>
          </p:cNvPr>
          <p:cNvSpPr txBox="1"/>
          <p:nvPr/>
        </p:nvSpPr>
        <p:spPr>
          <a:xfrm>
            <a:off x="409902" y="4233883"/>
            <a:ext cx="364066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sz="1600" noProof="0">
                <a:latin typeface="Calibri"/>
                <a:ea typeface="Calibri"/>
                <a:cs typeface="Calibri"/>
              </a:rPr>
              <a:t>Understanding the values, principles, and methods of Open Science.</a:t>
            </a:r>
          </a:p>
          <a:p>
            <a:pPr marL="285750" indent="-285750">
              <a:buFont typeface="Arial" panose="020B0604020202020204" pitchFamily="34" charset="0"/>
              <a:buChar char="•"/>
            </a:pPr>
            <a:r>
              <a:rPr lang="en-GB" sz="1600" noProof="0">
                <a:latin typeface="Calibri"/>
                <a:ea typeface="Calibri"/>
                <a:cs typeface="Calibri"/>
              </a:rPr>
              <a:t>Developing a vision on causes of and solutions to academic issues and the role of Open Science practices.</a:t>
            </a:r>
          </a:p>
          <a:p>
            <a:pPr marL="285750" indent="-285750">
              <a:buFont typeface="Arial" panose="020B0604020202020204" pitchFamily="34" charset="0"/>
              <a:buChar char="•"/>
            </a:pPr>
            <a:r>
              <a:rPr lang="en-GB" sz="1600" noProof="0">
                <a:latin typeface="Calibri"/>
                <a:ea typeface="Calibri"/>
                <a:cs typeface="Calibri"/>
              </a:rPr>
              <a:t>Weighing different values, principles, and pragmatic choices to come to a decision on when, why and how to use Open Science practices.</a:t>
            </a:r>
          </a:p>
        </p:txBody>
      </p:sp>
    </p:spTree>
    <p:extLst>
      <p:ext uri="{BB962C8B-B14F-4D97-AF65-F5344CB8AC3E}">
        <p14:creationId xmlns:p14="http://schemas.microsoft.com/office/powerpoint/2010/main" val="206326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C85BA-E6BB-493B-73B7-7D7B8CAAC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44B6F-9CD0-7227-F6CF-672F45A02208}"/>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Mindset: Teaching open and reflexive thinking</a:t>
            </a:r>
          </a:p>
        </p:txBody>
      </p:sp>
      <p:pic>
        <p:nvPicPr>
          <p:cNvPr id="22" name="Picture 21">
            <a:extLst>
              <a:ext uri="{FF2B5EF4-FFF2-40B4-BE49-F238E27FC236}">
                <a16:creationId xmlns:a16="http://schemas.microsoft.com/office/drawing/2014/main" id="{05067D45-0C1E-4DB8-6990-19E9F884F493}"/>
              </a:ext>
            </a:extLst>
          </p:cNvPr>
          <p:cNvPicPr>
            <a:picLocks noChangeAspect="1"/>
          </p:cNvPicPr>
          <p:nvPr/>
        </p:nvPicPr>
        <p:blipFill>
          <a:blip r:embed="rId2"/>
          <a:stretch>
            <a:fillRect/>
          </a:stretch>
        </p:blipFill>
        <p:spPr>
          <a:xfrm>
            <a:off x="26821" y="30831"/>
            <a:ext cx="523875" cy="523875"/>
          </a:xfrm>
          <a:prstGeom prst="rect">
            <a:avLst/>
          </a:prstGeom>
        </p:spPr>
      </p:pic>
      <p:grpSp>
        <p:nvGrpSpPr>
          <p:cNvPr id="6" name="Group 5">
            <a:extLst>
              <a:ext uri="{FF2B5EF4-FFF2-40B4-BE49-F238E27FC236}">
                <a16:creationId xmlns:a16="http://schemas.microsoft.com/office/drawing/2014/main" id="{361E1F03-4446-9ED2-0D2A-0A83259BE998}"/>
              </a:ext>
            </a:extLst>
          </p:cNvPr>
          <p:cNvGrpSpPr/>
          <p:nvPr/>
        </p:nvGrpSpPr>
        <p:grpSpPr>
          <a:xfrm>
            <a:off x="83093" y="665302"/>
            <a:ext cx="6471271" cy="3535243"/>
            <a:chOff x="333118" y="623100"/>
            <a:chExt cx="8221566" cy="4520400"/>
          </a:xfrm>
        </p:grpSpPr>
        <p:pic>
          <p:nvPicPr>
            <p:cNvPr id="3" name="Google Shape;722;p87">
              <a:hlinkClick r:id="rId3"/>
              <a:extLst>
                <a:ext uri="{FF2B5EF4-FFF2-40B4-BE49-F238E27FC236}">
                  <a16:creationId xmlns:a16="http://schemas.microsoft.com/office/drawing/2014/main" id="{3EDDD05E-32C9-9CC3-04A9-4AC269B19043}"/>
                </a:ext>
              </a:extLst>
            </p:cNvPr>
            <p:cNvPicPr preferRelativeResize="0"/>
            <p:nvPr/>
          </p:nvPicPr>
          <p:blipFill>
            <a:blip r:embed="rId4">
              <a:alphaModFix/>
            </a:blip>
            <a:stretch>
              <a:fillRect/>
            </a:stretch>
          </p:blipFill>
          <p:spPr>
            <a:xfrm>
              <a:off x="589325" y="623100"/>
              <a:ext cx="7965359" cy="4520400"/>
            </a:xfrm>
            <a:prstGeom prst="rect">
              <a:avLst/>
            </a:prstGeom>
            <a:noFill/>
            <a:ln>
              <a:noFill/>
            </a:ln>
          </p:spPr>
        </p:pic>
        <p:sp>
          <p:nvSpPr>
            <p:cNvPr id="4" name="Google Shape;723;p87">
              <a:extLst>
                <a:ext uri="{FF2B5EF4-FFF2-40B4-BE49-F238E27FC236}">
                  <a16:creationId xmlns:a16="http://schemas.microsoft.com/office/drawing/2014/main" id="{5B4D8244-14D6-4B9C-5C81-CE3EF90A6FE5}"/>
                </a:ext>
              </a:extLst>
            </p:cNvPr>
            <p:cNvSpPr/>
            <p:nvPr/>
          </p:nvSpPr>
          <p:spPr>
            <a:xfrm>
              <a:off x="333118" y="697350"/>
              <a:ext cx="1099199" cy="709501"/>
            </a:xfrm>
            <a:prstGeom prst="wedgeRectCallout">
              <a:avLst>
                <a:gd name="adj1" fmla="val 67017"/>
                <a:gd name="adj2" fmla="val 45588"/>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noProof="0">
                  <a:latin typeface="Calibri"/>
                  <a:ea typeface="Calibri"/>
                  <a:cs typeface="Calibri"/>
                  <a:sym typeface="Calibri"/>
                </a:rPr>
                <a:t>Practices </a:t>
              </a:r>
            </a:p>
            <a:p>
              <a:pPr marL="0" lvl="0" indent="0" algn="ctr" rtl="0">
                <a:spcBef>
                  <a:spcPts val="0"/>
                </a:spcBef>
                <a:spcAft>
                  <a:spcPts val="0"/>
                </a:spcAft>
                <a:buNone/>
              </a:pPr>
              <a:r>
                <a:rPr lang="en-GB" sz="1200" noProof="0">
                  <a:latin typeface="Calibri"/>
                  <a:ea typeface="Calibri"/>
                  <a:cs typeface="Calibri"/>
                  <a:sym typeface="Calibri"/>
                </a:rPr>
                <a:t>&amp; </a:t>
              </a:r>
            </a:p>
            <a:p>
              <a:pPr marL="0" lvl="0" indent="0" algn="ctr" rtl="0">
                <a:spcBef>
                  <a:spcPts val="0"/>
                </a:spcBef>
                <a:spcAft>
                  <a:spcPts val="0"/>
                </a:spcAft>
                <a:buNone/>
              </a:pPr>
              <a:r>
                <a:rPr lang="en-GB" sz="1200" noProof="0">
                  <a:latin typeface="Calibri"/>
                  <a:ea typeface="Calibri"/>
                  <a:cs typeface="Calibri"/>
                  <a:sym typeface="Calibri"/>
                </a:rPr>
                <a:t>skills</a:t>
              </a:r>
            </a:p>
          </p:txBody>
        </p:sp>
        <p:sp>
          <p:nvSpPr>
            <p:cNvPr id="5" name="Google Shape;724;p87">
              <a:extLst>
                <a:ext uri="{FF2B5EF4-FFF2-40B4-BE49-F238E27FC236}">
                  <a16:creationId xmlns:a16="http://schemas.microsoft.com/office/drawing/2014/main" id="{9DD50E3E-5F5A-BB0B-1578-997A9F9E368B}"/>
                </a:ext>
              </a:extLst>
            </p:cNvPr>
            <p:cNvSpPr/>
            <p:nvPr/>
          </p:nvSpPr>
          <p:spPr>
            <a:xfrm>
              <a:off x="7044400" y="697350"/>
              <a:ext cx="1099200" cy="402600"/>
            </a:xfrm>
            <a:prstGeom prst="wedgeRectCallout">
              <a:avLst>
                <a:gd name="adj1" fmla="val -39638"/>
                <a:gd name="adj2" fmla="val 77079"/>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noProof="0">
                  <a:latin typeface="Calibri"/>
                  <a:ea typeface="Calibri"/>
                  <a:cs typeface="Calibri"/>
                  <a:sym typeface="Calibri"/>
                </a:rPr>
                <a:t>Mindset</a:t>
              </a:r>
            </a:p>
          </p:txBody>
        </p:sp>
      </p:grpSp>
      <p:graphicFrame>
        <p:nvGraphicFramePr>
          <p:cNvPr id="7" name="Google Shape;752;p91">
            <a:extLst>
              <a:ext uri="{FF2B5EF4-FFF2-40B4-BE49-F238E27FC236}">
                <a16:creationId xmlns:a16="http://schemas.microsoft.com/office/drawing/2014/main" id="{78D030FA-35D4-0F7A-9E09-B1A571EEBB6A}"/>
              </a:ext>
            </a:extLst>
          </p:cNvPr>
          <p:cNvGraphicFramePr/>
          <p:nvPr>
            <p:extLst>
              <p:ext uri="{D42A27DB-BD31-4B8C-83A1-F6EECF244321}">
                <p14:modId xmlns:p14="http://schemas.microsoft.com/office/powerpoint/2010/main" val="1186960138"/>
              </p:ext>
            </p:extLst>
          </p:nvPr>
        </p:nvGraphicFramePr>
        <p:xfrm>
          <a:off x="6820239" y="1404859"/>
          <a:ext cx="5128748" cy="5162958"/>
        </p:xfrm>
        <a:graphic>
          <a:graphicData uri="http://schemas.openxmlformats.org/drawingml/2006/table">
            <a:tbl>
              <a:tblPr>
                <a:noFill/>
              </a:tblPr>
              <a:tblGrid>
                <a:gridCol w="1350676">
                  <a:extLst>
                    <a:ext uri="{9D8B030D-6E8A-4147-A177-3AD203B41FA5}">
                      <a16:colId xmlns:a16="http://schemas.microsoft.com/office/drawing/2014/main" val="20000"/>
                    </a:ext>
                  </a:extLst>
                </a:gridCol>
                <a:gridCol w="3778072">
                  <a:extLst>
                    <a:ext uri="{9D8B030D-6E8A-4147-A177-3AD203B41FA5}">
                      <a16:colId xmlns:a16="http://schemas.microsoft.com/office/drawing/2014/main" val="20001"/>
                    </a:ext>
                  </a:extLst>
                </a:gridCol>
              </a:tblGrid>
              <a:tr h="1096706">
                <a:tc>
                  <a:txBody>
                    <a:bodyPr/>
                    <a:lstStyle/>
                    <a:p>
                      <a:pPr marL="0" lvl="0" indent="0" algn="l" rtl="0">
                        <a:spcBef>
                          <a:spcPts val="0"/>
                        </a:spcBef>
                        <a:spcAft>
                          <a:spcPts val="0"/>
                        </a:spcAft>
                        <a:buNone/>
                      </a:pPr>
                      <a:r>
                        <a:rPr lang="en-GB" sz="1500" noProof="0">
                          <a:solidFill>
                            <a:srgbClr val="F0B357"/>
                          </a:solidFill>
                        </a:rPr>
                        <a:t>Quality and Integrity</a:t>
                      </a:r>
                    </a:p>
                  </a:txBody>
                  <a:tcPr marL="91425" marR="91425" marT="91425" marB="91425"/>
                </a:tc>
                <a:tc>
                  <a:txBody>
                    <a:bodyPr/>
                    <a:lstStyle/>
                    <a:p>
                      <a:pPr marL="0" lvl="0" indent="0" algn="l" rtl="0">
                        <a:spcBef>
                          <a:spcPts val="0"/>
                        </a:spcBef>
                        <a:spcAft>
                          <a:spcPts val="0"/>
                        </a:spcAft>
                        <a:buNone/>
                      </a:pPr>
                      <a:r>
                        <a:rPr lang="en-GB" sz="1500" noProof="0"/>
                        <a:t>Respect academic freedom &amp; human rights</a:t>
                      </a:r>
                    </a:p>
                    <a:p>
                      <a:pPr marL="0" lvl="0" indent="0" algn="l" rtl="0">
                        <a:spcBef>
                          <a:spcPts val="0"/>
                        </a:spcBef>
                        <a:spcAft>
                          <a:spcPts val="0"/>
                        </a:spcAft>
                        <a:buNone/>
                      </a:pPr>
                      <a:r>
                        <a:rPr lang="en-GB" sz="1500" noProof="0"/>
                        <a:t>High-quality research</a:t>
                      </a:r>
                    </a:p>
                    <a:p>
                      <a:pPr marL="0" lvl="0" indent="0" algn="l" rtl="0">
                        <a:spcBef>
                          <a:spcPts val="0"/>
                        </a:spcBef>
                        <a:spcAft>
                          <a:spcPts val="0"/>
                        </a:spcAft>
                        <a:buNone/>
                      </a:pPr>
                      <a:r>
                        <a:rPr lang="en-GB" sz="1500" noProof="0"/>
                        <a:t>Rigorous review and scrutiny</a:t>
                      </a:r>
                    </a:p>
                    <a:p>
                      <a:pPr marL="0" lvl="0" indent="0" algn="l" rtl="0">
                        <a:spcBef>
                          <a:spcPts val="0"/>
                        </a:spcBef>
                        <a:spcAft>
                          <a:spcPts val="0"/>
                        </a:spcAft>
                        <a:buNone/>
                      </a:pPr>
                      <a:r>
                        <a:rPr lang="en-GB" sz="1500" noProof="0"/>
                        <a:t>Transparent evaluation</a:t>
                      </a:r>
                    </a:p>
                  </a:txBody>
                  <a:tcPr marL="91425" marR="91425" marT="91425" marB="91425"/>
                </a:tc>
                <a:extLst>
                  <a:ext uri="{0D108BD9-81ED-4DB2-BD59-A6C34878D82A}">
                    <a16:rowId xmlns:a16="http://schemas.microsoft.com/office/drawing/2014/main" val="10000"/>
                  </a:ext>
                </a:extLst>
              </a:tr>
              <a:tr h="1369602">
                <a:tc>
                  <a:txBody>
                    <a:bodyPr/>
                    <a:lstStyle/>
                    <a:p>
                      <a:pPr marL="0" lvl="0" indent="0" algn="l" rtl="0">
                        <a:spcBef>
                          <a:spcPts val="0"/>
                        </a:spcBef>
                        <a:spcAft>
                          <a:spcPts val="0"/>
                        </a:spcAft>
                        <a:buNone/>
                      </a:pPr>
                      <a:r>
                        <a:rPr lang="en-GB" sz="1500" noProof="0">
                          <a:solidFill>
                            <a:srgbClr val="DFA8F1"/>
                          </a:solidFill>
                        </a:rPr>
                        <a:t>Collective benefit</a:t>
                      </a:r>
                    </a:p>
                  </a:txBody>
                  <a:tcPr marL="91425" marR="91425" marT="91425" marB="91425"/>
                </a:tc>
                <a:tc>
                  <a:txBody>
                    <a:bodyPr/>
                    <a:lstStyle/>
                    <a:p>
                      <a:pPr marL="0" lvl="0" indent="0" algn="l" rtl="0">
                        <a:spcBef>
                          <a:spcPts val="0"/>
                        </a:spcBef>
                        <a:spcAft>
                          <a:spcPts val="0"/>
                        </a:spcAft>
                        <a:buNone/>
                      </a:pPr>
                      <a:r>
                        <a:rPr lang="en-GB" sz="1500" noProof="0"/>
                        <a:t>Science belongs to humanity</a:t>
                      </a:r>
                    </a:p>
                    <a:p>
                      <a:pPr marL="0" lvl="0" indent="0" algn="l" rtl="0">
                        <a:spcBef>
                          <a:spcPts val="0"/>
                        </a:spcBef>
                        <a:spcAft>
                          <a:spcPts val="0"/>
                        </a:spcAft>
                        <a:buNone/>
                      </a:pPr>
                      <a:r>
                        <a:rPr lang="en-GB" sz="1500" noProof="0"/>
                        <a:t>Benefit humanity as a whole</a:t>
                      </a:r>
                    </a:p>
                    <a:p>
                      <a:pPr marL="0" lvl="0" indent="0" algn="l" rtl="0">
                        <a:spcBef>
                          <a:spcPts val="0"/>
                        </a:spcBef>
                        <a:spcAft>
                          <a:spcPts val="0"/>
                        </a:spcAft>
                        <a:buNone/>
                      </a:pPr>
                      <a:r>
                        <a:rPr lang="en-GB" sz="1500" noProof="0"/>
                        <a:t>Inclusive and equitable</a:t>
                      </a:r>
                    </a:p>
                    <a:p>
                      <a:pPr marL="0" lvl="0" indent="0" algn="l" rtl="0">
                        <a:spcBef>
                          <a:spcPts val="0"/>
                        </a:spcBef>
                        <a:spcAft>
                          <a:spcPts val="0"/>
                        </a:spcAft>
                        <a:buNone/>
                      </a:pPr>
                      <a:r>
                        <a:rPr lang="en-GB" sz="1500" noProof="0"/>
                        <a:t>Sustainable </a:t>
                      </a:r>
                    </a:p>
                    <a:p>
                      <a:pPr marL="0" lvl="0" indent="0" algn="l" rtl="0">
                        <a:spcBef>
                          <a:spcPts val="0"/>
                        </a:spcBef>
                        <a:spcAft>
                          <a:spcPts val="0"/>
                        </a:spcAft>
                        <a:buNone/>
                      </a:pPr>
                      <a:r>
                        <a:rPr lang="en-GB" sz="1500" noProof="0"/>
                        <a:t>Equal opportunities for science education</a:t>
                      </a:r>
                    </a:p>
                  </a:txBody>
                  <a:tcPr marL="91425" marR="91425" marT="91425" marB="91425"/>
                </a:tc>
                <a:extLst>
                  <a:ext uri="{0D108BD9-81ED-4DB2-BD59-A6C34878D82A}">
                    <a16:rowId xmlns:a16="http://schemas.microsoft.com/office/drawing/2014/main" val="10001"/>
                  </a:ext>
                </a:extLst>
              </a:tr>
              <a:tr h="913056">
                <a:tc>
                  <a:txBody>
                    <a:bodyPr/>
                    <a:lstStyle/>
                    <a:p>
                      <a:pPr marL="0" lvl="0" indent="0" algn="l" rtl="0">
                        <a:spcBef>
                          <a:spcPts val="0"/>
                        </a:spcBef>
                        <a:spcAft>
                          <a:spcPts val="0"/>
                        </a:spcAft>
                        <a:buNone/>
                      </a:pPr>
                      <a:r>
                        <a:rPr lang="en-GB" sz="1500" noProof="0">
                          <a:solidFill>
                            <a:srgbClr val="DA3832"/>
                          </a:solidFill>
                        </a:rPr>
                        <a:t>Equity and fairness</a:t>
                      </a:r>
                    </a:p>
                  </a:txBody>
                  <a:tcPr marL="91425" marR="91425" marT="91425" marB="91425"/>
                </a:tc>
                <a:tc>
                  <a:txBody>
                    <a:bodyPr/>
                    <a:lstStyle/>
                    <a:p>
                      <a:pPr marL="0" lvl="0" indent="0" algn="l" rtl="0">
                        <a:spcBef>
                          <a:spcPts val="0"/>
                        </a:spcBef>
                        <a:spcAft>
                          <a:spcPts val="0"/>
                        </a:spcAft>
                        <a:buNone/>
                      </a:pPr>
                      <a:r>
                        <a:rPr lang="en-GB" sz="1500" noProof="0"/>
                        <a:t>Fair &amp; reciprocal sharing of inputs &amp; outputs</a:t>
                      </a:r>
                    </a:p>
                    <a:p>
                      <a:pPr marL="0" lvl="0" indent="0" algn="l" rtl="0">
                        <a:spcBef>
                          <a:spcPts val="0"/>
                        </a:spcBef>
                        <a:spcAft>
                          <a:spcPts val="0"/>
                        </a:spcAft>
                        <a:buNone/>
                      </a:pPr>
                      <a:r>
                        <a:rPr lang="en-GB" sz="1500" noProof="0"/>
                        <a:t>Equal access to scientific knowledge (producers &amp; consumers)</a:t>
                      </a:r>
                    </a:p>
                  </a:txBody>
                  <a:tcPr marL="91425" marR="91425" marT="91425" marB="91425"/>
                </a:tc>
                <a:extLst>
                  <a:ext uri="{0D108BD9-81ED-4DB2-BD59-A6C34878D82A}">
                    <a16:rowId xmlns:a16="http://schemas.microsoft.com/office/drawing/2014/main" val="10002"/>
                  </a:ext>
                </a:extLst>
              </a:tr>
              <a:tr h="1457655">
                <a:tc>
                  <a:txBody>
                    <a:bodyPr/>
                    <a:lstStyle/>
                    <a:p>
                      <a:pPr marL="0" lvl="0" indent="0" algn="l" rtl="0">
                        <a:spcBef>
                          <a:spcPts val="0"/>
                        </a:spcBef>
                        <a:spcAft>
                          <a:spcPts val="0"/>
                        </a:spcAft>
                        <a:buNone/>
                      </a:pPr>
                      <a:r>
                        <a:rPr lang="en-GB" sz="1500" noProof="0">
                          <a:solidFill>
                            <a:srgbClr val="5F308C"/>
                          </a:solidFill>
                        </a:rPr>
                        <a:t>Diversity and inclusiveness</a:t>
                      </a:r>
                    </a:p>
                  </a:txBody>
                  <a:tcPr marL="91425" marR="91425" marT="91425" marB="91425"/>
                </a:tc>
                <a:tc>
                  <a:txBody>
                    <a:bodyPr/>
                    <a:lstStyle/>
                    <a:p>
                      <a:pPr marL="0" lvl="0" indent="0" algn="l" rtl="0">
                        <a:spcBef>
                          <a:spcPts val="0"/>
                        </a:spcBef>
                        <a:spcAft>
                          <a:spcPts val="0"/>
                        </a:spcAft>
                        <a:buNone/>
                      </a:pPr>
                      <a:r>
                        <a:rPr lang="en-GB" sz="1500" noProof="0"/>
                        <a:t>Diversity of knowledge, practices, workflows, languages, outputs, topics</a:t>
                      </a:r>
                    </a:p>
                    <a:p>
                      <a:pPr marL="255600" lvl="0" indent="-255600" algn="l" rtl="0">
                        <a:spcBef>
                          <a:spcPts val="0"/>
                        </a:spcBef>
                        <a:spcAft>
                          <a:spcPts val="0"/>
                        </a:spcAft>
                        <a:buNone/>
                      </a:pPr>
                      <a:r>
                        <a:rPr lang="en-GB" sz="1500" noProof="0"/>
                        <a:t>Support epistemic pluralism in scientific community &amp; wider public &amp; other knowledge holders (e.g., indigenous people, local communities, social actors)</a:t>
                      </a:r>
                    </a:p>
                  </a:txBody>
                  <a:tcPr marL="91425" marR="91425" marT="91425" marB="91425"/>
                </a:tc>
                <a:extLst>
                  <a:ext uri="{0D108BD9-81ED-4DB2-BD59-A6C34878D82A}">
                    <a16:rowId xmlns:a16="http://schemas.microsoft.com/office/drawing/2014/main" val="10003"/>
                  </a:ext>
                </a:extLst>
              </a:tr>
            </a:tbl>
          </a:graphicData>
        </a:graphic>
      </p:graphicFrame>
      <p:sp>
        <p:nvSpPr>
          <p:cNvPr id="8" name="Google Shape;753;p91">
            <a:extLst>
              <a:ext uri="{FF2B5EF4-FFF2-40B4-BE49-F238E27FC236}">
                <a16:creationId xmlns:a16="http://schemas.microsoft.com/office/drawing/2014/main" id="{D00C92A4-E05F-4C53-C951-6E218E561904}"/>
              </a:ext>
            </a:extLst>
          </p:cNvPr>
          <p:cNvSpPr txBox="1"/>
          <p:nvPr/>
        </p:nvSpPr>
        <p:spPr>
          <a:xfrm>
            <a:off x="6708173" y="689557"/>
            <a:ext cx="5352880" cy="62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Font typeface="Arial"/>
              <a:buNone/>
            </a:pPr>
            <a:r>
              <a:rPr lang="en-GB" b="1" i="1" noProof="0">
                <a:solidFill>
                  <a:schemeClr val="dk1"/>
                </a:solidFill>
                <a:latin typeface="Calibri"/>
                <a:ea typeface="Calibri"/>
                <a:cs typeface="Calibri"/>
                <a:sym typeface="Calibri"/>
              </a:rPr>
              <a:t>Assignment: Stick coloured stickers on a set of Open Science practices corresponding to the UNESCO value</a:t>
            </a:r>
          </a:p>
          <a:p>
            <a:pPr marL="0" lvl="0" indent="0" algn="l" rtl="0">
              <a:spcBef>
                <a:spcPts val="0"/>
              </a:spcBef>
              <a:spcAft>
                <a:spcPts val="0"/>
              </a:spcAft>
              <a:buNone/>
            </a:pPr>
            <a:endParaRPr lang="en-GB" sz="1400" noProof="0">
              <a:latin typeface="Calibri"/>
              <a:ea typeface="Calibri"/>
              <a:cs typeface="Calibri"/>
              <a:sym typeface="Calibri"/>
            </a:endParaRPr>
          </a:p>
        </p:txBody>
      </p:sp>
      <p:sp>
        <p:nvSpPr>
          <p:cNvPr id="9" name="Google Shape;817;p98">
            <a:hlinkClick r:id="" action="ppaction://noaction"/>
            <a:extLst>
              <a:ext uri="{FF2B5EF4-FFF2-40B4-BE49-F238E27FC236}">
                <a16:creationId xmlns:a16="http://schemas.microsoft.com/office/drawing/2014/main" id="{F98E9C45-1145-1E43-E1BC-DC8F3EFC43A3}"/>
              </a:ext>
            </a:extLst>
          </p:cNvPr>
          <p:cNvSpPr/>
          <p:nvPr/>
        </p:nvSpPr>
        <p:spPr>
          <a:xfrm>
            <a:off x="307225" y="4690343"/>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10" name="Google Shape;818;p98">
            <a:hlinkClick r:id="rId5" action="ppaction://hlinksldjump"/>
            <a:extLst>
              <a:ext uri="{FF2B5EF4-FFF2-40B4-BE49-F238E27FC236}">
                <a16:creationId xmlns:a16="http://schemas.microsoft.com/office/drawing/2014/main" id="{95B7EBCB-F9A4-3737-5063-7784936BDE27}"/>
              </a:ext>
            </a:extLst>
          </p:cNvPr>
          <p:cNvSpPr/>
          <p:nvPr/>
        </p:nvSpPr>
        <p:spPr>
          <a:xfrm>
            <a:off x="1935113" y="4692768"/>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11" name="Google Shape;819;p98">
            <a:hlinkClick r:id="rId6" action="ppaction://hlinksldjump"/>
            <a:extLst>
              <a:ext uri="{FF2B5EF4-FFF2-40B4-BE49-F238E27FC236}">
                <a16:creationId xmlns:a16="http://schemas.microsoft.com/office/drawing/2014/main" id="{0C4402E8-BC57-5A85-A5E5-49E028A25F0C}"/>
              </a:ext>
            </a:extLst>
          </p:cNvPr>
          <p:cNvSpPr/>
          <p:nvPr/>
        </p:nvSpPr>
        <p:spPr>
          <a:xfrm>
            <a:off x="3545113" y="4692768"/>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12" name="Google Shape;820;p98">
            <a:hlinkClick r:id="rId7" action="ppaction://hlinksldjump"/>
            <a:extLst>
              <a:ext uri="{FF2B5EF4-FFF2-40B4-BE49-F238E27FC236}">
                <a16:creationId xmlns:a16="http://schemas.microsoft.com/office/drawing/2014/main" id="{C0FC2DC7-72BB-3757-C266-514E715D2CEA}"/>
              </a:ext>
            </a:extLst>
          </p:cNvPr>
          <p:cNvSpPr/>
          <p:nvPr/>
        </p:nvSpPr>
        <p:spPr>
          <a:xfrm>
            <a:off x="5184175" y="4692768"/>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14" name="Google Shape;822;p98">
            <a:hlinkClick r:id="" action="ppaction://noaction"/>
            <a:extLst>
              <a:ext uri="{FF2B5EF4-FFF2-40B4-BE49-F238E27FC236}">
                <a16:creationId xmlns:a16="http://schemas.microsoft.com/office/drawing/2014/main" id="{B107332C-2D0F-A787-580A-13C725BF4FFC}"/>
              </a:ext>
            </a:extLst>
          </p:cNvPr>
          <p:cNvSpPr/>
          <p:nvPr/>
        </p:nvSpPr>
        <p:spPr>
          <a:xfrm>
            <a:off x="303513" y="5395076"/>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15" name="Google Shape;823;p98">
            <a:hlinkClick r:id="" action="ppaction://noaction"/>
            <a:extLst>
              <a:ext uri="{FF2B5EF4-FFF2-40B4-BE49-F238E27FC236}">
                <a16:creationId xmlns:a16="http://schemas.microsoft.com/office/drawing/2014/main" id="{643B68FC-E12E-CA40-2D9B-592CF203E12A}"/>
              </a:ext>
            </a:extLst>
          </p:cNvPr>
          <p:cNvSpPr/>
          <p:nvPr/>
        </p:nvSpPr>
        <p:spPr>
          <a:xfrm>
            <a:off x="1938850" y="5395076"/>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16" name="Google Shape;824;p98">
            <a:hlinkClick r:id="" action="ppaction://noaction"/>
            <a:extLst>
              <a:ext uri="{FF2B5EF4-FFF2-40B4-BE49-F238E27FC236}">
                <a16:creationId xmlns:a16="http://schemas.microsoft.com/office/drawing/2014/main" id="{884C25F4-4302-620F-EE40-34D71BE9D08E}"/>
              </a:ext>
            </a:extLst>
          </p:cNvPr>
          <p:cNvSpPr/>
          <p:nvPr/>
        </p:nvSpPr>
        <p:spPr>
          <a:xfrm>
            <a:off x="3572063" y="5395076"/>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17" name="Google Shape;825;p98">
            <a:hlinkClick r:id="" action="ppaction://noaction"/>
            <a:extLst>
              <a:ext uri="{FF2B5EF4-FFF2-40B4-BE49-F238E27FC236}">
                <a16:creationId xmlns:a16="http://schemas.microsoft.com/office/drawing/2014/main" id="{F45E55E3-642A-0277-9F90-A887C179FD28}"/>
              </a:ext>
            </a:extLst>
          </p:cNvPr>
          <p:cNvSpPr/>
          <p:nvPr/>
        </p:nvSpPr>
        <p:spPr>
          <a:xfrm>
            <a:off x="5177613" y="5395076"/>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19" name="Google Shape;827;p98">
            <a:hlinkClick r:id="" action="ppaction://noaction"/>
            <a:extLst>
              <a:ext uri="{FF2B5EF4-FFF2-40B4-BE49-F238E27FC236}">
                <a16:creationId xmlns:a16="http://schemas.microsoft.com/office/drawing/2014/main" id="{42696CA5-80D7-505D-675F-7D4949001A03}"/>
              </a:ext>
            </a:extLst>
          </p:cNvPr>
          <p:cNvSpPr/>
          <p:nvPr/>
        </p:nvSpPr>
        <p:spPr>
          <a:xfrm>
            <a:off x="307213" y="6100404"/>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20" name="Google Shape;828;p98">
            <a:hlinkClick r:id="" action="ppaction://noaction"/>
            <a:extLst>
              <a:ext uri="{FF2B5EF4-FFF2-40B4-BE49-F238E27FC236}">
                <a16:creationId xmlns:a16="http://schemas.microsoft.com/office/drawing/2014/main" id="{5941EFE6-0CC5-8B71-B318-BF398E6F94E3}"/>
              </a:ext>
            </a:extLst>
          </p:cNvPr>
          <p:cNvSpPr/>
          <p:nvPr/>
        </p:nvSpPr>
        <p:spPr>
          <a:xfrm>
            <a:off x="1967275" y="6100404"/>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21" name="Google Shape;829;p98">
            <a:hlinkClick r:id="" action="ppaction://noaction"/>
            <a:extLst>
              <a:ext uri="{FF2B5EF4-FFF2-40B4-BE49-F238E27FC236}">
                <a16:creationId xmlns:a16="http://schemas.microsoft.com/office/drawing/2014/main" id="{61229ACB-1477-E9CD-BDBE-31A558B1DD9B}"/>
              </a:ext>
            </a:extLst>
          </p:cNvPr>
          <p:cNvSpPr/>
          <p:nvPr/>
        </p:nvSpPr>
        <p:spPr>
          <a:xfrm>
            <a:off x="3595150" y="6100404"/>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23" name="Google Shape;830;p98">
            <a:hlinkClick r:id="" action="ppaction://noaction"/>
            <a:extLst>
              <a:ext uri="{FF2B5EF4-FFF2-40B4-BE49-F238E27FC236}">
                <a16:creationId xmlns:a16="http://schemas.microsoft.com/office/drawing/2014/main" id="{E5590EB5-F11D-CF26-0B4E-4F4B27BD69DA}"/>
              </a:ext>
            </a:extLst>
          </p:cNvPr>
          <p:cNvSpPr/>
          <p:nvPr/>
        </p:nvSpPr>
        <p:spPr>
          <a:xfrm>
            <a:off x="5185800" y="6100404"/>
            <a:ext cx="1362000" cy="609600"/>
          </a:xfrm>
          <a:prstGeom prst="roundRect">
            <a:avLst>
              <a:gd name="adj" fmla="val 16667"/>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GB" sz="1100" noProof="0"/>
          </a:p>
        </p:txBody>
      </p:sp>
      <p:sp>
        <p:nvSpPr>
          <p:cNvPr id="29" name="Google Shape;836;p98">
            <a:hlinkClick r:id="" action="ppaction://noaction"/>
            <a:extLst>
              <a:ext uri="{FF2B5EF4-FFF2-40B4-BE49-F238E27FC236}">
                <a16:creationId xmlns:a16="http://schemas.microsoft.com/office/drawing/2014/main" id="{F697B55C-68C0-5241-50BB-A6D4E810A94B}"/>
              </a:ext>
            </a:extLst>
          </p:cNvPr>
          <p:cNvSpPr txBox="1"/>
          <p:nvPr/>
        </p:nvSpPr>
        <p:spPr>
          <a:xfrm>
            <a:off x="375925" y="4750168"/>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openly setting priorities</a:t>
            </a:r>
          </a:p>
        </p:txBody>
      </p:sp>
      <p:sp>
        <p:nvSpPr>
          <p:cNvPr id="30" name="Google Shape;837;p98">
            <a:hlinkClick r:id="rId5" action="ppaction://hlinksldjump"/>
            <a:extLst>
              <a:ext uri="{FF2B5EF4-FFF2-40B4-BE49-F238E27FC236}">
                <a16:creationId xmlns:a16="http://schemas.microsoft.com/office/drawing/2014/main" id="{A75908B8-66BD-5F68-E071-FFB1CF69D315}"/>
              </a:ext>
            </a:extLst>
          </p:cNvPr>
          <p:cNvSpPr txBox="1"/>
          <p:nvPr/>
        </p:nvSpPr>
        <p:spPr>
          <a:xfrm>
            <a:off x="1994875" y="4750168"/>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sharing proposals</a:t>
            </a:r>
          </a:p>
        </p:txBody>
      </p:sp>
      <p:sp>
        <p:nvSpPr>
          <p:cNvPr id="31" name="Google Shape;838;p98">
            <a:hlinkClick r:id="rId6" action="ppaction://hlinksldjump"/>
            <a:extLst>
              <a:ext uri="{FF2B5EF4-FFF2-40B4-BE49-F238E27FC236}">
                <a16:creationId xmlns:a16="http://schemas.microsoft.com/office/drawing/2014/main" id="{87E9977D-2E06-6B16-7A6C-FB605AB8B18C}"/>
              </a:ext>
            </a:extLst>
          </p:cNvPr>
          <p:cNvSpPr txBox="1"/>
          <p:nvPr/>
        </p:nvSpPr>
        <p:spPr>
          <a:xfrm>
            <a:off x="3628350" y="4724993"/>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commenting openly</a:t>
            </a:r>
          </a:p>
        </p:txBody>
      </p:sp>
      <p:sp>
        <p:nvSpPr>
          <p:cNvPr id="32" name="Google Shape;839;p98">
            <a:hlinkClick r:id="rId7" action="ppaction://hlinksldjump"/>
            <a:extLst>
              <a:ext uri="{FF2B5EF4-FFF2-40B4-BE49-F238E27FC236}">
                <a16:creationId xmlns:a16="http://schemas.microsoft.com/office/drawing/2014/main" id="{62D43F81-EE81-CC06-AB98-23A662DD1DC8}"/>
              </a:ext>
            </a:extLst>
          </p:cNvPr>
          <p:cNvSpPr txBox="1"/>
          <p:nvPr/>
        </p:nvSpPr>
        <p:spPr>
          <a:xfrm>
            <a:off x="5261825" y="4750168"/>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pre-registering</a:t>
            </a:r>
          </a:p>
        </p:txBody>
      </p:sp>
      <p:sp>
        <p:nvSpPr>
          <p:cNvPr id="34" name="Google Shape;841;p98">
            <a:hlinkClick r:id="" action="ppaction://noaction"/>
            <a:extLst>
              <a:ext uri="{FF2B5EF4-FFF2-40B4-BE49-F238E27FC236}">
                <a16:creationId xmlns:a16="http://schemas.microsoft.com/office/drawing/2014/main" id="{02D8AA6F-E53D-B4BD-1988-24FB8E0EEA97}"/>
              </a:ext>
            </a:extLst>
          </p:cNvPr>
          <p:cNvSpPr txBox="1"/>
          <p:nvPr/>
        </p:nvSpPr>
        <p:spPr>
          <a:xfrm>
            <a:off x="372225" y="5446388"/>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sharing</a:t>
            </a:r>
          </a:p>
          <a:p>
            <a:pPr marL="0" lvl="0" indent="0" algn="ctr" rtl="0">
              <a:spcBef>
                <a:spcPts val="0"/>
              </a:spcBef>
              <a:spcAft>
                <a:spcPts val="0"/>
              </a:spcAft>
              <a:buNone/>
            </a:pPr>
            <a:r>
              <a:rPr lang="en-GB" sz="1100" noProof="0"/>
              <a:t>data</a:t>
            </a:r>
          </a:p>
        </p:txBody>
      </p:sp>
      <p:sp>
        <p:nvSpPr>
          <p:cNvPr id="35" name="Google Shape;842;p98">
            <a:hlinkClick r:id="" action="ppaction://noaction"/>
            <a:extLst>
              <a:ext uri="{FF2B5EF4-FFF2-40B4-BE49-F238E27FC236}">
                <a16:creationId xmlns:a16="http://schemas.microsoft.com/office/drawing/2014/main" id="{F9E0CFE9-C38F-411D-2D1C-ABDB304DD8BC}"/>
              </a:ext>
            </a:extLst>
          </p:cNvPr>
          <p:cNvSpPr txBox="1"/>
          <p:nvPr/>
        </p:nvSpPr>
        <p:spPr>
          <a:xfrm>
            <a:off x="1935125" y="5446388"/>
            <a:ext cx="13620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sharing code &amp; using open software</a:t>
            </a:r>
          </a:p>
        </p:txBody>
      </p:sp>
      <p:sp>
        <p:nvSpPr>
          <p:cNvPr id="36" name="Google Shape;843;p98">
            <a:hlinkClick r:id="" action="ppaction://noaction"/>
            <a:extLst>
              <a:ext uri="{FF2B5EF4-FFF2-40B4-BE49-F238E27FC236}">
                <a16:creationId xmlns:a16="http://schemas.microsoft.com/office/drawing/2014/main" id="{F3840BC4-9E52-552E-F7B7-FFD85DB9B054}"/>
              </a:ext>
            </a:extLst>
          </p:cNvPr>
          <p:cNvSpPr txBox="1"/>
          <p:nvPr/>
        </p:nvSpPr>
        <p:spPr>
          <a:xfrm>
            <a:off x="3640775" y="5446388"/>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sharing notebooks</a:t>
            </a:r>
          </a:p>
        </p:txBody>
      </p:sp>
      <p:sp>
        <p:nvSpPr>
          <p:cNvPr id="37" name="Google Shape;844;p98">
            <a:hlinkClick r:id="" action="ppaction://noaction"/>
            <a:extLst>
              <a:ext uri="{FF2B5EF4-FFF2-40B4-BE49-F238E27FC236}">
                <a16:creationId xmlns:a16="http://schemas.microsoft.com/office/drawing/2014/main" id="{CCBA5D82-94D2-4D42-19B8-C423543452ED}"/>
              </a:ext>
            </a:extLst>
          </p:cNvPr>
          <p:cNvSpPr txBox="1"/>
          <p:nvPr/>
        </p:nvSpPr>
        <p:spPr>
          <a:xfrm>
            <a:off x="5257475" y="5433801"/>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collaborative writing</a:t>
            </a:r>
          </a:p>
        </p:txBody>
      </p:sp>
      <p:sp>
        <p:nvSpPr>
          <p:cNvPr id="39" name="Google Shape;846;p98">
            <a:hlinkClick r:id="" action="ppaction://noaction"/>
            <a:extLst>
              <a:ext uri="{FF2B5EF4-FFF2-40B4-BE49-F238E27FC236}">
                <a16:creationId xmlns:a16="http://schemas.microsoft.com/office/drawing/2014/main" id="{FFF4D52C-5DFB-B594-EA0E-E6DAFACAD332}"/>
              </a:ext>
            </a:extLst>
          </p:cNvPr>
          <p:cNvSpPr txBox="1"/>
          <p:nvPr/>
        </p:nvSpPr>
        <p:spPr>
          <a:xfrm>
            <a:off x="404363" y="6151704"/>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sharing preprints</a:t>
            </a:r>
          </a:p>
        </p:txBody>
      </p:sp>
      <p:sp>
        <p:nvSpPr>
          <p:cNvPr id="40" name="Google Shape;847;p98">
            <a:hlinkClick r:id="" action="ppaction://noaction"/>
            <a:extLst>
              <a:ext uri="{FF2B5EF4-FFF2-40B4-BE49-F238E27FC236}">
                <a16:creationId xmlns:a16="http://schemas.microsoft.com/office/drawing/2014/main" id="{8618C935-BA33-E339-397F-F35842DDF857}"/>
              </a:ext>
            </a:extLst>
          </p:cNvPr>
          <p:cNvSpPr txBox="1"/>
          <p:nvPr/>
        </p:nvSpPr>
        <p:spPr>
          <a:xfrm>
            <a:off x="2035975" y="6151704"/>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using open &amp; post-pub PR</a:t>
            </a:r>
          </a:p>
        </p:txBody>
      </p:sp>
      <p:sp>
        <p:nvSpPr>
          <p:cNvPr id="41" name="Google Shape;848;p98">
            <a:hlinkClick r:id="" action="ppaction://noaction"/>
            <a:extLst>
              <a:ext uri="{FF2B5EF4-FFF2-40B4-BE49-F238E27FC236}">
                <a16:creationId xmlns:a16="http://schemas.microsoft.com/office/drawing/2014/main" id="{EF57793A-2152-D8F6-A15B-8E9258BC482F}"/>
              </a:ext>
            </a:extLst>
          </p:cNvPr>
          <p:cNvSpPr txBox="1"/>
          <p:nvPr/>
        </p:nvSpPr>
        <p:spPr>
          <a:xfrm>
            <a:off x="3667575" y="6151704"/>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dirty="0"/>
              <a:t>claiming credit for peer review</a:t>
            </a:r>
          </a:p>
        </p:txBody>
      </p:sp>
      <p:sp>
        <p:nvSpPr>
          <p:cNvPr id="42" name="Google Shape;849;p98">
            <a:hlinkClick r:id="" action="ppaction://noaction"/>
            <a:extLst>
              <a:ext uri="{FF2B5EF4-FFF2-40B4-BE49-F238E27FC236}">
                <a16:creationId xmlns:a16="http://schemas.microsoft.com/office/drawing/2014/main" id="{03FD426B-2A50-2B29-1E05-28882557D347}"/>
              </a:ext>
            </a:extLst>
          </p:cNvPr>
          <p:cNvSpPr txBox="1"/>
          <p:nvPr/>
        </p:nvSpPr>
        <p:spPr>
          <a:xfrm>
            <a:off x="5257475" y="6151704"/>
            <a:ext cx="1224600" cy="50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noProof="0"/>
              <a:t>publishing open access</a:t>
            </a:r>
          </a:p>
        </p:txBody>
      </p:sp>
      <p:sp>
        <p:nvSpPr>
          <p:cNvPr id="50" name="Google Shape;753;p91">
            <a:extLst>
              <a:ext uri="{FF2B5EF4-FFF2-40B4-BE49-F238E27FC236}">
                <a16:creationId xmlns:a16="http://schemas.microsoft.com/office/drawing/2014/main" id="{5875981E-DBB9-1CA0-7BE1-F6E630040741}"/>
              </a:ext>
            </a:extLst>
          </p:cNvPr>
          <p:cNvSpPr txBox="1"/>
          <p:nvPr/>
        </p:nvSpPr>
        <p:spPr>
          <a:xfrm>
            <a:off x="284755" y="4132982"/>
            <a:ext cx="6254857" cy="622500"/>
          </a:xfrm>
          <a:prstGeom prst="rect">
            <a:avLst/>
          </a:prstGeom>
          <a:noFill/>
          <a:ln>
            <a:noFill/>
          </a:ln>
        </p:spPr>
        <p:txBody>
          <a:bodyPr spcFirstLastPara="1" wrap="square" lIns="91425" tIns="91425" rIns="91425" bIns="91425" anchor="t" anchorCtr="0">
            <a:noAutofit/>
          </a:bodyPr>
          <a:lstStyle/>
          <a:p>
            <a:pPr lvl="0"/>
            <a:r>
              <a:rPr lang="en-GB" sz="1400" noProof="0">
                <a:latin typeface="Calibri"/>
                <a:ea typeface="Calibri"/>
                <a:cs typeface="Calibri"/>
                <a:sym typeface="Calibri"/>
              </a:rPr>
              <a:t>Print out as many Open Science practices as possible </a:t>
            </a:r>
          </a:p>
          <a:p>
            <a:pPr lvl="0"/>
            <a:r>
              <a:rPr lang="en-GB" sz="1100" noProof="0">
                <a:latin typeface="Calibri"/>
                <a:ea typeface="Calibri"/>
                <a:cs typeface="Calibri"/>
                <a:sym typeface="Calibri"/>
                <a:hlinkClick r:id="rId8"/>
              </a:rPr>
              <a:t>https://tinyurl.com/os-workshop-practices</a:t>
            </a:r>
            <a:r>
              <a:rPr lang="en-GB" sz="1100" noProof="0">
                <a:latin typeface="Calibri"/>
                <a:ea typeface="Calibri"/>
                <a:cs typeface="Calibri"/>
                <a:sym typeface="Calibri"/>
              </a:rPr>
              <a:t> </a:t>
            </a:r>
          </a:p>
        </p:txBody>
      </p:sp>
    </p:spTree>
    <p:extLst>
      <p:ext uri="{BB962C8B-B14F-4D97-AF65-F5344CB8AC3E}">
        <p14:creationId xmlns:p14="http://schemas.microsoft.com/office/powerpoint/2010/main" val="2625926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B0B7F-3FE9-E1CE-C876-4CBB17F1F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F6351-121D-63DB-24A6-C49A1E2EF905}"/>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7. Skills: Let students practice with reproducibility</a:t>
            </a:r>
          </a:p>
        </p:txBody>
      </p:sp>
      <p:sp>
        <p:nvSpPr>
          <p:cNvPr id="4" name="Rectangle: Rounded Corners 3">
            <a:extLst>
              <a:ext uri="{FF2B5EF4-FFF2-40B4-BE49-F238E27FC236}">
                <a16:creationId xmlns:a16="http://schemas.microsoft.com/office/drawing/2014/main" id="{DD5D8B8E-B166-83B2-35CC-3B74D4882FFA}"/>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noProof="0">
              <a:solidFill>
                <a:schemeClr val="tx1"/>
              </a:solidFill>
              <a:latin typeface="Calibri"/>
              <a:ea typeface="Calibri"/>
              <a:cs typeface="Calibri"/>
            </a:endParaRPr>
          </a:p>
        </p:txBody>
      </p:sp>
      <p:sp>
        <p:nvSpPr>
          <p:cNvPr id="5" name="Rectangle: Rounded Corners 4">
            <a:extLst>
              <a:ext uri="{FF2B5EF4-FFF2-40B4-BE49-F238E27FC236}">
                <a16:creationId xmlns:a16="http://schemas.microsoft.com/office/drawing/2014/main" id="{6EEC7D4F-9D6B-B626-098A-64A9183F0AB4}"/>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GB" noProof="0">
              <a:solidFill>
                <a:schemeClr val="tx1"/>
              </a:solidFill>
              <a:latin typeface="Calibri"/>
              <a:ea typeface="Calibri"/>
              <a:cs typeface="Calibri"/>
            </a:endParaRPr>
          </a:p>
        </p:txBody>
      </p:sp>
      <p:sp>
        <p:nvSpPr>
          <p:cNvPr id="7" name="Rectangle: Rounded Corners 6">
            <a:extLst>
              <a:ext uri="{FF2B5EF4-FFF2-40B4-BE49-F238E27FC236}">
                <a16:creationId xmlns:a16="http://schemas.microsoft.com/office/drawing/2014/main" id="{9C848BB7-3892-8002-F526-E49A3A225846}"/>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noProof="0">
              <a:solidFill>
                <a:schemeClr val="tx1"/>
              </a:solidFill>
              <a:latin typeface="Calibri"/>
              <a:ea typeface="Calibri"/>
              <a:cs typeface="Calibri"/>
            </a:endParaRPr>
          </a:p>
        </p:txBody>
      </p:sp>
      <p:sp>
        <p:nvSpPr>
          <p:cNvPr id="8" name="Rectangle: Rounded Corners 7">
            <a:extLst>
              <a:ext uri="{FF2B5EF4-FFF2-40B4-BE49-F238E27FC236}">
                <a16:creationId xmlns:a16="http://schemas.microsoft.com/office/drawing/2014/main" id="{163877EF-23CD-911E-9110-489159A91D01}"/>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noProof="0">
              <a:solidFill>
                <a:schemeClr val="tx1"/>
              </a:solidFill>
              <a:latin typeface="Calibri"/>
              <a:ea typeface="Calibri"/>
              <a:cs typeface="Calibri"/>
            </a:endParaRPr>
          </a:p>
        </p:txBody>
      </p:sp>
      <p:sp>
        <p:nvSpPr>
          <p:cNvPr id="9" name="Rectangle: Rounded Corners 8">
            <a:extLst>
              <a:ext uri="{FF2B5EF4-FFF2-40B4-BE49-F238E27FC236}">
                <a16:creationId xmlns:a16="http://schemas.microsoft.com/office/drawing/2014/main" id="{FDED1B4B-F801-12F7-5FEF-55D1B6445F12}"/>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noProof="0">
              <a:solidFill>
                <a:schemeClr val="tx1"/>
              </a:solidFill>
              <a:latin typeface="Calibri"/>
              <a:ea typeface="Calibri"/>
              <a:cs typeface="Calibri"/>
            </a:endParaRPr>
          </a:p>
        </p:txBody>
      </p:sp>
      <p:sp>
        <p:nvSpPr>
          <p:cNvPr id="10" name="TextBox 9">
            <a:extLst>
              <a:ext uri="{FF2B5EF4-FFF2-40B4-BE49-F238E27FC236}">
                <a16:creationId xmlns:a16="http://schemas.microsoft.com/office/drawing/2014/main" id="{B38A97CE-F10C-29DD-E813-4754950FCCC2}"/>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Reproducibility</a:t>
            </a:r>
            <a:endParaRPr lang="en-GB" noProof="0"/>
          </a:p>
        </p:txBody>
      </p:sp>
      <p:sp>
        <p:nvSpPr>
          <p:cNvPr id="12" name="TextBox 11">
            <a:extLst>
              <a:ext uri="{FF2B5EF4-FFF2-40B4-BE49-F238E27FC236}">
                <a16:creationId xmlns:a16="http://schemas.microsoft.com/office/drawing/2014/main" id="{C382EF6A-F3C5-E49F-ED36-2718152B257D}"/>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32E9C181-0753-3822-718B-2AFB58D371F5}"/>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2E6CC3BA-9632-5A4F-6C56-838414888FA9}"/>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41822BCC-5286-F253-CEFE-3F595CECB35B}"/>
              </a:ext>
            </a:extLst>
          </p:cNvPr>
          <p:cNvPicPr>
            <a:picLocks noChangeAspect="1"/>
          </p:cNvPicPr>
          <p:nvPr/>
        </p:nvPicPr>
        <p:blipFill>
          <a:blip r:embed="rId2"/>
          <a:stretch>
            <a:fillRect/>
          </a:stretch>
        </p:blipFill>
        <p:spPr>
          <a:xfrm>
            <a:off x="26821" y="30831"/>
            <a:ext cx="523875" cy="523875"/>
          </a:xfrm>
          <a:prstGeom prst="rect">
            <a:avLst/>
          </a:prstGeom>
        </p:spPr>
      </p:pic>
      <p:sp>
        <p:nvSpPr>
          <p:cNvPr id="20" name="TextBox 15">
            <a:extLst>
              <a:ext uri="{FF2B5EF4-FFF2-40B4-BE49-F238E27FC236}">
                <a16:creationId xmlns:a16="http://schemas.microsoft.com/office/drawing/2014/main" id="{996A493A-2E4E-ECC8-0A0D-A8CE3FE0078D}"/>
              </a:ext>
            </a:extLst>
          </p:cNvPr>
          <p:cNvSpPr txBox="1"/>
          <p:nvPr/>
        </p:nvSpPr>
        <p:spPr>
          <a:xfrm>
            <a:off x="430389" y="1189692"/>
            <a:ext cx="3640666"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Reproducibility is the cornerstone of sound research. We show where our knowledge comes from in a manner that enables others to check and replicate. Reproducibility and transparency, therefore, go hand in hand. This makes reproducibility a perfect pedagogical tool to teach the how and why of open science practices. </a:t>
            </a:r>
          </a:p>
        </p:txBody>
      </p:sp>
      <p:sp>
        <p:nvSpPr>
          <p:cNvPr id="23" name="TextBox 15">
            <a:extLst>
              <a:ext uri="{FF2B5EF4-FFF2-40B4-BE49-F238E27FC236}">
                <a16:creationId xmlns:a16="http://schemas.microsoft.com/office/drawing/2014/main" id="{4CDB19B2-DFF1-B006-79A3-5585CB719990}"/>
              </a:ext>
            </a:extLst>
          </p:cNvPr>
          <p:cNvSpPr txBox="1"/>
          <p:nvPr/>
        </p:nvSpPr>
        <p:spPr>
          <a:xfrm>
            <a:off x="430388" y="4228654"/>
            <a:ext cx="3640666"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By reproducing existing research, students gain an understanding of</a:t>
            </a:r>
            <a:endParaRPr lang="en-GB" noProof="0">
              <a:latin typeface="Aptos" panose="020B0004020202020204"/>
              <a:ea typeface="Calibri"/>
              <a:cs typeface="Calibri"/>
            </a:endParaRPr>
          </a:p>
          <a:p>
            <a:pPr marL="285750" indent="-285750">
              <a:buFont typeface="Arial"/>
              <a:buChar char="•"/>
            </a:pPr>
            <a:r>
              <a:rPr lang="en-GB" sz="1600" noProof="0">
                <a:latin typeface="Calibri"/>
                <a:ea typeface="Calibri"/>
                <a:cs typeface="Calibri"/>
              </a:rPr>
              <a:t>the manners in which researchers uphold the methodological norms of their academic field</a:t>
            </a:r>
            <a:endParaRPr lang="en-GB" noProof="0"/>
          </a:p>
          <a:p>
            <a:pPr marL="285750" indent="-285750">
              <a:buFont typeface="Arial"/>
              <a:buChar char="•"/>
            </a:pPr>
            <a:r>
              <a:rPr lang="en-GB" sz="1600" noProof="0">
                <a:latin typeface="Calibri"/>
                <a:ea typeface="Calibri"/>
                <a:cs typeface="Calibri"/>
              </a:rPr>
              <a:t>the extent to which these practices are transparent and reproducible</a:t>
            </a:r>
          </a:p>
          <a:p>
            <a:pPr marL="285750" indent="-285750">
              <a:buFont typeface="Arial"/>
              <a:buChar char="•"/>
            </a:pPr>
            <a:r>
              <a:rPr lang="en-GB" sz="1600" noProof="0">
                <a:latin typeface="Calibri"/>
                <a:ea typeface="Calibri"/>
                <a:cs typeface="Calibri"/>
              </a:rPr>
              <a:t>the opportunities and limits of reproducibility and open science</a:t>
            </a:r>
          </a:p>
        </p:txBody>
      </p:sp>
      <p:sp>
        <p:nvSpPr>
          <p:cNvPr id="25" name="TextBox 15">
            <a:extLst>
              <a:ext uri="{FF2B5EF4-FFF2-40B4-BE49-F238E27FC236}">
                <a16:creationId xmlns:a16="http://schemas.microsoft.com/office/drawing/2014/main" id="{3EDC41BF-0AB6-F30F-F9A2-85B86C4348A2}"/>
              </a:ext>
            </a:extLst>
          </p:cNvPr>
          <p:cNvSpPr txBox="1"/>
          <p:nvPr/>
        </p:nvSpPr>
        <p:spPr>
          <a:xfrm>
            <a:off x="4843290" y="1189692"/>
            <a:ext cx="4377545" cy="538609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panose="020F0502020204030204" pitchFamily="34" charset="0"/>
                <a:ea typeface="Calibri" panose="020F0502020204030204" pitchFamily="34" charset="0"/>
                <a:cs typeface="Calibri" panose="020F0502020204030204" pitchFamily="34" charset="0"/>
              </a:rPr>
              <a:t>Transparency about how research was done and what claims are founded on, are crucial elements of sound research in all academic fields—regardless of whether they use the term reproducibility or not. Practicing with repeating existing research in an educational setting means putting this transparency to the test.</a:t>
            </a:r>
            <a:endParaRPr lang="en-GB" noProof="0">
              <a:latin typeface="Calibri" panose="020F0502020204030204" pitchFamily="34" charset="0"/>
              <a:ea typeface="Calibri" panose="020F0502020204030204" pitchFamily="34" charset="0"/>
              <a:cs typeface="Calibri" panose="020F0502020204030204" pitchFamily="34" charset="0"/>
            </a:endParaRPr>
          </a:p>
          <a:p>
            <a:endParaRPr lang="en-GB" sz="800" noProof="0">
              <a:latin typeface="Calibri" panose="020F0502020204030204" pitchFamily="34" charset="0"/>
              <a:ea typeface="Calibri" panose="020F0502020204030204" pitchFamily="34" charset="0"/>
              <a:cs typeface="Calibri" panose="020F0502020204030204" pitchFamily="34" charset="0"/>
            </a:endParaRPr>
          </a:p>
          <a:p>
            <a:r>
              <a:rPr lang="en-GB" sz="1600" noProof="0">
                <a:latin typeface="Calibri" panose="020F0502020204030204" pitchFamily="34" charset="0"/>
                <a:ea typeface="Calibri" panose="020F0502020204030204" pitchFamily="34" charset="0"/>
                <a:cs typeface="Calibri" panose="020F0502020204030204" pitchFamily="34" charset="0"/>
              </a:rPr>
              <a:t>Depart in your teaching activity from "real" research: published, peer reviewed work. Ask students to try and make sense of where results or claims are based on by redoing parts of that research. Depending of the field this can mean things like</a:t>
            </a:r>
            <a:endParaRPr lang="en-GB" noProof="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a:buChar char="•"/>
            </a:pPr>
            <a:r>
              <a:rPr lang="en-GB" sz="1600" noProof="0">
                <a:latin typeface="Calibri" panose="020F0502020204030204" pitchFamily="34" charset="0"/>
                <a:ea typeface="Calibri" panose="020F0502020204030204" pitchFamily="34" charset="0"/>
                <a:cs typeface="Calibri" panose="020F0502020204030204" pitchFamily="34" charset="0"/>
              </a:rPr>
              <a:t>Repeating a statistical analysis</a:t>
            </a:r>
          </a:p>
          <a:p>
            <a:pPr marL="285750" indent="-285750">
              <a:buFont typeface="Arial"/>
              <a:buChar char="•"/>
            </a:pPr>
            <a:r>
              <a:rPr lang="en-GB" sz="1600" noProof="0">
                <a:latin typeface="Calibri" panose="020F0502020204030204" pitchFamily="34" charset="0"/>
                <a:ea typeface="Calibri" panose="020F0502020204030204" pitchFamily="34" charset="0"/>
                <a:cs typeface="Calibri" panose="020F0502020204030204" pitchFamily="34" charset="0"/>
              </a:rPr>
              <a:t>Rebuilding a graph</a:t>
            </a:r>
          </a:p>
          <a:p>
            <a:pPr marL="285750" indent="-285750">
              <a:buFont typeface="Arial"/>
              <a:buChar char="•"/>
            </a:pPr>
            <a:r>
              <a:rPr lang="en-GB" sz="1600" noProof="0">
                <a:latin typeface="Calibri" panose="020F0502020204030204" pitchFamily="34" charset="0"/>
                <a:ea typeface="Calibri" panose="020F0502020204030204" pitchFamily="34" charset="0"/>
                <a:cs typeface="Calibri" panose="020F0502020204030204" pitchFamily="34" charset="0"/>
              </a:rPr>
              <a:t>Dissecting an argument</a:t>
            </a:r>
          </a:p>
          <a:p>
            <a:pPr marL="285750" indent="-285750">
              <a:buFont typeface="Arial"/>
              <a:buChar char="•"/>
            </a:pPr>
            <a:r>
              <a:rPr lang="en-GB" sz="1600" noProof="0">
                <a:latin typeface="Calibri" panose="020F0502020204030204" pitchFamily="34" charset="0"/>
                <a:ea typeface="Calibri" panose="020F0502020204030204" pitchFamily="34" charset="0"/>
                <a:cs typeface="Calibri" panose="020F0502020204030204" pitchFamily="34" charset="0"/>
              </a:rPr>
              <a:t>Retracing claims through referenced sources</a:t>
            </a:r>
          </a:p>
          <a:p>
            <a:endParaRPr lang="en-GB" sz="700" noProof="0">
              <a:latin typeface="Calibri" panose="020F0502020204030204" pitchFamily="34" charset="0"/>
              <a:ea typeface="Calibri" panose="020F0502020204030204" pitchFamily="34" charset="0"/>
              <a:cs typeface="Calibri" panose="020F0502020204030204" pitchFamily="34" charset="0"/>
            </a:endParaRPr>
          </a:p>
          <a:p>
            <a:r>
              <a:rPr lang="en-GB" sz="1600" noProof="0">
                <a:latin typeface="Calibri" panose="020F0502020204030204" pitchFamily="34" charset="0"/>
                <a:ea typeface="Calibri" panose="020F0502020204030204" pitchFamily="34" charset="0"/>
                <a:cs typeface="Calibri" panose="020F0502020204030204" pitchFamily="34" charset="0"/>
              </a:rPr>
              <a:t>This activity is scalable – from one lesson to an entire course – and open to both disciplinary and interdisciplinary settings.</a:t>
            </a:r>
          </a:p>
        </p:txBody>
      </p:sp>
      <p:sp>
        <p:nvSpPr>
          <p:cNvPr id="27" name="TextBox 15">
            <a:extLst>
              <a:ext uri="{FF2B5EF4-FFF2-40B4-BE49-F238E27FC236}">
                <a16:creationId xmlns:a16="http://schemas.microsoft.com/office/drawing/2014/main" id="{86703B0E-FBDD-FE48-94CA-59914F0DC650}"/>
              </a:ext>
            </a:extLst>
          </p:cNvPr>
          <p:cNvSpPr txBox="1"/>
          <p:nvPr/>
        </p:nvSpPr>
        <p:spPr>
          <a:xfrm>
            <a:off x="9921711" y="1198065"/>
            <a:ext cx="1947769"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LEGO® Metadata for Reproducibility game pack</a:t>
            </a:r>
            <a:endParaRPr lang="en-GB" noProof="0"/>
          </a:p>
        </p:txBody>
      </p:sp>
      <p:grpSp>
        <p:nvGrpSpPr>
          <p:cNvPr id="6" name="Groep 5">
            <a:extLst>
              <a:ext uri="{FF2B5EF4-FFF2-40B4-BE49-F238E27FC236}">
                <a16:creationId xmlns:a16="http://schemas.microsoft.com/office/drawing/2014/main" id="{21731F25-DB07-4919-AF0D-6F75387EFB3F}"/>
              </a:ext>
            </a:extLst>
          </p:cNvPr>
          <p:cNvGrpSpPr/>
          <p:nvPr/>
        </p:nvGrpSpPr>
        <p:grpSpPr>
          <a:xfrm>
            <a:off x="11155683" y="108056"/>
            <a:ext cx="814470" cy="370500"/>
            <a:chOff x="11155683" y="108056"/>
            <a:chExt cx="814470" cy="370500"/>
          </a:xfrm>
        </p:grpSpPr>
        <p:pic>
          <p:nvPicPr>
            <p:cNvPr id="16" name="Picture 24">
              <a:extLst>
                <a:ext uri="{FF2B5EF4-FFF2-40B4-BE49-F238E27FC236}">
                  <a16:creationId xmlns:a16="http://schemas.microsoft.com/office/drawing/2014/main" id="{EA13378F-F2AB-0F6B-F5FE-F1345FBF9ECC}"/>
                </a:ext>
              </a:extLst>
            </p:cNvPr>
            <p:cNvPicPr>
              <a:picLocks noChangeAspect="1"/>
            </p:cNvPicPr>
            <p:nvPr/>
          </p:nvPicPr>
          <p:blipFill>
            <a:blip r:embed="rId4"/>
            <a:stretch>
              <a:fillRect/>
            </a:stretch>
          </p:blipFill>
          <p:spPr>
            <a:xfrm>
              <a:off x="11155683" y="108056"/>
              <a:ext cx="399072" cy="370500"/>
            </a:xfrm>
            <a:prstGeom prst="rect">
              <a:avLst/>
            </a:prstGeom>
          </p:spPr>
        </p:pic>
        <p:pic>
          <p:nvPicPr>
            <p:cNvPr id="17" name="Picture 26">
              <a:extLst>
                <a:ext uri="{FF2B5EF4-FFF2-40B4-BE49-F238E27FC236}">
                  <a16:creationId xmlns:a16="http://schemas.microsoft.com/office/drawing/2014/main" id="{5C43D346-D2E8-2CD5-FEC9-13FED5363158}"/>
                </a:ext>
              </a:extLst>
            </p:cNvPr>
            <p:cNvPicPr>
              <a:picLocks noChangeAspect="1"/>
            </p:cNvPicPr>
            <p:nvPr/>
          </p:nvPicPr>
          <p:blipFill>
            <a:blip r:embed="rId4"/>
            <a:stretch>
              <a:fillRect/>
            </a:stretch>
          </p:blipFill>
          <p:spPr>
            <a:xfrm>
              <a:off x="11571081" y="108056"/>
              <a:ext cx="399072" cy="370500"/>
            </a:xfrm>
            <a:prstGeom prst="rect">
              <a:avLst/>
            </a:prstGeom>
          </p:spPr>
        </p:pic>
      </p:grpSp>
      <p:sp>
        <p:nvSpPr>
          <p:cNvPr id="18" name="TextBox 10">
            <a:extLst>
              <a:ext uri="{FF2B5EF4-FFF2-40B4-BE49-F238E27FC236}">
                <a16:creationId xmlns:a16="http://schemas.microsoft.com/office/drawing/2014/main" id="{A37C7FC0-5466-F862-5055-A5340A411576}"/>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1" name="TextBox 17">
            <a:extLst>
              <a:ext uri="{FF2B5EF4-FFF2-40B4-BE49-F238E27FC236}">
                <a16:creationId xmlns:a16="http://schemas.microsoft.com/office/drawing/2014/main" id="{24B85DAB-26D5-3D63-833A-2C8836E51EBD}"/>
              </a:ext>
            </a:extLst>
          </p:cNvPr>
          <p:cNvSpPr txBox="1"/>
          <p:nvPr/>
        </p:nvSpPr>
        <p:spPr>
          <a:xfrm>
            <a:off x="9921711" y="4275590"/>
            <a:ext cx="1995340" cy="5847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panose="020F0502020204030204" pitchFamily="34" charset="0"/>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NL Reproducibility Network</a:t>
            </a:r>
            <a:endParaRPr lang="en-GB" sz="1600" noProof="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95793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AA75E-FDA4-6926-A645-BE8A84CEB181}"/>
            </a:ext>
          </a:extLst>
        </p:cNvPr>
        <p:cNvGrpSpPr/>
        <p:nvPr/>
      </p:nvGrpSpPr>
      <p:grpSpPr>
        <a:xfrm>
          <a:off x="0" y="0"/>
          <a:ext cx="0" cy="0"/>
          <a:chOff x="0" y="0"/>
          <a:chExt cx="0" cy="0"/>
        </a:xfrm>
      </p:grpSpPr>
      <p:sp>
        <p:nvSpPr>
          <p:cNvPr id="10" name="Rechthoek 9">
            <a:extLst>
              <a:ext uri="{FF2B5EF4-FFF2-40B4-BE49-F238E27FC236}">
                <a16:creationId xmlns:a16="http://schemas.microsoft.com/office/drawing/2014/main" id="{138E2134-744B-0578-1CCA-FBB3B70F576C}"/>
              </a:ext>
            </a:extLst>
          </p:cNvPr>
          <p:cNvSpPr/>
          <p:nvPr/>
        </p:nvSpPr>
        <p:spPr>
          <a:xfrm>
            <a:off x="550696" y="2131271"/>
            <a:ext cx="11030206" cy="430562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le 1">
            <a:extLst>
              <a:ext uri="{FF2B5EF4-FFF2-40B4-BE49-F238E27FC236}">
                <a16:creationId xmlns:a16="http://schemas.microsoft.com/office/drawing/2014/main" id="{E8B7DF01-3285-C0A9-7B0C-0306D2D71B0D}"/>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Skills: Let students practice with reproducibility</a:t>
            </a:r>
          </a:p>
        </p:txBody>
      </p:sp>
      <p:pic>
        <p:nvPicPr>
          <p:cNvPr id="22" name="Picture 21">
            <a:extLst>
              <a:ext uri="{FF2B5EF4-FFF2-40B4-BE49-F238E27FC236}">
                <a16:creationId xmlns:a16="http://schemas.microsoft.com/office/drawing/2014/main" id="{99905147-5072-96D2-FF62-177F6C614829}"/>
              </a:ext>
            </a:extLst>
          </p:cNvPr>
          <p:cNvPicPr>
            <a:picLocks noChangeAspect="1"/>
          </p:cNvPicPr>
          <p:nvPr/>
        </p:nvPicPr>
        <p:blipFill>
          <a:blip r:embed="rId2"/>
          <a:stretch>
            <a:fillRect/>
          </a:stretch>
        </p:blipFill>
        <p:spPr>
          <a:xfrm>
            <a:off x="26821" y="30831"/>
            <a:ext cx="523875" cy="523875"/>
          </a:xfrm>
          <a:prstGeom prst="rect">
            <a:avLst/>
          </a:prstGeom>
        </p:spPr>
      </p:pic>
      <p:sp>
        <p:nvSpPr>
          <p:cNvPr id="3" name="Tekstvak 2">
            <a:extLst>
              <a:ext uri="{FF2B5EF4-FFF2-40B4-BE49-F238E27FC236}">
                <a16:creationId xmlns:a16="http://schemas.microsoft.com/office/drawing/2014/main" id="{E019107A-7601-379C-C806-85ED6CF7D00A}"/>
              </a:ext>
            </a:extLst>
          </p:cNvPr>
          <p:cNvSpPr txBox="1"/>
          <p:nvPr/>
        </p:nvSpPr>
        <p:spPr>
          <a:xfrm>
            <a:off x="550696" y="780104"/>
            <a:ext cx="6562694" cy="400110"/>
          </a:xfrm>
          <a:prstGeom prst="rect">
            <a:avLst/>
          </a:prstGeom>
          <a:noFill/>
        </p:spPr>
        <p:txBody>
          <a:bodyPr wrap="non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LEGO® Reproducibility Game (Methodological transparency)</a:t>
            </a:r>
          </a:p>
        </p:txBody>
      </p:sp>
      <p:sp>
        <p:nvSpPr>
          <p:cNvPr id="4" name="Tekstvak 3">
            <a:extLst>
              <a:ext uri="{FF2B5EF4-FFF2-40B4-BE49-F238E27FC236}">
                <a16:creationId xmlns:a16="http://schemas.microsoft.com/office/drawing/2014/main" id="{F1930B15-A872-2AA9-133A-25D26FBEB863}"/>
              </a:ext>
            </a:extLst>
          </p:cNvPr>
          <p:cNvSpPr txBox="1"/>
          <p:nvPr/>
        </p:nvSpPr>
        <p:spPr>
          <a:xfrm>
            <a:off x="611098" y="2203463"/>
            <a:ext cx="3220945" cy="3300904"/>
          </a:xfrm>
          <a:prstGeom prst="rect">
            <a:avLst/>
          </a:prstGeom>
          <a:noFill/>
        </p:spPr>
        <p:txBody>
          <a:bodyPr wrap="square" rtlCol="0">
            <a:spAutoFit/>
          </a:bodyPr>
          <a:lstStyle/>
          <a:p>
            <a:r>
              <a:rPr lang="en-GB" sz="1600" b="1" noProof="0">
                <a:latin typeface="Calibri" panose="020F0502020204030204" pitchFamily="34" charset="0"/>
                <a:ea typeface="Calibri" panose="020F0502020204030204" pitchFamily="34" charset="0"/>
                <a:cs typeface="Calibri" panose="020F0502020204030204" pitchFamily="34" charset="0"/>
              </a:rPr>
              <a:t>Round 1: Building (10-15 min)</a:t>
            </a:r>
          </a:p>
          <a:p>
            <a:endParaRPr lang="en-GB" sz="1000" b="1" noProof="0">
              <a:latin typeface="Calibri" panose="020F0502020204030204" pitchFamily="34" charset="0"/>
              <a:ea typeface="Calibri" panose="020F0502020204030204" pitchFamily="34" charset="0"/>
              <a:cs typeface="Calibri" panose="020F0502020204030204" pitchFamily="34" charset="0"/>
            </a:endParaRPr>
          </a:p>
          <a:p>
            <a:r>
              <a:rPr lang="en-GB" sz="1400" noProof="0">
                <a:latin typeface="Calibri" panose="020F0502020204030204" pitchFamily="34" charset="0"/>
                <a:ea typeface="Calibri" panose="020F0502020204030204" pitchFamily="34" charset="0"/>
                <a:cs typeface="Calibri" panose="020F0502020204030204" pitchFamily="34" charset="0"/>
              </a:rPr>
              <a:t>Students receive a random set of LEGO® pieces and are asked to build something. </a:t>
            </a:r>
          </a:p>
          <a:p>
            <a:endParaRPr lang="en-GB" sz="1400" noProof="0">
              <a:latin typeface="Calibri" panose="020F0502020204030204" pitchFamily="34" charset="0"/>
              <a:ea typeface="Calibri" panose="020F0502020204030204" pitchFamily="34" charset="0"/>
              <a:cs typeface="Calibri" panose="020F0502020204030204" pitchFamily="34" charset="0"/>
            </a:endParaRPr>
          </a:p>
          <a:p>
            <a:r>
              <a:rPr lang="en-GB" sz="1400" noProof="0">
                <a:latin typeface="Calibri" panose="020F0502020204030204" pitchFamily="34" charset="0"/>
                <a:ea typeface="Calibri" panose="020F0502020204030204" pitchFamily="34" charset="0"/>
                <a:cs typeface="Calibri" panose="020F0502020204030204" pitchFamily="34" charset="0"/>
              </a:rPr>
              <a:t>They document the building procedure in any way they like:</a:t>
            </a:r>
          </a:p>
          <a:p>
            <a:pPr marL="285750" indent="-285750">
              <a:buFont typeface="Arial" panose="020B0604020202020204" pitchFamily="34" charset="0"/>
              <a:buChar char="•"/>
            </a:pPr>
            <a:r>
              <a:rPr lang="en-GB" sz="1400" noProof="0">
                <a:latin typeface="Calibri" panose="020F0502020204030204" pitchFamily="34" charset="0"/>
                <a:ea typeface="Calibri" panose="020F0502020204030204" pitchFamily="34" charset="0"/>
                <a:cs typeface="Calibri" panose="020F0502020204030204" pitchFamily="34" charset="0"/>
              </a:rPr>
              <a:t>Written text</a:t>
            </a:r>
          </a:p>
          <a:p>
            <a:pPr marL="285750" indent="-285750">
              <a:buFont typeface="Arial" panose="020B0604020202020204" pitchFamily="34" charset="0"/>
              <a:buChar char="•"/>
            </a:pPr>
            <a:r>
              <a:rPr lang="en-GB" sz="1400" noProof="0">
                <a:latin typeface="Calibri" panose="020F0502020204030204" pitchFamily="34" charset="0"/>
                <a:ea typeface="Calibri" panose="020F0502020204030204" pitchFamily="34" charset="0"/>
                <a:cs typeface="Calibri" panose="020F0502020204030204" pitchFamily="34" charset="0"/>
              </a:rPr>
              <a:t>Images</a:t>
            </a:r>
          </a:p>
          <a:p>
            <a:pPr marL="285750" indent="-285750">
              <a:buFont typeface="Arial" panose="020B0604020202020204" pitchFamily="34" charset="0"/>
              <a:buChar char="•"/>
            </a:pPr>
            <a:r>
              <a:rPr lang="en-GB" sz="1400" noProof="0">
                <a:latin typeface="Calibri" panose="020F0502020204030204" pitchFamily="34" charset="0"/>
                <a:ea typeface="Calibri" panose="020F0502020204030204" pitchFamily="34" charset="0"/>
                <a:cs typeface="Calibri" panose="020F0502020204030204" pitchFamily="34" charset="0"/>
              </a:rPr>
              <a:t>Combinations of both</a:t>
            </a:r>
          </a:p>
          <a:p>
            <a:pPr marL="285750" indent="-285750">
              <a:buFont typeface="Arial" panose="020B0604020202020204" pitchFamily="34" charset="0"/>
              <a:buChar char="•"/>
            </a:pPr>
            <a:r>
              <a:rPr lang="en-GB" sz="1400" noProof="0">
                <a:latin typeface="Calibri" panose="020F0502020204030204" pitchFamily="34" charset="0"/>
                <a:ea typeface="Calibri" panose="020F0502020204030204" pitchFamily="34" charset="0"/>
                <a:cs typeface="Calibri" panose="020F0502020204030204" pitchFamily="34" charset="0"/>
              </a:rPr>
              <a:t>Etc.</a:t>
            </a:r>
          </a:p>
          <a:p>
            <a:pPr marL="285750" indent="-285750">
              <a:buFont typeface="Arial" panose="020B0604020202020204" pitchFamily="34" charset="0"/>
              <a:buChar char="•"/>
            </a:pPr>
            <a:endParaRPr lang="en-GB" sz="1400" noProof="0">
              <a:latin typeface="Calibri" panose="020F0502020204030204" pitchFamily="34" charset="0"/>
              <a:ea typeface="Calibri" panose="020F0502020204030204" pitchFamily="34" charset="0"/>
              <a:cs typeface="Calibri" panose="020F0502020204030204" pitchFamily="34" charset="0"/>
            </a:endParaRPr>
          </a:p>
          <a:p>
            <a:r>
              <a:rPr lang="en-GB" sz="1400" noProof="0">
                <a:latin typeface="Calibri" panose="020F0502020204030204" pitchFamily="34" charset="0"/>
                <a:ea typeface="Calibri" panose="020F0502020204030204" pitchFamily="34" charset="0"/>
                <a:cs typeface="Calibri" panose="020F0502020204030204" pitchFamily="34" charset="0"/>
              </a:rPr>
              <a:t>Groups are </a:t>
            </a:r>
            <a:r>
              <a:rPr lang="en-GB" sz="1400" u="sng" noProof="0">
                <a:latin typeface="Calibri" panose="020F0502020204030204" pitchFamily="34" charset="0"/>
                <a:ea typeface="Calibri" panose="020F0502020204030204" pitchFamily="34" charset="0"/>
                <a:cs typeface="Calibri" panose="020F0502020204030204" pitchFamily="34" charset="0"/>
              </a:rPr>
              <a:t>not</a:t>
            </a:r>
            <a:r>
              <a:rPr lang="en-GB" sz="1400" noProof="0">
                <a:latin typeface="Calibri" panose="020F0502020204030204" pitchFamily="34" charset="0"/>
                <a:ea typeface="Calibri" panose="020F0502020204030204" pitchFamily="34" charset="0"/>
                <a:cs typeface="Calibri" panose="020F0502020204030204" pitchFamily="34" charset="0"/>
              </a:rPr>
              <a:t> allowed to see what the other groups have built. Afterwards, the instructor photographs the constructions.  </a:t>
            </a:r>
          </a:p>
        </p:txBody>
      </p:sp>
      <p:sp>
        <p:nvSpPr>
          <p:cNvPr id="5" name="Tekstvak 4">
            <a:extLst>
              <a:ext uri="{FF2B5EF4-FFF2-40B4-BE49-F238E27FC236}">
                <a16:creationId xmlns:a16="http://schemas.microsoft.com/office/drawing/2014/main" id="{6184FF43-0E66-B76C-295D-877F4223C1DE}"/>
              </a:ext>
            </a:extLst>
          </p:cNvPr>
          <p:cNvSpPr txBox="1"/>
          <p:nvPr/>
        </p:nvSpPr>
        <p:spPr>
          <a:xfrm>
            <a:off x="4234220" y="2203463"/>
            <a:ext cx="3821597" cy="1138773"/>
          </a:xfrm>
          <a:prstGeom prst="rect">
            <a:avLst/>
          </a:prstGeom>
          <a:noFill/>
        </p:spPr>
        <p:txBody>
          <a:bodyPr wrap="square" rtlCol="0">
            <a:spAutoFit/>
          </a:bodyPr>
          <a:lstStyle/>
          <a:p>
            <a:r>
              <a:rPr lang="en-GB" sz="1600" b="1" noProof="0">
                <a:latin typeface="Calibri" panose="020F0502020204030204" pitchFamily="34" charset="0"/>
                <a:ea typeface="Calibri" panose="020F0502020204030204" pitchFamily="34" charset="0"/>
                <a:cs typeface="Calibri" panose="020F0502020204030204" pitchFamily="34" charset="0"/>
              </a:rPr>
              <a:t>Round 2: Reconstruction (10-15 min)</a:t>
            </a:r>
          </a:p>
          <a:p>
            <a:endParaRPr lang="en-GB" sz="1000" noProof="0">
              <a:latin typeface="Calibri" panose="020F0502020204030204" pitchFamily="34" charset="0"/>
              <a:ea typeface="Calibri" panose="020F0502020204030204" pitchFamily="34" charset="0"/>
              <a:cs typeface="Calibri" panose="020F0502020204030204" pitchFamily="34" charset="0"/>
            </a:endParaRPr>
          </a:p>
          <a:p>
            <a:r>
              <a:rPr lang="en-GB" sz="1400" noProof="0">
                <a:latin typeface="Calibri" panose="020F0502020204030204" pitchFamily="34" charset="0"/>
                <a:ea typeface="Calibri" panose="020F0502020204030204" pitchFamily="34" charset="0"/>
                <a:cs typeface="Calibri" panose="020F0502020204030204" pitchFamily="34" charset="0"/>
              </a:rPr>
              <a:t>The groups switch places and try to rebuild each other’s constructions with the instructions they are given, within a fixed amount of time. </a:t>
            </a:r>
          </a:p>
        </p:txBody>
      </p:sp>
      <p:sp>
        <p:nvSpPr>
          <p:cNvPr id="6" name="Tekstvak 5">
            <a:extLst>
              <a:ext uri="{FF2B5EF4-FFF2-40B4-BE49-F238E27FC236}">
                <a16:creationId xmlns:a16="http://schemas.microsoft.com/office/drawing/2014/main" id="{3AA30926-F370-CD8F-DB19-BB3F5B1CF262}"/>
              </a:ext>
            </a:extLst>
          </p:cNvPr>
          <p:cNvSpPr txBox="1"/>
          <p:nvPr/>
        </p:nvSpPr>
        <p:spPr>
          <a:xfrm>
            <a:off x="8457995" y="2203463"/>
            <a:ext cx="3122907" cy="1600438"/>
          </a:xfrm>
          <a:prstGeom prst="rect">
            <a:avLst/>
          </a:prstGeom>
          <a:noFill/>
        </p:spPr>
        <p:txBody>
          <a:bodyPr wrap="square" rtlCol="0">
            <a:spAutoFit/>
          </a:bodyPr>
          <a:lstStyle/>
          <a:p>
            <a:r>
              <a:rPr lang="en-GB" sz="1600" b="1" noProof="0">
                <a:latin typeface="Calibri" panose="020F0502020204030204" pitchFamily="34" charset="0"/>
                <a:ea typeface="Calibri" panose="020F0502020204030204" pitchFamily="34" charset="0"/>
                <a:cs typeface="Calibri" panose="020F0502020204030204" pitchFamily="34" charset="0"/>
              </a:rPr>
              <a:t>Round 3: Discussion</a:t>
            </a:r>
            <a:endParaRPr lang="en-GB" b="1" noProof="0">
              <a:latin typeface="Calibri" panose="020F0502020204030204" pitchFamily="34" charset="0"/>
              <a:ea typeface="Calibri" panose="020F0502020204030204" pitchFamily="34" charset="0"/>
              <a:cs typeface="Calibri" panose="020F0502020204030204" pitchFamily="34" charset="0"/>
            </a:endParaRPr>
          </a:p>
          <a:p>
            <a:endParaRPr lang="en-GB" sz="1000" noProof="0">
              <a:latin typeface="Calibri" panose="020F0502020204030204" pitchFamily="34" charset="0"/>
              <a:ea typeface="Calibri" panose="020F0502020204030204" pitchFamily="34" charset="0"/>
              <a:cs typeface="Calibri" panose="020F0502020204030204" pitchFamily="34" charset="0"/>
            </a:endParaRPr>
          </a:p>
          <a:p>
            <a:r>
              <a:rPr lang="en-GB" sz="1400" noProof="0">
                <a:latin typeface="Calibri" panose="020F0502020204030204" pitchFamily="34" charset="0"/>
                <a:ea typeface="Calibri" panose="020F0502020204030204" pitchFamily="34" charset="0"/>
                <a:cs typeface="Calibri" panose="020F0502020204030204" pitchFamily="34" charset="0"/>
              </a:rPr>
              <a:t>The original and reconstructed models are shown side-by-side and the group compares them. The group discusses the quality of the reproductions in relation to the instructions</a:t>
            </a:r>
            <a:r>
              <a:rPr lang="en-GB" sz="1600" b="1" noProof="0">
                <a:latin typeface="Calibri" panose="020F0502020204030204" pitchFamily="34" charset="0"/>
                <a:ea typeface="Calibri" panose="020F0502020204030204" pitchFamily="34" charset="0"/>
                <a:cs typeface="Calibri" panose="020F0502020204030204" pitchFamily="34" charset="0"/>
              </a:rPr>
              <a:t>.</a:t>
            </a:r>
            <a:endParaRPr lang="en-GB" sz="1400" noProof="0">
              <a:latin typeface="Calibri" panose="020F0502020204030204" pitchFamily="34" charset="0"/>
              <a:ea typeface="Calibri" panose="020F0502020204030204" pitchFamily="34" charset="0"/>
              <a:cs typeface="Calibri" panose="020F0502020204030204" pitchFamily="34" charset="0"/>
            </a:endParaRPr>
          </a:p>
        </p:txBody>
      </p:sp>
      <p:sp>
        <p:nvSpPr>
          <p:cNvPr id="7" name="Tekstvak 6">
            <a:extLst>
              <a:ext uri="{FF2B5EF4-FFF2-40B4-BE49-F238E27FC236}">
                <a16:creationId xmlns:a16="http://schemas.microsoft.com/office/drawing/2014/main" id="{819010C5-7FFF-B76F-5182-4B11286ABB87}"/>
              </a:ext>
            </a:extLst>
          </p:cNvPr>
          <p:cNvSpPr txBox="1"/>
          <p:nvPr/>
        </p:nvSpPr>
        <p:spPr>
          <a:xfrm>
            <a:off x="550696" y="1209254"/>
            <a:ext cx="8959064" cy="830997"/>
          </a:xfrm>
          <a:prstGeom prst="rect">
            <a:avLst/>
          </a:prstGeom>
          <a:noFill/>
        </p:spPr>
        <p:txBody>
          <a:bodyPr wrap="square" rtlCol="0" anchor="t">
            <a:spAutoFit/>
          </a:bodyPr>
          <a:lstStyle/>
          <a:p>
            <a:r>
              <a:rPr lang="en-GB" sz="1600" noProof="0">
                <a:latin typeface="Calibri" panose="020F0502020204030204" pitchFamily="34" charset="0"/>
                <a:ea typeface="Calibri" panose="020F0502020204030204" pitchFamily="34" charset="0"/>
                <a:cs typeface="Calibri" panose="020F0502020204030204" pitchFamily="34" charset="0"/>
              </a:rPr>
              <a:t>Learning goals:</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The importance of methodological transparency</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What does “Methodological transparency” mean, how can it be achieved, and what are its limits?</a:t>
            </a:r>
          </a:p>
        </p:txBody>
      </p:sp>
      <p:sp>
        <p:nvSpPr>
          <p:cNvPr id="12" name="Tekstvak 11">
            <a:extLst>
              <a:ext uri="{FF2B5EF4-FFF2-40B4-BE49-F238E27FC236}">
                <a16:creationId xmlns:a16="http://schemas.microsoft.com/office/drawing/2014/main" id="{AB230FBC-5461-E953-A080-1B4FD8ED7436}"/>
              </a:ext>
            </a:extLst>
          </p:cNvPr>
          <p:cNvSpPr txBox="1"/>
          <p:nvPr/>
        </p:nvSpPr>
        <p:spPr>
          <a:xfrm>
            <a:off x="611098" y="5791247"/>
            <a:ext cx="11030206" cy="573298"/>
          </a:xfrm>
          <a:prstGeom prst="rect">
            <a:avLst/>
          </a:prstGeom>
          <a:noFill/>
        </p:spPr>
        <p:txBody>
          <a:bodyPr wrap="square">
            <a:spAutoFit/>
          </a:bodyPr>
          <a:lstStyle/>
          <a:p>
            <a:pPr>
              <a:lnSpc>
                <a:spcPct val="115000"/>
              </a:lnSpc>
              <a:spcAft>
                <a:spcPts val="800"/>
              </a:spcAft>
              <a:buNone/>
            </a:pPr>
            <a:r>
              <a:rPr lang="en-GB" sz="1400" i="1" kern="100" noProof="0">
                <a:effectLst/>
                <a:latin typeface="Calibri" panose="020F0502020204030204" pitchFamily="34" charset="0"/>
                <a:ea typeface="Calibri" panose="020F0502020204030204" pitchFamily="34" charset="0"/>
                <a:cs typeface="Calibri" panose="020F0502020204030204" pitchFamily="34" charset="0"/>
              </a:rPr>
              <a:t>This exercise takes its </a:t>
            </a:r>
            <a:r>
              <a:rPr lang="en-GB" sz="1400" b="1" i="1" kern="100" noProof="0">
                <a:effectLst/>
                <a:latin typeface="Calibri" panose="020F0502020204030204" pitchFamily="34" charset="0"/>
                <a:ea typeface="Calibri" panose="020F0502020204030204" pitchFamily="34" charset="0"/>
                <a:cs typeface="Calibri" panose="020F0502020204030204" pitchFamily="34" charset="0"/>
              </a:rPr>
              <a:t>inspiration</a:t>
            </a:r>
            <a:r>
              <a:rPr lang="en-GB" sz="1400" i="1" kern="100" noProof="0">
                <a:effectLst/>
                <a:latin typeface="Calibri" panose="020F0502020204030204" pitchFamily="34" charset="0"/>
                <a:ea typeface="Calibri" panose="020F0502020204030204" pitchFamily="34" charset="0"/>
                <a:cs typeface="Calibri" panose="020F0502020204030204" pitchFamily="34" charset="0"/>
              </a:rPr>
              <a:t> from</a:t>
            </a:r>
            <a:br>
              <a:rPr lang="en-GB" sz="1400" i="1" kern="100" noProof="0">
                <a:latin typeface="Calibri" panose="020F0502020204030204" pitchFamily="34" charset="0"/>
                <a:ea typeface="Calibri" panose="020F0502020204030204" pitchFamily="34" charset="0"/>
                <a:cs typeface="Calibri" panose="020F0502020204030204" pitchFamily="34" charset="0"/>
              </a:rPr>
            </a:br>
            <a:r>
              <a:rPr lang="en-GB" sz="1400" i="1" kern="100" noProof="0">
                <a:effectLst/>
                <a:latin typeface="Calibri" panose="020F0502020204030204" pitchFamily="34" charset="0"/>
                <a:ea typeface="Calibri" panose="020F0502020204030204" pitchFamily="34" charset="0"/>
                <a:cs typeface="Calibri" panose="020F0502020204030204" pitchFamily="34" charset="0"/>
              </a:rPr>
              <a:t>Donaldson, M. and Mahon, M. (2019); LEGO® Metadata for Reproducibility. University of Glasgow. DOI: http://dx.doi.org/10.36399/gla.pubs.196477</a:t>
            </a:r>
            <a:endParaRPr lang="en-GB" sz="1600" kern="100" noProof="0">
              <a:effectLst/>
              <a:latin typeface="Calibri" panose="020F0502020204030204" pitchFamily="34" charset="0"/>
              <a:ea typeface="Calibri" panose="020F0502020204030204" pitchFamily="34" charset="0"/>
              <a:cs typeface="Calibri" panose="020F0502020204030204" pitchFamily="34" charset="0"/>
            </a:endParaRPr>
          </a:p>
        </p:txBody>
      </p:sp>
      <p:pic>
        <p:nvPicPr>
          <p:cNvPr id="9" name="Afbeelding 8" descr="Afbeelding met speelgoed&#10;&#10;Door AI gegenereerde inhoud is mogelijk onjuist.">
            <a:extLst>
              <a:ext uri="{FF2B5EF4-FFF2-40B4-BE49-F238E27FC236}">
                <a16:creationId xmlns:a16="http://schemas.microsoft.com/office/drawing/2014/main" id="{B5C4812C-95EA-AAF3-8258-8F43AAE7A0F7}"/>
              </a:ext>
            </a:extLst>
          </p:cNvPr>
          <p:cNvPicPr>
            <a:picLocks noChangeAspect="1"/>
          </p:cNvPicPr>
          <p:nvPr/>
        </p:nvPicPr>
        <p:blipFill>
          <a:blip r:embed="rId3">
            <a:extLst>
              <a:ext uri="{28A0092B-C50C-407E-A947-70E740481C1C}">
                <a14:useLocalDpi xmlns:a14="http://schemas.microsoft.com/office/drawing/2010/main" val="0"/>
              </a:ext>
            </a:extLst>
          </a:blip>
          <a:srcRect l="5894" t="17732" r="37316" b="7968"/>
          <a:stretch>
            <a:fillRect/>
          </a:stretch>
        </p:blipFill>
        <p:spPr>
          <a:xfrm rot="5400000">
            <a:off x="4424128" y="3739268"/>
            <a:ext cx="1546457" cy="1517428"/>
          </a:xfrm>
          <a:prstGeom prst="rect">
            <a:avLst/>
          </a:prstGeom>
        </p:spPr>
      </p:pic>
      <p:pic>
        <p:nvPicPr>
          <p:cNvPr id="13" name="Afbeelding 12" descr="Afbeelding met Speelgoedblok, speelgoed, overdekt&#10;&#10;Door AI gegenereerde inhoud is mogelijk onjuist.">
            <a:extLst>
              <a:ext uri="{FF2B5EF4-FFF2-40B4-BE49-F238E27FC236}">
                <a16:creationId xmlns:a16="http://schemas.microsoft.com/office/drawing/2014/main" id="{4A00D161-C570-5F3E-EAD8-D15C40D17084}"/>
              </a:ext>
            </a:extLst>
          </p:cNvPr>
          <p:cNvPicPr>
            <a:picLocks noChangeAspect="1"/>
          </p:cNvPicPr>
          <p:nvPr/>
        </p:nvPicPr>
        <p:blipFill>
          <a:blip r:embed="rId4">
            <a:extLst>
              <a:ext uri="{28A0092B-C50C-407E-A947-70E740481C1C}">
                <a14:useLocalDpi xmlns:a14="http://schemas.microsoft.com/office/drawing/2010/main" val="0"/>
              </a:ext>
            </a:extLst>
          </a:blip>
          <a:srcRect l="15022" t="14815" r="28187" b="12474"/>
          <a:stretch>
            <a:fillRect/>
          </a:stretch>
        </p:blipFill>
        <p:spPr>
          <a:xfrm rot="5400000">
            <a:off x="6081024" y="3755490"/>
            <a:ext cx="1546455" cy="1484984"/>
          </a:xfrm>
          <a:prstGeom prst="rect">
            <a:avLst/>
          </a:prstGeom>
        </p:spPr>
      </p:pic>
    </p:spTree>
    <p:extLst>
      <p:ext uri="{BB962C8B-B14F-4D97-AF65-F5344CB8AC3E}">
        <p14:creationId xmlns:p14="http://schemas.microsoft.com/office/powerpoint/2010/main" val="3025701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81985-1C60-F3A2-8B1A-106D06872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3B4E37-B2AD-AC9F-0EF3-88D28E3C0124}"/>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8. Skills: Let students work with open data</a:t>
            </a:r>
          </a:p>
        </p:txBody>
      </p:sp>
      <p:sp>
        <p:nvSpPr>
          <p:cNvPr id="4" name="Rectangle: Rounded Corners 3">
            <a:extLst>
              <a:ext uri="{FF2B5EF4-FFF2-40B4-BE49-F238E27FC236}">
                <a16:creationId xmlns:a16="http://schemas.microsoft.com/office/drawing/2014/main" id="{96FAE4DE-DAAF-7816-A08E-A4D70B6DF9F8}"/>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E77C9929-CACD-1B87-AA63-9A876C25110E}"/>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C5FF764B-AAC9-70A0-2A44-6603DBF0FAA1}"/>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A3A14FEA-1666-AC2B-D161-DDB973DB14C0}"/>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1CCC6246-6DD6-D707-FBEC-44FCC23CCA96}"/>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CF8EEAE4-1481-6534-622D-65736C0DC3E1}"/>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Working with open data</a:t>
            </a:r>
          </a:p>
        </p:txBody>
      </p:sp>
      <p:sp>
        <p:nvSpPr>
          <p:cNvPr id="12" name="TextBox 11">
            <a:extLst>
              <a:ext uri="{FF2B5EF4-FFF2-40B4-BE49-F238E27FC236}">
                <a16:creationId xmlns:a16="http://schemas.microsoft.com/office/drawing/2014/main" id="{F5E63DB3-50D5-1B3C-319F-9D2CFA1D010B}"/>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4E5DF41E-3956-7EDD-CACA-48FF09E886D3}"/>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FC258570-F8CE-8395-5E66-E8827AD08B15}"/>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sp>
        <p:nvSpPr>
          <p:cNvPr id="16" name="TextBox 15">
            <a:extLst>
              <a:ext uri="{FF2B5EF4-FFF2-40B4-BE49-F238E27FC236}">
                <a16:creationId xmlns:a16="http://schemas.microsoft.com/office/drawing/2014/main" id="{6B3A3B22-2DF7-EBC0-3241-6890983379AF}"/>
              </a:ext>
            </a:extLst>
          </p:cNvPr>
          <p:cNvSpPr txBox="1"/>
          <p:nvPr/>
        </p:nvSpPr>
        <p:spPr>
          <a:xfrm>
            <a:off x="430389" y="1210958"/>
            <a:ext cx="364066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Within a course, you can let students work with open data (numerical, statistical, but also textual, audio or visual data). Open data has an open license and can be freely accessed, (re)used and shared. Students learn about transparency and reproducibility. Open data can be presented and processed in whatever way you like.</a:t>
            </a:r>
          </a:p>
        </p:txBody>
      </p:sp>
      <p:sp>
        <p:nvSpPr>
          <p:cNvPr id="17" name="TextBox 16">
            <a:extLst>
              <a:ext uri="{FF2B5EF4-FFF2-40B4-BE49-F238E27FC236}">
                <a16:creationId xmlns:a16="http://schemas.microsoft.com/office/drawing/2014/main" id="{948CE10E-C040-848D-68EA-68AC9AD1FD3F}"/>
              </a:ext>
            </a:extLst>
          </p:cNvPr>
          <p:cNvSpPr txBox="1"/>
          <p:nvPr/>
        </p:nvSpPr>
        <p:spPr>
          <a:xfrm>
            <a:off x="404775" y="4220673"/>
            <a:ext cx="364066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noProof="0">
                <a:latin typeface="Calibri"/>
                <a:ea typeface="Calibri"/>
                <a:cs typeface="Calibri"/>
              </a:rPr>
              <a:t>Familiarize students with real research data, open governmental data or open official statistical data</a:t>
            </a:r>
          </a:p>
          <a:p>
            <a:pPr marL="285750" indent="-285750">
              <a:buFont typeface="Arial"/>
              <a:buChar char="•"/>
            </a:pPr>
            <a:r>
              <a:rPr lang="en-GB" sz="1600" noProof="0">
                <a:latin typeface="Calibri"/>
                <a:ea typeface="Calibri"/>
                <a:cs typeface="Calibri"/>
              </a:rPr>
              <a:t>Allow easier sharing of products created during courses</a:t>
            </a:r>
          </a:p>
          <a:p>
            <a:pPr marL="285750" indent="-285750">
              <a:buFont typeface="Arial"/>
              <a:buChar char="•"/>
            </a:pPr>
            <a:r>
              <a:rPr lang="en-GB" sz="1600" noProof="0">
                <a:latin typeface="Calibri"/>
                <a:ea typeface="Calibri"/>
                <a:cs typeface="Calibri"/>
              </a:rPr>
              <a:t>Introduce principles of transparency, reuse and reproducibility</a:t>
            </a:r>
          </a:p>
          <a:p>
            <a:pPr marL="285750" indent="-285750">
              <a:buFont typeface="Arial"/>
              <a:buChar char="•"/>
            </a:pPr>
            <a:r>
              <a:rPr lang="en-GB" sz="1600" noProof="0">
                <a:latin typeface="Calibri"/>
                <a:ea typeface="Calibri"/>
                <a:cs typeface="Calibri"/>
              </a:rPr>
              <a:t>Students learn about the ethical, legal and societal aspects of data sharing</a:t>
            </a:r>
          </a:p>
        </p:txBody>
      </p:sp>
      <p:sp>
        <p:nvSpPr>
          <p:cNvPr id="18" name="TextBox 17">
            <a:extLst>
              <a:ext uri="{FF2B5EF4-FFF2-40B4-BE49-F238E27FC236}">
                <a16:creationId xmlns:a16="http://schemas.microsoft.com/office/drawing/2014/main" id="{AC6099CF-C153-55DA-C5F6-F9E567EE21DD}"/>
              </a:ext>
            </a:extLst>
          </p:cNvPr>
          <p:cNvSpPr txBox="1"/>
          <p:nvPr/>
        </p:nvSpPr>
        <p:spPr>
          <a:xfrm>
            <a:off x="4723574" y="1209594"/>
            <a:ext cx="4632558"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noProof="0">
                <a:latin typeface="Calibri"/>
                <a:ea typeface="Calibri"/>
                <a:cs typeface="Calibri"/>
              </a:rPr>
              <a:t>(1) Open data sources</a:t>
            </a:r>
            <a:endParaRPr lang="en-GB" sz="1600" noProof="0">
              <a:latin typeface="Calibri"/>
              <a:ea typeface="Calibri"/>
              <a:cs typeface="Calibri"/>
            </a:endParaRPr>
          </a:p>
          <a:p>
            <a:r>
              <a:rPr lang="en-GB" sz="1600" noProof="0">
                <a:latin typeface="Calibri"/>
                <a:ea typeface="Calibri"/>
                <a:cs typeface="Calibri"/>
              </a:rPr>
              <a:t>Open datasets can be obtained from public research repositories, government and policy data portals or choose datasets accompanying scientific publications.  </a:t>
            </a:r>
          </a:p>
          <a:p>
            <a:r>
              <a:rPr lang="en-GB" sz="1600" noProof="0">
                <a:latin typeface="Calibri"/>
                <a:ea typeface="Calibri"/>
                <a:cs typeface="Calibri"/>
              </a:rPr>
              <a:t>Always check the license to be sure you know how you can (re)use the data.</a:t>
            </a:r>
          </a:p>
          <a:p>
            <a:endParaRPr lang="en-GB" sz="1600" b="1" noProof="0">
              <a:latin typeface="Calibri"/>
              <a:ea typeface="Calibri"/>
              <a:cs typeface="Calibri"/>
            </a:endParaRPr>
          </a:p>
          <a:p>
            <a:r>
              <a:rPr lang="en-GB" sz="1600" b="1" noProof="0">
                <a:latin typeface="Calibri"/>
                <a:ea typeface="Calibri"/>
                <a:cs typeface="Calibri"/>
              </a:rPr>
              <a:t>(2) Considerations: Data quality and complexity</a:t>
            </a:r>
            <a:endParaRPr lang="en-GB" noProof="0"/>
          </a:p>
          <a:p>
            <a:r>
              <a:rPr lang="en-GB" sz="1600" noProof="0">
                <a:latin typeface="Calibri"/>
                <a:ea typeface="Calibri"/>
                <a:cs typeface="Calibri"/>
              </a:rPr>
              <a:t>The quality, structure and complexity of datasets vary widely. Not all datasets will align with the learning objectives and level of the course. The advantage of open data is that you can reformat, restructure, clean or combine data sets to </a:t>
            </a:r>
            <a:r>
              <a:rPr lang="en-GB" sz="1600">
                <a:latin typeface="Calibri"/>
                <a:ea typeface="Calibri"/>
                <a:cs typeface="Calibri"/>
              </a:rPr>
              <a:t>optimise</a:t>
            </a:r>
            <a:r>
              <a:rPr lang="en-GB" sz="1600" noProof="0">
                <a:latin typeface="Calibri"/>
                <a:ea typeface="Calibri"/>
                <a:cs typeface="Calibri"/>
              </a:rPr>
              <a:t> them for educational use.</a:t>
            </a:r>
          </a:p>
          <a:p>
            <a:endParaRPr lang="en-GB" sz="1600" noProof="0">
              <a:latin typeface="Calibri"/>
              <a:ea typeface="Calibri"/>
              <a:cs typeface="Calibri"/>
            </a:endParaRPr>
          </a:p>
          <a:p>
            <a:r>
              <a:rPr lang="en-GB" sz="1600" b="1" noProof="0">
                <a:latin typeface="Calibri"/>
                <a:ea typeface="Calibri"/>
                <a:cs typeface="Calibri"/>
              </a:rPr>
              <a:t>(3) Discussion points </a:t>
            </a:r>
          </a:p>
          <a:p>
            <a:pPr marL="285750" indent="-285750">
              <a:buFont typeface="Arial"/>
              <a:buChar char="•"/>
            </a:pPr>
            <a:r>
              <a:rPr lang="en-GB" sz="1600" noProof="0">
                <a:latin typeface="Calibri"/>
                <a:ea typeface="Calibri"/>
                <a:cs typeface="Calibri"/>
              </a:rPr>
              <a:t>Open licenses</a:t>
            </a:r>
          </a:p>
          <a:p>
            <a:pPr marL="285750" indent="-285750">
              <a:buFont typeface="Arial"/>
              <a:buChar char="•"/>
            </a:pPr>
            <a:r>
              <a:rPr lang="en-GB" sz="1600" noProof="0">
                <a:latin typeface="Calibri"/>
                <a:ea typeface="Calibri"/>
                <a:cs typeface="Calibri"/>
              </a:rPr>
              <a:t>Potential biases or limitations in the dataset</a:t>
            </a:r>
          </a:p>
          <a:p>
            <a:pPr marL="285750" indent="-285750">
              <a:buFont typeface="Arial"/>
              <a:buChar char="•"/>
            </a:pPr>
            <a:r>
              <a:rPr lang="en-GB" sz="1600" noProof="0">
                <a:latin typeface="Calibri"/>
                <a:ea typeface="Calibri"/>
                <a:cs typeface="Calibri"/>
              </a:rPr>
              <a:t>Data sources and documentation </a:t>
            </a:r>
          </a:p>
        </p:txBody>
      </p:sp>
      <p:sp>
        <p:nvSpPr>
          <p:cNvPr id="20" name="TextBox 19">
            <a:extLst>
              <a:ext uri="{FF2B5EF4-FFF2-40B4-BE49-F238E27FC236}">
                <a16:creationId xmlns:a16="http://schemas.microsoft.com/office/drawing/2014/main" id="{645A7BC5-7426-07D0-80B1-96A7FE34AA79}"/>
              </a:ext>
            </a:extLst>
          </p:cNvPr>
          <p:cNvSpPr txBox="1"/>
          <p:nvPr/>
        </p:nvSpPr>
        <p:spPr>
          <a:xfrm>
            <a:off x="9934068" y="4247969"/>
            <a:ext cx="2028836"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The UU has a </a:t>
            </a:r>
            <a:r>
              <a:rPr lang="en-GB" sz="1600" noProof="0">
                <a:latin typeface="Calibri"/>
                <a:ea typeface="Calibri"/>
                <a:cs typeface="Calibri"/>
                <a:hlinkClick r:id="rId2">
                  <a:extLst>
                    <a:ext uri="{A12FA001-AC4F-418D-AE19-62706E023703}">
                      <ahyp:hlinkClr xmlns:ahyp="http://schemas.microsoft.com/office/drawing/2018/hyperlinkcolor" val="tx"/>
                    </a:ext>
                  </a:extLst>
                </a:hlinkClick>
              </a:rPr>
              <a:t>guide on finding existing data</a:t>
            </a:r>
            <a:r>
              <a:rPr lang="en-GB" sz="1600" noProof="0">
                <a:latin typeface="Calibri"/>
                <a:ea typeface="Calibri"/>
                <a:cs typeface="Calibri"/>
              </a:rPr>
              <a:t>.</a:t>
            </a:r>
          </a:p>
          <a:p>
            <a:endParaRPr lang="en-GB" sz="1600" noProof="0">
              <a:latin typeface="Calibri"/>
              <a:ea typeface="Calibri"/>
              <a:cs typeface="Calibri"/>
            </a:endParaRPr>
          </a:p>
          <a:p>
            <a:r>
              <a:rPr lang="en-GB" sz="1600" noProof="0">
                <a:latin typeface="Calibri"/>
                <a:ea typeface="Calibri"/>
                <a:cs typeface="Calibri"/>
              </a:rPr>
              <a:t>Article: </a:t>
            </a:r>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Pedagogy of teaching with large datasets</a:t>
            </a:r>
          </a:p>
          <a:p>
            <a:endParaRPr lang="en-GB" sz="1600" noProof="0">
              <a:latin typeface="Calibri"/>
              <a:ea typeface="Calibri"/>
              <a:cs typeface="Calibri"/>
            </a:endParaRPr>
          </a:p>
        </p:txBody>
      </p:sp>
      <p:sp>
        <p:nvSpPr>
          <p:cNvPr id="21" name="TextBox 20">
            <a:extLst>
              <a:ext uri="{FF2B5EF4-FFF2-40B4-BE49-F238E27FC236}">
                <a16:creationId xmlns:a16="http://schemas.microsoft.com/office/drawing/2014/main" id="{D6970B18-C243-40DD-F09F-02731BC9126F}"/>
              </a:ext>
            </a:extLst>
          </p:cNvPr>
          <p:cNvSpPr txBox="1"/>
          <p:nvPr/>
        </p:nvSpPr>
        <p:spPr>
          <a:xfrm>
            <a:off x="9944937" y="1245933"/>
            <a:ext cx="202230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Many example datasets in teaching are open data already. </a:t>
            </a:r>
          </a:p>
          <a:p>
            <a:endParaRPr lang="en-GB" sz="1600" noProof="0">
              <a:latin typeface="Calibri"/>
              <a:ea typeface="Calibri"/>
              <a:cs typeface="Calibri"/>
            </a:endParaRPr>
          </a:p>
          <a:p>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Applied Data Science </a:t>
            </a:r>
            <a:r>
              <a:rPr lang="en-GB" sz="1600" noProof="0">
                <a:latin typeface="Calibri"/>
                <a:ea typeface="Calibri"/>
                <a:cs typeface="Calibri"/>
              </a:rPr>
              <a:t>course using open data</a:t>
            </a:r>
          </a:p>
        </p:txBody>
      </p:sp>
      <p:pic>
        <p:nvPicPr>
          <p:cNvPr id="22" name="Picture 21">
            <a:extLst>
              <a:ext uri="{FF2B5EF4-FFF2-40B4-BE49-F238E27FC236}">
                <a16:creationId xmlns:a16="http://schemas.microsoft.com/office/drawing/2014/main" id="{4FC86168-58BE-EFC5-EDE1-5E27DD0B056A}"/>
              </a:ext>
            </a:extLst>
          </p:cNvPr>
          <p:cNvPicPr>
            <a:picLocks noChangeAspect="1"/>
          </p:cNvPicPr>
          <p:nvPr/>
        </p:nvPicPr>
        <p:blipFill>
          <a:blip r:embed="rId5"/>
          <a:stretch>
            <a:fillRect/>
          </a:stretch>
        </p:blipFill>
        <p:spPr>
          <a:xfrm>
            <a:off x="26821" y="30831"/>
            <a:ext cx="523875" cy="523875"/>
          </a:xfrm>
          <a:prstGeom prst="rect">
            <a:avLst/>
          </a:prstGeom>
        </p:spPr>
      </p:pic>
      <p:pic>
        <p:nvPicPr>
          <p:cNvPr id="13" name="Picture 26">
            <a:extLst>
              <a:ext uri="{FF2B5EF4-FFF2-40B4-BE49-F238E27FC236}">
                <a16:creationId xmlns:a16="http://schemas.microsoft.com/office/drawing/2014/main" id="{9E28B49D-5629-4587-3EF1-E1A017655D87}"/>
              </a:ext>
            </a:extLst>
          </p:cNvPr>
          <p:cNvPicPr>
            <a:picLocks noChangeAspect="1"/>
          </p:cNvPicPr>
          <p:nvPr/>
        </p:nvPicPr>
        <p:blipFill>
          <a:blip r:embed="rId6"/>
          <a:stretch>
            <a:fillRect/>
          </a:stretch>
        </p:blipFill>
        <p:spPr>
          <a:xfrm>
            <a:off x="11571081" y="108056"/>
            <a:ext cx="399072" cy="370500"/>
          </a:xfrm>
          <a:prstGeom prst="rect">
            <a:avLst/>
          </a:prstGeom>
        </p:spPr>
      </p:pic>
      <p:sp>
        <p:nvSpPr>
          <p:cNvPr id="19" name="TextBox 10">
            <a:extLst>
              <a:ext uri="{FF2B5EF4-FFF2-40B4-BE49-F238E27FC236}">
                <a16:creationId xmlns:a16="http://schemas.microsoft.com/office/drawing/2014/main" id="{65764FF4-F8C6-0ED0-E960-EA50EB2E6862}"/>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Tree>
    <p:extLst>
      <p:ext uri="{BB962C8B-B14F-4D97-AF65-F5344CB8AC3E}">
        <p14:creationId xmlns:p14="http://schemas.microsoft.com/office/powerpoint/2010/main" val="619619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E3B33-F961-74D6-6DF1-308CBAE24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4F62E-0F92-7E9D-0511-2A56A3E810DB}"/>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Let students work with open data</a:t>
            </a:r>
          </a:p>
        </p:txBody>
      </p:sp>
      <p:pic>
        <p:nvPicPr>
          <p:cNvPr id="22" name="Picture 21">
            <a:extLst>
              <a:ext uri="{FF2B5EF4-FFF2-40B4-BE49-F238E27FC236}">
                <a16:creationId xmlns:a16="http://schemas.microsoft.com/office/drawing/2014/main" id="{9DAC3DED-5DD2-CDE0-46FF-FCE95588D481}"/>
              </a:ext>
            </a:extLst>
          </p:cNvPr>
          <p:cNvPicPr>
            <a:picLocks noChangeAspect="1"/>
          </p:cNvPicPr>
          <p:nvPr/>
        </p:nvPicPr>
        <p:blipFill>
          <a:blip r:embed="rId2"/>
          <a:stretch>
            <a:fillRect/>
          </a:stretch>
        </p:blipFill>
        <p:spPr>
          <a:xfrm>
            <a:off x="26821" y="30831"/>
            <a:ext cx="523875" cy="523875"/>
          </a:xfrm>
          <a:prstGeom prst="rect">
            <a:avLst/>
          </a:prstGeom>
        </p:spPr>
      </p:pic>
      <p:pic>
        <p:nvPicPr>
          <p:cNvPr id="4" name="Picture 3">
            <a:hlinkClick r:id="rId3"/>
            <a:extLst>
              <a:ext uri="{FF2B5EF4-FFF2-40B4-BE49-F238E27FC236}">
                <a16:creationId xmlns:a16="http://schemas.microsoft.com/office/drawing/2014/main" id="{B5B9112F-AB7A-B4D0-0762-2FF7C0042AB5}"/>
              </a:ext>
            </a:extLst>
          </p:cNvPr>
          <p:cNvPicPr>
            <a:picLocks noChangeAspect="1"/>
          </p:cNvPicPr>
          <p:nvPr/>
        </p:nvPicPr>
        <p:blipFill>
          <a:blip r:embed="rId4"/>
          <a:srcRect t="10220"/>
          <a:stretch>
            <a:fillRect/>
          </a:stretch>
        </p:blipFill>
        <p:spPr>
          <a:xfrm>
            <a:off x="407614" y="1314284"/>
            <a:ext cx="8285464" cy="2486915"/>
          </a:xfrm>
          <a:prstGeom prst="rect">
            <a:avLst/>
          </a:prstGeom>
        </p:spPr>
      </p:pic>
      <p:grpSp>
        <p:nvGrpSpPr>
          <p:cNvPr id="3" name="Groep 2">
            <a:extLst>
              <a:ext uri="{FF2B5EF4-FFF2-40B4-BE49-F238E27FC236}">
                <a16:creationId xmlns:a16="http://schemas.microsoft.com/office/drawing/2014/main" id="{A0481727-CDA5-B3CE-46AA-AD52AEA311C1}"/>
              </a:ext>
            </a:extLst>
          </p:cNvPr>
          <p:cNvGrpSpPr>
            <a:grpSpLocks noChangeAspect="1"/>
          </p:cNvGrpSpPr>
          <p:nvPr/>
        </p:nvGrpSpPr>
        <p:grpSpPr>
          <a:xfrm>
            <a:off x="407614" y="3991155"/>
            <a:ext cx="11225586" cy="2178884"/>
            <a:chOff x="407614" y="3934466"/>
            <a:chExt cx="11517646" cy="2235573"/>
          </a:xfrm>
        </p:grpSpPr>
        <p:pic>
          <p:nvPicPr>
            <p:cNvPr id="6" name="Picture 5">
              <a:hlinkClick r:id="rId3"/>
              <a:extLst>
                <a:ext uri="{FF2B5EF4-FFF2-40B4-BE49-F238E27FC236}">
                  <a16:creationId xmlns:a16="http://schemas.microsoft.com/office/drawing/2014/main" id="{9F9D93CD-9443-0D7D-EB33-D269E5C62EA9}"/>
                </a:ext>
              </a:extLst>
            </p:cNvPr>
            <p:cNvPicPr>
              <a:picLocks noChangeAspect="1"/>
            </p:cNvPicPr>
            <p:nvPr/>
          </p:nvPicPr>
          <p:blipFill>
            <a:blip r:embed="rId5"/>
            <a:stretch>
              <a:fillRect/>
            </a:stretch>
          </p:blipFill>
          <p:spPr>
            <a:xfrm>
              <a:off x="407614" y="3934466"/>
              <a:ext cx="11517646" cy="2235573"/>
            </a:xfrm>
            <a:prstGeom prst="rect">
              <a:avLst/>
            </a:prstGeom>
          </p:spPr>
        </p:pic>
        <p:sp>
          <p:nvSpPr>
            <p:cNvPr id="7" name="Rectangle: Rounded Corners 6">
              <a:extLst>
                <a:ext uri="{FF2B5EF4-FFF2-40B4-BE49-F238E27FC236}">
                  <a16:creationId xmlns:a16="http://schemas.microsoft.com/office/drawing/2014/main" id="{016A8FE7-F6CC-25A7-55F4-BBB18F846AE7}"/>
                </a:ext>
              </a:extLst>
            </p:cNvPr>
            <p:cNvSpPr/>
            <p:nvPr/>
          </p:nvSpPr>
          <p:spPr>
            <a:xfrm>
              <a:off x="960782" y="4558747"/>
              <a:ext cx="4459356" cy="31142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 name="Rectangle: Rounded Corners 7">
              <a:extLst>
                <a:ext uri="{FF2B5EF4-FFF2-40B4-BE49-F238E27FC236}">
                  <a16:creationId xmlns:a16="http://schemas.microsoft.com/office/drawing/2014/main" id="{48E5FA2D-1249-885F-17D9-69BB18400A63}"/>
                </a:ext>
              </a:extLst>
            </p:cNvPr>
            <p:cNvSpPr/>
            <p:nvPr/>
          </p:nvSpPr>
          <p:spPr>
            <a:xfrm>
              <a:off x="4617101" y="5058208"/>
              <a:ext cx="6348347" cy="31142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 name="TextBox 8">
            <a:extLst>
              <a:ext uri="{FF2B5EF4-FFF2-40B4-BE49-F238E27FC236}">
                <a16:creationId xmlns:a16="http://schemas.microsoft.com/office/drawing/2014/main" id="{8E4807E0-3FEE-2BD6-0575-7D3FD9E11C15}"/>
              </a:ext>
            </a:extLst>
          </p:cNvPr>
          <p:cNvSpPr txBox="1"/>
          <p:nvPr/>
        </p:nvSpPr>
        <p:spPr>
          <a:xfrm>
            <a:off x="339378" y="6304109"/>
            <a:ext cx="115836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hlinkClick r:id="rId3">
                  <a:extLst>
                    <a:ext uri="{A12FA001-AC4F-418D-AE19-62706E023703}">
                      <ahyp:hlinkClr xmlns:ahyp="http://schemas.microsoft.com/office/drawing/2018/hyperlinkcolor" val="tx"/>
                    </a:ext>
                  </a:extLst>
                </a:hlinkClick>
              </a:rPr>
              <a:t>https://osiris-student.uu.nl/onderwijscatalogus/extern/cursus?cursuscode=INFOMDSPG&amp;taal=en&amp;collegejaar=huidig</a:t>
            </a:r>
            <a:r>
              <a:rPr lang="en-GB" sz="1600" noProof="0"/>
              <a:t> </a:t>
            </a:r>
          </a:p>
        </p:txBody>
      </p:sp>
      <p:sp>
        <p:nvSpPr>
          <p:cNvPr id="5" name="Tekstvak 4">
            <a:extLst>
              <a:ext uri="{FF2B5EF4-FFF2-40B4-BE49-F238E27FC236}">
                <a16:creationId xmlns:a16="http://schemas.microsoft.com/office/drawing/2014/main" id="{0624C97A-C5CF-F28F-17DE-C035AF355EDF}"/>
              </a:ext>
            </a:extLst>
          </p:cNvPr>
          <p:cNvSpPr txBox="1"/>
          <p:nvPr/>
        </p:nvSpPr>
        <p:spPr>
          <a:xfrm>
            <a:off x="550696" y="780104"/>
            <a:ext cx="4899128" cy="400110"/>
          </a:xfrm>
          <a:prstGeom prst="rect">
            <a:avLst/>
          </a:prstGeom>
          <a:noFill/>
        </p:spPr>
        <p:txBody>
          <a:bodyPr wrap="squar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Data science in public governance </a:t>
            </a:r>
          </a:p>
        </p:txBody>
      </p:sp>
    </p:spTree>
    <p:extLst>
      <p:ext uri="{BB962C8B-B14F-4D97-AF65-F5344CB8AC3E}">
        <p14:creationId xmlns:p14="http://schemas.microsoft.com/office/powerpoint/2010/main" val="1955134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E1485-1AC7-D68A-FACF-B6170217A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87AE2-26F4-19BE-7F15-685360988371}"/>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9. Skills: Let students work with open source software</a:t>
            </a:r>
          </a:p>
        </p:txBody>
      </p:sp>
      <p:sp>
        <p:nvSpPr>
          <p:cNvPr id="4" name="Rectangle: Rounded Corners 3">
            <a:extLst>
              <a:ext uri="{FF2B5EF4-FFF2-40B4-BE49-F238E27FC236}">
                <a16:creationId xmlns:a16="http://schemas.microsoft.com/office/drawing/2014/main" id="{C14D8DB8-B95B-FE0F-D50F-EAFAA8DCB67E}"/>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B0F31047-B658-DE15-9AF3-3F4A9E53927E}"/>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1F29FFB3-E4C1-1685-9695-A6F2BF466E07}"/>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654B0CEE-8653-38A7-2E11-4AF038E0CA96}"/>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CC2A65E4-0B43-58C1-5845-C08927EE5C3E}"/>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EF543324-F6BD-C31F-9841-E15688F25445}"/>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Working with open source software</a:t>
            </a:r>
          </a:p>
        </p:txBody>
      </p:sp>
      <p:sp>
        <p:nvSpPr>
          <p:cNvPr id="11" name="TextBox 10">
            <a:extLst>
              <a:ext uri="{FF2B5EF4-FFF2-40B4-BE49-F238E27FC236}">
                <a16:creationId xmlns:a16="http://schemas.microsoft.com/office/drawing/2014/main" id="{E2A567DC-6779-3C4B-4899-BB91D5D94B60}"/>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C4A760F4-51D8-D338-1B61-86DEE2C3EADB}"/>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7A8F45FA-F6C7-7535-9BA0-FD81660B3C19}"/>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7DBB5710-695A-5E70-85FE-1750352DC8CA}"/>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sp>
        <p:nvSpPr>
          <p:cNvPr id="16" name="TextBox 15">
            <a:extLst>
              <a:ext uri="{FF2B5EF4-FFF2-40B4-BE49-F238E27FC236}">
                <a16:creationId xmlns:a16="http://schemas.microsoft.com/office/drawing/2014/main" id="{261F012F-901A-3ED2-6ED3-882D7720181F}"/>
              </a:ext>
            </a:extLst>
          </p:cNvPr>
          <p:cNvSpPr txBox="1"/>
          <p:nvPr/>
        </p:nvSpPr>
        <p:spPr>
          <a:xfrm>
            <a:off x="430389" y="1210958"/>
            <a:ext cx="364066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Open source software is freely accessible and transparent. By using open source software, students can be taught the importance of reproducibility in research and open collaboration. After the course, students can continue using the software without license barriers. </a:t>
            </a:r>
          </a:p>
        </p:txBody>
      </p:sp>
      <p:sp>
        <p:nvSpPr>
          <p:cNvPr id="17" name="TextBox 16">
            <a:extLst>
              <a:ext uri="{FF2B5EF4-FFF2-40B4-BE49-F238E27FC236}">
                <a16:creationId xmlns:a16="http://schemas.microsoft.com/office/drawing/2014/main" id="{B7EB40A4-7B06-EA10-045A-31C709C5A206}"/>
              </a:ext>
            </a:extLst>
          </p:cNvPr>
          <p:cNvSpPr txBox="1"/>
          <p:nvPr/>
        </p:nvSpPr>
        <p:spPr>
          <a:xfrm>
            <a:off x="404775" y="4247969"/>
            <a:ext cx="364066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noProof="0">
                <a:latin typeface="Calibri"/>
                <a:ea typeface="Calibri"/>
                <a:cs typeface="Calibri"/>
              </a:rPr>
              <a:t>Familiarize students with commonly used tools in open and reproducible research</a:t>
            </a:r>
          </a:p>
          <a:p>
            <a:pPr marL="285750" indent="-285750">
              <a:buFont typeface="Arial"/>
              <a:buChar char="•"/>
            </a:pPr>
            <a:r>
              <a:rPr lang="en-GB" sz="1600" noProof="0">
                <a:latin typeface="Calibri"/>
                <a:ea typeface="Calibri"/>
                <a:cs typeface="Calibri"/>
              </a:rPr>
              <a:t>Less dependence on paid or institution-specific software licenses; students can also use the developed skills beyond academia. </a:t>
            </a:r>
          </a:p>
          <a:p>
            <a:pPr marL="285750" indent="-285750">
              <a:buFont typeface="Arial"/>
              <a:buChar char="•"/>
            </a:pPr>
            <a:r>
              <a:rPr lang="en-GB" sz="1600" noProof="0">
                <a:latin typeface="Calibri"/>
                <a:ea typeface="Calibri"/>
                <a:cs typeface="Calibri"/>
              </a:rPr>
              <a:t>Introduce students to open science values </a:t>
            </a:r>
          </a:p>
        </p:txBody>
      </p:sp>
      <p:sp>
        <p:nvSpPr>
          <p:cNvPr id="18" name="TextBox 17">
            <a:extLst>
              <a:ext uri="{FF2B5EF4-FFF2-40B4-BE49-F238E27FC236}">
                <a16:creationId xmlns:a16="http://schemas.microsoft.com/office/drawing/2014/main" id="{5A8DEFBC-E658-F147-EDA3-C02E4128D864}"/>
              </a:ext>
            </a:extLst>
          </p:cNvPr>
          <p:cNvSpPr txBox="1"/>
          <p:nvPr/>
        </p:nvSpPr>
        <p:spPr>
          <a:xfrm>
            <a:off x="4723574" y="1209594"/>
            <a:ext cx="4632558" cy="5047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noProof="0">
                <a:latin typeface="Calibri"/>
                <a:ea typeface="Calibri"/>
                <a:cs typeface="Calibri"/>
              </a:rPr>
              <a:t>(1) Select appropriate open source software</a:t>
            </a:r>
          </a:p>
          <a:p>
            <a:r>
              <a:rPr lang="en-GB" sz="1400" noProof="0">
                <a:latin typeface="Calibri"/>
                <a:ea typeface="Calibri"/>
                <a:cs typeface="Calibri"/>
              </a:rPr>
              <a:t>Choosing the right software can be challenging. It is important to consider that the software:</a:t>
            </a:r>
          </a:p>
          <a:p>
            <a:pPr marL="285750" indent="-285750">
              <a:buFont typeface="Calibri"/>
              <a:buChar char="-"/>
            </a:pPr>
            <a:r>
              <a:rPr lang="en-GB" sz="1400" noProof="0">
                <a:latin typeface="Calibri"/>
                <a:ea typeface="Calibri"/>
                <a:cs typeface="Calibri"/>
              </a:rPr>
              <a:t>Aligns with the course learning objectives</a:t>
            </a:r>
          </a:p>
          <a:p>
            <a:pPr marL="285750" indent="-285750">
              <a:buFont typeface="Calibri"/>
              <a:buChar char="-"/>
            </a:pPr>
            <a:r>
              <a:rPr lang="en-GB" sz="1400" noProof="0">
                <a:latin typeface="Calibri"/>
                <a:ea typeface="Calibri"/>
                <a:cs typeface="Calibri"/>
              </a:rPr>
              <a:t>Is technically reliable: stable or actively maintained</a:t>
            </a:r>
          </a:p>
          <a:p>
            <a:pPr marL="285750" indent="-285750">
              <a:buFont typeface="Calibri"/>
              <a:buChar char="-"/>
            </a:pPr>
            <a:r>
              <a:rPr lang="en-GB" sz="1400" noProof="0">
                <a:latin typeface="Calibri"/>
                <a:ea typeface="Calibri"/>
                <a:cs typeface="Calibri"/>
              </a:rPr>
              <a:t>Is well-documented and has clear tutorials </a:t>
            </a:r>
          </a:p>
          <a:p>
            <a:pPr marL="285750" indent="-285750">
              <a:buFont typeface="Calibri"/>
              <a:buChar char="-"/>
            </a:pPr>
            <a:endParaRPr lang="en-GB" sz="1400" noProof="0">
              <a:latin typeface="Calibri"/>
              <a:ea typeface="Calibri"/>
              <a:cs typeface="Calibri"/>
            </a:endParaRPr>
          </a:p>
          <a:p>
            <a:r>
              <a:rPr lang="en-GB" sz="1400" noProof="0">
                <a:latin typeface="Calibri"/>
                <a:ea typeface="Calibri"/>
                <a:cs typeface="Calibri"/>
              </a:rPr>
              <a:t>Examples of open source software are:</a:t>
            </a:r>
          </a:p>
          <a:p>
            <a:pPr marL="285750" indent="-285750">
              <a:buFont typeface="Calibri"/>
              <a:buChar char="-"/>
            </a:pPr>
            <a:r>
              <a:rPr lang="en-GB" sz="1400" noProof="0">
                <a:latin typeface="Calibri"/>
                <a:ea typeface="Calibri"/>
                <a:cs typeface="Calibri"/>
              </a:rPr>
              <a:t>R, Python, JASP (data analysis)</a:t>
            </a:r>
          </a:p>
          <a:p>
            <a:pPr marL="285750" indent="-285750">
              <a:buFont typeface="Calibri"/>
              <a:buChar char="-"/>
            </a:pPr>
            <a:r>
              <a:rPr lang="en-GB" sz="1400" noProof="0">
                <a:latin typeface="Calibri"/>
                <a:ea typeface="Calibri"/>
                <a:cs typeface="Calibri"/>
              </a:rPr>
              <a:t>Zotero (reference management and sharing resources)</a:t>
            </a:r>
          </a:p>
          <a:p>
            <a:pPr marL="285750" indent="-285750">
              <a:buFont typeface="Calibri"/>
              <a:buChar char="-"/>
            </a:pPr>
            <a:r>
              <a:rPr lang="en-GB" sz="1400" noProof="0">
                <a:latin typeface="Calibri"/>
                <a:ea typeface="Calibri"/>
                <a:cs typeface="Calibri"/>
              </a:rPr>
              <a:t>Git (with GitHub, GitLab or Codeberg; version control)</a:t>
            </a:r>
          </a:p>
          <a:p>
            <a:pPr marL="285750" indent="-285750">
              <a:buFont typeface="Calibri"/>
              <a:buChar char="-"/>
            </a:pPr>
            <a:r>
              <a:rPr lang="en-GB" sz="1400" noProof="0">
                <a:latin typeface="Calibri"/>
                <a:ea typeface="Calibri"/>
                <a:cs typeface="Calibri"/>
              </a:rPr>
              <a:t>ASReview (scanning large numbers abstracts/texts)</a:t>
            </a:r>
          </a:p>
          <a:p>
            <a:pPr marL="285750" indent="-285750">
              <a:buFont typeface="Calibri"/>
              <a:buChar char="-"/>
            </a:pPr>
            <a:r>
              <a:rPr lang="en-GB" sz="1400" noProof="0">
                <a:latin typeface="Calibri"/>
                <a:ea typeface="Calibri"/>
                <a:cs typeface="Calibri"/>
              </a:rPr>
              <a:t>ggplot2, matplotlib (R&amp;Pythonpackages for visualization)</a:t>
            </a:r>
            <a:endParaRPr lang="en-GB" sz="1400" noProof="0"/>
          </a:p>
          <a:p>
            <a:endParaRPr lang="en-GB" sz="1400" b="1" noProof="0">
              <a:latin typeface="Calibri"/>
              <a:ea typeface="Calibri"/>
              <a:cs typeface="Calibri"/>
            </a:endParaRPr>
          </a:p>
          <a:p>
            <a:r>
              <a:rPr lang="en-GB" sz="1400" b="1" noProof="0">
                <a:latin typeface="Calibri"/>
                <a:ea typeface="Calibri"/>
                <a:cs typeface="Calibri"/>
              </a:rPr>
              <a:t>(2) Integrate open source software into the course</a:t>
            </a:r>
          </a:p>
          <a:p>
            <a:r>
              <a:rPr lang="en-GB" sz="1400" noProof="0">
                <a:latin typeface="Calibri"/>
                <a:ea typeface="Calibri"/>
                <a:cs typeface="Calibri"/>
              </a:rPr>
              <a:t>Embed the use of open source software into learning activities, such as data analysis assignments (R or Python) or group work using Git-based collaboration. </a:t>
            </a:r>
          </a:p>
          <a:p>
            <a:endParaRPr lang="en-GB" sz="1400" b="1" noProof="0">
              <a:latin typeface="Calibri"/>
              <a:ea typeface="Calibri"/>
              <a:cs typeface="Calibri"/>
            </a:endParaRPr>
          </a:p>
          <a:p>
            <a:r>
              <a:rPr lang="en-GB" sz="1400" b="1" noProof="0">
                <a:latin typeface="Calibri"/>
                <a:ea typeface="Calibri"/>
                <a:cs typeface="Calibri"/>
              </a:rPr>
              <a:t>(3) Introduce students to the importance of open source software and open science</a:t>
            </a:r>
          </a:p>
          <a:p>
            <a:r>
              <a:rPr lang="en-GB" sz="1400" noProof="0">
                <a:latin typeface="Calibri"/>
                <a:ea typeface="Calibri"/>
                <a:cs typeface="Calibri"/>
              </a:rPr>
              <a:t>Explain why open source software is being used: transparency, reproducibility, accessibility. </a:t>
            </a:r>
          </a:p>
        </p:txBody>
      </p:sp>
      <p:sp>
        <p:nvSpPr>
          <p:cNvPr id="20" name="TextBox 19">
            <a:extLst>
              <a:ext uri="{FF2B5EF4-FFF2-40B4-BE49-F238E27FC236}">
                <a16:creationId xmlns:a16="http://schemas.microsoft.com/office/drawing/2014/main" id="{2E38DE84-0545-6D63-CF2C-85024F9D4438}"/>
              </a:ext>
            </a:extLst>
          </p:cNvPr>
          <p:cNvSpPr txBox="1"/>
          <p:nvPr/>
        </p:nvSpPr>
        <p:spPr>
          <a:xfrm>
            <a:off x="9944937" y="4312920"/>
            <a:ext cx="202230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noProof="0">
                <a:latin typeface="Calibri"/>
                <a:ea typeface="Calibri"/>
                <a:cs typeface="Calibri"/>
              </a:rPr>
              <a:t>UU Knowledge Centre </a:t>
            </a:r>
            <a:r>
              <a:rPr lang="en-GB" sz="1400" noProof="0">
                <a:latin typeface="Calibri"/>
                <a:ea typeface="Calibri"/>
                <a:cs typeface="Calibri"/>
                <a:hlinkClick r:id="rId3">
                  <a:extLst>
                    <a:ext uri="{A12FA001-AC4F-418D-AE19-62706E023703}">
                      <ahyp:hlinkClr xmlns:ahyp="http://schemas.microsoft.com/office/drawing/2018/hyperlinkcolor" val="tx"/>
                    </a:ext>
                  </a:extLst>
                </a:hlinkClick>
              </a:rPr>
              <a:t>FAQ FAIR Data and Software</a:t>
            </a:r>
            <a:endParaRPr lang="en-GB" sz="1400" noProof="0">
              <a:latin typeface="Calibri"/>
              <a:ea typeface="Calibri"/>
              <a:cs typeface="Calibri"/>
            </a:endParaRPr>
          </a:p>
        </p:txBody>
      </p:sp>
      <p:sp>
        <p:nvSpPr>
          <p:cNvPr id="21" name="TextBox 20">
            <a:extLst>
              <a:ext uri="{FF2B5EF4-FFF2-40B4-BE49-F238E27FC236}">
                <a16:creationId xmlns:a16="http://schemas.microsoft.com/office/drawing/2014/main" id="{46AA19AE-AF55-8E4C-9805-0963277AA7CF}"/>
              </a:ext>
            </a:extLst>
          </p:cNvPr>
          <p:cNvSpPr txBox="1"/>
          <p:nvPr/>
        </p:nvSpPr>
        <p:spPr>
          <a:xfrm>
            <a:off x="9944937" y="1245933"/>
            <a:ext cx="2022307"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noProof="0">
                <a:latin typeface="Calibri"/>
                <a:ea typeface="Calibri"/>
                <a:cs typeface="Calibri"/>
              </a:rPr>
              <a:t>Many courses have migrated to open source software, such as the use of JASP instead of SPSS in Methodology &amp; Statistics courses. See e.g. </a:t>
            </a:r>
            <a:r>
              <a:rPr lang="en-GB" sz="1400" noProof="0">
                <a:latin typeface="Calibri"/>
                <a:ea typeface="+mn-lt"/>
                <a:cs typeface="+mn-lt"/>
                <a:hlinkClick r:id="rId4">
                  <a:extLst>
                    <a:ext uri="{A12FA001-AC4F-418D-AE19-62706E023703}">
                      <ahyp:hlinkClr xmlns:ahyp="http://schemas.microsoft.com/office/drawing/2018/hyperlinkcolor" val="tx"/>
                    </a:ext>
                  </a:extLst>
                </a:hlinkClick>
              </a:rPr>
              <a:t>https://www.uu.nl/en/news/jasp-is-very-well-suited-to-the-open-science-era</a:t>
            </a:r>
            <a:endParaRPr lang="en-GB" sz="1400" noProof="0">
              <a:latin typeface="Calibri"/>
              <a:ea typeface="+mn-lt"/>
              <a:cs typeface="+mn-lt"/>
            </a:endParaRPr>
          </a:p>
        </p:txBody>
      </p:sp>
      <p:pic>
        <p:nvPicPr>
          <p:cNvPr id="22" name="Picture 21">
            <a:extLst>
              <a:ext uri="{FF2B5EF4-FFF2-40B4-BE49-F238E27FC236}">
                <a16:creationId xmlns:a16="http://schemas.microsoft.com/office/drawing/2014/main" id="{75694D24-3B09-D67E-7271-9B3C50A16EA3}"/>
              </a:ext>
            </a:extLst>
          </p:cNvPr>
          <p:cNvPicPr>
            <a:picLocks noChangeAspect="1"/>
          </p:cNvPicPr>
          <p:nvPr/>
        </p:nvPicPr>
        <p:blipFill>
          <a:blip r:embed="rId5"/>
          <a:stretch>
            <a:fillRect/>
          </a:stretch>
        </p:blipFill>
        <p:spPr>
          <a:xfrm>
            <a:off x="26821" y="30831"/>
            <a:ext cx="523875" cy="523875"/>
          </a:xfrm>
          <a:prstGeom prst="rect">
            <a:avLst/>
          </a:prstGeom>
        </p:spPr>
      </p:pic>
      <p:grpSp>
        <p:nvGrpSpPr>
          <p:cNvPr id="3" name="Groep 2">
            <a:extLst>
              <a:ext uri="{FF2B5EF4-FFF2-40B4-BE49-F238E27FC236}">
                <a16:creationId xmlns:a16="http://schemas.microsoft.com/office/drawing/2014/main" id="{AD94AA58-51A2-9972-F39D-BF1D26C8D2CB}"/>
              </a:ext>
            </a:extLst>
          </p:cNvPr>
          <p:cNvGrpSpPr/>
          <p:nvPr/>
        </p:nvGrpSpPr>
        <p:grpSpPr>
          <a:xfrm>
            <a:off x="11155683" y="108056"/>
            <a:ext cx="814470" cy="370500"/>
            <a:chOff x="11155683" y="108056"/>
            <a:chExt cx="814470" cy="370500"/>
          </a:xfrm>
        </p:grpSpPr>
        <p:pic>
          <p:nvPicPr>
            <p:cNvPr id="6" name="Picture 24">
              <a:extLst>
                <a:ext uri="{FF2B5EF4-FFF2-40B4-BE49-F238E27FC236}">
                  <a16:creationId xmlns:a16="http://schemas.microsoft.com/office/drawing/2014/main" id="{2ECDE129-4774-F9EF-07D3-B8221CCE176D}"/>
                </a:ext>
              </a:extLst>
            </p:cNvPr>
            <p:cNvPicPr>
              <a:picLocks noChangeAspect="1"/>
            </p:cNvPicPr>
            <p:nvPr/>
          </p:nvPicPr>
          <p:blipFill>
            <a:blip r:embed="rId6"/>
            <a:stretch>
              <a:fillRect/>
            </a:stretch>
          </p:blipFill>
          <p:spPr>
            <a:xfrm>
              <a:off x="11155683" y="108056"/>
              <a:ext cx="399072" cy="370500"/>
            </a:xfrm>
            <a:prstGeom prst="rect">
              <a:avLst/>
            </a:prstGeom>
          </p:spPr>
        </p:pic>
        <p:pic>
          <p:nvPicPr>
            <p:cNvPr id="13" name="Picture 26">
              <a:extLst>
                <a:ext uri="{FF2B5EF4-FFF2-40B4-BE49-F238E27FC236}">
                  <a16:creationId xmlns:a16="http://schemas.microsoft.com/office/drawing/2014/main" id="{3B9F07C7-FABF-7CB4-EC2F-3E1A41AD0AE1}"/>
                </a:ext>
              </a:extLst>
            </p:cNvPr>
            <p:cNvPicPr>
              <a:picLocks noChangeAspect="1"/>
            </p:cNvPicPr>
            <p:nvPr/>
          </p:nvPicPr>
          <p:blipFill>
            <a:blip r:embed="rId6"/>
            <a:stretch>
              <a:fillRect/>
            </a:stretch>
          </p:blipFill>
          <p:spPr>
            <a:xfrm>
              <a:off x="11571081" y="108056"/>
              <a:ext cx="399072" cy="370500"/>
            </a:xfrm>
            <a:prstGeom prst="rect">
              <a:avLst/>
            </a:prstGeom>
          </p:spPr>
        </p:pic>
      </p:grpSp>
    </p:spTree>
    <p:extLst>
      <p:ext uri="{BB962C8B-B14F-4D97-AF65-F5344CB8AC3E}">
        <p14:creationId xmlns:p14="http://schemas.microsoft.com/office/powerpoint/2010/main" val="3926541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DD2E8-0A0E-0476-79D6-0A0C31C75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54A8F-2549-1FFE-7D52-4A0A4CD15D22}"/>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Skills: Let students work with open source software</a:t>
            </a:r>
          </a:p>
        </p:txBody>
      </p:sp>
      <p:pic>
        <p:nvPicPr>
          <p:cNvPr id="22" name="Picture 21">
            <a:extLst>
              <a:ext uri="{FF2B5EF4-FFF2-40B4-BE49-F238E27FC236}">
                <a16:creationId xmlns:a16="http://schemas.microsoft.com/office/drawing/2014/main" id="{FCF372D9-3EB4-2A07-D990-6B86E97C7940}"/>
              </a:ext>
            </a:extLst>
          </p:cNvPr>
          <p:cNvPicPr>
            <a:picLocks noChangeAspect="1"/>
          </p:cNvPicPr>
          <p:nvPr/>
        </p:nvPicPr>
        <p:blipFill>
          <a:blip r:embed="rId3"/>
          <a:stretch>
            <a:fillRect/>
          </a:stretch>
        </p:blipFill>
        <p:spPr>
          <a:xfrm>
            <a:off x="26821" y="30831"/>
            <a:ext cx="523875" cy="523875"/>
          </a:xfrm>
          <a:prstGeom prst="rect">
            <a:avLst/>
          </a:prstGeom>
        </p:spPr>
      </p:pic>
      <p:sp>
        <p:nvSpPr>
          <p:cNvPr id="5" name="Tekstvak 4">
            <a:extLst>
              <a:ext uri="{FF2B5EF4-FFF2-40B4-BE49-F238E27FC236}">
                <a16:creationId xmlns:a16="http://schemas.microsoft.com/office/drawing/2014/main" id="{A56CAA4A-4762-8C21-D0C2-01C69F239FAD}"/>
              </a:ext>
            </a:extLst>
          </p:cNvPr>
          <p:cNvSpPr txBox="1"/>
          <p:nvPr/>
        </p:nvSpPr>
        <p:spPr>
          <a:xfrm>
            <a:off x="550696" y="780104"/>
            <a:ext cx="4899128" cy="707886"/>
          </a:xfrm>
          <a:prstGeom prst="rect">
            <a:avLst/>
          </a:prstGeom>
          <a:noFill/>
        </p:spPr>
        <p:txBody>
          <a:bodyPr wrap="squar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Using Python instead of Stella as programming software </a:t>
            </a:r>
          </a:p>
        </p:txBody>
      </p:sp>
      <p:sp>
        <p:nvSpPr>
          <p:cNvPr id="3" name="Tekstvak 2">
            <a:extLst>
              <a:ext uri="{FF2B5EF4-FFF2-40B4-BE49-F238E27FC236}">
                <a16:creationId xmlns:a16="http://schemas.microsoft.com/office/drawing/2014/main" id="{D1DCD3B9-ED68-9D73-8557-F4BC36C52637}"/>
              </a:ext>
            </a:extLst>
          </p:cNvPr>
          <p:cNvSpPr txBox="1"/>
          <p:nvPr/>
        </p:nvSpPr>
        <p:spPr>
          <a:xfrm>
            <a:off x="515979" y="1691591"/>
            <a:ext cx="7654841" cy="2800767"/>
          </a:xfrm>
          <a:prstGeom prst="rect">
            <a:avLst/>
          </a:prstGeom>
          <a:noFill/>
        </p:spPr>
        <p:txBody>
          <a:bodyPr wrap="square" rtlCol="0" anchor="t">
            <a:spAutoFit/>
          </a:bodyPr>
          <a:lstStyle/>
          <a:p>
            <a:r>
              <a:rPr lang="en-GB" sz="1600" b="1" noProof="0">
                <a:latin typeface="Calibri" panose="020F0502020204030204" pitchFamily="34" charset="0"/>
                <a:ea typeface="Calibri" panose="020F0502020204030204" pitchFamily="34" charset="0"/>
                <a:cs typeface="Calibri" panose="020F0502020204030204" pitchFamily="34" charset="0"/>
              </a:rPr>
              <a:t>Stella</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Proprietary software (‘closed’)</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License costs and limited access </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Limited transparency</a:t>
            </a:r>
          </a:p>
          <a:p>
            <a:pPr marL="285750" indent="-285750">
              <a:buFont typeface="Arial" panose="020B0604020202020204" pitchFamily="34" charset="0"/>
              <a:buChar char="•"/>
            </a:pPr>
            <a:endParaRPr lang="en-GB" sz="1600" noProof="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GB" sz="1600" noProof="0">
              <a:latin typeface="Calibri" panose="020F0502020204030204" pitchFamily="34" charset="0"/>
              <a:ea typeface="Calibri" panose="020F0502020204030204" pitchFamily="34" charset="0"/>
              <a:cs typeface="Calibri" panose="020F0502020204030204" pitchFamily="34" charset="0"/>
            </a:endParaRPr>
          </a:p>
          <a:p>
            <a:r>
              <a:rPr lang="en-GB" sz="1600" b="1" noProof="0">
                <a:latin typeface="Calibri" panose="020F0502020204030204" pitchFamily="34" charset="0"/>
                <a:ea typeface="Calibri" panose="020F0502020204030204" pitchFamily="34" charset="0"/>
                <a:cs typeface="Calibri" panose="020F0502020204030204" pitchFamily="34" charset="0"/>
              </a:rPr>
              <a:t>Python</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Open source and freely available</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Large community and extensive documentation</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Code is fully visible, making the models transparent</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Analyses are reproducible </a:t>
            </a:r>
          </a:p>
        </p:txBody>
      </p:sp>
      <p:pic>
        <p:nvPicPr>
          <p:cNvPr id="6" name="Afbeelding 5" descr="Afbeelding met tekst, schermopname, Lettertype, document&#10;&#10;Door AI gegenereerde inhoud is mogelijk onjuist.">
            <a:hlinkClick r:id="rId4"/>
            <a:extLst>
              <a:ext uri="{FF2B5EF4-FFF2-40B4-BE49-F238E27FC236}">
                <a16:creationId xmlns:a16="http://schemas.microsoft.com/office/drawing/2014/main" id="{623A3A35-745F-413A-9E3E-B76461E77990}"/>
              </a:ext>
            </a:extLst>
          </p:cNvPr>
          <p:cNvPicPr>
            <a:picLocks noChangeAspect="1"/>
          </p:cNvPicPr>
          <p:nvPr/>
        </p:nvPicPr>
        <p:blipFill>
          <a:blip r:embed="rId5"/>
          <a:stretch>
            <a:fillRect/>
          </a:stretch>
        </p:blipFill>
        <p:spPr>
          <a:xfrm>
            <a:off x="5987444" y="1691591"/>
            <a:ext cx="5893660" cy="4032504"/>
          </a:xfrm>
          <a:prstGeom prst="rect">
            <a:avLst/>
          </a:prstGeom>
        </p:spPr>
      </p:pic>
      <p:sp>
        <p:nvSpPr>
          <p:cNvPr id="7" name="Tekstvak 6">
            <a:extLst>
              <a:ext uri="{FF2B5EF4-FFF2-40B4-BE49-F238E27FC236}">
                <a16:creationId xmlns:a16="http://schemas.microsoft.com/office/drawing/2014/main" id="{1D058CE7-4BB3-FD7A-8420-C6149C3E6F07}"/>
              </a:ext>
            </a:extLst>
          </p:cNvPr>
          <p:cNvSpPr txBox="1"/>
          <p:nvPr/>
        </p:nvSpPr>
        <p:spPr>
          <a:xfrm>
            <a:off x="5987444" y="779962"/>
            <a:ext cx="5561428" cy="707886"/>
          </a:xfrm>
          <a:prstGeom prst="rect">
            <a:avLst/>
          </a:prstGeom>
          <a:noFill/>
        </p:spPr>
        <p:txBody>
          <a:bodyPr wrap="squar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JASP instead of SPSS in methodology &amp; statistics courses</a:t>
            </a:r>
          </a:p>
        </p:txBody>
      </p:sp>
      <p:sp>
        <p:nvSpPr>
          <p:cNvPr id="9" name="Tekstvak 8">
            <a:extLst>
              <a:ext uri="{FF2B5EF4-FFF2-40B4-BE49-F238E27FC236}">
                <a16:creationId xmlns:a16="http://schemas.microsoft.com/office/drawing/2014/main" id="{E82499A5-1491-3F9F-E391-470D6B16DB79}"/>
              </a:ext>
            </a:extLst>
          </p:cNvPr>
          <p:cNvSpPr txBox="1"/>
          <p:nvPr/>
        </p:nvSpPr>
        <p:spPr>
          <a:xfrm>
            <a:off x="6096000" y="5773949"/>
            <a:ext cx="6094476" cy="307777"/>
          </a:xfrm>
          <a:prstGeom prst="rect">
            <a:avLst/>
          </a:prstGeom>
          <a:noFill/>
        </p:spPr>
        <p:txBody>
          <a:bodyPr wrap="square">
            <a:spAutoFit/>
          </a:bodyPr>
          <a:lstStyle/>
          <a:p>
            <a:r>
              <a:rPr lang="en-GB" sz="1400" noProof="0">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https://www.uu.nl/en/news/jasp-is-very-well-suited-to-the-open-science-era</a:t>
            </a:r>
            <a:r>
              <a:rPr lang="en-GB" sz="1400" noProof="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089879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315EA-E99B-F34F-C564-81DA651BCB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0A29A-5C61-2FC6-85C3-371B2DF559EF}"/>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10. Include interdisciplinary approaches in your teaching</a:t>
            </a:r>
            <a:endParaRPr lang="en-GB" noProof="0"/>
          </a:p>
        </p:txBody>
      </p:sp>
      <p:sp>
        <p:nvSpPr>
          <p:cNvPr id="4" name="Rectangle: Rounded Corners 3">
            <a:extLst>
              <a:ext uri="{FF2B5EF4-FFF2-40B4-BE49-F238E27FC236}">
                <a16:creationId xmlns:a16="http://schemas.microsoft.com/office/drawing/2014/main" id="{6EB21D1E-094F-996C-598A-CE9CB5F34381}"/>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479E2D07-8FDD-EC61-9B2E-B85CB67AD499}"/>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66EBAB69-D0E1-94AB-CA17-DB79EBF56B3F}"/>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33B31959-E42D-D5CD-C2BB-29CE3E8B0E27}"/>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508211EA-DC42-BC5E-56B1-C30BB0F79243}"/>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9247107E-1932-8084-06E6-5F9037A5CD0D}"/>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from other perspectives</a:t>
            </a:r>
            <a:endParaRPr lang="en-GB" noProof="0"/>
          </a:p>
        </p:txBody>
      </p:sp>
      <p:sp>
        <p:nvSpPr>
          <p:cNvPr id="11" name="TextBox 10">
            <a:extLst>
              <a:ext uri="{FF2B5EF4-FFF2-40B4-BE49-F238E27FC236}">
                <a16:creationId xmlns:a16="http://schemas.microsoft.com/office/drawing/2014/main" id="{91BD63F3-5414-540D-3D02-71A901BE7201}"/>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87325B85-4BD4-8D38-5030-7BBB0619A4A4}"/>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F96A846B-FFE4-A5B8-F4AE-445E5EB7337E}"/>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AEE99C41-1ADE-6E77-1F0F-A78C64BB02B8}"/>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08D5431B-30C9-9BE9-4411-7C4D847B3D3E}"/>
              </a:ext>
            </a:extLst>
          </p:cNvPr>
          <p:cNvPicPr>
            <a:picLocks noChangeAspect="1"/>
          </p:cNvPicPr>
          <p:nvPr/>
        </p:nvPicPr>
        <p:blipFill>
          <a:blip r:embed="rId2"/>
          <a:stretch>
            <a:fillRect/>
          </a:stretch>
        </p:blipFill>
        <p:spPr>
          <a:xfrm>
            <a:off x="26821" y="30831"/>
            <a:ext cx="523875" cy="523875"/>
          </a:xfrm>
          <a:prstGeom prst="rect">
            <a:avLst/>
          </a:prstGeom>
        </p:spPr>
      </p:pic>
      <p:sp>
        <p:nvSpPr>
          <p:cNvPr id="3" name="TextBox 15">
            <a:extLst>
              <a:ext uri="{FF2B5EF4-FFF2-40B4-BE49-F238E27FC236}">
                <a16:creationId xmlns:a16="http://schemas.microsoft.com/office/drawing/2014/main" id="{2A45E43B-45A1-2D57-3DA5-B33AF756656F}"/>
              </a:ext>
            </a:extLst>
          </p:cNvPr>
          <p:cNvSpPr txBox="1"/>
          <p:nvPr/>
        </p:nvSpPr>
        <p:spPr>
          <a:xfrm>
            <a:off x="430389" y="1210958"/>
            <a:ext cx="364066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Interdisciplinary teaching includes integrating perspectives, methods or knowledge from multiple disciplines within a course. This helps students develop a better understanding of complex problems and collaborate across different fields. </a:t>
            </a:r>
          </a:p>
        </p:txBody>
      </p:sp>
      <p:sp>
        <p:nvSpPr>
          <p:cNvPr id="6" name="TextBox 16">
            <a:extLst>
              <a:ext uri="{FF2B5EF4-FFF2-40B4-BE49-F238E27FC236}">
                <a16:creationId xmlns:a16="http://schemas.microsoft.com/office/drawing/2014/main" id="{5ED39DAE-C579-77D2-F041-1EF793BE828A}"/>
              </a:ext>
            </a:extLst>
          </p:cNvPr>
          <p:cNvSpPr txBox="1"/>
          <p:nvPr/>
        </p:nvSpPr>
        <p:spPr>
          <a:xfrm>
            <a:off x="404775" y="4247969"/>
            <a:ext cx="3640666"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Interdisciplinary approaches help students to:</a:t>
            </a:r>
          </a:p>
          <a:p>
            <a:pPr marL="285750" indent="-285750">
              <a:buFont typeface="Arial" panose="020B0604020202020204" pitchFamily="34" charset="0"/>
              <a:buChar char="•"/>
            </a:pPr>
            <a:r>
              <a:rPr lang="en-GB" sz="1600" noProof="0">
                <a:latin typeface="Calibri"/>
                <a:ea typeface="Calibri"/>
                <a:cs typeface="Calibri"/>
              </a:rPr>
              <a:t>Gain insight in multiple perspectives on a topic. </a:t>
            </a:r>
          </a:p>
          <a:p>
            <a:pPr marL="285750" indent="-285750">
              <a:buFont typeface="Arial" panose="020B0604020202020204" pitchFamily="34" charset="0"/>
              <a:buChar char="•"/>
            </a:pPr>
            <a:r>
              <a:rPr lang="en-GB" sz="1600" noProof="0">
                <a:latin typeface="Calibri"/>
                <a:ea typeface="Calibri"/>
                <a:cs typeface="Calibri"/>
              </a:rPr>
              <a:t>Be prepared for complex, real-world problems. </a:t>
            </a:r>
          </a:p>
          <a:p>
            <a:pPr marL="285750" indent="-285750">
              <a:buFont typeface="Arial" panose="020B0604020202020204" pitchFamily="34" charset="0"/>
              <a:buChar char="•"/>
            </a:pPr>
            <a:r>
              <a:rPr lang="en-GB" sz="1600" noProof="0">
                <a:latin typeface="Calibri"/>
                <a:ea typeface="Calibri"/>
                <a:cs typeface="Calibri"/>
              </a:rPr>
              <a:t>Reflect on assumptions and methods in their own field. </a:t>
            </a:r>
          </a:p>
        </p:txBody>
      </p:sp>
      <p:sp>
        <p:nvSpPr>
          <p:cNvPr id="16" name="TextBox 17">
            <a:extLst>
              <a:ext uri="{FF2B5EF4-FFF2-40B4-BE49-F238E27FC236}">
                <a16:creationId xmlns:a16="http://schemas.microsoft.com/office/drawing/2014/main" id="{E442AF25-840F-44A0-A249-BA69F1D47713}"/>
              </a:ext>
            </a:extLst>
          </p:cNvPr>
          <p:cNvSpPr txBox="1"/>
          <p:nvPr/>
        </p:nvSpPr>
        <p:spPr>
          <a:xfrm>
            <a:off x="4739267" y="1200545"/>
            <a:ext cx="4590585"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Important questions to consider when implementing interdisciplinary approaches are: ‘Why do you want to include interdisciplinary elements into your course?’ and ‘How could interdisciplinarity serve the learning goals of your course?’</a:t>
            </a:r>
          </a:p>
          <a:p>
            <a:endParaRPr lang="en-GB" sz="1600" noProof="0">
              <a:latin typeface="Calibri"/>
              <a:ea typeface="Calibri"/>
              <a:cs typeface="Calibri"/>
            </a:endParaRPr>
          </a:p>
          <a:p>
            <a:r>
              <a:rPr lang="en-GB" sz="1600" noProof="0">
                <a:latin typeface="Calibri"/>
                <a:ea typeface="Calibri"/>
                <a:cs typeface="Calibri"/>
              </a:rPr>
              <a:t>The UU created a four-stage model for interdisciplinary learning: </a:t>
            </a:r>
          </a:p>
          <a:p>
            <a:pPr marL="342900" indent="-342900">
              <a:buFont typeface="+mj-lt"/>
              <a:buAutoNum type="arabicPeriod"/>
            </a:pPr>
            <a:r>
              <a:rPr lang="en-GB" sz="1600" noProof="0">
                <a:latin typeface="Calibri"/>
                <a:ea typeface="Calibri"/>
                <a:cs typeface="Calibri"/>
              </a:rPr>
              <a:t>Disciplinary grounding</a:t>
            </a:r>
          </a:p>
          <a:p>
            <a:pPr marL="342900" indent="-342900">
              <a:buFont typeface="+mj-lt"/>
              <a:buAutoNum type="arabicPeriod"/>
            </a:pPr>
            <a:r>
              <a:rPr lang="en-GB" sz="1600" noProof="0">
                <a:latin typeface="Calibri"/>
                <a:ea typeface="Calibri"/>
                <a:cs typeface="Calibri"/>
              </a:rPr>
              <a:t>Perspective taking</a:t>
            </a:r>
          </a:p>
          <a:p>
            <a:pPr marL="342900" indent="-342900">
              <a:buFont typeface="+mj-lt"/>
              <a:buAutoNum type="arabicPeriod"/>
            </a:pPr>
            <a:r>
              <a:rPr lang="en-GB" sz="1600" noProof="0">
                <a:latin typeface="Calibri"/>
                <a:ea typeface="Calibri"/>
                <a:cs typeface="Calibri"/>
              </a:rPr>
              <a:t>Finding common ground</a:t>
            </a:r>
          </a:p>
          <a:p>
            <a:pPr marL="342900" indent="-342900">
              <a:buFont typeface="+mj-lt"/>
              <a:buAutoNum type="arabicPeriod"/>
            </a:pPr>
            <a:r>
              <a:rPr lang="en-GB" sz="1600" noProof="0">
                <a:latin typeface="Calibri"/>
                <a:ea typeface="Calibri"/>
                <a:cs typeface="Calibri"/>
              </a:rPr>
              <a:t>Integrating perspectives</a:t>
            </a:r>
          </a:p>
          <a:p>
            <a:r>
              <a:rPr lang="en-GB" sz="1600" noProof="0">
                <a:latin typeface="Calibri"/>
                <a:ea typeface="Calibri"/>
                <a:cs typeface="Calibri"/>
              </a:rPr>
              <a:t>Depending on the stage your students are in, you can adapt the learning activities suitable for this group. </a:t>
            </a:r>
          </a:p>
          <a:p>
            <a:endParaRPr lang="en-GB" sz="1600" noProof="0">
              <a:latin typeface="Calibri"/>
              <a:ea typeface="Calibri"/>
              <a:cs typeface="Calibri"/>
            </a:endParaRPr>
          </a:p>
          <a:p>
            <a:r>
              <a:rPr lang="en-GB" sz="1600" noProof="0">
                <a:latin typeface="Calibri"/>
                <a:ea typeface="Calibri"/>
                <a:cs typeface="Calibri"/>
              </a:rPr>
              <a:t>Concrete ideas: </a:t>
            </a:r>
          </a:p>
          <a:p>
            <a:pPr marL="285750" indent="-285750">
              <a:buFont typeface="Arial" panose="020B0604020202020204" pitchFamily="34" charset="0"/>
              <a:buChar char="•"/>
            </a:pPr>
            <a:r>
              <a:rPr lang="en-GB" sz="1600" noProof="0">
                <a:latin typeface="Calibri"/>
                <a:ea typeface="Calibri"/>
                <a:cs typeface="Calibri"/>
              </a:rPr>
              <a:t>Guest lectures from different disciplines</a:t>
            </a:r>
          </a:p>
          <a:p>
            <a:pPr marL="285750" indent="-285750">
              <a:buFont typeface="Arial" panose="020B0604020202020204" pitchFamily="34" charset="0"/>
              <a:buChar char="•"/>
            </a:pPr>
            <a:r>
              <a:rPr lang="en-GB" sz="1600" noProof="0">
                <a:latin typeface="Calibri"/>
                <a:ea typeface="Calibri"/>
                <a:cs typeface="Calibri"/>
              </a:rPr>
              <a:t>Working together with students from other disciplines</a:t>
            </a:r>
          </a:p>
          <a:p>
            <a:pPr marL="285750" indent="-285750">
              <a:buFont typeface="Arial" panose="020B0604020202020204" pitchFamily="34" charset="0"/>
              <a:buChar char="•"/>
            </a:pPr>
            <a:r>
              <a:rPr lang="en-GB" sz="1600" noProof="0">
                <a:latin typeface="Calibri"/>
                <a:ea typeface="Calibri"/>
                <a:cs typeface="Calibri"/>
              </a:rPr>
              <a:t>Involve data from another field into a project</a:t>
            </a:r>
          </a:p>
        </p:txBody>
      </p:sp>
      <p:grpSp>
        <p:nvGrpSpPr>
          <p:cNvPr id="13" name="Groep 12">
            <a:extLst>
              <a:ext uri="{FF2B5EF4-FFF2-40B4-BE49-F238E27FC236}">
                <a16:creationId xmlns:a16="http://schemas.microsoft.com/office/drawing/2014/main" id="{CE79C367-7CC2-5B69-3B99-79027A88E9A9}"/>
              </a:ext>
            </a:extLst>
          </p:cNvPr>
          <p:cNvGrpSpPr/>
          <p:nvPr/>
        </p:nvGrpSpPr>
        <p:grpSpPr>
          <a:xfrm>
            <a:off x="11155683" y="108056"/>
            <a:ext cx="814470" cy="370500"/>
            <a:chOff x="11155683" y="108056"/>
            <a:chExt cx="814470" cy="370500"/>
          </a:xfrm>
        </p:grpSpPr>
        <p:pic>
          <p:nvPicPr>
            <p:cNvPr id="17" name="Picture 24">
              <a:extLst>
                <a:ext uri="{FF2B5EF4-FFF2-40B4-BE49-F238E27FC236}">
                  <a16:creationId xmlns:a16="http://schemas.microsoft.com/office/drawing/2014/main" id="{3128226D-129C-1F75-961F-1C3E294204F5}"/>
                </a:ext>
              </a:extLst>
            </p:cNvPr>
            <p:cNvPicPr>
              <a:picLocks noChangeAspect="1"/>
            </p:cNvPicPr>
            <p:nvPr/>
          </p:nvPicPr>
          <p:blipFill>
            <a:blip r:embed="rId3"/>
            <a:stretch>
              <a:fillRect/>
            </a:stretch>
          </p:blipFill>
          <p:spPr>
            <a:xfrm>
              <a:off x="11155683" y="108056"/>
              <a:ext cx="399072" cy="370500"/>
            </a:xfrm>
            <a:prstGeom prst="rect">
              <a:avLst/>
            </a:prstGeom>
          </p:spPr>
        </p:pic>
        <p:pic>
          <p:nvPicPr>
            <p:cNvPr id="18" name="Picture 26">
              <a:extLst>
                <a:ext uri="{FF2B5EF4-FFF2-40B4-BE49-F238E27FC236}">
                  <a16:creationId xmlns:a16="http://schemas.microsoft.com/office/drawing/2014/main" id="{4ACFB29B-3F42-26C4-A33E-DA115FEEF9AE}"/>
                </a:ext>
              </a:extLst>
            </p:cNvPr>
            <p:cNvPicPr>
              <a:picLocks noChangeAspect="1"/>
            </p:cNvPicPr>
            <p:nvPr/>
          </p:nvPicPr>
          <p:blipFill>
            <a:blip r:embed="rId3"/>
            <a:stretch>
              <a:fillRect/>
            </a:stretch>
          </p:blipFill>
          <p:spPr>
            <a:xfrm>
              <a:off x="11571081" y="108056"/>
              <a:ext cx="399072" cy="370500"/>
            </a:xfrm>
            <a:prstGeom prst="rect">
              <a:avLst/>
            </a:prstGeom>
          </p:spPr>
        </p:pic>
      </p:grpSp>
      <p:sp>
        <p:nvSpPr>
          <p:cNvPr id="19" name="TextBox 15">
            <a:extLst>
              <a:ext uri="{FF2B5EF4-FFF2-40B4-BE49-F238E27FC236}">
                <a16:creationId xmlns:a16="http://schemas.microsoft.com/office/drawing/2014/main" id="{F111F3D4-5139-5720-4695-343FF7EA4955}"/>
              </a:ext>
            </a:extLst>
          </p:cNvPr>
          <p:cNvSpPr txBox="1"/>
          <p:nvPr/>
        </p:nvSpPr>
        <p:spPr>
          <a:xfrm>
            <a:off x="9939737" y="1231669"/>
            <a:ext cx="2120203" cy="10772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UU collection Interdisciplinary teaching</a:t>
            </a:r>
            <a:r>
              <a:rPr lang="en-GB" sz="1600" noProof="0">
                <a:latin typeface="Calibri"/>
                <a:ea typeface="Calibri"/>
                <a:cs typeface="Calibri"/>
              </a:rPr>
              <a:t> on </a:t>
            </a:r>
            <a:r>
              <a:rPr lang="en-GB" sz="1600">
                <a:latin typeface="Calibri"/>
                <a:ea typeface="Calibri"/>
                <a:cs typeface="Calibri"/>
              </a:rPr>
              <a:t>Edusources</a:t>
            </a:r>
            <a:endParaRPr lang="en-GB" sz="1600" noProof="0">
              <a:latin typeface="Calibri"/>
              <a:ea typeface="Calibri"/>
              <a:cs typeface="Calibri"/>
            </a:endParaRPr>
          </a:p>
        </p:txBody>
      </p:sp>
      <p:sp>
        <p:nvSpPr>
          <p:cNvPr id="23" name="TextBox 19">
            <a:extLst>
              <a:ext uri="{FF2B5EF4-FFF2-40B4-BE49-F238E27FC236}">
                <a16:creationId xmlns:a16="http://schemas.microsoft.com/office/drawing/2014/main" id="{D7E68FAF-3827-39F1-E6D9-60057C286E8A}"/>
              </a:ext>
            </a:extLst>
          </p:cNvPr>
          <p:cNvSpPr txBox="1"/>
          <p:nvPr/>
        </p:nvSpPr>
        <p:spPr>
          <a:xfrm>
            <a:off x="9934068" y="4247969"/>
            <a:ext cx="202883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UU </a:t>
            </a:r>
            <a:r>
              <a:rPr lang="en-GB" sz="1600" noProof="0">
                <a:latin typeface="Calibri"/>
                <a:ea typeface="Calibri"/>
                <a:cs typeface="Calibri"/>
                <a:hlinkClick r:id="rId5">
                  <a:extLst>
                    <a:ext uri="{A12FA001-AC4F-418D-AE19-62706E023703}">
                      <ahyp:hlinkClr xmlns:ahyp="http://schemas.microsoft.com/office/drawing/2018/hyperlinkcolor" val="tx"/>
                    </a:ext>
                  </a:extLst>
                </a:hlinkClick>
              </a:rPr>
              <a:t>Four-stage model for interdisciplinary learning</a:t>
            </a:r>
            <a:endParaRPr lang="en-GB" sz="1600" noProof="0">
              <a:latin typeface="Calibri"/>
              <a:ea typeface="Calibri"/>
              <a:cs typeface="Calibri"/>
            </a:endParaRPr>
          </a:p>
        </p:txBody>
      </p:sp>
    </p:spTree>
    <p:extLst>
      <p:ext uri="{BB962C8B-B14F-4D97-AF65-F5344CB8AC3E}">
        <p14:creationId xmlns:p14="http://schemas.microsoft.com/office/powerpoint/2010/main" val="830806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FFC3D-1EC6-342E-D17B-85ECE4095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F88B3-FE63-762D-2EE9-88AB4F433C2B}"/>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Include interdisciplinary approaches in your teaching</a:t>
            </a:r>
            <a:endParaRPr lang="en-GB" noProof="0"/>
          </a:p>
        </p:txBody>
      </p:sp>
      <p:pic>
        <p:nvPicPr>
          <p:cNvPr id="22" name="Picture 21">
            <a:extLst>
              <a:ext uri="{FF2B5EF4-FFF2-40B4-BE49-F238E27FC236}">
                <a16:creationId xmlns:a16="http://schemas.microsoft.com/office/drawing/2014/main" id="{2AB0A8EB-9C72-258A-1B5A-7467D5DCA0AD}"/>
              </a:ext>
            </a:extLst>
          </p:cNvPr>
          <p:cNvPicPr>
            <a:picLocks noChangeAspect="1"/>
          </p:cNvPicPr>
          <p:nvPr/>
        </p:nvPicPr>
        <p:blipFill>
          <a:blip r:embed="rId2"/>
          <a:stretch>
            <a:fillRect/>
          </a:stretch>
        </p:blipFill>
        <p:spPr>
          <a:xfrm>
            <a:off x="26821" y="30831"/>
            <a:ext cx="523875" cy="523875"/>
          </a:xfrm>
          <a:prstGeom prst="rect">
            <a:avLst/>
          </a:prstGeom>
        </p:spPr>
      </p:pic>
      <p:pic>
        <p:nvPicPr>
          <p:cNvPr id="4" name="Picture 3">
            <a:extLst>
              <a:ext uri="{FF2B5EF4-FFF2-40B4-BE49-F238E27FC236}">
                <a16:creationId xmlns:a16="http://schemas.microsoft.com/office/drawing/2014/main" id="{72AA40CF-0AF7-83A8-F2A6-F30BFDF8838B}"/>
              </a:ext>
            </a:extLst>
          </p:cNvPr>
          <p:cNvPicPr>
            <a:picLocks noChangeAspect="1"/>
          </p:cNvPicPr>
          <p:nvPr/>
        </p:nvPicPr>
        <p:blipFill>
          <a:blip r:embed="rId3"/>
          <a:stretch>
            <a:fillRect/>
          </a:stretch>
        </p:blipFill>
        <p:spPr>
          <a:xfrm>
            <a:off x="614162" y="1287006"/>
            <a:ext cx="9373118" cy="2982156"/>
          </a:xfrm>
          <a:prstGeom prst="rect">
            <a:avLst/>
          </a:prstGeom>
          <a:ln>
            <a:solidFill>
              <a:schemeClr val="accent1"/>
            </a:solidFill>
          </a:ln>
        </p:spPr>
      </p:pic>
      <p:pic>
        <p:nvPicPr>
          <p:cNvPr id="5" name="Picture 4">
            <a:extLst>
              <a:ext uri="{FF2B5EF4-FFF2-40B4-BE49-F238E27FC236}">
                <a16:creationId xmlns:a16="http://schemas.microsoft.com/office/drawing/2014/main" id="{E14399AF-0902-2B7C-A1A4-19CCA8803FF0}"/>
              </a:ext>
            </a:extLst>
          </p:cNvPr>
          <p:cNvPicPr>
            <a:picLocks noChangeAspect="1"/>
          </p:cNvPicPr>
          <p:nvPr/>
        </p:nvPicPr>
        <p:blipFill>
          <a:blip r:embed="rId4"/>
          <a:srcRect t="3575"/>
          <a:stretch>
            <a:fillRect/>
          </a:stretch>
        </p:blipFill>
        <p:spPr>
          <a:xfrm>
            <a:off x="614162" y="4197096"/>
            <a:ext cx="11296650" cy="2580821"/>
          </a:xfrm>
          <a:prstGeom prst="rect">
            <a:avLst/>
          </a:prstGeom>
          <a:ln>
            <a:solidFill>
              <a:schemeClr val="accent1"/>
            </a:solidFill>
          </a:ln>
        </p:spPr>
      </p:pic>
      <p:sp>
        <p:nvSpPr>
          <p:cNvPr id="7" name="Rectangle: Rounded Corners 6">
            <a:extLst>
              <a:ext uri="{FF2B5EF4-FFF2-40B4-BE49-F238E27FC236}">
                <a16:creationId xmlns:a16="http://schemas.microsoft.com/office/drawing/2014/main" id="{4121AD95-950F-8DB6-7273-A564FB3F9AEB}"/>
              </a:ext>
            </a:extLst>
          </p:cNvPr>
          <p:cNvSpPr/>
          <p:nvPr/>
        </p:nvSpPr>
        <p:spPr>
          <a:xfrm>
            <a:off x="6096278" y="4712428"/>
            <a:ext cx="5080482" cy="31142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 name="Rectangle: Rounded Corners 7">
            <a:extLst>
              <a:ext uri="{FF2B5EF4-FFF2-40B4-BE49-F238E27FC236}">
                <a16:creationId xmlns:a16="http://schemas.microsoft.com/office/drawing/2014/main" id="{64F424D6-48CB-6CB4-8582-BE2EF19CC7DB}"/>
              </a:ext>
            </a:extLst>
          </p:cNvPr>
          <p:cNvSpPr/>
          <p:nvPr/>
        </p:nvSpPr>
        <p:spPr>
          <a:xfrm>
            <a:off x="768680" y="5199083"/>
            <a:ext cx="9050566" cy="31142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 name="Tekstvak 2">
            <a:extLst>
              <a:ext uri="{FF2B5EF4-FFF2-40B4-BE49-F238E27FC236}">
                <a16:creationId xmlns:a16="http://schemas.microsoft.com/office/drawing/2014/main" id="{602B6262-8FF3-6FF5-DD9B-CA618E31721D}"/>
              </a:ext>
            </a:extLst>
          </p:cNvPr>
          <p:cNvSpPr txBox="1"/>
          <p:nvPr/>
        </p:nvSpPr>
        <p:spPr>
          <a:xfrm>
            <a:off x="550696" y="780104"/>
            <a:ext cx="8390104" cy="400110"/>
          </a:xfrm>
          <a:prstGeom prst="rect">
            <a:avLst/>
          </a:prstGeom>
          <a:noFill/>
        </p:spPr>
        <p:txBody>
          <a:bodyPr wrap="squar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Bio-Tech-Med Interdisciplinary Team Training (GSLS Communication profile)</a:t>
            </a:r>
          </a:p>
        </p:txBody>
      </p:sp>
    </p:spTree>
    <p:extLst>
      <p:ext uri="{BB962C8B-B14F-4D97-AF65-F5344CB8AC3E}">
        <p14:creationId xmlns:p14="http://schemas.microsoft.com/office/powerpoint/2010/main" val="1075883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144C-5291-BFEF-EB0C-08EDA95A0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8924F-C254-CF37-B3E5-65FA5E00CEFE}"/>
              </a:ext>
            </a:extLst>
          </p:cNvPr>
          <p:cNvSpPr>
            <a:spLocks noGrp="1"/>
          </p:cNvSpPr>
          <p:nvPr>
            <p:ph type="title"/>
          </p:nvPr>
        </p:nvSpPr>
        <p:spPr>
          <a:xfrm>
            <a:off x="-640" y="133"/>
            <a:ext cx="12193280" cy="576370"/>
          </a:xfrm>
          <a:solidFill>
            <a:srgbClr val="FFCD00"/>
          </a:solidFill>
        </p:spPr>
        <p:txBody>
          <a:bodyPr>
            <a:normAutofit/>
          </a:bodyPr>
          <a:lstStyle/>
          <a:p>
            <a:pPr algn="ctr"/>
            <a:r>
              <a:rPr lang="en-GB" sz="2800" b="1" noProof="0">
                <a:latin typeface="Calibri"/>
                <a:ea typeface="Calibri"/>
                <a:cs typeface="Calibri"/>
              </a:rPr>
              <a:t>11. Engage in teaching for professionals, beyond academia</a:t>
            </a:r>
          </a:p>
        </p:txBody>
      </p:sp>
      <p:sp>
        <p:nvSpPr>
          <p:cNvPr id="4" name="Rectangle: Rounded Corners 3">
            <a:extLst>
              <a:ext uri="{FF2B5EF4-FFF2-40B4-BE49-F238E27FC236}">
                <a16:creationId xmlns:a16="http://schemas.microsoft.com/office/drawing/2014/main" id="{DF43FDB9-CB1D-3FCB-B0E3-237ECBB1E9F8}"/>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endParaRPr lang="en-GB" sz="1600" noProof="0">
              <a:solidFill>
                <a:prstClr val="black"/>
              </a:solidFill>
              <a:latin typeface="Calibri"/>
              <a:ea typeface="Calibri"/>
              <a:cs typeface="Calibri"/>
            </a:endParaRPr>
          </a:p>
        </p:txBody>
      </p:sp>
      <p:sp>
        <p:nvSpPr>
          <p:cNvPr id="5" name="Rectangle: Rounded Corners 4">
            <a:extLst>
              <a:ext uri="{FF2B5EF4-FFF2-40B4-BE49-F238E27FC236}">
                <a16:creationId xmlns:a16="http://schemas.microsoft.com/office/drawing/2014/main" id="{FC70891A-E3C1-F488-B478-4C0119A66852}"/>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39B4D744-B2B8-878F-54E3-D990509911E4}"/>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5E9B0813-55C1-C268-3336-BCF203607A00}"/>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0D26596E-3D31-1FE3-7D88-D85AF59728AA}"/>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6E5F4C3C-F228-B555-C902-B19D54F38C60}"/>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Teaching beyond academia</a:t>
            </a:r>
            <a:endParaRPr lang="en-GB" noProof="0"/>
          </a:p>
        </p:txBody>
      </p:sp>
      <p:sp>
        <p:nvSpPr>
          <p:cNvPr id="11" name="TextBox 10">
            <a:extLst>
              <a:ext uri="{FF2B5EF4-FFF2-40B4-BE49-F238E27FC236}">
                <a16:creationId xmlns:a16="http://schemas.microsoft.com/office/drawing/2014/main" id="{8B2D2A24-BEBB-C679-F4F5-54CBCBCCBC72}"/>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89467B50-3281-8868-4182-0393DDAAEF3E}"/>
              </a:ext>
            </a:extLst>
          </p:cNvPr>
          <p:cNvSpPr txBox="1"/>
          <p:nvPr/>
        </p:nvSpPr>
        <p:spPr>
          <a:xfrm>
            <a:off x="4301320" y="872100"/>
            <a:ext cx="547706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p>
          <a:p>
            <a:pPr algn="ctr"/>
            <a:endParaRPr lang="en-GB" noProof="0"/>
          </a:p>
        </p:txBody>
      </p:sp>
      <p:sp>
        <p:nvSpPr>
          <p:cNvPr id="14" name="TextBox 13">
            <a:extLst>
              <a:ext uri="{FF2B5EF4-FFF2-40B4-BE49-F238E27FC236}">
                <a16:creationId xmlns:a16="http://schemas.microsoft.com/office/drawing/2014/main" id="{C84029C7-E6D9-48D5-416F-B7F858A2A6B1}"/>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89EE095B-29B3-36B5-455B-1DCD0E9AA0B0}"/>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E6A092D7-EA95-677A-E683-30CE14F228A9}"/>
              </a:ext>
            </a:extLst>
          </p:cNvPr>
          <p:cNvPicPr>
            <a:picLocks noChangeAspect="1"/>
          </p:cNvPicPr>
          <p:nvPr/>
        </p:nvPicPr>
        <p:blipFill>
          <a:blip r:embed="rId2"/>
          <a:stretch>
            <a:fillRect/>
          </a:stretch>
        </p:blipFill>
        <p:spPr>
          <a:xfrm>
            <a:off x="26821" y="30831"/>
            <a:ext cx="523875" cy="523875"/>
          </a:xfrm>
          <a:prstGeom prst="rect">
            <a:avLst/>
          </a:prstGeom>
        </p:spPr>
      </p:pic>
      <p:sp>
        <p:nvSpPr>
          <p:cNvPr id="17" name="TextBox 15">
            <a:extLst>
              <a:ext uri="{FF2B5EF4-FFF2-40B4-BE49-F238E27FC236}">
                <a16:creationId xmlns:a16="http://schemas.microsoft.com/office/drawing/2014/main" id="{9AC5BF4E-9991-8C9E-C72B-F8AFE2235E72}"/>
              </a:ext>
            </a:extLst>
          </p:cNvPr>
          <p:cNvSpPr txBox="1"/>
          <p:nvPr/>
        </p:nvSpPr>
        <p:spPr>
          <a:xfrm>
            <a:off x="430389" y="1210958"/>
            <a:ext cx="3640666"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600" noProof="0">
              <a:latin typeface="Calibri"/>
              <a:ea typeface="Calibri"/>
              <a:cs typeface="Calibri"/>
            </a:endParaRPr>
          </a:p>
        </p:txBody>
      </p:sp>
      <p:sp>
        <p:nvSpPr>
          <p:cNvPr id="23" name="TextBox 15">
            <a:extLst>
              <a:ext uri="{FF2B5EF4-FFF2-40B4-BE49-F238E27FC236}">
                <a16:creationId xmlns:a16="http://schemas.microsoft.com/office/drawing/2014/main" id="{6E00D22D-9C8E-2351-E7D5-7EB9B04538AE}"/>
              </a:ext>
            </a:extLst>
          </p:cNvPr>
          <p:cNvSpPr txBox="1"/>
          <p:nvPr/>
        </p:nvSpPr>
        <p:spPr>
          <a:xfrm>
            <a:off x="430389" y="1170014"/>
            <a:ext cx="3640666"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cs typeface="Calibri"/>
              </a:rPr>
              <a:t>Open education can mean opening up our education to different audiences than students. For example:</a:t>
            </a:r>
          </a:p>
          <a:p>
            <a:pPr marL="285750" indent="-285750">
              <a:buFontTx/>
              <a:buChar char="-"/>
            </a:pPr>
            <a:r>
              <a:rPr lang="en-GB" sz="1600" noProof="0">
                <a:latin typeface="Calibri"/>
                <a:cs typeface="Calibri"/>
              </a:rPr>
              <a:t>Post-graduate education, such as Summer Schools</a:t>
            </a:r>
          </a:p>
          <a:p>
            <a:pPr marL="285750" indent="-285750">
              <a:buFontTx/>
              <a:buChar char="-"/>
            </a:pPr>
            <a:r>
              <a:rPr lang="en-GB" sz="1600" noProof="0">
                <a:solidFill>
                  <a:prstClr val="black"/>
                </a:solidFill>
                <a:latin typeface="Calibri"/>
                <a:ea typeface="Calibri"/>
                <a:cs typeface="Calibri"/>
              </a:rPr>
              <a:t>Continuing Education</a:t>
            </a:r>
            <a:r>
              <a:rPr lang="en-GB" sz="1600" noProof="0">
                <a:latin typeface="Calibri"/>
                <a:cs typeface="Calibri"/>
              </a:rPr>
              <a:t>, such as courses with rolling enrolment (‘Open program’) or in-company training.</a:t>
            </a:r>
          </a:p>
          <a:p>
            <a:pPr marL="285750" indent="-285750">
              <a:buFontTx/>
              <a:buChar char="-"/>
            </a:pPr>
            <a:r>
              <a:rPr lang="en-GB" sz="1600" noProof="0">
                <a:latin typeface="Calibri"/>
                <a:cs typeface="Calibri"/>
              </a:rPr>
              <a:t>Consultancy</a:t>
            </a:r>
          </a:p>
        </p:txBody>
      </p:sp>
      <p:sp>
        <p:nvSpPr>
          <p:cNvPr id="24" name="TextBox 15">
            <a:extLst>
              <a:ext uri="{FF2B5EF4-FFF2-40B4-BE49-F238E27FC236}">
                <a16:creationId xmlns:a16="http://schemas.microsoft.com/office/drawing/2014/main" id="{39A6D7E0-8553-AC1F-6B91-C08AC7FD2E3D}"/>
              </a:ext>
            </a:extLst>
          </p:cNvPr>
          <p:cNvSpPr txBox="1"/>
          <p:nvPr/>
        </p:nvSpPr>
        <p:spPr>
          <a:xfrm>
            <a:off x="430388" y="4265156"/>
            <a:ext cx="3640666"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cs typeface="Calibri"/>
              </a:rPr>
              <a:t>Engage with ‘unusual’ audiences, develop network and collaborations with professional audiences, reflect on use of educational content for daily practice.</a:t>
            </a:r>
          </a:p>
          <a:p>
            <a:endParaRPr lang="en-GB" sz="1600" noProof="0">
              <a:latin typeface="Calibri"/>
              <a:cs typeface="Calibri"/>
            </a:endParaRPr>
          </a:p>
          <a:p>
            <a:r>
              <a:rPr lang="en-GB" sz="1600" noProof="0">
                <a:latin typeface="Calibri"/>
                <a:cs typeface="Calibri"/>
              </a:rPr>
              <a:t>Offer alumni and other interested professionals the chance to update their knowledge and skills, in line with ‘life long learning’.</a:t>
            </a:r>
          </a:p>
        </p:txBody>
      </p:sp>
      <p:sp>
        <p:nvSpPr>
          <p:cNvPr id="27" name="TextBox 15">
            <a:extLst>
              <a:ext uri="{FF2B5EF4-FFF2-40B4-BE49-F238E27FC236}">
                <a16:creationId xmlns:a16="http://schemas.microsoft.com/office/drawing/2014/main" id="{F826EB53-8902-D064-D446-5DDDB00E1D04}"/>
              </a:ext>
            </a:extLst>
          </p:cNvPr>
          <p:cNvSpPr txBox="1"/>
          <p:nvPr/>
        </p:nvSpPr>
        <p:spPr>
          <a:xfrm>
            <a:off x="9892545" y="1170014"/>
            <a:ext cx="2167395" cy="206210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Training for Rijkstrainees in Data Science (see e.g., </a:t>
            </a:r>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https://mlarpis.github.io/reprodev/</a:t>
            </a:r>
            <a:r>
              <a:rPr lang="en-GB" sz="1600" noProof="0">
                <a:latin typeface="Calibri"/>
                <a:ea typeface="Calibri"/>
                <a:cs typeface="Calibri"/>
              </a:rPr>
              <a:t>).</a:t>
            </a:r>
          </a:p>
          <a:p>
            <a:endParaRPr lang="en-GB" sz="1600" noProof="0">
              <a:latin typeface="Calibri"/>
              <a:ea typeface="Calibri"/>
              <a:cs typeface="Calibri"/>
            </a:endParaRPr>
          </a:p>
          <a:p>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Consultancy on governance (UU)</a:t>
            </a:r>
            <a:endParaRPr lang="en-GB" noProof="0">
              <a:latin typeface="Calibri"/>
              <a:ea typeface="Calibri"/>
              <a:cs typeface="Calibri"/>
            </a:endParaRPr>
          </a:p>
        </p:txBody>
      </p:sp>
      <p:sp>
        <p:nvSpPr>
          <p:cNvPr id="28" name="TextBox 15">
            <a:extLst>
              <a:ext uri="{FF2B5EF4-FFF2-40B4-BE49-F238E27FC236}">
                <a16:creationId xmlns:a16="http://schemas.microsoft.com/office/drawing/2014/main" id="{3A8E32FC-F420-148B-3DE3-CF01E93F2D7C}"/>
              </a:ext>
            </a:extLst>
          </p:cNvPr>
          <p:cNvSpPr txBox="1"/>
          <p:nvPr/>
        </p:nvSpPr>
        <p:spPr>
          <a:xfrm>
            <a:off x="9939737" y="4292451"/>
            <a:ext cx="1835053"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hlinkClick r:id="rId5">
                  <a:extLst>
                    <a:ext uri="{A12FA001-AC4F-418D-AE19-62706E023703}">
                      <ahyp:hlinkClr xmlns:ahyp="http://schemas.microsoft.com/office/drawing/2018/hyperlinkcolor" val="tx"/>
                    </a:ext>
                  </a:extLst>
                </a:hlinkClick>
              </a:rPr>
              <a:t>Education for Professionals Toolkit (UU)</a:t>
            </a:r>
            <a:endParaRPr lang="en-GB" sz="1600" noProof="0">
              <a:latin typeface="Calibri"/>
              <a:ea typeface="Calibri"/>
              <a:cs typeface="Calibri"/>
            </a:endParaRPr>
          </a:p>
        </p:txBody>
      </p:sp>
      <p:grpSp>
        <p:nvGrpSpPr>
          <p:cNvPr id="3" name="Groep 2">
            <a:extLst>
              <a:ext uri="{FF2B5EF4-FFF2-40B4-BE49-F238E27FC236}">
                <a16:creationId xmlns:a16="http://schemas.microsoft.com/office/drawing/2014/main" id="{B83673A3-350A-1565-D136-17C53DBF664D}"/>
              </a:ext>
            </a:extLst>
          </p:cNvPr>
          <p:cNvGrpSpPr>
            <a:grpSpLocks noChangeAspect="1"/>
          </p:cNvGrpSpPr>
          <p:nvPr/>
        </p:nvGrpSpPr>
        <p:grpSpPr>
          <a:xfrm>
            <a:off x="10729120" y="108056"/>
            <a:ext cx="1241039" cy="370500"/>
            <a:chOff x="3369251" y="2755098"/>
            <a:chExt cx="635773" cy="189804"/>
          </a:xfrm>
        </p:grpSpPr>
        <p:pic>
          <p:nvPicPr>
            <p:cNvPr id="6" name="Picture 24">
              <a:extLst>
                <a:ext uri="{FF2B5EF4-FFF2-40B4-BE49-F238E27FC236}">
                  <a16:creationId xmlns:a16="http://schemas.microsoft.com/office/drawing/2014/main" id="{2C4E474D-3F6E-1A5E-9DA8-E4C921E574BB}"/>
                </a:ext>
              </a:extLst>
            </p:cNvPr>
            <p:cNvPicPr>
              <a:picLocks noChangeAspect="1"/>
            </p:cNvPicPr>
            <p:nvPr/>
          </p:nvPicPr>
          <p:blipFill>
            <a:blip r:embed="rId6"/>
            <a:stretch>
              <a:fillRect/>
            </a:stretch>
          </p:blipFill>
          <p:spPr>
            <a:xfrm>
              <a:off x="3587778" y="2755098"/>
              <a:ext cx="204441" cy="189804"/>
            </a:xfrm>
            <a:prstGeom prst="rect">
              <a:avLst/>
            </a:prstGeom>
          </p:spPr>
        </p:pic>
        <p:pic>
          <p:nvPicPr>
            <p:cNvPr id="13" name="Picture 26">
              <a:extLst>
                <a:ext uri="{FF2B5EF4-FFF2-40B4-BE49-F238E27FC236}">
                  <a16:creationId xmlns:a16="http://schemas.microsoft.com/office/drawing/2014/main" id="{9DFD383A-0B74-08DB-032F-73EA2B758ADE}"/>
                </a:ext>
              </a:extLst>
            </p:cNvPr>
            <p:cNvPicPr>
              <a:picLocks noChangeAspect="1"/>
            </p:cNvPicPr>
            <p:nvPr/>
          </p:nvPicPr>
          <p:blipFill>
            <a:blip r:embed="rId6"/>
            <a:stretch>
              <a:fillRect/>
            </a:stretch>
          </p:blipFill>
          <p:spPr>
            <a:xfrm>
              <a:off x="3800583" y="2755098"/>
              <a:ext cx="204441" cy="189804"/>
            </a:xfrm>
            <a:prstGeom prst="rect">
              <a:avLst/>
            </a:prstGeom>
          </p:spPr>
        </p:pic>
        <p:pic>
          <p:nvPicPr>
            <p:cNvPr id="18" name="Picture 79">
              <a:extLst>
                <a:ext uri="{FF2B5EF4-FFF2-40B4-BE49-F238E27FC236}">
                  <a16:creationId xmlns:a16="http://schemas.microsoft.com/office/drawing/2014/main" id="{5F7C2DC8-8F54-6005-C75A-8A69401E4FEA}"/>
                </a:ext>
              </a:extLst>
            </p:cNvPr>
            <p:cNvPicPr>
              <a:picLocks noChangeAspect="1"/>
            </p:cNvPicPr>
            <p:nvPr/>
          </p:nvPicPr>
          <p:blipFill>
            <a:blip r:embed="rId6"/>
            <a:stretch>
              <a:fillRect/>
            </a:stretch>
          </p:blipFill>
          <p:spPr>
            <a:xfrm>
              <a:off x="3369251" y="2755098"/>
              <a:ext cx="204441" cy="189804"/>
            </a:xfrm>
            <a:prstGeom prst="rect">
              <a:avLst/>
            </a:prstGeom>
          </p:spPr>
        </p:pic>
      </p:grpSp>
      <p:sp>
        <p:nvSpPr>
          <p:cNvPr id="16" name="TextBox 17">
            <a:extLst>
              <a:ext uri="{FF2B5EF4-FFF2-40B4-BE49-F238E27FC236}">
                <a16:creationId xmlns:a16="http://schemas.microsoft.com/office/drawing/2014/main" id="{FC504CF8-6F0F-6ACF-FBEB-F7BF3331F208}"/>
              </a:ext>
            </a:extLst>
          </p:cNvPr>
          <p:cNvSpPr txBox="1"/>
          <p:nvPr/>
        </p:nvSpPr>
        <p:spPr>
          <a:xfrm>
            <a:off x="4741180" y="1200268"/>
            <a:ext cx="4590585"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GB" sz="1600" noProof="0">
                <a:solidFill>
                  <a:prstClr val="black"/>
                </a:solidFill>
                <a:latin typeface="Calibri"/>
                <a:ea typeface="Calibri"/>
                <a:cs typeface="Calibri"/>
              </a:rPr>
              <a:t>Any existing course may be opened up as education for professionals. Two popular strategies are to convert the materials into a Summer School (or Winter School, or Small Private Online Course ‘SPOC’) or to be offered as Continuing Education. </a:t>
            </a:r>
          </a:p>
          <a:p>
            <a:pPr>
              <a:defRPr/>
            </a:pPr>
            <a:endParaRPr lang="en-GB" sz="1600" noProof="0">
              <a:solidFill>
                <a:prstClr val="black"/>
              </a:solidFill>
              <a:latin typeface="Calibri"/>
              <a:ea typeface="Calibri"/>
              <a:cs typeface="Calibri"/>
            </a:endParaRPr>
          </a:p>
          <a:p>
            <a:pPr>
              <a:defRPr/>
            </a:pPr>
            <a:r>
              <a:rPr lang="en-GB" sz="1600" noProof="0">
                <a:solidFill>
                  <a:prstClr val="black"/>
                </a:solidFill>
                <a:latin typeface="Calibri"/>
                <a:ea typeface="Calibri"/>
                <a:cs typeface="Calibri"/>
              </a:rPr>
              <a:t>Continuing Education can be developed as an open program where participants sign up individually or, at an organization's request, as a customized in-company offering. In developing and delivering Continuing Education, there are four key steps: 1) plan, 2) produce, 3) run, and 4) evaluate. The full </a:t>
            </a:r>
            <a:r>
              <a:rPr lang="en-GB" sz="1600" noProof="0">
                <a:latin typeface="Calibri"/>
                <a:ea typeface="Calibri"/>
                <a:cs typeface="Calibri"/>
              </a:rPr>
              <a:t>step-by-step plan can be found on the UU Intranet: </a:t>
            </a:r>
            <a:r>
              <a:rPr lang="en-GB" sz="1600" noProof="0">
                <a:latin typeface="Calibri"/>
                <a:ea typeface="Calibri"/>
                <a:cs typeface="Calibri"/>
                <a:hlinkClick r:id="rId7">
                  <a:extLst>
                    <a:ext uri="{A12FA001-AC4F-418D-AE19-62706E023703}">
                      <ahyp:hlinkClr xmlns:ahyp="http://schemas.microsoft.com/office/drawing/2018/hyperlinkcolor" val="tx"/>
                    </a:ext>
                  </a:extLst>
                </a:hlinkClick>
              </a:rPr>
              <a:t>https://intranet.uu.nl/en/continuing-education/developing-continuing-education/step-by-step-plan-open-programme</a:t>
            </a:r>
            <a:r>
              <a:rPr lang="en-GB" sz="1600" noProof="0">
                <a:latin typeface="Calibri"/>
                <a:ea typeface="Calibri"/>
                <a:cs typeface="Calibri"/>
              </a:rPr>
              <a:t>.</a:t>
            </a:r>
          </a:p>
          <a:p>
            <a:pPr>
              <a:defRPr/>
            </a:pPr>
            <a:endParaRPr lang="en-GB" sz="1600" noProof="0">
              <a:solidFill>
                <a:prstClr val="black"/>
              </a:solidFill>
              <a:latin typeface="Calibri"/>
              <a:ea typeface="Calibri"/>
              <a:cs typeface="Calibri"/>
            </a:endParaRPr>
          </a:p>
          <a:p>
            <a:pPr>
              <a:defRPr/>
            </a:pPr>
            <a:r>
              <a:rPr lang="en-GB" sz="1600" noProof="0">
                <a:solidFill>
                  <a:prstClr val="black"/>
                </a:solidFill>
                <a:latin typeface="Calibri"/>
                <a:ea typeface="Calibri"/>
                <a:cs typeface="Calibri"/>
              </a:rPr>
              <a:t>Although not technically ‘teaching’, consultancy projects can include educational aspects too. For example, by offering advice and applied academic research, in collaboration with clients and partners.</a:t>
            </a:r>
          </a:p>
        </p:txBody>
      </p:sp>
    </p:spTree>
    <p:extLst>
      <p:ext uri="{BB962C8B-B14F-4D97-AF65-F5344CB8AC3E}">
        <p14:creationId xmlns:p14="http://schemas.microsoft.com/office/powerpoint/2010/main" val="2377346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51F31-6275-315F-6B29-01ACFC1B4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5BBD3-A11A-BE41-2414-85F026645306}"/>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Engage in teaching for professionals, beyond academia</a:t>
            </a:r>
          </a:p>
        </p:txBody>
      </p:sp>
      <p:pic>
        <p:nvPicPr>
          <p:cNvPr id="22" name="Picture 21">
            <a:extLst>
              <a:ext uri="{FF2B5EF4-FFF2-40B4-BE49-F238E27FC236}">
                <a16:creationId xmlns:a16="http://schemas.microsoft.com/office/drawing/2014/main" id="{E99691E5-D041-DE8D-E6D8-F639D3033235}"/>
              </a:ext>
            </a:extLst>
          </p:cNvPr>
          <p:cNvPicPr>
            <a:picLocks noChangeAspect="1"/>
          </p:cNvPicPr>
          <p:nvPr/>
        </p:nvPicPr>
        <p:blipFill>
          <a:blip r:embed="rId2"/>
          <a:stretch>
            <a:fillRect/>
          </a:stretch>
        </p:blipFill>
        <p:spPr>
          <a:xfrm>
            <a:off x="26821" y="30831"/>
            <a:ext cx="523875" cy="523875"/>
          </a:xfrm>
          <a:prstGeom prst="rect">
            <a:avLst/>
          </a:prstGeom>
        </p:spPr>
      </p:pic>
      <p:sp>
        <p:nvSpPr>
          <p:cNvPr id="3" name="Tekstvak 2">
            <a:extLst>
              <a:ext uri="{FF2B5EF4-FFF2-40B4-BE49-F238E27FC236}">
                <a16:creationId xmlns:a16="http://schemas.microsoft.com/office/drawing/2014/main" id="{EAE73931-9053-F85D-CF47-1C2804088787}"/>
              </a:ext>
            </a:extLst>
          </p:cNvPr>
          <p:cNvSpPr txBox="1"/>
          <p:nvPr/>
        </p:nvSpPr>
        <p:spPr>
          <a:xfrm>
            <a:off x="550696" y="780104"/>
            <a:ext cx="2842744" cy="707886"/>
          </a:xfrm>
          <a:prstGeom prst="rect">
            <a:avLst/>
          </a:prstGeom>
          <a:noFill/>
        </p:spPr>
        <p:txBody>
          <a:bodyPr wrap="squar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UU Programmes for professionals</a:t>
            </a:r>
          </a:p>
        </p:txBody>
      </p:sp>
      <p:pic>
        <p:nvPicPr>
          <p:cNvPr id="9" name="Afbeelding 8" descr="Afbeelding met tekst, computer, person, schermopname&#10;&#10;Door AI gegenereerde inhoud is mogelijk onjuist.">
            <a:hlinkClick r:id="rId3"/>
            <a:extLst>
              <a:ext uri="{FF2B5EF4-FFF2-40B4-BE49-F238E27FC236}">
                <a16:creationId xmlns:a16="http://schemas.microsoft.com/office/drawing/2014/main" id="{B7DB7180-BE77-A839-B8EB-2B062B293D43}"/>
              </a:ext>
            </a:extLst>
          </p:cNvPr>
          <p:cNvPicPr>
            <a:picLocks noChangeAspect="1"/>
          </p:cNvPicPr>
          <p:nvPr/>
        </p:nvPicPr>
        <p:blipFill>
          <a:blip r:embed="rId4"/>
          <a:stretch>
            <a:fillRect/>
          </a:stretch>
        </p:blipFill>
        <p:spPr>
          <a:xfrm>
            <a:off x="3850640" y="714631"/>
            <a:ext cx="8341360" cy="5939768"/>
          </a:xfrm>
          <a:prstGeom prst="rect">
            <a:avLst/>
          </a:prstGeom>
        </p:spPr>
      </p:pic>
      <p:sp>
        <p:nvSpPr>
          <p:cNvPr id="11" name="Tekstvak 10">
            <a:extLst>
              <a:ext uri="{FF2B5EF4-FFF2-40B4-BE49-F238E27FC236}">
                <a16:creationId xmlns:a16="http://schemas.microsoft.com/office/drawing/2014/main" id="{09104FFA-64F3-C91A-45E6-D5707D95DE40}"/>
              </a:ext>
            </a:extLst>
          </p:cNvPr>
          <p:cNvSpPr txBox="1"/>
          <p:nvPr/>
        </p:nvSpPr>
        <p:spPr>
          <a:xfrm>
            <a:off x="357477" y="6330265"/>
            <a:ext cx="6096000" cy="307777"/>
          </a:xfrm>
          <a:prstGeom prst="rect">
            <a:avLst/>
          </a:prstGeom>
          <a:noFill/>
        </p:spPr>
        <p:txBody>
          <a:bodyPr wrap="square">
            <a:spAutoFit/>
          </a:bodyPr>
          <a:lstStyle/>
          <a:p>
            <a:r>
              <a:rPr lang="en-GB" sz="1400" noProof="0">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https://professionals.uu.nl/en/programmes</a:t>
            </a:r>
            <a:r>
              <a:rPr lang="en-GB" sz="1400" noProof="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335429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3A09F-D334-6516-6EE9-229B8E08C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E48B4-C64B-7258-2327-1D10EDA69046}"/>
              </a:ext>
            </a:extLst>
          </p:cNvPr>
          <p:cNvSpPr>
            <a:spLocks noGrp="1"/>
          </p:cNvSpPr>
          <p:nvPr>
            <p:ph type="title"/>
          </p:nvPr>
        </p:nvSpPr>
        <p:spPr>
          <a:xfrm>
            <a:off x="-640" y="133"/>
            <a:ext cx="12193280" cy="576370"/>
          </a:xfrm>
          <a:solidFill>
            <a:srgbClr val="FFCD00"/>
          </a:solidFill>
        </p:spPr>
        <p:txBody>
          <a:bodyPr>
            <a:normAutofit/>
          </a:bodyPr>
          <a:lstStyle/>
          <a:p>
            <a:pPr algn="ctr"/>
            <a:r>
              <a:rPr lang="en-GB" sz="2800" b="1" noProof="0">
                <a:latin typeface="Calibri"/>
                <a:ea typeface="Calibri"/>
                <a:cs typeface="Calibri"/>
              </a:rPr>
              <a:t>12. Engage in teaching for non-professional and lay audiences</a:t>
            </a:r>
            <a:endParaRPr lang="en-GB" sz="4000" noProof="0"/>
          </a:p>
        </p:txBody>
      </p:sp>
      <p:sp>
        <p:nvSpPr>
          <p:cNvPr id="4" name="Rectangle: Rounded Corners 3">
            <a:extLst>
              <a:ext uri="{FF2B5EF4-FFF2-40B4-BE49-F238E27FC236}">
                <a16:creationId xmlns:a16="http://schemas.microsoft.com/office/drawing/2014/main" id="{4B8897F5-3A9F-E0DB-C2DE-9B326D1F0775}"/>
              </a:ext>
            </a:extLst>
          </p:cNvPr>
          <p:cNvSpPr/>
          <p:nvPr/>
        </p:nvSpPr>
        <p:spPr>
          <a:xfrm>
            <a:off x="4489552" y="853042"/>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solidFill>
              <a:latin typeface="Calibri"/>
              <a:ea typeface="Calibri"/>
              <a:cs typeface="Calibri"/>
            </a:endParaRPr>
          </a:p>
        </p:txBody>
      </p:sp>
      <p:sp>
        <p:nvSpPr>
          <p:cNvPr id="5" name="Rectangle: Rounded Corners 4">
            <a:extLst>
              <a:ext uri="{FF2B5EF4-FFF2-40B4-BE49-F238E27FC236}">
                <a16:creationId xmlns:a16="http://schemas.microsoft.com/office/drawing/2014/main" id="{FFD7E41A-B16B-A0FB-B0FA-51AE6D9272E8}"/>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CFA65AC2-7E65-3951-59DA-C046C8011F4D}"/>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E9402401-9E10-7BA2-818A-A26C96EB3198}"/>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42BB1AFA-5467-60BE-EB35-7A1FD501D8B8}"/>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FBB4780E-F65D-63C0-39A5-C41B50B78713}"/>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Other audiences</a:t>
            </a:r>
            <a:endParaRPr lang="en-GB" noProof="0"/>
          </a:p>
        </p:txBody>
      </p:sp>
      <p:sp>
        <p:nvSpPr>
          <p:cNvPr id="11" name="TextBox 10">
            <a:extLst>
              <a:ext uri="{FF2B5EF4-FFF2-40B4-BE49-F238E27FC236}">
                <a16:creationId xmlns:a16="http://schemas.microsoft.com/office/drawing/2014/main" id="{089708E3-AAFD-3055-0AE5-A64FDBA26F09}"/>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915FFCE7-B3B6-C342-84C7-BC1E1C2909A9}"/>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AB954C45-50B8-1DF9-3253-ED075D0F1A05}"/>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EC87806E-431E-1751-6051-32DD9F739220}"/>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32E7EE3E-8873-5E0B-B3B9-FA10236BB0B2}"/>
              </a:ext>
            </a:extLst>
          </p:cNvPr>
          <p:cNvPicPr>
            <a:picLocks noChangeAspect="1"/>
          </p:cNvPicPr>
          <p:nvPr/>
        </p:nvPicPr>
        <p:blipFill>
          <a:blip r:embed="rId3"/>
          <a:stretch>
            <a:fillRect/>
          </a:stretch>
        </p:blipFill>
        <p:spPr>
          <a:xfrm>
            <a:off x="26821" y="30831"/>
            <a:ext cx="523875" cy="523875"/>
          </a:xfrm>
          <a:prstGeom prst="rect">
            <a:avLst/>
          </a:prstGeom>
        </p:spPr>
      </p:pic>
      <p:sp>
        <p:nvSpPr>
          <p:cNvPr id="16" name="TextBox 15">
            <a:extLst>
              <a:ext uri="{FF2B5EF4-FFF2-40B4-BE49-F238E27FC236}">
                <a16:creationId xmlns:a16="http://schemas.microsoft.com/office/drawing/2014/main" id="{5E9A0447-5936-66A0-BF71-DEF49376EA1D}"/>
              </a:ext>
            </a:extLst>
          </p:cNvPr>
          <p:cNvSpPr txBox="1"/>
          <p:nvPr/>
        </p:nvSpPr>
        <p:spPr>
          <a:xfrm>
            <a:off x="430389" y="1210958"/>
            <a:ext cx="3640666" cy="304698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cs typeface="Calibri"/>
              </a:rPr>
              <a:t>Open education can mean opening up our education to different audiences than UU students. This can be in the form of public engagement  </a:t>
            </a:r>
          </a:p>
          <a:p>
            <a:r>
              <a:rPr lang="en-GB" sz="1600" noProof="0">
                <a:latin typeface="Calibri"/>
                <a:cs typeface="Calibri"/>
              </a:rPr>
              <a:t>For example:</a:t>
            </a:r>
          </a:p>
          <a:p>
            <a:pPr marL="285750" indent="-285750">
              <a:buFont typeface="Arial" panose="020B0604020202020204" pitchFamily="34" charset="0"/>
              <a:buChar char="•"/>
            </a:pPr>
            <a:r>
              <a:rPr lang="en-GB" sz="1600" noProof="0">
                <a:latin typeface="Calibri"/>
                <a:cs typeface="Calibri"/>
              </a:rPr>
              <a:t>Primary and secondary education</a:t>
            </a:r>
          </a:p>
          <a:p>
            <a:pPr marL="285750" indent="-285750">
              <a:buFont typeface="Arial" panose="020B0604020202020204" pitchFamily="34" charset="0"/>
              <a:buChar char="•"/>
            </a:pPr>
            <a:r>
              <a:rPr lang="en-GB" sz="1600" noProof="0">
                <a:latin typeface="Calibri"/>
                <a:cs typeface="Calibri"/>
              </a:rPr>
              <a:t>Citizens</a:t>
            </a:r>
          </a:p>
          <a:p>
            <a:endParaRPr lang="en-GB" sz="1600" noProof="0">
              <a:latin typeface="Calibri"/>
              <a:cs typeface="Calibri"/>
            </a:endParaRPr>
          </a:p>
          <a:p>
            <a:endParaRPr lang="en-GB" sz="1600" noProof="0">
              <a:latin typeface="Calibri"/>
              <a:cs typeface="Calibri"/>
            </a:endParaRPr>
          </a:p>
          <a:p>
            <a:endParaRPr lang="en-GB" sz="1600" noProof="0">
              <a:latin typeface="Calibri"/>
              <a:cs typeface="Calibri"/>
            </a:endParaRPr>
          </a:p>
          <a:p>
            <a:endParaRPr lang="en-GB" sz="1600" i="1" noProof="0">
              <a:latin typeface="Calibri"/>
              <a:ea typeface="Calibri"/>
              <a:cs typeface="Calibri"/>
            </a:endParaRPr>
          </a:p>
          <a:p>
            <a:endParaRPr lang="en-GB" sz="1600" i="1" noProof="0">
              <a:latin typeface="Calibri"/>
              <a:ea typeface="Calibri"/>
              <a:cs typeface="Calibri"/>
            </a:endParaRPr>
          </a:p>
        </p:txBody>
      </p:sp>
      <p:sp>
        <p:nvSpPr>
          <p:cNvPr id="21" name="TextBox 15">
            <a:extLst>
              <a:ext uri="{FF2B5EF4-FFF2-40B4-BE49-F238E27FC236}">
                <a16:creationId xmlns:a16="http://schemas.microsoft.com/office/drawing/2014/main" id="{DBF2BD4A-E31F-6048-1063-D6F732284BDC}"/>
              </a:ext>
            </a:extLst>
          </p:cNvPr>
          <p:cNvSpPr txBox="1"/>
          <p:nvPr/>
        </p:nvSpPr>
        <p:spPr>
          <a:xfrm>
            <a:off x="10034937" y="1616670"/>
            <a:ext cx="1935216"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600" i="1" noProof="0">
              <a:latin typeface="Calibri"/>
              <a:ea typeface="Calibri"/>
              <a:cs typeface="Calibri"/>
            </a:endParaRPr>
          </a:p>
        </p:txBody>
      </p:sp>
      <p:sp>
        <p:nvSpPr>
          <p:cNvPr id="26" name="TextBox 15">
            <a:extLst>
              <a:ext uri="{FF2B5EF4-FFF2-40B4-BE49-F238E27FC236}">
                <a16:creationId xmlns:a16="http://schemas.microsoft.com/office/drawing/2014/main" id="{D842225D-3053-8873-86C4-A1CBE87772E5}"/>
              </a:ext>
            </a:extLst>
          </p:cNvPr>
          <p:cNvSpPr txBox="1"/>
          <p:nvPr/>
        </p:nvSpPr>
        <p:spPr>
          <a:xfrm>
            <a:off x="9939738" y="4262672"/>
            <a:ext cx="2023166" cy="132343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Events organized by the </a:t>
            </a:r>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centre for science and culture</a:t>
            </a:r>
            <a:endParaRPr lang="en-GB" sz="1600" noProof="0">
              <a:latin typeface="Calibri"/>
              <a:ea typeface="Calibri"/>
              <a:cs typeface="Calibri"/>
            </a:endParaRPr>
          </a:p>
          <a:p>
            <a:endParaRPr lang="en-GB" sz="1600" i="1" noProof="0">
              <a:latin typeface="Calibri"/>
              <a:ea typeface="Calibri"/>
              <a:cs typeface="Calibri"/>
            </a:endParaRPr>
          </a:p>
          <a:p>
            <a:r>
              <a:rPr lang="en-GB" sz="1600" noProof="0">
                <a:latin typeface="Calibri"/>
                <a:ea typeface="Calibri"/>
                <a:cs typeface="Calibri"/>
                <a:hlinkClick r:id="rId5">
                  <a:extLst>
                    <a:ext uri="{A12FA001-AC4F-418D-AE19-62706E023703}">
                      <ahyp:hlinkClr xmlns:ahyp="http://schemas.microsoft.com/office/drawing/2018/hyperlinkcolor" val="tx"/>
                    </a:ext>
                  </a:extLst>
                </a:hlinkClick>
              </a:rPr>
              <a:t>U talent</a:t>
            </a:r>
            <a:endParaRPr lang="en-GB" sz="1600" i="1" noProof="0">
              <a:latin typeface="Calibri"/>
              <a:ea typeface="Calibri"/>
              <a:cs typeface="Calibri"/>
            </a:endParaRPr>
          </a:p>
        </p:txBody>
      </p:sp>
      <p:grpSp>
        <p:nvGrpSpPr>
          <p:cNvPr id="3" name="Groep 2">
            <a:extLst>
              <a:ext uri="{FF2B5EF4-FFF2-40B4-BE49-F238E27FC236}">
                <a16:creationId xmlns:a16="http://schemas.microsoft.com/office/drawing/2014/main" id="{C07CF029-055E-C1D2-E27D-3158697DA737}"/>
              </a:ext>
            </a:extLst>
          </p:cNvPr>
          <p:cNvGrpSpPr>
            <a:grpSpLocks noChangeAspect="1"/>
          </p:cNvGrpSpPr>
          <p:nvPr/>
        </p:nvGrpSpPr>
        <p:grpSpPr>
          <a:xfrm>
            <a:off x="10729120" y="108056"/>
            <a:ext cx="1241039" cy="370500"/>
            <a:chOff x="3369251" y="2755098"/>
            <a:chExt cx="635773" cy="189804"/>
          </a:xfrm>
        </p:grpSpPr>
        <p:pic>
          <p:nvPicPr>
            <p:cNvPr id="6" name="Picture 24">
              <a:extLst>
                <a:ext uri="{FF2B5EF4-FFF2-40B4-BE49-F238E27FC236}">
                  <a16:creationId xmlns:a16="http://schemas.microsoft.com/office/drawing/2014/main" id="{92D3A701-FC21-DD1A-5E01-36E03B1C7361}"/>
                </a:ext>
              </a:extLst>
            </p:cNvPr>
            <p:cNvPicPr>
              <a:picLocks noChangeAspect="1"/>
            </p:cNvPicPr>
            <p:nvPr/>
          </p:nvPicPr>
          <p:blipFill>
            <a:blip r:embed="rId6"/>
            <a:stretch>
              <a:fillRect/>
            </a:stretch>
          </p:blipFill>
          <p:spPr>
            <a:xfrm>
              <a:off x="3587778" y="2755098"/>
              <a:ext cx="204441" cy="189804"/>
            </a:xfrm>
            <a:prstGeom prst="rect">
              <a:avLst/>
            </a:prstGeom>
          </p:spPr>
        </p:pic>
        <p:pic>
          <p:nvPicPr>
            <p:cNvPr id="13" name="Picture 26">
              <a:extLst>
                <a:ext uri="{FF2B5EF4-FFF2-40B4-BE49-F238E27FC236}">
                  <a16:creationId xmlns:a16="http://schemas.microsoft.com/office/drawing/2014/main" id="{27853A76-0551-F3F2-85C3-B0E1534E29E6}"/>
                </a:ext>
              </a:extLst>
            </p:cNvPr>
            <p:cNvPicPr>
              <a:picLocks noChangeAspect="1"/>
            </p:cNvPicPr>
            <p:nvPr/>
          </p:nvPicPr>
          <p:blipFill>
            <a:blip r:embed="rId6"/>
            <a:stretch>
              <a:fillRect/>
            </a:stretch>
          </p:blipFill>
          <p:spPr>
            <a:xfrm>
              <a:off x="3800583" y="2755098"/>
              <a:ext cx="204441" cy="189804"/>
            </a:xfrm>
            <a:prstGeom prst="rect">
              <a:avLst/>
            </a:prstGeom>
          </p:spPr>
        </p:pic>
        <p:pic>
          <p:nvPicPr>
            <p:cNvPr id="19" name="Picture 79">
              <a:extLst>
                <a:ext uri="{FF2B5EF4-FFF2-40B4-BE49-F238E27FC236}">
                  <a16:creationId xmlns:a16="http://schemas.microsoft.com/office/drawing/2014/main" id="{B808AC2C-FFA4-D3EC-7C2C-1EC88AD3AC46}"/>
                </a:ext>
              </a:extLst>
            </p:cNvPr>
            <p:cNvPicPr>
              <a:picLocks noChangeAspect="1"/>
            </p:cNvPicPr>
            <p:nvPr/>
          </p:nvPicPr>
          <p:blipFill>
            <a:blip r:embed="rId6"/>
            <a:stretch>
              <a:fillRect/>
            </a:stretch>
          </p:blipFill>
          <p:spPr>
            <a:xfrm>
              <a:off x="3369251" y="2755098"/>
              <a:ext cx="204441" cy="189804"/>
            </a:xfrm>
            <a:prstGeom prst="rect">
              <a:avLst/>
            </a:prstGeom>
          </p:spPr>
        </p:pic>
      </p:grpSp>
      <p:sp>
        <p:nvSpPr>
          <p:cNvPr id="17" name="TextBox 16">
            <a:extLst>
              <a:ext uri="{FF2B5EF4-FFF2-40B4-BE49-F238E27FC236}">
                <a16:creationId xmlns:a16="http://schemas.microsoft.com/office/drawing/2014/main" id="{2A91C9CF-069C-E806-14B3-11EC13039D5A}"/>
              </a:ext>
            </a:extLst>
          </p:cNvPr>
          <p:cNvSpPr txBox="1"/>
          <p:nvPr/>
        </p:nvSpPr>
        <p:spPr>
          <a:xfrm>
            <a:off x="430389" y="4286851"/>
            <a:ext cx="3640666" cy="206210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noProof="0">
                <a:latin typeface="Calibri"/>
                <a:cs typeface="Calibri"/>
              </a:rPr>
              <a:t>Raise interest in research</a:t>
            </a:r>
          </a:p>
          <a:p>
            <a:pPr marL="285750" indent="-285750">
              <a:buFont typeface="Arial" panose="020B0604020202020204" pitchFamily="34" charset="0"/>
              <a:buChar char="•"/>
            </a:pPr>
            <a:r>
              <a:rPr lang="en-GB" sz="1600" noProof="0">
                <a:latin typeface="Calibri"/>
                <a:cs typeface="Calibri"/>
              </a:rPr>
              <a:t>Engage potential users, funders and contributors, and people whose lives may be affected by it</a:t>
            </a:r>
          </a:p>
          <a:p>
            <a:pPr marL="285750" indent="-285750">
              <a:buFont typeface="Arial" panose="020B0604020202020204" pitchFamily="34" charset="0"/>
              <a:buChar char="•"/>
            </a:pPr>
            <a:r>
              <a:rPr lang="en-GB" sz="1600" noProof="0">
                <a:latin typeface="Calibri"/>
                <a:cs typeface="Calibri"/>
              </a:rPr>
              <a:t>Profit from input from lay audiences by getting their input</a:t>
            </a:r>
          </a:p>
          <a:p>
            <a:pPr marL="285750" indent="-285750">
              <a:buFont typeface="Arial" panose="020B0604020202020204" pitchFamily="34" charset="0"/>
              <a:buChar char="•"/>
            </a:pPr>
            <a:r>
              <a:rPr lang="en-GB" sz="1600" noProof="0">
                <a:latin typeface="Calibri"/>
                <a:cs typeface="Calibri"/>
              </a:rPr>
              <a:t>Enhance support for and trust in scholarly research</a:t>
            </a:r>
          </a:p>
        </p:txBody>
      </p:sp>
      <p:sp>
        <p:nvSpPr>
          <p:cNvPr id="20" name="TextBox 19">
            <a:extLst>
              <a:ext uri="{FF2B5EF4-FFF2-40B4-BE49-F238E27FC236}">
                <a16:creationId xmlns:a16="http://schemas.microsoft.com/office/drawing/2014/main" id="{7972A1E0-ABC8-EBBD-F319-A6E7EF913805}"/>
              </a:ext>
            </a:extLst>
          </p:cNvPr>
          <p:cNvSpPr txBox="1"/>
          <p:nvPr/>
        </p:nvSpPr>
        <p:spPr>
          <a:xfrm>
            <a:off x="4654081" y="1212780"/>
            <a:ext cx="4737472" cy="400109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b="1" noProof="0">
                <a:latin typeface="Calibri"/>
                <a:cs typeface="Calibri"/>
              </a:rPr>
              <a:t>Define you audience</a:t>
            </a:r>
            <a:r>
              <a:rPr lang="en-GB" sz="1600" noProof="0">
                <a:latin typeface="Calibri"/>
                <a:cs typeface="Calibri"/>
              </a:rPr>
              <a:t>: who would benefit from it? Which audiences are you trying to reach?</a:t>
            </a:r>
          </a:p>
          <a:p>
            <a:endParaRPr lang="en-GB" sz="1000" noProof="0">
              <a:latin typeface="Calibri"/>
              <a:cs typeface="Calibri"/>
            </a:endParaRPr>
          </a:p>
          <a:p>
            <a:pPr marL="285750" indent="-285750">
              <a:buFont typeface="Arial" panose="020B0604020202020204" pitchFamily="34" charset="0"/>
              <a:buChar char="•"/>
            </a:pPr>
            <a:r>
              <a:rPr lang="en-GB" sz="1600" noProof="0">
                <a:latin typeface="Calibri"/>
                <a:cs typeface="Calibri"/>
              </a:rPr>
              <a:t>Which </a:t>
            </a:r>
            <a:r>
              <a:rPr lang="en-GB" sz="1600" b="1" noProof="0">
                <a:latin typeface="Calibri"/>
                <a:cs typeface="Calibri"/>
              </a:rPr>
              <a:t>goals</a:t>
            </a:r>
            <a:r>
              <a:rPr lang="en-GB" sz="1600" noProof="0">
                <a:latin typeface="Calibri"/>
                <a:cs typeface="Calibri"/>
              </a:rPr>
              <a:t> would you like to achieve by engaging with this audience?</a:t>
            </a:r>
          </a:p>
          <a:p>
            <a:endParaRPr lang="en-GB" sz="1000" noProof="0">
              <a:latin typeface="Calibri"/>
              <a:cs typeface="Calibri"/>
            </a:endParaRPr>
          </a:p>
          <a:p>
            <a:pPr marL="285750" indent="-285750">
              <a:buFont typeface="Arial" panose="020B0604020202020204" pitchFamily="34" charset="0"/>
              <a:buChar char="•"/>
            </a:pPr>
            <a:r>
              <a:rPr lang="en-GB" sz="1600" noProof="0">
                <a:latin typeface="Calibri"/>
                <a:cs typeface="Calibri"/>
              </a:rPr>
              <a:t>What would be the most suitable </a:t>
            </a:r>
            <a:r>
              <a:rPr lang="en-GB" sz="1600" b="1" noProof="0">
                <a:latin typeface="Calibri"/>
                <a:cs typeface="Calibri"/>
              </a:rPr>
              <a:t>format</a:t>
            </a:r>
            <a:r>
              <a:rPr lang="en-GB" sz="1600" noProof="0">
                <a:latin typeface="Calibri"/>
                <a:cs typeface="Calibri"/>
              </a:rPr>
              <a:t>?</a:t>
            </a:r>
          </a:p>
          <a:p>
            <a:endParaRPr lang="en-GB" sz="1000" noProof="0">
              <a:latin typeface="Calibri"/>
              <a:cs typeface="Calibri"/>
            </a:endParaRPr>
          </a:p>
          <a:p>
            <a:pPr marL="285750" indent="-285750">
              <a:buFont typeface="Arial" panose="020B0604020202020204" pitchFamily="34" charset="0"/>
              <a:buChar char="•"/>
            </a:pPr>
            <a:r>
              <a:rPr lang="en-GB" sz="1600" noProof="0">
                <a:latin typeface="Calibri"/>
                <a:cs typeface="Calibri"/>
              </a:rPr>
              <a:t>Which </a:t>
            </a:r>
            <a:r>
              <a:rPr lang="en-GB" sz="1600" b="1" noProof="0">
                <a:latin typeface="Calibri"/>
                <a:cs typeface="Calibri"/>
              </a:rPr>
              <a:t>resources</a:t>
            </a:r>
            <a:r>
              <a:rPr lang="en-GB" sz="1600" noProof="0">
                <a:latin typeface="Calibri"/>
                <a:cs typeface="Calibri"/>
              </a:rPr>
              <a:t> do you have?</a:t>
            </a:r>
          </a:p>
          <a:p>
            <a:endParaRPr lang="en-GB" sz="1600" noProof="0">
              <a:latin typeface="Calibri"/>
              <a:cs typeface="Calibri"/>
            </a:endParaRPr>
          </a:p>
          <a:p>
            <a:r>
              <a:rPr lang="en-GB" sz="1600" i="1" noProof="0">
                <a:latin typeface="Calibri"/>
                <a:cs typeface="Calibri"/>
              </a:rPr>
              <a:t>Based on the steps towards a public engagement plan from the Centre for Science and Culture</a:t>
            </a:r>
          </a:p>
          <a:p>
            <a:endParaRPr lang="en-GB" sz="1600" noProof="0">
              <a:latin typeface="Calibri"/>
              <a:cs typeface="Calibri"/>
            </a:endParaRPr>
          </a:p>
          <a:p>
            <a:r>
              <a:rPr lang="en-GB" sz="1600" noProof="0">
                <a:latin typeface="Calibri"/>
                <a:cs typeface="Calibri"/>
              </a:rPr>
              <a:t>More “tips and tricks”:</a:t>
            </a:r>
          </a:p>
          <a:p>
            <a:r>
              <a:rPr lang="en-GB" sz="1600" noProof="0">
                <a:latin typeface="Calibri"/>
                <a:cs typeface="Calibri"/>
                <a:hlinkClick r:id="rId7">
                  <a:extLst>
                    <a:ext uri="{A12FA001-AC4F-418D-AE19-62706E023703}">
                      <ahyp:hlinkClr xmlns:ahyp="http://schemas.microsoft.com/office/drawing/2018/hyperlinkcolor" val="tx"/>
                    </a:ext>
                  </a:extLst>
                </a:hlinkClick>
              </a:rPr>
              <a:t>https://www.uu.nl/en/organisation/public-engagement-at-utrecht-university/how-to-engage/tips-tricks</a:t>
            </a:r>
            <a:endParaRPr lang="en-GB" sz="1600" noProof="0">
              <a:latin typeface="Calibri"/>
              <a:cs typeface="Calibri"/>
            </a:endParaRPr>
          </a:p>
        </p:txBody>
      </p:sp>
      <p:sp>
        <p:nvSpPr>
          <p:cNvPr id="25" name="TextBox 15">
            <a:extLst>
              <a:ext uri="{FF2B5EF4-FFF2-40B4-BE49-F238E27FC236}">
                <a16:creationId xmlns:a16="http://schemas.microsoft.com/office/drawing/2014/main" id="{9269D831-AD7D-9C48-F5D3-723279F89379}"/>
              </a:ext>
            </a:extLst>
          </p:cNvPr>
          <p:cNvSpPr txBox="1"/>
          <p:nvPr/>
        </p:nvSpPr>
        <p:spPr>
          <a:xfrm>
            <a:off x="9939737" y="1228777"/>
            <a:ext cx="2057847" cy="255454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noProof="0">
                <a:latin typeface="Calibri"/>
                <a:ea typeface="Calibri"/>
                <a:cs typeface="Calibri"/>
                <a:hlinkClick r:id="rId8">
                  <a:extLst>
                    <a:ext uri="{A12FA001-AC4F-418D-AE19-62706E023703}">
                      <ahyp:hlinkClr xmlns:ahyp="http://schemas.microsoft.com/office/drawing/2018/hyperlinkcolor" val="tx"/>
                    </a:ext>
                  </a:extLst>
                </a:hlinkClick>
              </a:rPr>
              <a:t>Betweter festival</a:t>
            </a:r>
          </a:p>
          <a:p>
            <a:pPr marL="285750" indent="-285750">
              <a:buFont typeface="Arial" panose="020B0604020202020204" pitchFamily="34" charset="0"/>
              <a:buChar char="•"/>
            </a:pPr>
            <a:r>
              <a:rPr lang="en-GB" sz="1600" noProof="0">
                <a:latin typeface="Calibri"/>
                <a:ea typeface="Calibri"/>
                <a:cs typeface="Calibri"/>
                <a:hlinkClick r:id="rId9">
                  <a:extLst>
                    <a:ext uri="{A12FA001-AC4F-418D-AE19-62706E023703}">
                      <ahyp:hlinkClr xmlns:ahyp="http://schemas.microsoft.com/office/drawing/2018/hyperlinkcolor" val="tx"/>
                    </a:ext>
                  </a:extLst>
                </a:hlinkClick>
              </a:rPr>
              <a:t>Utrecht University Museum</a:t>
            </a:r>
          </a:p>
          <a:p>
            <a:pPr marL="285750" indent="-285750">
              <a:buFont typeface="Arial" panose="020B0604020202020204" pitchFamily="34" charset="0"/>
              <a:buChar char="•"/>
            </a:pPr>
            <a:r>
              <a:rPr lang="en-GB" sz="1600" noProof="0">
                <a:latin typeface="Calibri"/>
                <a:ea typeface="Calibri"/>
                <a:cs typeface="Calibri"/>
                <a:hlinkClick r:id="rId10">
                  <a:extLst>
                    <a:ext uri="{A12FA001-AC4F-418D-AE19-62706E023703}">
                      <ahyp:hlinkClr xmlns:ahyp="http://schemas.microsoft.com/office/drawing/2018/hyperlinkcolor" val="tx"/>
                    </a:ext>
                  </a:extLst>
                </a:hlinkClick>
              </a:rPr>
              <a:t>Meet the professor</a:t>
            </a:r>
          </a:p>
          <a:p>
            <a:pPr marL="285750" indent="-285750">
              <a:buFont typeface="Arial" panose="020B0604020202020204" pitchFamily="34" charset="0"/>
              <a:buChar char="•"/>
            </a:pPr>
            <a:r>
              <a:rPr lang="en-GB" sz="1600" noProof="0">
                <a:latin typeface="Calibri"/>
                <a:ea typeface="Calibri"/>
                <a:cs typeface="Calibri"/>
                <a:hlinkClick r:id="rId11">
                  <a:extLst>
                    <a:ext uri="{A12FA001-AC4F-418D-AE19-62706E023703}">
                      <ahyp:hlinkClr xmlns:ahyp="http://schemas.microsoft.com/office/drawing/2018/hyperlinkcolor" val="tx"/>
                    </a:ext>
                  </a:extLst>
                </a:hlinkClick>
              </a:rPr>
              <a:t>Studium Generale podcast</a:t>
            </a:r>
            <a:endParaRPr lang="en-GB" sz="1600" noProof="0">
              <a:latin typeface="Calibri"/>
              <a:ea typeface="Calibri"/>
              <a:cs typeface="Calibri"/>
            </a:endParaRPr>
          </a:p>
          <a:p>
            <a:pPr marL="285750" indent="-285750">
              <a:buFont typeface="Arial" panose="020B0604020202020204" pitchFamily="34" charset="0"/>
              <a:buChar char="•"/>
            </a:pPr>
            <a:r>
              <a:rPr lang="en-GB" sz="1600" noProof="0">
                <a:latin typeface="Calibri"/>
                <a:ea typeface="Calibri"/>
                <a:cs typeface="Calibri"/>
                <a:hlinkClick r:id="rId5">
                  <a:extLst>
                    <a:ext uri="{A12FA001-AC4F-418D-AE19-62706E023703}">
                      <ahyp:hlinkClr xmlns:ahyp="http://schemas.microsoft.com/office/drawing/2018/hyperlinkcolor" val="tx"/>
                    </a:ext>
                  </a:extLst>
                </a:hlinkClick>
              </a:rPr>
              <a:t>U talent</a:t>
            </a:r>
            <a:endParaRPr lang="en-GB" sz="1600" noProof="0">
              <a:latin typeface="Calibri"/>
              <a:ea typeface="Calibri"/>
              <a:cs typeface="Calibri"/>
            </a:endParaRPr>
          </a:p>
          <a:p>
            <a:endParaRPr lang="en-GB" sz="1600" i="1" noProof="0">
              <a:latin typeface="Calibri"/>
              <a:ea typeface="Calibri"/>
              <a:cs typeface="Calibri"/>
            </a:endParaRPr>
          </a:p>
          <a:p>
            <a:endParaRPr lang="en-GB" sz="1600" i="1" noProof="0">
              <a:latin typeface="Calibri"/>
              <a:ea typeface="Calibri"/>
              <a:cs typeface="Calibri"/>
            </a:endParaRPr>
          </a:p>
        </p:txBody>
      </p:sp>
    </p:spTree>
    <p:extLst>
      <p:ext uri="{BB962C8B-B14F-4D97-AF65-F5344CB8AC3E}">
        <p14:creationId xmlns:p14="http://schemas.microsoft.com/office/powerpoint/2010/main" val="2930038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E0489-9F67-FE24-D646-AD109384B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710F9-22CD-D528-9978-BF5715008855}"/>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Engage in teaching for non-professional and lay audiences</a:t>
            </a:r>
            <a:endParaRPr lang="en-GB" noProof="0"/>
          </a:p>
        </p:txBody>
      </p:sp>
      <p:pic>
        <p:nvPicPr>
          <p:cNvPr id="22" name="Picture 21">
            <a:extLst>
              <a:ext uri="{FF2B5EF4-FFF2-40B4-BE49-F238E27FC236}">
                <a16:creationId xmlns:a16="http://schemas.microsoft.com/office/drawing/2014/main" id="{7086E107-0855-4F62-912D-435586C5CB0D}"/>
              </a:ext>
            </a:extLst>
          </p:cNvPr>
          <p:cNvPicPr>
            <a:picLocks noChangeAspect="1"/>
          </p:cNvPicPr>
          <p:nvPr/>
        </p:nvPicPr>
        <p:blipFill>
          <a:blip r:embed="rId2"/>
          <a:stretch>
            <a:fillRect/>
          </a:stretch>
        </p:blipFill>
        <p:spPr>
          <a:xfrm>
            <a:off x="26821" y="30831"/>
            <a:ext cx="523875" cy="523875"/>
          </a:xfrm>
          <a:prstGeom prst="rect">
            <a:avLst/>
          </a:prstGeom>
        </p:spPr>
      </p:pic>
      <p:pic>
        <p:nvPicPr>
          <p:cNvPr id="1026" name="Picture 2">
            <a:extLst>
              <a:ext uri="{FF2B5EF4-FFF2-40B4-BE49-F238E27FC236}">
                <a16:creationId xmlns:a16="http://schemas.microsoft.com/office/drawing/2014/main" id="{650EFEEC-043D-806B-AECF-2C39FB3252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697" y="2461106"/>
            <a:ext cx="4569224" cy="3046149"/>
          </a:xfrm>
          <a:prstGeom prst="rect">
            <a:avLst/>
          </a:prstGeom>
          <a:noFill/>
          <a:extLst>
            <a:ext uri="{909E8E84-426E-40DD-AFC4-6F175D3DCCD1}">
              <a14:hiddenFill xmlns:a14="http://schemas.microsoft.com/office/drawing/2010/main">
                <a:solidFill>
                  <a:srgbClr val="FFFFFF"/>
                </a:solidFill>
              </a14:hiddenFill>
            </a:ext>
          </a:extLst>
        </p:spPr>
      </p:pic>
      <p:sp>
        <p:nvSpPr>
          <p:cNvPr id="4" name="Tekstvak 3">
            <a:extLst>
              <a:ext uri="{FF2B5EF4-FFF2-40B4-BE49-F238E27FC236}">
                <a16:creationId xmlns:a16="http://schemas.microsoft.com/office/drawing/2014/main" id="{1481B838-5E93-BE18-B44C-65978BE122F3}"/>
              </a:ext>
            </a:extLst>
          </p:cNvPr>
          <p:cNvSpPr txBox="1"/>
          <p:nvPr/>
        </p:nvSpPr>
        <p:spPr>
          <a:xfrm>
            <a:off x="550696" y="780104"/>
            <a:ext cx="1989134" cy="400110"/>
          </a:xfrm>
          <a:prstGeom prst="rect">
            <a:avLst/>
          </a:prstGeom>
          <a:noFill/>
        </p:spPr>
        <p:txBody>
          <a:bodyPr wrap="non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Betweter festival</a:t>
            </a:r>
          </a:p>
        </p:txBody>
      </p:sp>
      <p:sp>
        <p:nvSpPr>
          <p:cNvPr id="5" name="Tekstvak 4">
            <a:extLst>
              <a:ext uri="{FF2B5EF4-FFF2-40B4-BE49-F238E27FC236}">
                <a16:creationId xmlns:a16="http://schemas.microsoft.com/office/drawing/2014/main" id="{89AF50CC-1EA8-9F38-7B48-4C5474DFA027}"/>
              </a:ext>
            </a:extLst>
          </p:cNvPr>
          <p:cNvSpPr txBox="1"/>
          <p:nvPr/>
        </p:nvSpPr>
        <p:spPr>
          <a:xfrm>
            <a:off x="6096000" y="780104"/>
            <a:ext cx="2206117" cy="400110"/>
          </a:xfrm>
          <a:prstGeom prst="rect">
            <a:avLst/>
          </a:prstGeom>
          <a:noFill/>
        </p:spPr>
        <p:txBody>
          <a:bodyPr wrap="non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Meet the Professor</a:t>
            </a:r>
          </a:p>
        </p:txBody>
      </p:sp>
      <p:sp>
        <p:nvSpPr>
          <p:cNvPr id="6" name="Tekstvak 5">
            <a:extLst>
              <a:ext uri="{FF2B5EF4-FFF2-40B4-BE49-F238E27FC236}">
                <a16:creationId xmlns:a16="http://schemas.microsoft.com/office/drawing/2014/main" id="{A7C3E6A1-F118-8F8B-CC64-4E5C008316DD}"/>
              </a:ext>
            </a:extLst>
          </p:cNvPr>
          <p:cNvSpPr txBox="1"/>
          <p:nvPr/>
        </p:nvSpPr>
        <p:spPr>
          <a:xfrm>
            <a:off x="550696" y="1212245"/>
            <a:ext cx="5045432" cy="830997"/>
          </a:xfrm>
          <a:prstGeom prst="rect">
            <a:avLst/>
          </a:prstGeom>
          <a:noFill/>
        </p:spPr>
        <p:txBody>
          <a:bodyPr wrap="square" rtlCol="0" anchor="ctr">
            <a:spAutoFit/>
          </a:bodyPr>
          <a:lstStyle/>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Researchers, artists and visitors meet each other</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Music, live experiments, art and film</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Sharing visions and insights on today’s world </a:t>
            </a:r>
          </a:p>
        </p:txBody>
      </p:sp>
      <p:sp>
        <p:nvSpPr>
          <p:cNvPr id="7" name="Tekstvak 6">
            <a:extLst>
              <a:ext uri="{FF2B5EF4-FFF2-40B4-BE49-F238E27FC236}">
                <a16:creationId xmlns:a16="http://schemas.microsoft.com/office/drawing/2014/main" id="{B09EC6EE-452B-ACF4-3EDF-29E8C0576DF2}"/>
              </a:ext>
            </a:extLst>
          </p:cNvPr>
          <p:cNvSpPr txBox="1"/>
          <p:nvPr/>
        </p:nvSpPr>
        <p:spPr>
          <a:xfrm>
            <a:off x="446950" y="5507255"/>
            <a:ext cx="4672971" cy="276999"/>
          </a:xfrm>
          <a:prstGeom prst="rect">
            <a:avLst/>
          </a:prstGeom>
          <a:noFill/>
        </p:spPr>
        <p:txBody>
          <a:bodyPr wrap="square" rtlCol="0" anchor="ctr">
            <a:spAutoFit/>
          </a:bodyPr>
          <a:lstStyle/>
          <a:p>
            <a:r>
              <a:rPr lang="en-GB" sz="1200" noProof="0">
                <a:latin typeface="Calibri" panose="020F0502020204030204" pitchFamily="34" charset="0"/>
                <a:ea typeface="Calibri" panose="020F0502020204030204" pitchFamily="34" charset="0"/>
                <a:cs typeface="Calibri" panose="020F0502020204030204" pitchFamily="34" charset="0"/>
              </a:rPr>
              <a:t>Photo: </a:t>
            </a:r>
            <a:r>
              <a:rPr lang="en-GB" sz="1200" noProof="0">
                <a:latin typeface="Calibri" panose="020F0502020204030204" pitchFamily="34" charset="0"/>
                <a:ea typeface="Calibri" panose="020F0502020204030204" pitchFamily="34" charset="0"/>
                <a:cs typeface="Calibri" panose="020F0502020204030204" pitchFamily="34" charset="0"/>
                <a:hlinkClick r:id="rId4"/>
              </a:rPr>
              <a:t>www.betweterfestival.nl</a:t>
            </a:r>
            <a:r>
              <a:rPr lang="en-GB" sz="1200" noProof="0">
                <a:latin typeface="Calibri" panose="020F0502020204030204" pitchFamily="34" charset="0"/>
                <a:ea typeface="Calibri" panose="020F0502020204030204" pitchFamily="34" charset="0"/>
                <a:cs typeface="Calibri" panose="020F0502020204030204" pitchFamily="34" charset="0"/>
              </a:rPr>
              <a:t>   </a:t>
            </a:r>
          </a:p>
        </p:txBody>
      </p:sp>
      <p:pic>
        <p:nvPicPr>
          <p:cNvPr id="3" name="Picture 2" descr="Groepsfoto in het Academiegebouw tijdens Meet the Professor">
            <a:extLst>
              <a:ext uri="{FF2B5EF4-FFF2-40B4-BE49-F238E27FC236}">
                <a16:creationId xmlns:a16="http://schemas.microsoft.com/office/drawing/2014/main" id="{A2E168EE-4647-C2EA-B48B-A4C85DBEBB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9745" y="2461106"/>
            <a:ext cx="4567813" cy="3046149"/>
          </a:xfrm>
          <a:prstGeom prst="rect">
            <a:avLst/>
          </a:prstGeom>
          <a:noFill/>
          <a:extLst>
            <a:ext uri="{909E8E84-426E-40DD-AFC4-6F175D3DCCD1}">
              <a14:hiddenFill xmlns:a14="http://schemas.microsoft.com/office/drawing/2010/main">
                <a:solidFill>
                  <a:srgbClr val="FFFFFF"/>
                </a:solidFill>
              </a14:hiddenFill>
            </a:ext>
          </a:extLst>
        </p:spPr>
      </p:pic>
      <p:sp>
        <p:nvSpPr>
          <p:cNvPr id="8" name="Tekstvak 7">
            <a:extLst>
              <a:ext uri="{FF2B5EF4-FFF2-40B4-BE49-F238E27FC236}">
                <a16:creationId xmlns:a16="http://schemas.microsoft.com/office/drawing/2014/main" id="{9FBC0875-E302-ABB9-F515-0CC80FC26754}"/>
              </a:ext>
            </a:extLst>
          </p:cNvPr>
          <p:cNvSpPr txBox="1"/>
          <p:nvPr/>
        </p:nvSpPr>
        <p:spPr>
          <a:xfrm>
            <a:off x="6131941" y="5507255"/>
            <a:ext cx="4635617" cy="461665"/>
          </a:xfrm>
          <a:prstGeom prst="rect">
            <a:avLst/>
          </a:prstGeom>
          <a:noFill/>
        </p:spPr>
        <p:txBody>
          <a:bodyPr wrap="square" rtlCol="0" anchor="t">
            <a:spAutoFit/>
          </a:bodyPr>
          <a:lstStyle/>
          <a:p>
            <a:r>
              <a:rPr lang="en-GB" sz="1200" noProof="0">
                <a:latin typeface="Calibri" panose="020F0502020204030204" pitchFamily="34" charset="0"/>
                <a:ea typeface="Calibri" panose="020F0502020204030204" pitchFamily="34" charset="0"/>
                <a:cs typeface="Calibri" panose="020F0502020204030204" pitchFamily="34" charset="0"/>
              </a:rPr>
              <a:t>Photo: Lize Kraan, </a:t>
            </a:r>
            <a:r>
              <a:rPr lang="en-GB" sz="1200" noProof="0">
                <a:latin typeface="Calibri" panose="020F0502020204030204" pitchFamily="34" charset="0"/>
                <a:ea typeface="Calibri" panose="020F0502020204030204" pitchFamily="34" charset="0"/>
                <a:cs typeface="Calibri" panose="020F0502020204030204" pitchFamily="34" charset="0"/>
                <a:hlinkClick r:id="rId6"/>
              </a:rPr>
              <a:t>https://www.uu.nl/nieuws/niet-een-maar-twee-onderzoekers-fietsen-naar-de-basisschool</a:t>
            </a:r>
            <a:r>
              <a:rPr lang="en-GB" sz="1200" noProof="0">
                <a:latin typeface="Calibri" panose="020F0502020204030204" pitchFamily="34" charset="0"/>
                <a:ea typeface="Calibri" panose="020F0502020204030204" pitchFamily="34" charset="0"/>
                <a:cs typeface="Calibri" panose="020F0502020204030204" pitchFamily="34" charset="0"/>
              </a:rPr>
              <a:t> </a:t>
            </a:r>
          </a:p>
        </p:txBody>
      </p:sp>
      <p:sp>
        <p:nvSpPr>
          <p:cNvPr id="9" name="Tekstvak 8">
            <a:extLst>
              <a:ext uri="{FF2B5EF4-FFF2-40B4-BE49-F238E27FC236}">
                <a16:creationId xmlns:a16="http://schemas.microsoft.com/office/drawing/2014/main" id="{435F0952-703E-CD77-383D-920042E22265}"/>
              </a:ext>
            </a:extLst>
          </p:cNvPr>
          <p:cNvSpPr txBox="1"/>
          <p:nvPr/>
        </p:nvSpPr>
        <p:spPr>
          <a:xfrm>
            <a:off x="6096000" y="1212245"/>
            <a:ext cx="5045432" cy="1077218"/>
          </a:xfrm>
          <a:prstGeom prst="rect">
            <a:avLst/>
          </a:prstGeom>
          <a:noFill/>
        </p:spPr>
        <p:txBody>
          <a:bodyPr wrap="square" rtlCol="0" anchor="t">
            <a:spAutoFit/>
          </a:bodyPr>
          <a:lstStyle/>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UU researchers visit primary schools in Utrecht</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The students are introduced to research in an accessible way and can ask questions to the researchers. </a:t>
            </a:r>
          </a:p>
        </p:txBody>
      </p:sp>
    </p:spTree>
    <p:extLst>
      <p:ext uri="{BB962C8B-B14F-4D97-AF65-F5344CB8AC3E}">
        <p14:creationId xmlns:p14="http://schemas.microsoft.com/office/powerpoint/2010/main" val="3966682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F5D33-1653-5176-288A-8E98B07E3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EE91D-8FAB-657C-69F7-36A6C58F6ED9}"/>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13. Have students work on projects with and for society</a:t>
            </a:r>
            <a:endParaRPr lang="en-GB" noProof="0"/>
          </a:p>
        </p:txBody>
      </p:sp>
      <p:sp>
        <p:nvSpPr>
          <p:cNvPr id="4" name="Rectangle: Rounded Corners 3">
            <a:extLst>
              <a:ext uri="{FF2B5EF4-FFF2-40B4-BE49-F238E27FC236}">
                <a16:creationId xmlns:a16="http://schemas.microsoft.com/office/drawing/2014/main" id="{CD6571C4-A010-3262-C470-A24E332262F1}"/>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BC84B3E7-2089-0F56-F0D3-347E653BABE1}"/>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52BBE0C6-FC52-501C-0FF1-0EE9DD426A70}"/>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F19DFFC2-CEE8-2CC9-BAEE-775286EF78E0}"/>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A08B3FFD-4030-D608-7FCD-A5FB388C7A95}"/>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A24E2263-4367-AD03-FF1C-44BCA897602D}"/>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Community Engaged Learning (CEL)</a:t>
            </a:r>
            <a:endParaRPr lang="en-GB" noProof="0"/>
          </a:p>
        </p:txBody>
      </p:sp>
      <p:sp>
        <p:nvSpPr>
          <p:cNvPr id="11" name="TextBox 10">
            <a:extLst>
              <a:ext uri="{FF2B5EF4-FFF2-40B4-BE49-F238E27FC236}">
                <a16:creationId xmlns:a16="http://schemas.microsoft.com/office/drawing/2014/main" id="{190D075D-A3B8-5C70-C9EB-AD70776C14B9}"/>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5879BB50-40B8-B4B1-7005-1B702871B993}"/>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56954724-2E8E-0E2C-0D18-02C0EBB4FBF7}"/>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8D921B9B-380F-A369-3BF0-7C1C8DE60ACE}"/>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68B975B4-40A2-A43E-DAAC-C7CF497C2678}"/>
              </a:ext>
            </a:extLst>
          </p:cNvPr>
          <p:cNvPicPr>
            <a:picLocks noChangeAspect="1"/>
          </p:cNvPicPr>
          <p:nvPr/>
        </p:nvPicPr>
        <p:blipFill>
          <a:blip r:embed="rId2"/>
          <a:stretch>
            <a:fillRect/>
          </a:stretch>
        </p:blipFill>
        <p:spPr>
          <a:xfrm>
            <a:off x="26821" y="30831"/>
            <a:ext cx="523875" cy="523875"/>
          </a:xfrm>
          <a:prstGeom prst="rect">
            <a:avLst/>
          </a:prstGeom>
        </p:spPr>
      </p:pic>
      <p:sp>
        <p:nvSpPr>
          <p:cNvPr id="6" name="TextBox 15">
            <a:extLst>
              <a:ext uri="{FF2B5EF4-FFF2-40B4-BE49-F238E27FC236}">
                <a16:creationId xmlns:a16="http://schemas.microsoft.com/office/drawing/2014/main" id="{C1D98717-E511-CBD6-4239-F4C4F727B1FF}"/>
              </a:ext>
            </a:extLst>
          </p:cNvPr>
          <p:cNvSpPr txBox="1"/>
          <p:nvPr/>
        </p:nvSpPr>
        <p:spPr>
          <a:xfrm>
            <a:off x="430389" y="1210958"/>
            <a:ext cx="364066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Community Engaged Learning focuses on societal challenges requiring scientific knowledge. Projects are based on mutual benefit: while the community partner’s needs, questions or goals are </a:t>
            </a:r>
            <a:r>
              <a:rPr lang="en-GB" sz="1600">
                <a:latin typeface="Calibri"/>
                <a:ea typeface="Calibri"/>
                <a:cs typeface="Calibri"/>
              </a:rPr>
              <a:t>addressed</a:t>
            </a:r>
            <a:r>
              <a:rPr lang="en-GB" sz="1600" noProof="0">
                <a:latin typeface="Calibri"/>
                <a:ea typeface="Calibri"/>
                <a:cs typeface="Calibri"/>
              </a:rPr>
              <a:t>, students learn through engagement. </a:t>
            </a:r>
          </a:p>
        </p:txBody>
      </p:sp>
      <p:sp>
        <p:nvSpPr>
          <p:cNvPr id="16" name="TextBox 20">
            <a:extLst>
              <a:ext uri="{FF2B5EF4-FFF2-40B4-BE49-F238E27FC236}">
                <a16:creationId xmlns:a16="http://schemas.microsoft.com/office/drawing/2014/main" id="{C1D02FBE-59F9-48E2-A873-AAB53EA906D9}"/>
              </a:ext>
            </a:extLst>
          </p:cNvPr>
          <p:cNvSpPr txBox="1"/>
          <p:nvPr/>
        </p:nvSpPr>
        <p:spPr>
          <a:xfrm>
            <a:off x="9913886" y="4269235"/>
            <a:ext cx="1873339"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600" noProof="0">
                <a:latin typeface="Calibri"/>
                <a:ea typeface="Calibri"/>
                <a:cs typeface="Calibri"/>
              </a:rPr>
              <a:t>CEL at Utrecht University: </a:t>
            </a:r>
            <a:br>
              <a:rPr lang="en-GB" sz="1600" noProof="0">
                <a:latin typeface="Calibri"/>
                <a:ea typeface="Calibri"/>
                <a:cs typeface="Calibri"/>
              </a:rPr>
            </a:br>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www.uu.nl/en/education/community-engaged-learning/great-examples</a:t>
            </a:r>
            <a:r>
              <a:rPr lang="en-GB" sz="1600" noProof="0">
                <a:latin typeface="Calibri"/>
                <a:ea typeface="Calibri"/>
                <a:cs typeface="Calibri"/>
              </a:rPr>
              <a:t> </a:t>
            </a:r>
          </a:p>
        </p:txBody>
      </p:sp>
      <p:sp>
        <p:nvSpPr>
          <p:cNvPr id="17" name="TextBox 16">
            <a:extLst>
              <a:ext uri="{FF2B5EF4-FFF2-40B4-BE49-F238E27FC236}">
                <a16:creationId xmlns:a16="http://schemas.microsoft.com/office/drawing/2014/main" id="{87F67332-0D97-3D7E-38FC-FC1679079077}"/>
              </a:ext>
            </a:extLst>
          </p:cNvPr>
          <p:cNvSpPr txBox="1"/>
          <p:nvPr/>
        </p:nvSpPr>
        <p:spPr>
          <a:xfrm>
            <a:off x="404775" y="4269235"/>
            <a:ext cx="3640666"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Learning goals for CEL are based on knowledge, skills, values and attitudes (uu.nl). It enables students to apply academic knowledge in real-world contexts while strengthening the societal impact and relevance of education. Students reflect on the role of science in society. </a:t>
            </a:r>
          </a:p>
        </p:txBody>
      </p:sp>
      <p:sp>
        <p:nvSpPr>
          <p:cNvPr id="18" name="TextBox 17">
            <a:extLst>
              <a:ext uri="{FF2B5EF4-FFF2-40B4-BE49-F238E27FC236}">
                <a16:creationId xmlns:a16="http://schemas.microsoft.com/office/drawing/2014/main" id="{D62799BA-28D7-0466-40D6-F602A446CC3E}"/>
              </a:ext>
            </a:extLst>
          </p:cNvPr>
          <p:cNvSpPr txBox="1"/>
          <p:nvPr/>
        </p:nvSpPr>
        <p:spPr>
          <a:xfrm>
            <a:off x="4739267" y="1200545"/>
            <a:ext cx="459058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Community Engaged Learning activities at the UU contain at least the following components:</a:t>
            </a:r>
          </a:p>
          <a:p>
            <a:pPr marL="285750" indent="-285750">
              <a:buFont typeface="Arial" panose="020B0604020202020204" pitchFamily="34" charset="0"/>
              <a:buChar char="•"/>
            </a:pPr>
            <a:r>
              <a:rPr lang="en-GB" sz="1600" noProof="0">
                <a:latin typeface="Calibri"/>
                <a:ea typeface="Calibri"/>
                <a:cs typeface="Calibri"/>
              </a:rPr>
              <a:t>An external partner outside higher education is involved in the activity, and has direct interactions with students and instructors. </a:t>
            </a:r>
          </a:p>
          <a:p>
            <a:pPr marL="285750" indent="-285750">
              <a:buFont typeface="Arial" panose="020B0604020202020204" pitchFamily="34" charset="0"/>
              <a:buChar char="•"/>
            </a:pPr>
            <a:r>
              <a:rPr lang="en-GB" sz="1600" noProof="0">
                <a:latin typeface="Calibri"/>
                <a:ea typeface="Calibri"/>
                <a:cs typeface="Calibri"/>
              </a:rPr>
              <a:t>The activities focus on societal challenges and also consider the underlying elements. </a:t>
            </a:r>
          </a:p>
          <a:p>
            <a:pPr marL="285750" indent="-285750">
              <a:buFont typeface="Arial" panose="020B0604020202020204" pitchFamily="34" charset="0"/>
              <a:buChar char="•"/>
            </a:pPr>
            <a:r>
              <a:rPr lang="en-GB" sz="1600" noProof="0">
                <a:latin typeface="Calibri"/>
                <a:ea typeface="Calibri"/>
                <a:cs typeface="Calibri"/>
              </a:rPr>
              <a:t>Students reflect on their personals experiences, explore their own value and link them with those of other participants.	(Source: uu.nl)</a:t>
            </a:r>
          </a:p>
          <a:p>
            <a:endParaRPr lang="en-GB" sz="1600" noProof="0">
              <a:latin typeface="Calibri"/>
              <a:ea typeface="Calibri"/>
              <a:cs typeface="Calibri"/>
            </a:endParaRPr>
          </a:p>
          <a:p>
            <a:r>
              <a:rPr lang="en-GB" sz="1600" noProof="0">
                <a:latin typeface="Calibri"/>
                <a:ea typeface="Calibri"/>
                <a:cs typeface="Calibri"/>
              </a:rPr>
              <a:t>CEL is based on collaboration rather than service. It takes time to build the long-term relationships that benefit a good collaboration. </a:t>
            </a:r>
          </a:p>
          <a:p>
            <a:endParaRPr lang="en-GB" sz="1600" noProof="0">
              <a:latin typeface="Calibri"/>
              <a:ea typeface="Calibri"/>
              <a:cs typeface="Calibri"/>
            </a:endParaRPr>
          </a:p>
          <a:p>
            <a:r>
              <a:rPr lang="en-GB" sz="1600" noProof="0">
                <a:latin typeface="Calibri"/>
                <a:ea typeface="Calibri"/>
                <a:cs typeface="Calibri"/>
              </a:rPr>
              <a:t>Students are often not used to collaborating outside academia. Help them to engage respectfully and effectively. </a:t>
            </a:r>
          </a:p>
        </p:txBody>
      </p:sp>
      <p:grpSp>
        <p:nvGrpSpPr>
          <p:cNvPr id="19" name="Groep 18">
            <a:extLst>
              <a:ext uri="{FF2B5EF4-FFF2-40B4-BE49-F238E27FC236}">
                <a16:creationId xmlns:a16="http://schemas.microsoft.com/office/drawing/2014/main" id="{097BEFB6-7A0B-68C0-53A5-639EBAB0FA6D}"/>
              </a:ext>
            </a:extLst>
          </p:cNvPr>
          <p:cNvGrpSpPr>
            <a:grpSpLocks noChangeAspect="1"/>
          </p:cNvGrpSpPr>
          <p:nvPr/>
        </p:nvGrpSpPr>
        <p:grpSpPr>
          <a:xfrm>
            <a:off x="10729120" y="108056"/>
            <a:ext cx="1241039" cy="370500"/>
            <a:chOff x="3369251" y="2755098"/>
            <a:chExt cx="635773" cy="189804"/>
          </a:xfrm>
        </p:grpSpPr>
        <p:pic>
          <p:nvPicPr>
            <p:cNvPr id="20" name="Picture 24">
              <a:extLst>
                <a:ext uri="{FF2B5EF4-FFF2-40B4-BE49-F238E27FC236}">
                  <a16:creationId xmlns:a16="http://schemas.microsoft.com/office/drawing/2014/main" id="{2CFD5C39-E1FD-CA28-BD60-DDC76BAFDB54}"/>
                </a:ext>
              </a:extLst>
            </p:cNvPr>
            <p:cNvPicPr>
              <a:picLocks noChangeAspect="1"/>
            </p:cNvPicPr>
            <p:nvPr/>
          </p:nvPicPr>
          <p:blipFill>
            <a:blip r:embed="rId4"/>
            <a:stretch>
              <a:fillRect/>
            </a:stretch>
          </p:blipFill>
          <p:spPr>
            <a:xfrm>
              <a:off x="3587778" y="2755098"/>
              <a:ext cx="204441" cy="189804"/>
            </a:xfrm>
            <a:prstGeom prst="rect">
              <a:avLst/>
            </a:prstGeom>
          </p:spPr>
        </p:pic>
        <p:pic>
          <p:nvPicPr>
            <p:cNvPr id="23" name="Picture 26">
              <a:extLst>
                <a:ext uri="{FF2B5EF4-FFF2-40B4-BE49-F238E27FC236}">
                  <a16:creationId xmlns:a16="http://schemas.microsoft.com/office/drawing/2014/main" id="{CE95C1AD-B51B-0E00-50BA-22895FC71AB4}"/>
                </a:ext>
              </a:extLst>
            </p:cNvPr>
            <p:cNvPicPr>
              <a:picLocks noChangeAspect="1"/>
            </p:cNvPicPr>
            <p:nvPr/>
          </p:nvPicPr>
          <p:blipFill>
            <a:blip r:embed="rId4"/>
            <a:stretch>
              <a:fillRect/>
            </a:stretch>
          </p:blipFill>
          <p:spPr>
            <a:xfrm>
              <a:off x="3800583" y="2755098"/>
              <a:ext cx="204441" cy="189804"/>
            </a:xfrm>
            <a:prstGeom prst="rect">
              <a:avLst/>
            </a:prstGeom>
          </p:spPr>
        </p:pic>
        <p:pic>
          <p:nvPicPr>
            <p:cNvPr id="25" name="Picture 79">
              <a:extLst>
                <a:ext uri="{FF2B5EF4-FFF2-40B4-BE49-F238E27FC236}">
                  <a16:creationId xmlns:a16="http://schemas.microsoft.com/office/drawing/2014/main" id="{53781768-408F-872E-F361-47618A428DBF}"/>
                </a:ext>
              </a:extLst>
            </p:cNvPr>
            <p:cNvPicPr>
              <a:picLocks noChangeAspect="1"/>
            </p:cNvPicPr>
            <p:nvPr/>
          </p:nvPicPr>
          <p:blipFill>
            <a:blip r:embed="rId4"/>
            <a:stretch>
              <a:fillRect/>
            </a:stretch>
          </p:blipFill>
          <p:spPr>
            <a:xfrm>
              <a:off x="3369251" y="2755098"/>
              <a:ext cx="204441" cy="189804"/>
            </a:xfrm>
            <a:prstGeom prst="rect">
              <a:avLst/>
            </a:prstGeom>
          </p:spPr>
        </p:pic>
      </p:grpSp>
      <p:sp>
        <p:nvSpPr>
          <p:cNvPr id="3" name="TextBox 2">
            <a:extLst>
              <a:ext uri="{FF2B5EF4-FFF2-40B4-BE49-F238E27FC236}">
                <a16:creationId xmlns:a16="http://schemas.microsoft.com/office/drawing/2014/main" id="{559A8CEA-B36E-3A00-09DB-D5DF494D395B}"/>
              </a:ext>
            </a:extLst>
          </p:cNvPr>
          <p:cNvSpPr txBox="1"/>
          <p:nvPr/>
        </p:nvSpPr>
        <p:spPr>
          <a:xfrm>
            <a:off x="9898551" y="1200545"/>
            <a:ext cx="2021840"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solidFill>
                  <a:srgbClr val="000000"/>
                </a:solidFill>
                <a:latin typeface="Calibri"/>
                <a:ea typeface="Segoe UI"/>
                <a:cs typeface="Segoe UI"/>
              </a:rPr>
              <a:t>Tackling real world problems (TIC): </a:t>
            </a:r>
          </a:p>
          <a:p>
            <a:r>
              <a:rPr lang="en-GB" sz="1600" u="sng" noProof="0">
                <a:solidFill>
                  <a:srgbClr val="000000"/>
                </a:solidFill>
                <a:latin typeface="Calibri"/>
                <a:ea typeface="Segoe UI"/>
                <a:cs typeface="Segoe UI"/>
                <a:hlinkClick r:id="rId5">
                  <a:extLst>
                    <a:ext uri="{A12FA001-AC4F-418D-AE19-62706E023703}">
                      <ahyp:hlinkClr xmlns:ahyp="http://schemas.microsoft.com/office/drawing/2018/hyperlinkcolor" val="tx"/>
                    </a:ext>
                  </a:extLst>
                </a:hlinkClick>
              </a:rPr>
              <a:t>https</a:t>
            </a:r>
            <a:r>
              <a:rPr lang="en-GB" sz="1600" u="sng" strike="noStrike" baseline="0" noProof="0">
                <a:solidFill>
                  <a:srgbClr val="000000"/>
                </a:solidFill>
                <a:latin typeface="Calibri"/>
                <a:ea typeface="Segoe UI"/>
                <a:cs typeface="Segoe UI"/>
                <a:hlinkClick r:id="rId5">
                  <a:extLst>
                    <a:ext uri="{A12FA001-AC4F-418D-AE19-62706E023703}">
                      <ahyp:hlinkClr xmlns:ahyp="http://schemas.microsoft.com/office/drawing/2018/hyperlinkcolor" val="tx"/>
                    </a:ext>
                  </a:extLst>
                </a:hlinkClick>
              </a:rPr>
              <a:t>://tic-to-tic.sites.uu.nl/</a:t>
            </a:r>
            <a:r>
              <a:rPr lang="en-GB" sz="1600" baseline="0" noProof="0">
                <a:latin typeface="Calibri"/>
              </a:rPr>
              <a:t> </a:t>
            </a:r>
            <a:r>
              <a:rPr lang="en-GB" sz="1600" noProof="0">
                <a:latin typeface="Calibri"/>
                <a:ea typeface="Calibri"/>
                <a:cs typeface="Calibri"/>
              </a:rPr>
              <a:t>​</a:t>
            </a:r>
            <a:endParaRPr lang="en-GB" noProof="0"/>
          </a:p>
          <a:p>
            <a:pPr algn="ctr"/>
            <a:endParaRPr lang="en-GB" noProof="0"/>
          </a:p>
        </p:txBody>
      </p:sp>
    </p:spTree>
    <p:extLst>
      <p:ext uri="{BB962C8B-B14F-4D97-AF65-F5344CB8AC3E}">
        <p14:creationId xmlns:p14="http://schemas.microsoft.com/office/powerpoint/2010/main" val="2845257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AC4EC-AA48-6E9D-0D3D-1117EE42FA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F09D2-55A9-D230-8054-4431DCA44900}"/>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Have students work on projects with and for society</a:t>
            </a:r>
            <a:endParaRPr lang="en-GB" noProof="0"/>
          </a:p>
        </p:txBody>
      </p:sp>
      <p:pic>
        <p:nvPicPr>
          <p:cNvPr id="22" name="Picture 21">
            <a:extLst>
              <a:ext uri="{FF2B5EF4-FFF2-40B4-BE49-F238E27FC236}">
                <a16:creationId xmlns:a16="http://schemas.microsoft.com/office/drawing/2014/main" id="{73CE5F86-62E9-EA33-517F-FEE91754BDD6}"/>
              </a:ext>
            </a:extLst>
          </p:cNvPr>
          <p:cNvPicPr>
            <a:picLocks noChangeAspect="1"/>
          </p:cNvPicPr>
          <p:nvPr/>
        </p:nvPicPr>
        <p:blipFill>
          <a:blip r:embed="rId2"/>
          <a:stretch>
            <a:fillRect/>
          </a:stretch>
        </p:blipFill>
        <p:spPr>
          <a:xfrm>
            <a:off x="26821" y="30831"/>
            <a:ext cx="523875" cy="523875"/>
          </a:xfrm>
          <a:prstGeom prst="rect">
            <a:avLst/>
          </a:prstGeom>
        </p:spPr>
      </p:pic>
      <p:pic>
        <p:nvPicPr>
          <p:cNvPr id="8" name="Picture 7">
            <a:hlinkClick r:id="rId3"/>
            <a:extLst>
              <a:ext uri="{FF2B5EF4-FFF2-40B4-BE49-F238E27FC236}">
                <a16:creationId xmlns:a16="http://schemas.microsoft.com/office/drawing/2014/main" id="{34A3C3F1-6E4E-F942-5489-EDD35F430341}"/>
              </a:ext>
            </a:extLst>
          </p:cNvPr>
          <p:cNvPicPr>
            <a:picLocks noChangeAspect="1"/>
          </p:cNvPicPr>
          <p:nvPr/>
        </p:nvPicPr>
        <p:blipFill>
          <a:blip r:embed="rId4"/>
          <a:stretch>
            <a:fillRect/>
          </a:stretch>
        </p:blipFill>
        <p:spPr>
          <a:xfrm>
            <a:off x="550696" y="1299176"/>
            <a:ext cx="9279870" cy="5274344"/>
          </a:xfrm>
          <a:prstGeom prst="rect">
            <a:avLst/>
          </a:prstGeom>
        </p:spPr>
      </p:pic>
      <p:sp>
        <p:nvSpPr>
          <p:cNvPr id="9" name="TextBox 8">
            <a:extLst>
              <a:ext uri="{FF2B5EF4-FFF2-40B4-BE49-F238E27FC236}">
                <a16:creationId xmlns:a16="http://schemas.microsoft.com/office/drawing/2014/main" id="{B21CA9D8-72D1-4642-5BB5-D1F25CE02EC2}"/>
              </a:ext>
            </a:extLst>
          </p:cNvPr>
          <p:cNvSpPr txBox="1"/>
          <p:nvPr/>
        </p:nvSpPr>
        <p:spPr>
          <a:xfrm>
            <a:off x="444086" y="6520431"/>
            <a:ext cx="37459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https://tic-to-tic.sites.uu.nl/</a:t>
            </a:r>
            <a:r>
              <a:rPr lang="en-GB" sz="1600" noProof="0">
                <a:latin typeface="Calibri" panose="020F0502020204030204" pitchFamily="34" charset="0"/>
                <a:ea typeface="Calibri" panose="020F0502020204030204" pitchFamily="34" charset="0"/>
                <a:cs typeface="Calibri" panose="020F0502020204030204" pitchFamily="34" charset="0"/>
              </a:rPr>
              <a:t> </a:t>
            </a:r>
          </a:p>
        </p:txBody>
      </p:sp>
      <p:sp>
        <p:nvSpPr>
          <p:cNvPr id="3" name="Tekstvak 2">
            <a:extLst>
              <a:ext uri="{FF2B5EF4-FFF2-40B4-BE49-F238E27FC236}">
                <a16:creationId xmlns:a16="http://schemas.microsoft.com/office/drawing/2014/main" id="{ABD75744-487D-2CAA-2C94-C01367FCA0AD}"/>
              </a:ext>
            </a:extLst>
          </p:cNvPr>
          <p:cNvSpPr txBox="1"/>
          <p:nvPr/>
        </p:nvSpPr>
        <p:spPr>
          <a:xfrm>
            <a:off x="550696" y="780104"/>
            <a:ext cx="8237704" cy="400110"/>
          </a:xfrm>
          <a:prstGeom prst="rect">
            <a:avLst/>
          </a:prstGeom>
          <a:noFill/>
        </p:spPr>
        <p:txBody>
          <a:bodyPr wrap="squar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Tackling real-world problems through Interdisciplinary Collaboration (TIC)</a:t>
            </a:r>
          </a:p>
        </p:txBody>
      </p:sp>
    </p:spTree>
    <p:extLst>
      <p:ext uri="{BB962C8B-B14F-4D97-AF65-F5344CB8AC3E}">
        <p14:creationId xmlns:p14="http://schemas.microsoft.com/office/powerpoint/2010/main" val="2266163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D9C0B-01E5-66E9-C0D5-D39A8A9ED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8126C-6010-2E98-1B54-129932113A99}"/>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14. Involve students in creating a course</a:t>
            </a:r>
            <a:endParaRPr lang="en-GB" noProof="0"/>
          </a:p>
        </p:txBody>
      </p:sp>
      <p:sp>
        <p:nvSpPr>
          <p:cNvPr id="4" name="Rectangle: Rounded Corners 3">
            <a:extLst>
              <a:ext uri="{FF2B5EF4-FFF2-40B4-BE49-F238E27FC236}">
                <a16:creationId xmlns:a16="http://schemas.microsoft.com/office/drawing/2014/main" id="{E8EF5451-1713-7C1E-B59C-85B2B9F0ECBC}"/>
              </a:ext>
            </a:extLst>
          </p:cNvPr>
          <p:cNvSpPr/>
          <p:nvPr/>
        </p:nvSpPr>
        <p:spPr>
          <a:xfrm>
            <a:off x="4518823" y="694882"/>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E9F7F207-9B31-2B9A-CE37-58E9EA0680F4}"/>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9804F75C-5576-5440-4CBF-907297C0E09C}"/>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14941CA7-0145-7F13-A74E-674B3DB9B726}"/>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84843983-1306-DC7C-DEB9-B8A31EAED845}"/>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36214392-909F-C46A-B03B-4BC552FA99F6}"/>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Design, development, improvement</a:t>
            </a:r>
            <a:endParaRPr lang="en-GB" noProof="0"/>
          </a:p>
        </p:txBody>
      </p:sp>
      <p:sp>
        <p:nvSpPr>
          <p:cNvPr id="11" name="TextBox 10">
            <a:extLst>
              <a:ext uri="{FF2B5EF4-FFF2-40B4-BE49-F238E27FC236}">
                <a16:creationId xmlns:a16="http://schemas.microsoft.com/office/drawing/2014/main" id="{41F7CC3D-2308-40D9-E1C5-11BCCD26F043}"/>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35F5B7C3-2AC3-8F69-AEA8-745385F35520}"/>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732390F6-ECC9-7D7D-D590-F9C12533DF5C}"/>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CF268F00-27AF-D1FD-2F6C-37CD9F867BC5}"/>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E8F1F97C-E64F-5118-7F63-8147CBC0D31F}"/>
              </a:ext>
            </a:extLst>
          </p:cNvPr>
          <p:cNvPicPr>
            <a:picLocks noChangeAspect="1"/>
          </p:cNvPicPr>
          <p:nvPr/>
        </p:nvPicPr>
        <p:blipFill>
          <a:blip r:embed="rId2"/>
          <a:stretch>
            <a:fillRect/>
          </a:stretch>
        </p:blipFill>
        <p:spPr>
          <a:xfrm>
            <a:off x="26821" y="30831"/>
            <a:ext cx="523875" cy="523875"/>
          </a:xfrm>
          <a:prstGeom prst="rect">
            <a:avLst/>
          </a:prstGeom>
        </p:spPr>
      </p:pic>
      <p:sp>
        <p:nvSpPr>
          <p:cNvPr id="3" name="TextBox 17">
            <a:extLst>
              <a:ext uri="{FF2B5EF4-FFF2-40B4-BE49-F238E27FC236}">
                <a16:creationId xmlns:a16="http://schemas.microsoft.com/office/drawing/2014/main" id="{68878346-95A4-250E-BEE4-65009855F768}"/>
              </a:ext>
            </a:extLst>
          </p:cNvPr>
          <p:cNvSpPr txBox="1"/>
          <p:nvPr/>
        </p:nvSpPr>
        <p:spPr>
          <a:xfrm>
            <a:off x="4739267" y="1200545"/>
            <a:ext cx="459058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Students can be involved in course creation through the different phases: design, development and improvement. </a:t>
            </a:r>
          </a:p>
          <a:p>
            <a:endParaRPr lang="en-GB" sz="1600" noProof="0">
              <a:latin typeface="Calibri"/>
              <a:ea typeface="Calibri"/>
              <a:cs typeface="Calibri"/>
            </a:endParaRPr>
          </a:p>
          <a:p>
            <a:endParaRPr lang="en-GB" sz="1600" noProof="0">
              <a:latin typeface="Calibri"/>
              <a:ea typeface="Calibri"/>
              <a:cs typeface="Calibri"/>
            </a:endParaRPr>
          </a:p>
          <a:p>
            <a:endParaRPr lang="en-GB" sz="1600" noProof="0">
              <a:latin typeface="Calibri"/>
              <a:ea typeface="Calibri"/>
              <a:cs typeface="Calibri"/>
            </a:endParaRPr>
          </a:p>
        </p:txBody>
      </p:sp>
      <p:sp>
        <p:nvSpPr>
          <p:cNvPr id="6" name="TextBox 15">
            <a:extLst>
              <a:ext uri="{FF2B5EF4-FFF2-40B4-BE49-F238E27FC236}">
                <a16:creationId xmlns:a16="http://schemas.microsoft.com/office/drawing/2014/main" id="{D110B265-4EE6-6904-B148-DE23BBDAF8FC}"/>
              </a:ext>
            </a:extLst>
          </p:cNvPr>
          <p:cNvSpPr txBox="1"/>
          <p:nvPr/>
        </p:nvSpPr>
        <p:spPr>
          <a:xfrm>
            <a:off x="430389" y="1210958"/>
            <a:ext cx="364066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Students that are involved in course creation, are not only the recipients of education, instead they co-create. Have you ever thought of their perspectives and experiences on course content, learning activities, materials or assessment? </a:t>
            </a:r>
          </a:p>
        </p:txBody>
      </p:sp>
      <p:sp>
        <p:nvSpPr>
          <p:cNvPr id="16" name="TextBox 16">
            <a:extLst>
              <a:ext uri="{FF2B5EF4-FFF2-40B4-BE49-F238E27FC236}">
                <a16:creationId xmlns:a16="http://schemas.microsoft.com/office/drawing/2014/main" id="{09B14F7E-B6E7-F4E4-50C2-053F48D300AE}"/>
              </a:ext>
            </a:extLst>
          </p:cNvPr>
          <p:cNvSpPr txBox="1"/>
          <p:nvPr/>
        </p:nvSpPr>
        <p:spPr>
          <a:xfrm>
            <a:off x="404775" y="4269235"/>
            <a:ext cx="364066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sz="1600" noProof="0">
                <a:latin typeface="Calibri"/>
                <a:ea typeface="Calibri"/>
                <a:cs typeface="Calibri"/>
              </a:rPr>
              <a:t>Improve course relevance, inclusivity and engagement</a:t>
            </a:r>
          </a:p>
          <a:p>
            <a:pPr marL="285750" indent="-285750">
              <a:buFont typeface="Arial" panose="020B0604020202020204" pitchFamily="34" charset="0"/>
              <a:buChar char="•"/>
            </a:pPr>
            <a:r>
              <a:rPr lang="en-GB" sz="1600" noProof="0">
                <a:latin typeface="Calibri"/>
                <a:ea typeface="Calibri"/>
                <a:cs typeface="Calibri"/>
              </a:rPr>
              <a:t>Improve students’ knowledge on relevant topics, while improving collaborative and design skills</a:t>
            </a:r>
          </a:p>
          <a:p>
            <a:pPr marL="285750" indent="-285750">
              <a:buFont typeface="Arial" panose="020B0604020202020204" pitchFamily="34" charset="0"/>
              <a:buChar char="•"/>
            </a:pPr>
            <a:r>
              <a:rPr lang="en-GB" sz="1600" noProof="0">
                <a:latin typeface="Calibri"/>
                <a:ea typeface="Calibri"/>
                <a:cs typeface="Calibri"/>
              </a:rPr>
              <a:t>Transparency, engagement and reflection</a:t>
            </a:r>
          </a:p>
        </p:txBody>
      </p:sp>
      <p:grpSp>
        <p:nvGrpSpPr>
          <p:cNvPr id="13" name="Groep 12">
            <a:extLst>
              <a:ext uri="{FF2B5EF4-FFF2-40B4-BE49-F238E27FC236}">
                <a16:creationId xmlns:a16="http://schemas.microsoft.com/office/drawing/2014/main" id="{52C1DD79-E642-4AC4-45BF-18DC5E967E7F}"/>
              </a:ext>
            </a:extLst>
          </p:cNvPr>
          <p:cNvGrpSpPr/>
          <p:nvPr/>
        </p:nvGrpSpPr>
        <p:grpSpPr>
          <a:xfrm>
            <a:off x="11155683" y="108056"/>
            <a:ext cx="814470" cy="370500"/>
            <a:chOff x="11155683" y="108056"/>
            <a:chExt cx="814470" cy="370500"/>
          </a:xfrm>
        </p:grpSpPr>
        <p:pic>
          <p:nvPicPr>
            <p:cNvPr id="17" name="Picture 24">
              <a:extLst>
                <a:ext uri="{FF2B5EF4-FFF2-40B4-BE49-F238E27FC236}">
                  <a16:creationId xmlns:a16="http://schemas.microsoft.com/office/drawing/2014/main" id="{565F0547-FCA5-3041-7405-A98C0031AD4B}"/>
                </a:ext>
              </a:extLst>
            </p:cNvPr>
            <p:cNvPicPr>
              <a:picLocks noChangeAspect="1"/>
            </p:cNvPicPr>
            <p:nvPr/>
          </p:nvPicPr>
          <p:blipFill>
            <a:blip r:embed="rId3"/>
            <a:stretch>
              <a:fillRect/>
            </a:stretch>
          </p:blipFill>
          <p:spPr>
            <a:xfrm>
              <a:off x="11155683" y="108056"/>
              <a:ext cx="399072" cy="370500"/>
            </a:xfrm>
            <a:prstGeom prst="rect">
              <a:avLst/>
            </a:prstGeom>
          </p:spPr>
        </p:pic>
        <p:pic>
          <p:nvPicPr>
            <p:cNvPr id="18" name="Picture 26">
              <a:extLst>
                <a:ext uri="{FF2B5EF4-FFF2-40B4-BE49-F238E27FC236}">
                  <a16:creationId xmlns:a16="http://schemas.microsoft.com/office/drawing/2014/main" id="{5863E78A-3FC9-F011-B791-B9A5AF0B1752}"/>
                </a:ext>
              </a:extLst>
            </p:cNvPr>
            <p:cNvPicPr>
              <a:picLocks noChangeAspect="1"/>
            </p:cNvPicPr>
            <p:nvPr/>
          </p:nvPicPr>
          <p:blipFill>
            <a:blip r:embed="rId3"/>
            <a:stretch>
              <a:fillRect/>
            </a:stretch>
          </p:blipFill>
          <p:spPr>
            <a:xfrm>
              <a:off x="11571081" y="108056"/>
              <a:ext cx="399072" cy="370500"/>
            </a:xfrm>
            <a:prstGeom prst="rect">
              <a:avLst/>
            </a:prstGeom>
          </p:spPr>
        </p:pic>
      </p:grpSp>
      <p:sp>
        <p:nvSpPr>
          <p:cNvPr id="19" name="TextBox 18">
            <a:extLst>
              <a:ext uri="{FF2B5EF4-FFF2-40B4-BE49-F238E27FC236}">
                <a16:creationId xmlns:a16="http://schemas.microsoft.com/office/drawing/2014/main" id="{59EBB129-32D0-F26C-D0DF-E1D5CADEF4E4}"/>
              </a:ext>
            </a:extLst>
          </p:cNvPr>
          <p:cNvSpPr txBox="1"/>
          <p:nvPr/>
        </p:nvSpPr>
        <p:spPr>
          <a:xfrm>
            <a:off x="9954227" y="4408025"/>
            <a:ext cx="192911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LibGuide on renewable assignments</a:t>
            </a:r>
          </a:p>
        </p:txBody>
      </p:sp>
      <p:sp>
        <p:nvSpPr>
          <p:cNvPr id="24" name="Tekstvak 23">
            <a:extLst>
              <a:ext uri="{FF2B5EF4-FFF2-40B4-BE49-F238E27FC236}">
                <a16:creationId xmlns:a16="http://schemas.microsoft.com/office/drawing/2014/main" id="{ECEB052B-1CCB-4A17-D752-33A497858172}"/>
              </a:ext>
            </a:extLst>
          </p:cNvPr>
          <p:cNvSpPr txBox="1"/>
          <p:nvPr/>
        </p:nvSpPr>
        <p:spPr>
          <a:xfrm>
            <a:off x="9932902" y="1228777"/>
            <a:ext cx="1929114" cy="830997"/>
          </a:xfrm>
          <a:prstGeom prst="rect">
            <a:avLst/>
          </a:prstGeom>
          <a:noFill/>
        </p:spPr>
        <p:txBody>
          <a:bodyPr wrap="square">
            <a:spAutoFit/>
          </a:bodyPr>
          <a:lstStyle/>
          <a:p>
            <a:r>
              <a:rPr lang="en-GB" sz="1600" noProof="0">
                <a:latin typeface="Calibri" panose="020F0502020204030204" pitchFamily="34" charset="0"/>
                <a:ea typeface="Calibri" panose="020F0502020204030204" pitchFamily="34" charset="0"/>
                <a:cs typeface="Calibri" panose="020F0502020204030204" pitchFamily="34" charset="0"/>
              </a:rPr>
              <a:t>University College </a:t>
            </a:r>
            <a:r>
              <a:rPr lang="en-GB" sz="1600" noProof="0">
                <a:latin typeface="Calibri" panose="020F0502020204030204" pitchFamily="34" charset="0"/>
                <a:ea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Student-designed course</a:t>
            </a:r>
            <a:endParaRPr lang="en-GB" sz="1600" noProof="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06945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FB08D-2805-1CC7-F5F0-A1D2A56AC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9971C-8DF4-B557-1AE1-64E095A829A5}"/>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Involve students in creating a course</a:t>
            </a:r>
            <a:endParaRPr lang="en-GB" noProof="0"/>
          </a:p>
        </p:txBody>
      </p:sp>
      <p:pic>
        <p:nvPicPr>
          <p:cNvPr id="22" name="Picture 21">
            <a:extLst>
              <a:ext uri="{FF2B5EF4-FFF2-40B4-BE49-F238E27FC236}">
                <a16:creationId xmlns:a16="http://schemas.microsoft.com/office/drawing/2014/main" id="{8B715CE8-3DB2-9BB3-878E-AD288F67D912}"/>
              </a:ext>
            </a:extLst>
          </p:cNvPr>
          <p:cNvPicPr>
            <a:picLocks noChangeAspect="1"/>
          </p:cNvPicPr>
          <p:nvPr/>
        </p:nvPicPr>
        <p:blipFill>
          <a:blip r:embed="rId2"/>
          <a:stretch>
            <a:fillRect/>
          </a:stretch>
        </p:blipFill>
        <p:spPr>
          <a:xfrm>
            <a:off x="26821" y="30831"/>
            <a:ext cx="523875" cy="523875"/>
          </a:xfrm>
          <a:prstGeom prst="rect">
            <a:avLst/>
          </a:prstGeom>
        </p:spPr>
      </p:pic>
      <p:sp>
        <p:nvSpPr>
          <p:cNvPr id="6" name="TextBox 5">
            <a:extLst>
              <a:ext uri="{FF2B5EF4-FFF2-40B4-BE49-F238E27FC236}">
                <a16:creationId xmlns:a16="http://schemas.microsoft.com/office/drawing/2014/main" id="{5C6630BA-0168-4BEF-7837-898394587BF2}"/>
              </a:ext>
            </a:extLst>
          </p:cNvPr>
          <p:cNvSpPr txBox="1"/>
          <p:nvPr/>
        </p:nvSpPr>
        <p:spPr>
          <a:xfrm>
            <a:off x="550696" y="6431142"/>
            <a:ext cx="1247115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noProof="0">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https://students.uu.nl/en/university-college-utrecht/academics/curriculum-enrichment-options/student-led-honours-seminar</a:t>
            </a:r>
            <a:r>
              <a:rPr lang="en-GB" sz="1400" noProof="0">
                <a:latin typeface="Calibri" panose="020F0502020204030204" pitchFamily="34" charset="0"/>
                <a:ea typeface="Calibri" panose="020F0502020204030204" pitchFamily="34" charset="0"/>
                <a:cs typeface="Calibri" panose="020F0502020204030204" pitchFamily="34" charset="0"/>
              </a:rPr>
              <a:t> </a:t>
            </a:r>
          </a:p>
          <a:p>
            <a:pPr algn="ctr"/>
            <a:endParaRPr lang="en-GB" sz="1400" noProof="0">
              <a:latin typeface="Calibri" panose="020F0502020204030204" pitchFamily="34" charset="0"/>
              <a:ea typeface="Calibri" panose="020F0502020204030204" pitchFamily="34" charset="0"/>
              <a:cs typeface="Calibri" panose="020F0502020204030204" pitchFamily="34" charset="0"/>
            </a:endParaRPr>
          </a:p>
        </p:txBody>
      </p:sp>
      <p:grpSp>
        <p:nvGrpSpPr>
          <p:cNvPr id="3" name="Groep 2">
            <a:extLst>
              <a:ext uri="{FF2B5EF4-FFF2-40B4-BE49-F238E27FC236}">
                <a16:creationId xmlns:a16="http://schemas.microsoft.com/office/drawing/2014/main" id="{C0E9820F-0013-1C56-9731-2A5B29B2FB6D}"/>
              </a:ext>
            </a:extLst>
          </p:cNvPr>
          <p:cNvGrpSpPr>
            <a:grpSpLocks noChangeAspect="1"/>
          </p:cNvGrpSpPr>
          <p:nvPr/>
        </p:nvGrpSpPr>
        <p:grpSpPr>
          <a:xfrm>
            <a:off x="550696" y="1222172"/>
            <a:ext cx="9625054" cy="5146533"/>
            <a:chOff x="240306" y="653143"/>
            <a:chExt cx="10699657" cy="5721125"/>
          </a:xfrm>
        </p:grpSpPr>
        <p:pic>
          <p:nvPicPr>
            <p:cNvPr id="5" name="Picture 4">
              <a:hlinkClick r:id="rId3"/>
              <a:extLst>
                <a:ext uri="{FF2B5EF4-FFF2-40B4-BE49-F238E27FC236}">
                  <a16:creationId xmlns:a16="http://schemas.microsoft.com/office/drawing/2014/main" id="{A7B658AC-FB2A-F2FD-B0FD-D3685180E3CB}"/>
                </a:ext>
              </a:extLst>
            </p:cNvPr>
            <p:cNvPicPr>
              <a:picLocks noChangeAspect="1"/>
            </p:cNvPicPr>
            <p:nvPr/>
          </p:nvPicPr>
          <p:blipFill>
            <a:blip r:embed="rId4"/>
            <a:srcRect b="5754"/>
            <a:stretch>
              <a:fillRect/>
            </a:stretch>
          </p:blipFill>
          <p:spPr>
            <a:xfrm>
              <a:off x="240306" y="653143"/>
              <a:ext cx="10699657" cy="5721125"/>
            </a:xfrm>
            <a:prstGeom prst="rect">
              <a:avLst/>
            </a:prstGeom>
          </p:spPr>
        </p:pic>
        <p:sp>
          <p:nvSpPr>
            <p:cNvPr id="8" name="Rectangle: Rounded Corners 7">
              <a:extLst>
                <a:ext uri="{FF2B5EF4-FFF2-40B4-BE49-F238E27FC236}">
                  <a16:creationId xmlns:a16="http://schemas.microsoft.com/office/drawing/2014/main" id="{44163F25-01D1-5CF8-2224-DC36CC369B9A}"/>
                </a:ext>
              </a:extLst>
            </p:cNvPr>
            <p:cNvSpPr/>
            <p:nvPr/>
          </p:nvSpPr>
          <p:spPr>
            <a:xfrm>
              <a:off x="4271320" y="5576882"/>
              <a:ext cx="5253372" cy="31142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4" name="Tekstvak 3">
            <a:extLst>
              <a:ext uri="{FF2B5EF4-FFF2-40B4-BE49-F238E27FC236}">
                <a16:creationId xmlns:a16="http://schemas.microsoft.com/office/drawing/2014/main" id="{06BB801A-425F-16C9-6403-9879199A3D76}"/>
              </a:ext>
            </a:extLst>
          </p:cNvPr>
          <p:cNvSpPr txBox="1"/>
          <p:nvPr/>
        </p:nvSpPr>
        <p:spPr>
          <a:xfrm>
            <a:off x="550696" y="780104"/>
            <a:ext cx="8237704" cy="400110"/>
          </a:xfrm>
          <a:prstGeom prst="rect">
            <a:avLst/>
          </a:prstGeom>
          <a:noFill/>
        </p:spPr>
        <p:txBody>
          <a:bodyPr wrap="squar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Student-Designed Course</a:t>
            </a:r>
          </a:p>
        </p:txBody>
      </p:sp>
    </p:spTree>
    <p:extLst>
      <p:ext uri="{BB962C8B-B14F-4D97-AF65-F5344CB8AC3E}">
        <p14:creationId xmlns:p14="http://schemas.microsoft.com/office/powerpoint/2010/main" val="185587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C9C5-E875-BDB1-90F8-D3850D2C4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EC8BB-4AF0-F917-F248-D137719B7989}"/>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15. Optimising open educational resources for reuse</a:t>
            </a:r>
            <a:endParaRPr lang="en-GB" noProof="0"/>
          </a:p>
        </p:txBody>
      </p:sp>
      <p:sp>
        <p:nvSpPr>
          <p:cNvPr id="4" name="Rectangle: Rounded Corners 3">
            <a:extLst>
              <a:ext uri="{FF2B5EF4-FFF2-40B4-BE49-F238E27FC236}">
                <a16:creationId xmlns:a16="http://schemas.microsoft.com/office/drawing/2014/main" id="{6D5EE8BB-6CA3-4D4B-8FCC-0754A8F8F42E}"/>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D45CE8D9-C0D7-2925-D07F-21B1D2FCA731}"/>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AA7D21BE-C914-1E2E-6895-776EF4E9A96F}"/>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C08A3D63-94A2-88A8-78CE-7A5C3221FAD4}"/>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rtl="0">
              <a:lnSpc>
                <a:spcPts val="1350"/>
              </a:lnSpc>
              <a:buFont typeface="Arial,Sans-Serif"/>
              <a:buChar char="•"/>
            </a:pP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3C351B7D-5164-40D0-A146-6C6B9E21E601}"/>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933EF1F9-31A8-DDEB-5D8A-3BD86F02CED4}"/>
              </a:ext>
            </a:extLst>
          </p:cNvPr>
          <p:cNvSpPr txBox="1"/>
          <p:nvPr/>
        </p:nvSpPr>
        <p:spPr>
          <a:xfrm>
            <a:off x="224888" y="853042"/>
            <a:ext cx="401069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Reusing OERs</a:t>
            </a:r>
            <a:endParaRPr lang="en-GB" noProof="0"/>
          </a:p>
        </p:txBody>
      </p:sp>
      <p:sp>
        <p:nvSpPr>
          <p:cNvPr id="11" name="TextBox 10">
            <a:extLst>
              <a:ext uri="{FF2B5EF4-FFF2-40B4-BE49-F238E27FC236}">
                <a16:creationId xmlns:a16="http://schemas.microsoft.com/office/drawing/2014/main" id="{DEAF23A3-26B7-C723-9041-1797ECC9E094}"/>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6E72AEA5-A013-2ADD-F18C-50E60A239D91}"/>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ECF8E1DC-5087-A34F-5B62-CAAD11DAC606}"/>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7FB7743E-D7C7-FAF1-FC91-1FA62D18BD9E}"/>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5F5E3006-48C6-89B1-19E5-605D29F92C02}"/>
              </a:ext>
            </a:extLst>
          </p:cNvPr>
          <p:cNvPicPr>
            <a:picLocks noChangeAspect="1"/>
          </p:cNvPicPr>
          <p:nvPr/>
        </p:nvPicPr>
        <p:blipFill>
          <a:blip r:embed="rId2"/>
          <a:stretch>
            <a:fillRect/>
          </a:stretch>
        </p:blipFill>
        <p:spPr>
          <a:xfrm>
            <a:off x="26821" y="30831"/>
            <a:ext cx="523875" cy="523875"/>
          </a:xfrm>
          <a:prstGeom prst="rect">
            <a:avLst/>
          </a:prstGeom>
        </p:spPr>
      </p:pic>
      <p:sp>
        <p:nvSpPr>
          <p:cNvPr id="6" name="TextBox 15">
            <a:extLst>
              <a:ext uri="{FF2B5EF4-FFF2-40B4-BE49-F238E27FC236}">
                <a16:creationId xmlns:a16="http://schemas.microsoft.com/office/drawing/2014/main" id="{50DEFE13-1366-060E-A1AF-1B8C3A8B8E42}"/>
              </a:ext>
            </a:extLst>
          </p:cNvPr>
          <p:cNvSpPr txBox="1"/>
          <p:nvPr/>
        </p:nvSpPr>
        <p:spPr>
          <a:xfrm>
            <a:off x="430388" y="1209594"/>
            <a:ext cx="3640666" cy="181588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Sharing your teaching materials as Open Educational Resources (OER) allows for others to reuse it. However, not all shared content can easily be adapted to another educational context. By following certain guidelines, materials become easily adoptable for re-users. </a:t>
            </a:r>
          </a:p>
        </p:txBody>
      </p:sp>
      <p:sp>
        <p:nvSpPr>
          <p:cNvPr id="17" name="TextBox 15">
            <a:extLst>
              <a:ext uri="{FF2B5EF4-FFF2-40B4-BE49-F238E27FC236}">
                <a16:creationId xmlns:a16="http://schemas.microsoft.com/office/drawing/2014/main" id="{603D6A2F-1D53-5B06-3E5F-14E0CB32E5D7}"/>
              </a:ext>
            </a:extLst>
          </p:cNvPr>
          <p:cNvSpPr txBox="1"/>
          <p:nvPr/>
        </p:nvSpPr>
        <p:spPr>
          <a:xfrm>
            <a:off x="430388" y="4292452"/>
            <a:ext cx="3640666" cy="156966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Open educational resources that have been </a:t>
            </a:r>
            <a:r>
              <a:rPr lang="en-GB" sz="1600">
                <a:latin typeface="Calibri"/>
                <a:ea typeface="Calibri"/>
                <a:cs typeface="Calibri"/>
              </a:rPr>
              <a:t>optimised</a:t>
            </a:r>
            <a:r>
              <a:rPr lang="en-GB" sz="1600" noProof="0">
                <a:latin typeface="Calibri"/>
                <a:ea typeface="Calibri"/>
                <a:cs typeface="Calibri"/>
              </a:rPr>
              <a:t> for reuse, aim for low-effort adaptation by </a:t>
            </a:r>
            <a:r>
              <a:rPr lang="en-GB" sz="1600" noProof="0" err="1">
                <a:latin typeface="Calibri"/>
                <a:ea typeface="Calibri"/>
                <a:cs typeface="Calibri"/>
              </a:rPr>
              <a:t>reusers</a:t>
            </a:r>
            <a:r>
              <a:rPr lang="en-GB" sz="1600" noProof="0">
                <a:latin typeface="Calibri"/>
                <a:ea typeface="Calibri"/>
                <a:cs typeface="Calibri"/>
              </a:rPr>
              <a:t>. Reuse and therefore the impact of your teaching materials increases when they can be easily adopted.  </a:t>
            </a:r>
          </a:p>
        </p:txBody>
      </p:sp>
      <p:sp>
        <p:nvSpPr>
          <p:cNvPr id="20" name="TextBox 15">
            <a:extLst>
              <a:ext uri="{FF2B5EF4-FFF2-40B4-BE49-F238E27FC236}">
                <a16:creationId xmlns:a16="http://schemas.microsoft.com/office/drawing/2014/main" id="{63BAAC68-E7E0-E0ED-3404-B1566B107D06}"/>
              </a:ext>
            </a:extLst>
          </p:cNvPr>
          <p:cNvSpPr txBox="1"/>
          <p:nvPr/>
        </p:nvSpPr>
        <p:spPr>
          <a:xfrm>
            <a:off x="4741473" y="1247835"/>
            <a:ext cx="4590000" cy="403187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Here's some guidelines that </a:t>
            </a:r>
            <a:r>
              <a:rPr lang="en-GB" sz="1600">
                <a:latin typeface="Calibri"/>
                <a:ea typeface="Calibri"/>
                <a:cs typeface="Calibri"/>
              </a:rPr>
              <a:t>optimise</a:t>
            </a:r>
            <a:r>
              <a:rPr lang="en-GB" sz="1600" noProof="0">
                <a:latin typeface="Calibri"/>
                <a:ea typeface="Calibri"/>
                <a:cs typeface="Calibri"/>
              </a:rPr>
              <a:t> your resource's adaptability. Your resource:</a:t>
            </a:r>
          </a:p>
          <a:p>
            <a:endParaRPr lang="en-GB" sz="1000" noProof="0">
              <a:latin typeface="Calibri"/>
              <a:ea typeface="Calibri"/>
              <a:cs typeface="Calibri"/>
            </a:endParaRPr>
          </a:p>
          <a:p>
            <a:pPr marL="285750" indent="-285750">
              <a:buFont typeface="Arial"/>
              <a:buChar char="•"/>
            </a:pPr>
            <a:r>
              <a:rPr lang="en-GB" sz="1600" noProof="0">
                <a:latin typeface="Calibri"/>
                <a:ea typeface="Calibri"/>
                <a:cs typeface="Calibri"/>
              </a:rPr>
              <a:t>Is shared in an editable format so </a:t>
            </a:r>
            <a:r>
              <a:rPr lang="en-GB" sz="1600" noProof="0" err="1">
                <a:latin typeface="Calibri"/>
                <a:ea typeface="Calibri"/>
                <a:cs typeface="Calibri"/>
              </a:rPr>
              <a:t>reusers</a:t>
            </a:r>
            <a:r>
              <a:rPr lang="en-GB" sz="1600" noProof="0">
                <a:latin typeface="Calibri"/>
                <a:ea typeface="Calibri"/>
                <a:cs typeface="Calibri"/>
              </a:rPr>
              <a:t> can easily adapt to their own needs</a:t>
            </a:r>
          </a:p>
          <a:p>
            <a:pPr marL="285750" indent="-285750">
              <a:buFont typeface="Arial"/>
              <a:buChar char="•"/>
            </a:pPr>
            <a:r>
              <a:rPr lang="en-GB" sz="1600" noProof="0">
                <a:latin typeface="Calibri"/>
                <a:ea typeface="Calibri"/>
                <a:cs typeface="Calibri"/>
              </a:rPr>
              <a:t>Provides clear and concise instruction on how to use the teaching materials in class</a:t>
            </a:r>
          </a:p>
          <a:p>
            <a:pPr marL="285750" indent="-285750">
              <a:buFont typeface="Arial"/>
              <a:buChar char="•"/>
            </a:pPr>
            <a:r>
              <a:rPr lang="en-GB" sz="1600" noProof="0">
                <a:latin typeface="Calibri"/>
                <a:ea typeface="Calibri"/>
                <a:cs typeface="Calibri"/>
              </a:rPr>
              <a:t>Provides relevant metadata, e.g. target audience, learning goals, and time needed</a:t>
            </a:r>
          </a:p>
          <a:p>
            <a:pPr marL="285750" indent="-285750">
              <a:buFont typeface="Arial"/>
              <a:buChar char="•"/>
            </a:pPr>
            <a:r>
              <a:rPr lang="en-GB" sz="1600" noProof="0">
                <a:latin typeface="Calibri"/>
                <a:ea typeface="Calibri"/>
                <a:cs typeface="Calibri"/>
              </a:rPr>
              <a:t>Is digitally accessible for users with (visual or hearing) disabilities</a:t>
            </a:r>
          </a:p>
          <a:p>
            <a:pPr marL="285750" indent="-285750">
              <a:buFont typeface="Arial"/>
              <a:buChar char="•"/>
            </a:pPr>
            <a:r>
              <a:rPr lang="en-GB" sz="1600" noProof="0">
                <a:latin typeface="Calibri"/>
                <a:ea typeface="Calibri"/>
                <a:cs typeface="Calibri"/>
              </a:rPr>
              <a:t>Is published in an open format (e.g., .jpeg, .mp3, .</a:t>
            </a:r>
            <a:r>
              <a:rPr lang="en-GB" sz="1600" noProof="0" err="1">
                <a:latin typeface="Calibri"/>
                <a:ea typeface="Calibri"/>
                <a:cs typeface="Calibri"/>
              </a:rPr>
              <a:t>odt</a:t>
            </a:r>
            <a:r>
              <a:rPr lang="en-GB" sz="1600" noProof="0">
                <a:latin typeface="Calibri"/>
                <a:ea typeface="Calibri"/>
                <a:cs typeface="Calibri"/>
              </a:rPr>
              <a:t>, .csv) so it can be read by any software (applications). </a:t>
            </a:r>
          </a:p>
          <a:p>
            <a:pPr marL="285750" indent="-285750">
              <a:buFont typeface="Arial"/>
              <a:buChar char="•"/>
            </a:pPr>
            <a:r>
              <a:rPr lang="en-GB" sz="1600" noProof="0">
                <a:latin typeface="Calibri"/>
                <a:ea typeface="Calibri"/>
                <a:cs typeface="Calibri"/>
              </a:rPr>
              <a:t>Refers (through hyperlinks) to openly accessible sources only</a:t>
            </a:r>
          </a:p>
        </p:txBody>
      </p:sp>
      <p:sp>
        <p:nvSpPr>
          <p:cNvPr id="23" name="TextBox 15">
            <a:extLst>
              <a:ext uri="{FF2B5EF4-FFF2-40B4-BE49-F238E27FC236}">
                <a16:creationId xmlns:a16="http://schemas.microsoft.com/office/drawing/2014/main" id="{A6BCE9B7-280E-FD88-BC72-17E48A78ED55}"/>
              </a:ext>
            </a:extLst>
          </p:cNvPr>
          <p:cNvSpPr txBox="1"/>
          <p:nvPr/>
        </p:nvSpPr>
        <p:spPr>
          <a:xfrm>
            <a:off x="9944817" y="1251462"/>
            <a:ext cx="1816794" cy="10772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Workshop Copyright Basics for Researchers</a:t>
            </a:r>
            <a:endParaRPr lang="en-GB" noProof="0">
              <a:hlinkClick r:id="rId3">
                <a:extLst>
                  <a:ext uri="{A12FA001-AC4F-418D-AE19-62706E023703}">
                    <ahyp:hlinkClr xmlns:ahyp="http://schemas.microsoft.com/office/drawing/2018/hyperlinkcolor" val="tx"/>
                  </a:ext>
                </a:extLst>
              </a:hlinkClick>
            </a:endParaRPr>
          </a:p>
          <a:p>
            <a:pPr marL="285750" indent="-285750">
              <a:buFont typeface="Arial"/>
              <a:buChar char="•"/>
            </a:pPr>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ShareStats</a:t>
            </a:r>
          </a:p>
        </p:txBody>
      </p:sp>
      <p:grpSp>
        <p:nvGrpSpPr>
          <p:cNvPr id="3" name="Groep 2">
            <a:extLst>
              <a:ext uri="{FF2B5EF4-FFF2-40B4-BE49-F238E27FC236}">
                <a16:creationId xmlns:a16="http://schemas.microsoft.com/office/drawing/2014/main" id="{4DA1B89B-136F-FB62-064F-4AFBA9D1B345}"/>
              </a:ext>
            </a:extLst>
          </p:cNvPr>
          <p:cNvGrpSpPr/>
          <p:nvPr/>
        </p:nvGrpSpPr>
        <p:grpSpPr>
          <a:xfrm>
            <a:off x="11155683" y="108056"/>
            <a:ext cx="814470" cy="370500"/>
            <a:chOff x="11155683" y="108056"/>
            <a:chExt cx="814470" cy="370500"/>
          </a:xfrm>
        </p:grpSpPr>
        <p:pic>
          <p:nvPicPr>
            <p:cNvPr id="13" name="Picture 24">
              <a:extLst>
                <a:ext uri="{FF2B5EF4-FFF2-40B4-BE49-F238E27FC236}">
                  <a16:creationId xmlns:a16="http://schemas.microsoft.com/office/drawing/2014/main" id="{3C9EB10B-8367-DAAD-3ABD-605F11A94B52}"/>
                </a:ext>
              </a:extLst>
            </p:cNvPr>
            <p:cNvPicPr>
              <a:picLocks noChangeAspect="1"/>
            </p:cNvPicPr>
            <p:nvPr/>
          </p:nvPicPr>
          <p:blipFill>
            <a:blip r:embed="rId5"/>
            <a:stretch>
              <a:fillRect/>
            </a:stretch>
          </p:blipFill>
          <p:spPr>
            <a:xfrm>
              <a:off x="11155683" y="108056"/>
              <a:ext cx="399072" cy="370500"/>
            </a:xfrm>
            <a:prstGeom prst="rect">
              <a:avLst/>
            </a:prstGeom>
          </p:spPr>
        </p:pic>
        <p:pic>
          <p:nvPicPr>
            <p:cNvPr id="16" name="Picture 26">
              <a:extLst>
                <a:ext uri="{FF2B5EF4-FFF2-40B4-BE49-F238E27FC236}">
                  <a16:creationId xmlns:a16="http://schemas.microsoft.com/office/drawing/2014/main" id="{49DFD1A3-8E53-EEE7-C080-1361A19F1B06}"/>
                </a:ext>
              </a:extLst>
            </p:cNvPr>
            <p:cNvPicPr>
              <a:picLocks noChangeAspect="1"/>
            </p:cNvPicPr>
            <p:nvPr/>
          </p:nvPicPr>
          <p:blipFill>
            <a:blip r:embed="rId5"/>
            <a:stretch>
              <a:fillRect/>
            </a:stretch>
          </p:blipFill>
          <p:spPr>
            <a:xfrm>
              <a:off x="11571081" y="108056"/>
              <a:ext cx="399072" cy="370500"/>
            </a:xfrm>
            <a:prstGeom prst="rect">
              <a:avLst/>
            </a:prstGeom>
          </p:spPr>
        </p:pic>
      </p:grpSp>
      <p:sp>
        <p:nvSpPr>
          <p:cNvPr id="24" name="TextBox 15">
            <a:extLst>
              <a:ext uri="{FF2B5EF4-FFF2-40B4-BE49-F238E27FC236}">
                <a16:creationId xmlns:a16="http://schemas.microsoft.com/office/drawing/2014/main" id="{D9F909BA-DCA6-DA69-1D95-821C43556D50}"/>
              </a:ext>
            </a:extLst>
          </p:cNvPr>
          <p:cNvSpPr txBox="1"/>
          <p:nvPr/>
        </p:nvSpPr>
        <p:spPr>
          <a:xfrm>
            <a:off x="9840743" y="4292452"/>
            <a:ext cx="2156841" cy="166199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1600" noProof="0">
                <a:latin typeface="Calibri"/>
                <a:ea typeface="Calibri"/>
                <a:cs typeface="Calibri"/>
                <a:hlinkClick r:id="rId6">
                  <a:extLst>
                    <a:ext uri="{A12FA001-AC4F-418D-AE19-62706E023703}">
                      <ahyp:hlinkClr xmlns:ahyp="http://schemas.microsoft.com/office/drawing/2018/hyperlinkcolor" val="tx"/>
                    </a:ext>
                  </a:extLst>
                </a:hlinkClick>
              </a:rPr>
              <a:t>Edusources</a:t>
            </a:r>
            <a:endParaRPr lang="en-GB" sz="1600" noProof="0">
              <a:latin typeface="Calibri"/>
              <a:ea typeface="Calibri"/>
              <a:cs typeface="Calibri"/>
            </a:endParaRPr>
          </a:p>
          <a:p>
            <a:endParaRPr lang="en-GB" sz="1000" noProof="0">
              <a:latin typeface="Calibri"/>
              <a:ea typeface="Calibri"/>
              <a:cs typeface="Calibri"/>
            </a:endParaRPr>
          </a:p>
          <a:p>
            <a:pPr marL="285750" indent="-285750">
              <a:buFont typeface="Arial" panose="020B0604020202020204" pitchFamily="34" charset="0"/>
              <a:buChar char="•"/>
            </a:pPr>
            <a:r>
              <a:rPr lang="en-GB" sz="1600" noProof="0">
                <a:latin typeface="Calibri"/>
                <a:ea typeface="Calibri"/>
                <a:cs typeface="Calibri"/>
                <a:hlinkClick r:id="rId7">
                  <a:extLst>
                    <a:ext uri="{A12FA001-AC4F-418D-AE19-62706E023703}">
                      <ahyp:hlinkClr xmlns:ahyp="http://schemas.microsoft.com/office/drawing/2018/hyperlinkcolor" val="tx"/>
                    </a:ext>
                  </a:extLst>
                </a:hlinkClick>
              </a:rPr>
              <a:t>UU Copyright information office</a:t>
            </a:r>
            <a:endParaRPr lang="en-GB" sz="1600" noProof="0">
              <a:latin typeface="Calibri"/>
              <a:ea typeface="Calibri"/>
              <a:cs typeface="Calibri"/>
            </a:endParaRPr>
          </a:p>
          <a:p>
            <a:endParaRPr lang="en-GB" sz="1000" noProof="0">
              <a:latin typeface="Calibri"/>
              <a:ea typeface="Calibri"/>
              <a:cs typeface="Calibri"/>
            </a:endParaRPr>
          </a:p>
          <a:p>
            <a:pPr marL="285750" indent="-285750">
              <a:buFont typeface="Arial"/>
              <a:buChar char="•"/>
            </a:pPr>
            <a:r>
              <a:rPr lang="en-GB" sz="1600" noProof="0">
                <a:latin typeface="Calibri"/>
                <a:ea typeface="Calibri"/>
                <a:cs typeface="Calibri"/>
                <a:hlinkClick r:id="rId8">
                  <a:extLst>
                    <a:ext uri="{A12FA001-AC4F-418D-AE19-62706E023703}">
                      <ahyp:hlinkClr xmlns:ahyp="http://schemas.microsoft.com/office/drawing/2018/hyperlinkcolor" val="tx"/>
                    </a:ext>
                  </a:extLst>
                </a:hlinkClick>
              </a:rPr>
              <a:t>UU Library's OER support page</a:t>
            </a:r>
          </a:p>
        </p:txBody>
      </p:sp>
    </p:spTree>
    <p:extLst>
      <p:ext uri="{BB962C8B-B14F-4D97-AF65-F5344CB8AC3E}">
        <p14:creationId xmlns:p14="http://schemas.microsoft.com/office/powerpoint/2010/main" val="66354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42F62-EF56-814A-6C23-EC1E08EB3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89FAB-4808-F0E3-8793-8F86A390EDEB}"/>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Optimising open educational resources for reuse</a:t>
            </a:r>
            <a:endParaRPr lang="en-GB" noProof="0"/>
          </a:p>
        </p:txBody>
      </p:sp>
      <p:pic>
        <p:nvPicPr>
          <p:cNvPr id="22" name="Picture 21">
            <a:extLst>
              <a:ext uri="{FF2B5EF4-FFF2-40B4-BE49-F238E27FC236}">
                <a16:creationId xmlns:a16="http://schemas.microsoft.com/office/drawing/2014/main" id="{745DB4AB-6C46-F629-CAEF-D3C9F63A002D}"/>
              </a:ext>
            </a:extLst>
          </p:cNvPr>
          <p:cNvPicPr>
            <a:picLocks noChangeAspect="1"/>
          </p:cNvPicPr>
          <p:nvPr/>
        </p:nvPicPr>
        <p:blipFill>
          <a:blip r:embed="rId2"/>
          <a:stretch>
            <a:fillRect/>
          </a:stretch>
        </p:blipFill>
        <p:spPr>
          <a:xfrm>
            <a:off x="26821" y="30831"/>
            <a:ext cx="523875" cy="523875"/>
          </a:xfrm>
          <a:prstGeom prst="rect">
            <a:avLst/>
          </a:prstGeom>
        </p:spPr>
      </p:pic>
      <p:grpSp>
        <p:nvGrpSpPr>
          <p:cNvPr id="12" name="Groep 11">
            <a:extLst>
              <a:ext uri="{FF2B5EF4-FFF2-40B4-BE49-F238E27FC236}">
                <a16:creationId xmlns:a16="http://schemas.microsoft.com/office/drawing/2014/main" id="{0CE89B9A-82E3-CC03-DC31-72CC1C66A4C1}"/>
              </a:ext>
            </a:extLst>
          </p:cNvPr>
          <p:cNvGrpSpPr/>
          <p:nvPr/>
        </p:nvGrpSpPr>
        <p:grpSpPr>
          <a:xfrm>
            <a:off x="5522976" y="676656"/>
            <a:ext cx="6587914" cy="6036026"/>
            <a:chOff x="0" y="676656"/>
            <a:chExt cx="6587914" cy="6036026"/>
          </a:xfrm>
        </p:grpSpPr>
        <p:grpSp>
          <p:nvGrpSpPr>
            <p:cNvPr id="8" name="Groep 7">
              <a:extLst>
                <a:ext uri="{FF2B5EF4-FFF2-40B4-BE49-F238E27FC236}">
                  <a16:creationId xmlns:a16="http://schemas.microsoft.com/office/drawing/2014/main" id="{B657D271-01E9-D511-DDC7-CBF98371A093}"/>
                </a:ext>
              </a:extLst>
            </p:cNvPr>
            <p:cNvGrpSpPr>
              <a:grpSpLocks noChangeAspect="1"/>
            </p:cNvGrpSpPr>
            <p:nvPr/>
          </p:nvGrpSpPr>
          <p:grpSpPr>
            <a:xfrm>
              <a:off x="0" y="676656"/>
              <a:ext cx="6587914" cy="6013218"/>
              <a:chOff x="0" y="616260"/>
              <a:chExt cx="7104888" cy="6485094"/>
            </a:xfrm>
          </p:grpSpPr>
          <p:pic>
            <p:nvPicPr>
              <p:cNvPr id="7" name="Afbeelding 6" descr="Afbeelding met tekst, schermopname, Lettertype, software&#10;&#10;Door AI gegenereerde inhoud is mogelijk onjuist.">
                <a:hlinkClick r:id="rId3"/>
                <a:extLst>
                  <a:ext uri="{FF2B5EF4-FFF2-40B4-BE49-F238E27FC236}">
                    <a16:creationId xmlns:a16="http://schemas.microsoft.com/office/drawing/2014/main" id="{BB349D52-D417-BDDD-9AFA-0328F8662BC7}"/>
                  </a:ext>
                </a:extLst>
              </p:cNvPr>
              <p:cNvPicPr>
                <a:picLocks noChangeAspect="1"/>
              </p:cNvPicPr>
              <p:nvPr/>
            </p:nvPicPr>
            <p:blipFill>
              <a:blip r:embed="rId4"/>
              <a:stretch>
                <a:fillRect/>
              </a:stretch>
            </p:blipFill>
            <p:spPr>
              <a:xfrm>
                <a:off x="117293" y="3847704"/>
                <a:ext cx="6886757" cy="3253650"/>
              </a:xfrm>
              <a:prstGeom prst="rect">
                <a:avLst/>
              </a:prstGeom>
            </p:spPr>
          </p:pic>
          <p:pic>
            <p:nvPicPr>
              <p:cNvPr id="5" name="Afbeelding 4" descr="Afbeelding met tekst, schermopname, Lettertype&#10;&#10;Door AI gegenereerde inhoud is mogelijk onjuist.">
                <a:hlinkClick r:id="rId3"/>
                <a:extLst>
                  <a:ext uri="{FF2B5EF4-FFF2-40B4-BE49-F238E27FC236}">
                    <a16:creationId xmlns:a16="http://schemas.microsoft.com/office/drawing/2014/main" id="{71584A8B-F910-E91D-48E9-DB7BF4113D77}"/>
                  </a:ext>
                </a:extLst>
              </p:cNvPr>
              <p:cNvPicPr>
                <a:picLocks noChangeAspect="1"/>
              </p:cNvPicPr>
              <p:nvPr/>
            </p:nvPicPr>
            <p:blipFill>
              <a:blip r:embed="rId5"/>
              <a:stretch>
                <a:fillRect/>
              </a:stretch>
            </p:blipFill>
            <p:spPr>
              <a:xfrm>
                <a:off x="0" y="616260"/>
                <a:ext cx="7104888" cy="3278248"/>
              </a:xfrm>
              <a:prstGeom prst="rect">
                <a:avLst/>
              </a:prstGeom>
            </p:spPr>
          </p:pic>
        </p:grpSp>
        <p:sp>
          <p:nvSpPr>
            <p:cNvPr id="9" name="Rectangle: Rounded Corners 7">
              <a:extLst>
                <a:ext uri="{FF2B5EF4-FFF2-40B4-BE49-F238E27FC236}">
                  <a16:creationId xmlns:a16="http://schemas.microsoft.com/office/drawing/2014/main" id="{801D00F9-DB18-AE59-A190-8A377E397B5D}"/>
                </a:ext>
              </a:extLst>
            </p:cNvPr>
            <p:cNvSpPr/>
            <p:nvPr/>
          </p:nvSpPr>
          <p:spPr>
            <a:xfrm>
              <a:off x="236774" y="3967538"/>
              <a:ext cx="3100786" cy="48559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0" name="Rectangle: Rounded Corners 7">
              <a:extLst>
                <a:ext uri="{FF2B5EF4-FFF2-40B4-BE49-F238E27FC236}">
                  <a16:creationId xmlns:a16="http://schemas.microsoft.com/office/drawing/2014/main" id="{47A09E46-FD37-BBFD-BE41-03DA50BCBC1B}"/>
                </a:ext>
              </a:extLst>
            </p:cNvPr>
            <p:cNvSpPr/>
            <p:nvPr/>
          </p:nvSpPr>
          <p:spPr>
            <a:xfrm>
              <a:off x="4741719" y="2542032"/>
              <a:ext cx="1576786" cy="417065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Rounded Corners 7">
              <a:extLst>
                <a:ext uri="{FF2B5EF4-FFF2-40B4-BE49-F238E27FC236}">
                  <a16:creationId xmlns:a16="http://schemas.microsoft.com/office/drawing/2014/main" id="{EEBC7217-E54D-DAC1-6AA8-02CD9A6611AC}"/>
                </a:ext>
              </a:extLst>
            </p:cNvPr>
            <p:cNvSpPr/>
            <p:nvPr/>
          </p:nvSpPr>
          <p:spPr>
            <a:xfrm>
              <a:off x="108758" y="2542031"/>
              <a:ext cx="4632960" cy="115604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13" name="Tekstvak 12">
            <a:extLst>
              <a:ext uri="{FF2B5EF4-FFF2-40B4-BE49-F238E27FC236}">
                <a16:creationId xmlns:a16="http://schemas.microsoft.com/office/drawing/2014/main" id="{DB74284D-F6D3-6C56-12D0-0C703E2639A6}"/>
              </a:ext>
            </a:extLst>
          </p:cNvPr>
          <p:cNvSpPr txBox="1"/>
          <p:nvPr/>
        </p:nvSpPr>
        <p:spPr>
          <a:xfrm>
            <a:off x="550696" y="780104"/>
            <a:ext cx="4231616" cy="707886"/>
          </a:xfrm>
          <a:prstGeom prst="rect">
            <a:avLst/>
          </a:prstGeom>
          <a:noFill/>
        </p:spPr>
        <p:txBody>
          <a:bodyPr wrap="squar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Example: Workshop </a:t>
            </a:r>
            <a:r>
              <a:rPr lang="en-GB" sz="2000" b="1" i="1" noProof="0">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Introduction to Copyright Basics</a:t>
            </a:r>
            <a:endParaRPr lang="en-GB" sz="2000" b="1" i="1" noProof="0">
              <a:latin typeface="Calibri" panose="020F0502020204030204" pitchFamily="34" charset="0"/>
              <a:ea typeface="Calibri" panose="020F0502020204030204" pitchFamily="34" charset="0"/>
              <a:cs typeface="Calibri" panose="020F0502020204030204" pitchFamily="34" charset="0"/>
            </a:endParaRPr>
          </a:p>
        </p:txBody>
      </p:sp>
      <p:sp>
        <p:nvSpPr>
          <p:cNvPr id="14" name="Tekstvak 13">
            <a:extLst>
              <a:ext uri="{FF2B5EF4-FFF2-40B4-BE49-F238E27FC236}">
                <a16:creationId xmlns:a16="http://schemas.microsoft.com/office/drawing/2014/main" id="{81FA5198-A99E-B062-6CCD-974676CF9FD6}"/>
              </a:ext>
            </a:extLst>
          </p:cNvPr>
          <p:cNvSpPr txBox="1"/>
          <p:nvPr/>
        </p:nvSpPr>
        <p:spPr>
          <a:xfrm>
            <a:off x="550696" y="1487990"/>
            <a:ext cx="3702296" cy="4524315"/>
          </a:xfrm>
          <a:prstGeom prst="rect">
            <a:avLst/>
          </a:prstGeom>
          <a:noFill/>
        </p:spPr>
        <p:txBody>
          <a:bodyPr wrap="square">
            <a:spAutoFit/>
          </a:bodyPr>
          <a:lstStyle/>
          <a:p>
            <a:r>
              <a:rPr lang="en-GB" noProof="0">
                <a:latin typeface="Calibri" panose="020F0502020204030204" pitchFamily="34" charset="0"/>
                <a:ea typeface="Calibri" panose="020F0502020204030204" pitchFamily="34" charset="0"/>
                <a:cs typeface="Calibri" panose="020F0502020204030204" pitchFamily="34" charset="0"/>
              </a:rPr>
              <a:t>In this example, reuse of the OER is made accessible in several ways:</a:t>
            </a:r>
          </a:p>
          <a:p>
            <a:endParaRPr lang="en-GB" noProof="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noProof="0">
                <a:latin typeface="Calibri" panose="020F0502020204030204" pitchFamily="34" charset="0"/>
                <a:ea typeface="Calibri" panose="020F0502020204030204" pitchFamily="34" charset="0"/>
                <a:cs typeface="Calibri" panose="020F0502020204030204" pitchFamily="34" charset="0"/>
              </a:rPr>
              <a:t>Summary</a:t>
            </a:r>
          </a:p>
          <a:p>
            <a:r>
              <a:rPr lang="en-GB" noProof="0">
                <a:latin typeface="Calibri" panose="020F0502020204030204" pitchFamily="34" charset="0"/>
                <a:ea typeface="Calibri" panose="020F0502020204030204" pitchFamily="34" charset="0"/>
                <a:cs typeface="Calibri" panose="020F0502020204030204" pitchFamily="34" charset="0"/>
              </a:rPr>
              <a:t>The summary briefly addresses the aim and contents of the material. </a:t>
            </a:r>
          </a:p>
          <a:p>
            <a:pPr marL="285750" indent="-285750">
              <a:buFont typeface="Arial" panose="020B0604020202020204" pitchFamily="34" charset="0"/>
              <a:buChar char="•"/>
            </a:pPr>
            <a:endParaRPr lang="en-GB" noProof="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noProof="0">
                <a:latin typeface="Calibri" panose="020F0502020204030204" pitchFamily="34" charset="0"/>
                <a:ea typeface="Calibri" panose="020F0502020204030204" pitchFamily="34" charset="0"/>
                <a:cs typeface="Calibri" panose="020F0502020204030204" pitchFamily="34" charset="0"/>
              </a:rPr>
              <a:t>Guidance </a:t>
            </a:r>
          </a:p>
          <a:p>
            <a:r>
              <a:rPr lang="en-GB" noProof="0">
                <a:latin typeface="Calibri" panose="020F0502020204030204" pitchFamily="34" charset="0"/>
                <a:ea typeface="Calibri" panose="020F0502020204030204" pitchFamily="34" charset="0"/>
                <a:cs typeface="Calibri" panose="020F0502020204030204" pitchFamily="34" charset="0"/>
              </a:rPr>
              <a:t>A separate guidance has been created to explain the material and facilitate reuse.</a:t>
            </a:r>
          </a:p>
          <a:p>
            <a:endParaRPr lang="en-GB" noProof="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noProof="0">
                <a:latin typeface="Calibri" panose="020F0502020204030204" pitchFamily="34" charset="0"/>
                <a:ea typeface="Calibri" panose="020F0502020204030204" pitchFamily="34" charset="0"/>
                <a:cs typeface="Calibri" panose="020F0502020204030204" pitchFamily="34" charset="0"/>
              </a:rPr>
              <a:t>Metadata</a:t>
            </a:r>
          </a:p>
          <a:p>
            <a:r>
              <a:rPr lang="en-GB" noProof="0">
                <a:latin typeface="Calibri" panose="020F0502020204030204" pitchFamily="34" charset="0"/>
                <a:ea typeface="Calibri" panose="020F0502020204030204" pitchFamily="34" charset="0"/>
                <a:cs typeface="Calibri" panose="020F0502020204030204" pitchFamily="34" charset="0"/>
              </a:rPr>
              <a:t>Relevant metadata to find and assess the material (target audience, language, tags)</a:t>
            </a:r>
          </a:p>
        </p:txBody>
      </p:sp>
    </p:spTree>
    <p:extLst>
      <p:ext uri="{BB962C8B-B14F-4D97-AF65-F5344CB8AC3E}">
        <p14:creationId xmlns:p14="http://schemas.microsoft.com/office/powerpoint/2010/main" val="2272685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FCC1-E20C-D72B-46FB-438B4523E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5F4A3-AD6B-F604-38EB-7F7C1FF57896}"/>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dirty="0">
                <a:latin typeface="Calibri"/>
                <a:ea typeface="Calibri"/>
                <a:cs typeface="Calibri"/>
              </a:rPr>
              <a:t>16. Crediting student work and respecting their copyright</a:t>
            </a:r>
          </a:p>
        </p:txBody>
      </p:sp>
      <p:sp>
        <p:nvSpPr>
          <p:cNvPr id="4" name="Rectangle: Rounded Corners 3">
            <a:extLst>
              <a:ext uri="{FF2B5EF4-FFF2-40B4-BE49-F238E27FC236}">
                <a16:creationId xmlns:a16="http://schemas.microsoft.com/office/drawing/2014/main" id="{38C613B7-1CE3-1D35-E840-FE1AC8094B47}"/>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0E6C416A-D376-5B75-A619-4264EF0CF96E}"/>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2C105B9D-998A-7C58-D730-CBE10D292090}"/>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47542445-A8ED-37AB-94AB-AC72C1517F83}"/>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C0179924-A573-94BC-4E93-9CDBF982D6E5}"/>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DAA4DA6B-8225-3B5F-F854-86DE3CD2D92D}"/>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dirty="0">
                <a:latin typeface="Calibri"/>
                <a:ea typeface="Calibri"/>
                <a:cs typeface="Calibri"/>
              </a:rPr>
              <a:t>Crediting your students</a:t>
            </a:r>
            <a:endParaRPr lang="en-GB" noProof="0" dirty="0"/>
          </a:p>
        </p:txBody>
      </p:sp>
      <p:sp>
        <p:nvSpPr>
          <p:cNvPr id="11" name="TextBox 10">
            <a:extLst>
              <a:ext uri="{FF2B5EF4-FFF2-40B4-BE49-F238E27FC236}">
                <a16:creationId xmlns:a16="http://schemas.microsoft.com/office/drawing/2014/main" id="{299B9D0C-DB2A-A72D-D655-E1816F8B778D}"/>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Goals</a:t>
            </a:r>
            <a:endParaRPr lang="en-GB" noProof="0"/>
          </a:p>
        </p:txBody>
      </p:sp>
      <p:sp>
        <p:nvSpPr>
          <p:cNvPr id="12" name="TextBox 11">
            <a:extLst>
              <a:ext uri="{FF2B5EF4-FFF2-40B4-BE49-F238E27FC236}">
                <a16:creationId xmlns:a16="http://schemas.microsoft.com/office/drawing/2014/main" id="{0460F6AF-DC37-090F-E737-62523CFA75FB}"/>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F4E90C0F-D23D-2677-7615-7D9E6298728C}"/>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437D78F0-DB71-929C-BB15-433D6783B82E}"/>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F79FF1D8-BF96-64C8-D774-10B3E60EDB7B}"/>
              </a:ext>
            </a:extLst>
          </p:cNvPr>
          <p:cNvPicPr>
            <a:picLocks noChangeAspect="1"/>
          </p:cNvPicPr>
          <p:nvPr/>
        </p:nvPicPr>
        <p:blipFill>
          <a:blip r:embed="rId2"/>
          <a:stretch>
            <a:fillRect/>
          </a:stretch>
        </p:blipFill>
        <p:spPr>
          <a:xfrm>
            <a:off x="26821" y="30831"/>
            <a:ext cx="523875" cy="523875"/>
          </a:xfrm>
          <a:prstGeom prst="rect">
            <a:avLst/>
          </a:prstGeom>
        </p:spPr>
      </p:pic>
      <p:sp>
        <p:nvSpPr>
          <p:cNvPr id="6" name="TextBox 15">
            <a:extLst>
              <a:ext uri="{FF2B5EF4-FFF2-40B4-BE49-F238E27FC236}">
                <a16:creationId xmlns:a16="http://schemas.microsoft.com/office/drawing/2014/main" id="{9DA86731-52A2-561B-9D26-E443DC16B2F2}"/>
              </a:ext>
            </a:extLst>
          </p:cNvPr>
          <p:cNvSpPr txBox="1"/>
          <p:nvPr/>
        </p:nvSpPr>
        <p:spPr>
          <a:xfrm>
            <a:off x="430389" y="1210958"/>
            <a:ext cx="3640666"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As open education can involve more sharing of outcomes and materials online as well as IRL, there are more points in time in which it is important to credit everyone's contribution, including those of students. This includes formal attributions as well as informally mentioning the students' role in whatever was created.</a:t>
            </a:r>
          </a:p>
        </p:txBody>
      </p:sp>
      <p:sp>
        <p:nvSpPr>
          <p:cNvPr id="19" name="TextBox 15">
            <a:extLst>
              <a:ext uri="{FF2B5EF4-FFF2-40B4-BE49-F238E27FC236}">
                <a16:creationId xmlns:a16="http://schemas.microsoft.com/office/drawing/2014/main" id="{2DE8CA41-A3CF-BC17-C8F4-BB91DA5D4EB2}"/>
              </a:ext>
            </a:extLst>
          </p:cNvPr>
          <p:cNvSpPr txBox="1"/>
          <p:nvPr/>
        </p:nvSpPr>
        <p:spPr>
          <a:xfrm>
            <a:off x="430389" y="4219021"/>
            <a:ext cx="3640666"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Crediting students' roles, work and creations is not only a matter of decency, but fits student agency and responsibility. It can help them in their career during and after their studies. Also, it is a legal requirement when (re)using student creations over which they have copyrights (unless contractually handed over to the institution)</a:t>
            </a:r>
          </a:p>
        </p:txBody>
      </p:sp>
      <p:sp>
        <p:nvSpPr>
          <p:cNvPr id="21" name="TextBox 15">
            <a:extLst>
              <a:ext uri="{FF2B5EF4-FFF2-40B4-BE49-F238E27FC236}">
                <a16:creationId xmlns:a16="http://schemas.microsoft.com/office/drawing/2014/main" id="{45F5FCDA-8F05-AC54-6C0B-6303F020A1B7}"/>
              </a:ext>
            </a:extLst>
          </p:cNvPr>
          <p:cNvSpPr txBox="1"/>
          <p:nvPr/>
        </p:nvSpPr>
        <p:spPr>
          <a:xfrm>
            <a:off x="4744853" y="1247835"/>
            <a:ext cx="4590000" cy="501675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There are a few things students, supervisors, tutors, professors and other can do:</a:t>
            </a:r>
          </a:p>
          <a:p>
            <a:endParaRPr lang="en-GB" sz="600" noProof="0">
              <a:latin typeface="Calibri"/>
              <a:ea typeface="Calibri"/>
              <a:cs typeface="Calibri"/>
            </a:endParaRPr>
          </a:p>
          <a:p>
            <a:pPr marL="285750" indent="-285750">
              <a:buFont typeface="Arial"/>
              <a:buChar char="•"/>
            </a:pPr>
            <a:r>
              <a:rPr lang="en-GB" sz="1600" noProof="0">
                <a:latin typeface="Calibri"/>
                <a:ea typeface="Calibri"/>
                <a:cs typeface="Calibri"/>
              </a:rPr>
              <a:t>Be aware that students or groups of students have copyright over works they create. </a:t>
            </a:r>
          </a:p>
          <a:p>
            <a:pPr marL="285750" indent="-285750">
              <a:buFont typeface="Arial"/>
              <a:buChar char="•"/>
            </a:pPr>
            <a:r>
              <a:rPr lang="en-GB" sz="1600" noProof="0">
                <a:latin typeface="Calibri"/>
                <a:ea typeface="Calibri"/>
                <a:cs typeface="Calibri"/>
              </a:rPr>
              <a:t>Be aware of any required formal handing over of copyright (in some UU faculties).</a:t>
            </a:r>
          </a:p>
          <a:p>
            <a:pPr marL="285750" indent="-285750">
              <a:buFont typeface="Arial"/>
              <a:buChar char="•"/>
            </a:pPr>
            <a:r>
              <a:rPr lang="en-GB" sz="1600" noProof="0">
                <a:latin typeface="Calibri"/>
                <a:ea typeface="Calibri"/>
                <a:cs typeface="Calibri"/>
              </a:rPr>
              <a:t>Discuss with students how to deal with copyright in advance, especially if any formal publication or open sharing is envisioned. Discuss who will need to be and wants to be listed as (co-)author. When sharing co-authored work discuss and agree on the CC-license with which to share the work.</a:t>
            </a:r>
          </a:p>
          <a:p>
            <a:pPr marL="285750" indent="-285750">
              <a:buFont typeface="Arial"/>
              <a:buChar char="•"/>
            </a:pPr>
            <a:r>
              <a:rPr lang="en-GB" sz="1600" noProof="0">
                <a:latin typeface="Calibri"/>
                <a:ea typeface="Calibri"/>
                <a:cs typeface="Calibri"/>
              </a:rPr>
              <a:t>Even when students granted permission to reuse their unpublished work, always acknowledge their role and work.</a:t>
            </a:r>
          </a:p>
          <a:p>
            <a:pPr marL="285750" indent="-285750">
              <a:buFont typeface="Arial"/>
              <a:buChar char="•"/>
            </a:pPr>
            <a:r>
              <a:rPr lang="en-GB" sz="1600" noProof="0">
                <a:latin typeface="Calibri"/>
                <a:ea typeface="Calibri"/>
                <a:cs typeface="Calibri"/>
              </a:rPr>
              <a:t>In any communication, including presentations and meetings be generous in crediting students' roles and where feasible, safe and within privacy regulation, consider naming individuals as well.</a:t>
            </a:r>
          </a:p>
        </p:txBody>
      </p:sp>
      <p:sp>
        <p:nvSpPr>
          <p:cNvPr id="24" name="TextBox 15">
            <a:extLst>
              <a:ext uri="{FF2B5EF4-FFF2-40B4-BE49-F238E27FC236}">
                <a16:creationId xmlns:a16="http://schemas.microsoft.com/office/drawing/2014/main" id="{78B47823-ADAE-F8B8-E777-114A874A7389}"/>
              </a:ext>
            </a:extLst>
          </p:cNvPr>
          <p:cNvSpPr txBox="1"/>
          <p:nvPr/>
        </p:nvSpPr>
        <p:spPr>
          <a:xfrm>
            <a:off x="9957998" y="1219331"/>
            <a:ext cx="1816794"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hlinkClick r:id="rId3">
                  <a:extLst>
                    <a:ext uri="{A12FA001-AC4F-418D-AE19-62706E023703}">
                      <ahyp:hlinkClr xmlns:ahyp="http://schemas.microsoft.com/office/drawing/2018/hyperlinkcolor" val="tx"/>
                    </a:ext>
                  </a:extLst>
                </a:hlinkClick>
              </a:rPr>
              <a:t>Student blogs on EU law enforcement</a:t>
            </a:r>
          </a:p>
        </p:txBody>
      </p:sp>
      <p:sp>
        <p:nvSpPr>
          <p:cNvPr id="26" name="TextBox 15">
            <a:extLst>
              <a:ext uri="{FF2B5EF4-FFF2-40B4-BE49-F238E27FC236}">
                <a16:creationId xmlns:a16="http://schemas.microsoft.com/office/drawing/2014/main" id="{EF37C49E-9473-7AE3-4E35-ECCE82BED9AC}"/>
              </a:ext>
            </a:extLst>
          </p:cNvPr>
          <p:cNvSpPr txBox="1"/>
          <p:nvPr/>
        </p:nvSpPr>
        <p:spPr>
          <a:xfrm>
            <a:off x="9939737" y="4292451"/>
            <a:ext cx="1835053"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Copyright Information Office student page</a:t>
            </a:r>
          </a:p>
        </p:txBody>
      </p:sp>
      <p:pic>
        <p:nvPicPr>
          <p:cNvPr id="17" name="Picture 26">
            <a:extLst>
              <a:ext uri="{FF2B5EF4-FFF2-40B4-BE49-F238E27FC236}">
                <a16:creationId xmlns:a16="http://schemas.microsoft.com/office/drawing/2014/main" id="{AF02499D-B905-2FD8-61B4-15638F8E6327}"/>
              </a:ext>
            </a:extLst>
          </p:cNvPr>
          <p:cNvPicPr>
            <a:picLocks noChangeAspect="1"/>
          </p:cNvPicPr>
          <p:nvPr/>
        </p:nvPicPr>
        <p:blipFill>
          <a:blip r:embed="rId5"/>
          <a:stretch>
            <a:fillRect/>
          </a:stretch>
        </p:blipFill>
        <p:spPr>
          <a:xfrm>
            <a:off x="11571081" y="108056"/>
            <a:ext cx="399072" cy="370500"/>
          </a:xfrm>
          <a:prstGeom prst="rect">
            <a:avLst/>
          </a:prstGeom>
        </p:spPr>
      </p:pic>
    </p:spTree>
    <p:extLst>
      <p:ext uri="{BB962C8B-B14F-4D97-AF65-F5344CB8AC3E}">
        <p14:creationId xmlns:p14="http://schemas.microsoft.com/office/powerpoint/2010/main" val="1983554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928E7-53BF-9360-21FE-24B71C405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4223D-F7E8-3E01-549D-821746736B56}"/>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Crediting student work and respecting their copyright</a:t>
            </a:r>
          </a:p>
        </p:txBody>
      </p:sp>
      <p:pic>
        <p:nvPicPr>
          <p:cNvPr id="22" name="Picture 21">
            <a:extLst>
              <a:ext uri="{FF2B5EF4-FFF2-40B4-BE49-F238E27FC236}">
                <a16:creationId xmlns:a16="http://schemas.microsoft.com/office/drawing/2014/main" id="{03C5D90D-FF85-57C9-FFD1-795E6D705FEA}"/>
              </a:ext>
            </a:extLst>
          </p:cNvPr>
          <p:cNvPicPr>
            <a:picLocks noChangeAspect="1"/>
          </p:cNvPicPr>
          <p:nvPr/>
        </p:nvPicPr>
        <p:blipFill>
          <a:blip r:embed="rId2"/>
          <a:stretch>
            <a:fillRect/>
          </a:stretch>
        </p:blipFill>
        <p:spPr>
          <a:xfrm>
            <a:off x="26821" y="30831"/>
            <a:ext cx="523875" cy="523875"/>
          </a:xfrm>
          <a:prstGeom prst="rect">
            <a:avLst/>
          </a:prstGeom>
        </p:spPr>
      </p:pic>
      <p:pic>
        <p:nvPicPr>
          <p:cNvPr id="13" name="Picture 12">
            <a:extLst>
              <a:ext uri="{FF2B5EF4-FFF2-40B4-BE49-F238E27FC236}">
                <a16:creationId xmlns:a16="http://schemas.microsoft.com/office/drawing/2014/main" id="{1B297821-AC95-BC1E-39CD-180A00A10A23}"/>
              </a:ext>
            </a:extLst>
          </p:cNvPr>
          <p:cNvPicPr>
            <a:picLocks noChangeAspect="1"/>
          </p:cNvPicPr>
          <p:nvPr/>
        </p:nvPicPr>
        <p:blipFill>
          <a:blip r:embed="rId3"/>
          <a:stretch>
            <a:fillRect/>
          </a:stretch>
        </p:blipFill>
        <p:spPr>
          <a:xfrm>
            <a:off x="11452796" y="53781"/>
            <a:ext cx="501806" cy="468584"/>
          </a:xfrm>
          <a:prstGeom prst="rect">
            <a:avLst/>
          </a:prstGeom>
        </p:spPr>
      </p:pic>
      <p:pic>
        <p:nvPicPr>
          <p:cNvPr id="5" name="Picture 4">
            <a:hlinkClick r:id="rId4"/>
            <a:extLst>
              <a:ext uri="{FF2B5EF4-FFF2-40B4-BE49-F238E27FC236}">
                <a16:creationId xmlns:a16="http://schemas.microsoft.com/office/drawing/2014/main" id="{5D1D86B3-A2C8-7236-54A0-22F0F36E68FA}"/>
              </a:ext>
            </a:extLst>
          </p:cNvPr>
          <p:cNvPicPr>
            <a:picLocks noChangeAspect="1"/>
          </p:cNvPicPr>
          <p:nvPr/>
        </p:nvPicPr>
        <p:blipFill>
          <a:blip r:embed="rId5"/>
          <a:stretch>
            <a:fillRect/>
          </a:stretch>
        </p:blipFill>
        <p:spPr>
          <a:xfrm>
            <a:off x="26821" y="674020"/>
            <a:ext cx="7772400" cy="6153149"/>
          </a:xfrm>
          <a:prstGeom prst="rect">
            <a:avLst/>
          </a:prstGeom>
        </p:spPr>
      </p:pic>
      <p:sp>
        <p:nvSpPr>
          <p:cNvPr id="7" name="TextBox 6">
            <a:extLst>
              <a:ext uri="{FF2B5EF4-FFF2-40B4-BE49-F238E27FC236}">
                <a16:creationId xmlns:a16="http://schemas.microsoft.com/office/drawing/2014/main" id="{73A5EAB2-96F8-521A-1D23-6A2315098A9A}"/>
              </a:ext>
            </a:extLst>
          </p:cNvPr>
          <p:cNvSpPr txBox="1"/>
          <p:nvPr/>
        </p:nvSpPr>
        <p:spPr>
          <a:xfrm>
            <a:off x="7799221" y="1510890"/>
            <a:ext cx="4266655" cy="830997"/>
          </a:xfrm>
          <a:prstGeom prst="rect">
            <a:avLst/>
          </a:prstGeom>
          <a:noFill/>
        </p:spPr>
        <p:txBody>
          <a:bodyPr wrap="square">
            <a:spAutoFit/>
          </a:bodyPr>
          <a:lstStyle/>
          <a:p>
            <a:r>
              <a:rPr lang="en-US" sz="1600" dirty="0"/>
              <a:t>More info: https://</a:t>
            </a:r>
            <a:r>
              <a:rPr lang="en-US" sz="1600" dirty="0" err="1"/>
              <a:t>www.uu.nl</a:t>
            </a:r>
            <a:r>
              <a:rPr lang="en-US" sz="1600" dirty="0"/>
              <a:t>/</a:t>
            </a:r>
            <a:r>
              <a:rPr lang="en-US" sz="1600" dirty="0" err="1"/>
              <a:t>en</a:t>
            </a:r>
            <a:r>
              <a:rPr lang="en-US" sz="1600" dirty="0"/>
              <a:t>/news/wave-of-new-</a:t>
            </a:r>
            <a:r>
              <a:rPr lang="en-US" sz="1600" dirty="0" err="1"/>
              <a:t>wikipedia</a:t>
            </a:r>
            <a:r>
              <a:rPr lang="en-US" sz="1600" dirty="0"/>
              <a:t>-articles-by-oceanography-students</a:t>
            </a:r>
          </a:p>
        </p:txBody>
      </p:sp>
    </p:spTree>
    <p:extLst>
      <p:ext uri="{BB962C8B-B14F-4D97-AF65-F5344CB8AC3E}">
        <p14:creationId xmlns:p14="http://schemas.microsoft.com/office/powerpoint/2010/main" val="24784305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BAFBC-918C-F32E-7FE8-4F1AF98A869E}"/>
            </a:ext>
          </a:extLst>
        </p:cNvPr>
        <p:cNvGrpSpPr/>
        <p:nvPr/>
      </p:nvGrpSpPr>
      <p:grpSpPr>
        <a:xfrm>
          <a:off x="0" y="0"/>
          <a:ext cx="0" cy="0"/>
          <a:chOff x="0" y="0"/>
          <a:chExt cx="0" cy="0"/>
        </a:xfrm>
      </p:grpSpPr>
      <p:sp>
        <p:nvSpPr>
          <p:cNvPr id="13" name="Rectangle: Rounded Corners 7">
            <a:extLst>
              <a:ext uri="{FF2B5EF4-FFF2-40B4-BE49-F238E27FC236}">
                <a16:creationId xmlns:a16="http://schemas.microsoft.com/office/drawing/2014/main" id="{28AC787F-747B-A06C-2A27-6530E0AEA2AD}"/>
              </a:ext>
            </a:extLst>
          </p:cNvPr>
          <p:cNvSpPr/>
          <p:nvPr/>
        </p:nvSpPr>
        <p:spPr>
          <a:xfrm>
            <a:off x="9830189"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2" name="Title 1">
            <a:extLst>
              <a:ext uri="{FF2B5EF4-FFF2-40B4-BE49-F238E27FC236}">
                <a16:creationId xmlns:a16="http://schemas.microsoft.com/office/drawing/2014/main" id="{6561594E-2A55-641E-AFF9-F55C802359B5}"/>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17. Openly share teaching materials</a:t>
            </a:r>
          </a:p>
        </p:txBody>
      </p:sp>
      <p:sp>
        <p:nvSpPr>
          <p:cNvPr id="4" name="Rectangle: Rounded Corners 3">
            <a:extLst>
              <a:ext uri="{FF2B5EF4-FFF2-40B4-BE49-F238E27FC236}">
                <a16:creationId xmlns:a16="http://schemas.microsoft.com/office/drawing/2014/main" id="{A230ADA4-BEE8-E206-9507-8C9BDCD49DA3}"/>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D20B0249-07AA-1A49-E0BF-EEFEF145B0A4}"/>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228DC4B3-982A-4903-1459-C5EC24D0B0FE}"/>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87EADD48-7FDD-586E-4F53-12FD2277BE47}"/>
              </a:ext>
            </a:extLst>
          </p:cNvPr>
          <p:cNvSpPr/>
          <p:nvPr/>
        </p:nvSpPr>
        <p:spPr>
          <a:xfrm>
            <a:off x="9793118" y="825570"/>
            <a:ext cx="2192560" cy="277080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367AA01F-8E2E-F470-3D2C-C395253A8DE4}"/>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Share materials as OER</a:t>
            </a:r>
          </a:p>
        </p:txBody>
      </p:sp>
      <p:sp>
        <p:nvSpPr>
          <p:cNvPr id="11" name="TextBox 10">
            <a:extLst>
              <a:ext uri="{FF2B5EF4-FFF2-40B4-BE49-F238E27FC236}">
                <a16:creationId xmlns:a16="http://schemas.microsoft.com/office/drawing/2014/main" id="{F1A54A4E-2B8D-C244-A619-BF90BB161FE2}"/>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49196B19-4B41-A70C-63A7-73774D2150D6}"/>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5" name="TextBox 14">
            <a:extLst>
              <a:ext uri="{FF2B5EF4-FFF2-40B4-BE49-F238E27FC236}">
                <a16:creationId xmlns:a16="http://schemas.microsoft.com/office/drawing/2014/main" id="{CF719000-86AF-0A0D-AD22-C462978A6EF7}"/>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sp>
        <p:nvSpPr>
          <p:cNvPr id="16" name="TextBox 15">
            <a:extLst>
              <a:ext uri="{FF2B5EF4-FFF2-40B4-BE49-F238E27FC236}">
                <a16:creationId xmlns:a16="http://schemas.microsoft.com/office/drawing/2014/main" id="{B0E44D5D-EE16-DE23-50C1-4FBFBB844AC0}"/>
              </a:ext>
            </a:extLst>
          </p:cNvPr>
          <p:cNvSpPr txBox="1"/>
          <p:nvPr/>
        </p:nvSpPr>
        <p:spPr>
          <a:xfrm>
            <a:off x="430389" y="1210958"/>
            <a:ext cx="3640666"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One of the most accessible OE practice is openly publishing educational material as Open Educational Resources (OER), so everyone can easily access teaching materials. These could be: lectures (slides, video), assignments, workshops, manuals, code, instructions to a blog or even entire courses!</a:t>
            </a:r>
          </a:p>
        </p:txBody>
      </p:sp>
      <p:sp>
        <p:nvSpPr>
          <p:cNvPr id="17" name="TextBox 16">
            <a:extLst>
              <a:ext uri="{FF2B5EF4-FFF2-40B4-BE49-F238E27FC236}">
                <a16:creationId xmlns:a16="http://schemas.microsoft.com/office/drawing/2014/main" id="{1B911B20-59CC-5FFB-3873-784B02690558}"/>
              </a:ext>
            </a:extLst>
          </p:cNvPr>
          <p:cNvSpPr txBox="1"/>
          <p:nvPr/>
        </p:nvSpPr>
        <p:spPr>
          <a:xfrm>
            <a:off x="404775" y="4247969"/>
            <a:ext cx="3640666"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Sharing educational material means other teachers can use and build upon existing materials, making the development of material more efficient and effective. </a:t>
            </a:r>
          </a:p>
        </p:txBody>
      </p:sp>
      <p:sp>
        <p:nvSpPr>
          <p:cNvPr id="18" name="TextBox 17">
            <a:extLst>
              <a:ext uri="{FF2B5EF4-FFF2-40B4-BE49-F238E27FC236}">
                <a16:creationId xmlns:a16="http://schemas.microsoft.com/office/drawing/2014/main" id="{7354EACB-5506-E48C-6E13-6176C133008D}"/>
              </a:ext>
            </a:extLst>
          </p:cNvPr>
          <p:cNvSpPr txBox="1"/>
          <p:nvPr/>
        </p:nvSpPr>
        <p:spPr>
          <a:xfrm>
            <a:off x="4579766" y="1231183"/>
            <a:ext cx="5019012" cy="50013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noProof="0">
                <a:latin typeface="Calibri"/>
                <a:ea typeface="Calibri"/>
                <a:cs typeface="Calibri"/>
              </a:rPr>
              <a:t>(1) Respecting copyright and privacy</a:t>
            </a:r>
            <a:br>
              <a:rPr lang="en-GB" sz="1600" b="1" noProof="0">
                <a:latin typeface="Calibri"/>
                <a:ea typeface="Calibri"/>
                <a:cs typeface="Calibri"/>
              </a:rPr>
            </a:br>
            <a:r>
              <a:rPr lang="en-GB" sz="1600" noProof="0">
                <a:latin typeface="Calibri"/>
                <a:ea typeface="Calibri"/>
                <a:cs typeface="Calibri"/>
              </a:rPr>
              <a:t>It is important to consider possible copyright on photos, videos, information. Remove any personal information before sharing. </a:t>
            </a:r>
            <a:r>
              <a:rPr lang="en-GB" sz="1600" noProof="0">
                <a:latin typeface="Calibri"/>
                <a:ea typeface="+mn-lt"/>
                <a:cs typeface="+mn-lt"/>
              </a:rPr>
              <a:t> </a:t>
            </a:r>
            <a:endParaRPr lang="en-GB" sz="1600" noProof="0">
              <a:latin typeface="Calibri"/>
              <a:ea typeface="Calibri"/>
              <a:cs typeface="Calibri"/>
            </a:endParaRPr>
          </a:p>
          <a:p>
            <a:endParaRPr lang="en-GB" sz="1100" noProof="0">
              <a:latin typeface="Calibri"/>
              <a:ea typeface="Calibri"/>
              <a:cs typeface="Calibri"/>
            </a:endParaRPr>
          </a:p>
          <a:p>
            <a:r>
              <a:rPr lang="en-GB" sz="1600" b="1" noProof="0">
                <a:latin typeface="Calibri"/>
                <a:ea typeface="Calibri"/>
                <a:cs typeface="Calibri"/>
              </a:rPr>
              <a:t>(2) Preparing the material for sharing</a:t>
            </a:r>
          </a:p>
          <a:p>
            <a:r>
              <a:rPr lang="en-GB" sz="1600" noProof="0">
                <a:latin typeface="Calibri"/>
                <a:ea typeface="Calibri"/>
                <a:cs typeface="Calibri"/>
              </a:rPr>
              <a:t>Add some documentation (e.g.  the type of course, level and learning goal it was created for), and if possible some evaluative notions. </a:t>
            </a:r>
          </a:p>
          <a:p>
            <a:endParaRPr lang="en-GB" sz="1100" noProof="0">
              <a:latin typeface="Calibri"/>
              <a:ea typeface="Calibri"/>
              <a:cs typeface="Calibri"/>
            </a:endParaRPr>
          </a:p>
          <a:p>
            <a:r>
              <a:rPr lang="en-GB" sz="1600" b="1" noProof="0">
                <a:latin typeface="Calibri"/>
                <a:ea typeface="Calibri"/>
                <a:cs typeface="Calibri"/>
              </a:rPr>
              <a:t>(3) Where to publish?</a:t>
            </a:r>
          </a:p>
          <a:p>
            <a:r>
              <a:rPr lang="en-GB" sz="1600" noProof="0">
                <a:latin typeface="Calibri"/>
                <a:ea typeface="Calibri"/>
                <a:cs typeface="Calibri"/>
              </a:rPr>
              <a:t>Educational material can be published on freely accessible educational platforms like Edusources.</a:t>
            </a:r>
          </a:p>
          <a:p>
            <a:endParaRPr lang="en-GB" sz="1100" b="1" noProof="0">
              <a:latin typeface="Calibri"/>
              <a:ea typeface="Calibri"/>
              <a:cs typeface="Calibri"/>
            </a:endParaRPr>
          </a:p>
          <a:p>
            <a:r>
              <a:rPr lang="en-GB" sz="1600" b="1" noProof="0">
                <a:latin typeface="Calibri"/>
                <a:ea typeface="Calibri"/>
                <a:cs typeface="Calibri"/>
              </a:rPr>
              <a:t>(4) Licensing</a:t>
            </a:r>
            <a:r>
              <a:rPr lang="en-GB" sz="1600" noProof="0">
                <a:latin typeface="Calibri"/>
                <a:ea typeface="Calibri"/>
                <a:cs typeface="Calibri"/>
              </a:rPr>
              <a:t> </a:t>
            </a:r>
            <a:endParaRPr lang="en-GB" noProof="0"/>
          </a:p>
          <a:p>
            <a:r>
              <a:rPr lang="en-GB" sz="1600" noProof="0">
                <a:latin typeface="Calibri"/>
                <a:ea typeface="Calibri"/>
                <a:cs typeface="Calibri"/>
              </a:rPr>
              <a:t>Choose an appropriate Creative Commons license to publish the educational material under: CC-BY or CC-BY-NC. Respect students' rights.</a:t>
            </a:r>
          </a:p>
          <a:p>
            <a:endParaRPr lang="en-GB" b="1" i="1" noProof="0">
              <a:latin typeface="Calibri"/>
              <a:ea typeface="Calibri"/>
              <a:cs typeface="Calibri"/>
            </a:endParaRPr>
          </a:p>
          <a:p>
            <a:r>
              <a:rPr lang="en-GB" sz="1400" b="1" i="1" noProof="0">
                <a:latin typeface="Calibri"/>
                <a:ea typeface="Calibri"/>
                <a:cs typeface="Calibri"/>
              </a:rPr>
              <a:t>   Chef’s Tip:</a:t>
            </a:r>
          </a:p>
          <a:p>
            <a:r>
              <a:rPr lang="en-GB" sz="1400" i="1" noProof="0">
                <a:latin typeface="Calibri"/>
                <a:ea typeface="Calibri"/>
                <a:cs typeface="Calibri"/>
              </a:rPr>
              <a:t>   </a:t>
            </a:r>
          </a:p>
        </p:txBody>
      </p:sp>
      <p:sp>
        <p:nvSpPr>
          <p:cNvPr id="20" name="TextBox 19">
            <a:extLst>
              <a:ext uri="{FF2B5EF4-FFF2-40B4-BE49-F238E27FC236}">
                <a16:creationId xmlns:a16="http://schemas.microsoft.com/office/drawing/2014/main" id="{E08AC443-D780-73E0-28E8-B5D54AB49250}"/>
              </a:ext>
            </a:extLst>
          </p:cNvPr>
          <p:cNvSpPr txBox="1"/>
          <p:nvPr/>
        </p:nvSpPr>
        <p:spPr>
          <a:xfrm>
            <a:off x="9920293" y="4292948"/>
            <a:ext cx="2126369"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noProof="0">
                <a:latin typeface="Calibri"/>
                <a:ea typeface="+mn-lt"/>
                <a:cs typeface="+mn-lt"/>
                <a:hlinkClick r:id="rId2">
                  <a:extLst>
                    <a:ext uri="{A12FA001-AC4F-418D-AE19-62706E023703}">
                      <ahyp:hlinkClr xmlns:ahyp="http://schemas.microsoft.com/office/drawing/2018/hyperlinkcolor" val="tx"/>
                    </a:ext>
                  </a:extLst>
                </a:hlinkClick>
              </a:rPr>
              <a:t>Edusources</a:t>
            </a:r>
          </a:p>
          <a:p>
            <a:endParaRPr lang="en-GB" sz="700" noProof="0">
              <a:latin typeface="Aptos" panose="020B0004020202020204"/>
              <a:ea typeface="+mn-lt"/>
              <a:cs typeface="+mn-lt"/>
              <a:hlinkClick r:id="rId2">
                <a:extLst>
                  <a:ext uri="{A12FA001-AC4F-418D-AE19-62706E023703}">
                    <ahyp:hlinkClr xmlns:ahyp="http://schemas.microsoft.com/office/drawing/2018/hyperlinkcolor" val="tx"/>
                  </a:ext>
                </a:extLst>
              </a:hlinkClick>
            </a:endParaRPr>
          </a:p>
          <a:p>
            <a:pPr marL="285750" indent="-285750">
              <a:buFont typeface="Arial"/>
              <a:buChar char="•"/>
            </a:pPr>
            <a:r>
              <a:rPr lang="en-GB" sz="1600" noProof="0">
                <a:latin typeface="Calibri"/>
                <a:ea typeface="+mn-lt"/>
                <a:cs typeface="+mn-lt"/>
              </a:rPr>
              <a:t>CAT: </a:t>
            </a:r>
            <a:r>
              <a:rPr lang="en-GB" sz="1600" noProof="0">
                <a:latin typeface="Calibri"/>
                <a:ea typeface="+mn-lt"/>
                <a:cs typeface="+mn-lt"/>
                <a:hlinkClick r:id="rId3">
                  <a:extLst>
                    <a:ext uri="{A12FA001-AC4F-418D-AE19-62706E023703}">
                      <ahyp:hlinkClr xmlns:ahyp="http://schemas.microsoft.com/office/drawing/2018/hyperlinkcolor" val="tx"/>
                    </a:ext>
                  </a:extLst>
                </a:hlinkClick>
              </a:rPr>
              <a:t>Teaching and learning collection</a:t>
            </a:r>
            <a:endParaRPr lang="en-GB" sz="1600" noProof="0">
              <a:latin typeface="Calibri"/>
              <a:ea typeface="+mn-lt"/>
              <a:cs typeface="+mn-lt"/>
            </a:endParaRPr>
          </a:p>
          <a:p>
            <a:endParaRPr lang="en-GB" sz="700" noProof="0">
              <a:latin typeface="Aptos" panose="020B0004020202020204"/>
              <a:ea typeface="+mn-lt"/>
              <a:cs typeface="+mn-lt"/>
              <a:hlinkClick r:id="" action="ppaction://noaction">
                <a:extLst>
                  <a:ext uri="{A12FA001-AC4F-418D-AE19-62706E023703}">
                    <ahyp:hlinkClr xmlns:ahyp="http://schemas.microsoft.com/office/drawing/2018/hyperlinkcolor" val="tx"/>
                  </a:ext>
                </a:extLst>
              </a:hlinkClick>
            </a:endParaRPr>
          </a:p>
          <a:p>
            <a:pPr marL="285750" indent="-285750">
              <a:buFont typeface="Arial" panose="020B0604020202020204" pitchFamily="34" charset="0"/>
              <a:buChar char="•"/>
            </a:pPr>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UU Copyright information office</a:t>
            </a:r>
            <a:endParaRPr lang="en-GB" sz="1600" noProof="0">
              <a:latin typeface="Calibri"/>
              <a:ea typeface="Calibri"/>
              <a:cs typeface="Calibri"/>
            </a:endParaRPr>
          </a:p>
          <a:p>
            <a:endParaRPr lang="en-GB" sz="700" noProof="0">
              <a:latin typeface="Calibri"/>
              <a:ea typeface="Calibri"/>
              <a:cs typeface="Calibri"/>
            </a:endParaRPr>
          </a:p>
          <a:p>
            <a:pPr marL="285750" indent="-285750">
              <a:buFont typeface="Arial"/>
              <a:buChar char="•"/>
            </a:pPr>
            <a:r>
              <a:rPr lang="en-GB" sz="1600" noProof="0">
                <a:latin typeface="Calibri"/>
                <a:ea typeface="Calibri"/>
                <a:cs typeface="Calibri"/>
                <a:hlinkClick r:id="rId5">
                  <a:extLst>
                    <a:ext uri="{A12FA001-AC4F-418D-AE19-62706E023703}">
                      <ahyp:hlinkClr xmlns:ahyp="http://schemas.microsoft.com/office/drawing/2018/hyperlinkcolor" val="tx"/>
                    </a:ext>
                  </a:extLst>
                </a:hlinkClick>
              </a:rPr>
              <a:t>UU Library's OER support page</a:t>
            </a:r>
          </a:p>
          <a:p>
            <a:endParaRPr lang="en-GB" sz="1600" noProof="0">
              <a:latin typeface="Calibri"/>
              <a:ea typeface="Calibri"/>
              <a:cs typeface="Calibri"/>
            </a:endParaRPr>
          </a:p>
        </p:txBody>
      </p:sp>
      <p:sp>
        <p:nvSpPr>
          <p:cNvPr id="21" name="TextBox 20">
            <a:extLst>
              <a:ext uri="{FF2B5EF4-FFF2-40B4-BE49-F238E27FC236}">
                <a16:creationId xmlns:a16="http://schemas.microsoft.com/office/drawing/2014/main" id="{D8D50D69-6C31-9D81-F472-78E04DF14797}"/>
              </a:ext>
            </a:extLst>
          </p:cNvPr>
          <p:cNvSpPr txBox="1"/>
          <p:nvPr/>
        </p:nvSpPr>
        <p:spPr>
          <a:xfrm>
            <a:off x="9920293" y="1153154"/>
            <a:ext cx="2065386"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noProof="0">
                <a:latin typeface="Calibri"/>
                <a:ea typeface="Calibri"/>
                <a:cs typeface="Calibri"/>
              </a:rPr>
              <a:t>Multiple materials have already been published on </a:t>
            </a:r>
            <a:r>
              <a:rPr lang="en-GB" sz="1600" noProof="0">
                <a:latin typeface="Calibri"/>
                <a:ea typeface="Calibri"/>
                <a:cs typeface="Calibri"/>
                <a:hlinkClick r:id="rId6">
                  <a:extLst>
                    <a:ext uri="{A12FA001-AC4F-418D-AE19-62706E023703}">
                      <ahyp:hlinkClr xmlns:ahyp="http://schemas.microsoft.com/office/drawing/2018/hyperlinkcolor" val="tx"/>
                    </a:ext>
                  </a:extLst>
                </a:hlinkClick>
              </a:rPr>
              <a:t>Edusources</a:t>
            </a:r>
            <a:r>
              <a:rPr lang="en-GB" sz="1600" noProof="0">
                <a:latin typeface="Calibri"/>
                <a:ea typeface="Calibri"/>
                <a:cs typeface="Calibri"/>
              </a:rPr>
              <a:t>, such as lectures, works-hops and instructions to educational blogs.</a:t>
            </a:r>
            <a:endParaRPr lang="en-GB" sz="1600" noProof="0"/>
          </a:p>
          <a:p>
            <a:endParaRPr lang="en-GB" sz="1600" noProof="0">
              <a:latin typeface="Calibri"/>
              <a:ea typeface="Calibri"/>
              <a:cs typeface="Calibri"/>
            </a:endParaRPr>
          </a:p>
        </p:txBody>
      </p:sp>
      <p:pic>
        <p:nvPicPr>
          <p:cNvPr id="6" name="Graphic 5" descr="Duim omhoog met effen opvulling">
            <a:extLst>
              <a:ext uri="{FF2B5EF4-FFF2-40B4-BE49-F238E27FC236}">
                <a16:creationId xmlns:a16="http://schemas.microsoft.com/office/drawing/2014/main" id="{B5527D23-95A7-D460-19BF-B4BB66F07C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30297" y="6015151"/>
            <a:ext cx="360000" cy="360000"/>
          </a:xfrm>
          <a:prstGeom prst="rect">
            <a:avLst/>
          </a:prstGeom>
        </p:spPr>
      </p:pic>
      <p:pic>
        <p:nvPicPr>
          <p:cNvPr id="19" name="Picture 18">
            <a:extLst>
              <a:ext uri="{FF2B5EF4-FFF2-40B4-BE49-F238E27FC236}">
                <a16:creationId xmlns:a16="http://schemas.microsoft.com/office/drawing/2014/main" id="{F67740D2-271A-C249-2D65-8D40E953A2C4}"/>
              </a:ext>
            </a:extLst>
          </p:cNvPr>
          <p:cNvPicPr>
            <a:picLocks noChangeAspect="1"/>
          </p:cNvPicPr>
          <p:nvPr/>
        </p:nvPicPr>
        <p:blipFill>
          <a:blip r:embed="rId8"/>
          <a:stretch>
            <a:fillRect/>
          </a:stretch>
        </p:blipFill>
        <p:spPr>
          <a:xfrm>
            <a:off x="26821" y="30831"/>
            <a:ext cx="523875" cy="523875"/>
          </a:xfrm>
          <a:prstGeom prst="rect">
            <a:avLst/>
          </a:prstGeom>
        </p:spPr>
      </p:pic>
      <p:sp>
        <p:nvSpPr>
          <p:cNvPr id="3" name="TextBox 2">
            <a:extLst>
              <a:ext uri="{FF2B5EF4-FFF2-40B4-BE49-F238E27FC236}">
                <a16:creationId xmlns:a16="http://schemas.microsoft.com/office/drawing/2014/main" id="{CBF2E47F-5D25-56E6-2BAE-46158619E48F}"/>
              </a:ext>
            </a:extLst>
          </p:cNvPr>
          <p:cNvSpPr txBox="1"/>
          <p:nvPr/>
        </p:nvSpPr>
        <p:spPr>
          <a:xfrm>
            <a:off x="5784073" y="5807698"/>
            <a:ext cx="3314207"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i="1" baseline="0" noProof="0">
                <a:latin typeface="Calibri"/>
              </a:rPr>
              <a:t>Ask the or the library for help on how to share</a:t>
            </a:r>
            <a:r>
              <a:rPr lang="en-GB" sz="1400" i="1" noProof="0">
                <a:latin typeface="Calibri"/>
              </a:rPr>
              <a:t> </a:t>
            </a:r>
            <a:r>
              <a:rPr lang="en-GB" sz="1400" i="1" baseline="0" noProof="0">
                <a:latin typeface="Calibri"/>
              </a:rPr>
              <a:t>your materials on Edusources!</a:t>
            </a:r>
            <a:r>
              <a:rPr lang="en-GB" noProof="0"/>
              <a:t> </a:t>
            </a:r>
          </a:p>
          <a:p>
            <a:pPr algn="ctr"/>
            <a:endParaRPr lang="en-GB" noProof="0"/>
          </a:p>
        </p:txBody>
      </p:sp>
      <p:pic>
        <p:nvPicPr>
          <p:cNvPr id="23" name="Picture 26">
            <a:extLst>
              <a:ext uri="{FF2B5EF4-FFF2-40B4-BE49-F238E27FC236}">
                <a16:creationId xmlns:a16="http://schemas.microsoft.com/office/drawing/2014/main" id="{718CC913-5E2D-3901-ED59-A78821C2F0A8}"/>
              </a:ext>
            </a:extLst>
          </p:cNvPr>
          <p:cNvPicPr>
            <a:picLocks noChangeAspect="1"/>
          </p:cNvPicPr>
          <p:nvPr/>
        </p:nvPicPr>
        <p:blipFill>
          <a:blip r:embed="rId9"/>
          <a:stretch>
            <a:fillRect/>
          </a:stretch>
        </p:blipFill>
        <p:spPr>
          <a:xfrm>
            <a:off x="11571081" y="108056"/>
            <a:ext cx="399072" cy="370500"/>
          </a:xfrm>
          <a:prstGeom prst="rect">
            <a:avLst/>
          </a:prstGeom>
        </p:spPr>
      </p:pic>
      <p:sp>
        <p:nvSpPr>
          <p:cNvPr id="22" name="TextBox 13">
            <a:extLst>
              <a:ext uri="{FF2B5EF4-FFF2-40B4-BE49-F238E27FC236}">
                <a16:creationId xmlns:a16="http://schemas.microsoft.com/office/drawing/2014/main" id="{7DE0DE3B-7E80-79ED-A70B-ABDBA87E59D7}"/>
              </a:ext>
            </a:extLst>
          </p:cNvPr>
          <p:cNvSpPr txBox="1"/>
          <p:nvPr/>
        </p:nvSpPr>
        <p:spPr>
          <a:xfrm>
            <a:off x="10004052"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Tree>
    <p:extLst>
      <p:ext uri="{BB962C8B-B14F-4D97-AF65-F5344CB8AC3E}">
        <p14:creationId xmlns:p14="http://schemas.microsoft.com/office/powerpoint/2010/main" val="18616253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E1538-95AB-9316-F57C-57EA64FC3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02827-2EF8-9963-B4B9-16D25E273D17}"/>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Openly share teaching materials</a:t>
            </a:r>
          </a:p>
        </p:txBody>
      </p:sp>
      <p:pic>
        <p:nvPicPr>
          <p:cNvPr id="19" name="Picture 18">
            <a:extLst>
              <a:ext uri="{FF2B5EF4-FFF2-40B4-BE49-F238E27FC236}">
                <a16:creationId xmlns:a16="http://schemas.microsoft.com/office/drawing/2014/main" id="{4960AEB8-4550-1D7A-ACE4-83937B59BD54}"/>
              </a:ext>
            </a:extLst>
          </p:cNvPr>
          <p:cNvPicPr>
            <a:picLocks noChangeAspect="1"/>
          </p:cNvPicPr>
          <p:nvPr/>
        </p:nvPicPr>
        <p:blipFill>
          <a:blip r:embed="rId2"/>
          <a:stretch>
            <a:fillRect/>
          </a:stretch>
        </p:blipFill>
        <p:spPr>
          <a:xfrm>
            <a:off x="26821" y="30831"/>
            <a:ext cx="523875" cy="523875"/>
          </a:xfrm>
          <a:prstGeom prst="rect">
            <a:avLst/>
          </a:prstGeom>
        </p:spPr>
      </p:pic>
      <p:pic>
        <p:nvPicPr>
          <p:cNvPr id="13" name="Afbeelding 12" descr="Afbeelding met tekst, schermopname, Webpagina, Website&#10;&#10;Door AI gegenereerde inhoud is mogelijk onjuist.">
            <a:hlinkClick r:id="rId3"/>
            <a:extLst>
              <a:ext uri="{FF2B5EF4-FFF2-40B4-BE49-F238E27FC236}">
                <a16:creationId xmlns:a16="http://schemas.microsoft.com/office/drawing/2014/main" id="{332B7A23-BD03-4A23-244E-39AA5F227D28}"/>
              </a:ext>
            </a:extLst>
          </p:cNvPr>
          <p:cNvPicPr>
            <a:picLocks noChangeAspect="1"/>
          </p:cNvPicPr>
          <p:nvPr/>
        </p:nvPicPr>
        <p:blipFill>
          <a:blip r:embed="rId4"/>
          <a:stretch>
            <a:fillRect/>
          </a:stretch>
        </p:blipFill>
        <p:spPr>
          <a:xfrm>
            <a:off x="550695" y="2764468"/>
            <a:ext cx="7699779" cy="3734304"/>
          </a:xfrm>
          <a:prstGeom prst="rect">
            <a:avLst/>
          </a:prstGeom>
        </p:spPr>
      </p:pic>
      <p:sp>
        <p:nvSpPr>
          <p:cNvPr id="14" name="Tekstvak 13">
            <a:extLst>
              <a:ext uri="{FF2B5EF4-FFF2-40B4-BE49-F238E27FC236}">
                <a16:creationId xmlns:a16="http://schemas.microsoft.com/office/drawing/2014/main" id="{9E686D7A-75E2-AE93-2A91-12127448B401}"/>
              </a:ext>
            </a:extLst>
          </p:cNvPr>
          <p:cNvSpPr txBox="1"/>
          <p:nvPr/>
        </p:nvSpPr>
        <p:spPr>
          <a:xfrm>
            <a:off x="550696" y="780104"/>
            <a:ext cx="4965527" cy="400110"/>
          </a:xfrm>
          <a:prstGeom prst="rect">
            <a:avLst/>
          </a:prstGeom>
          <a:noFill/>
        </p:spPr>
        <p:txBody>
          <a:bodyPr wrap="none" rtlCol="0">
            <a:spAutoFit/>
          </a:bodyPr>
          <a:lstStyle/>
          <a:p>
            <a:r>
              <a:rPr lang="en-GB" sz="2000" b="1" i="1" noProof="0">
                <a:latin typeface="Calibri" panose="020F0502020204030204" pitchFamily="34" charset="0"/>
                <a:ea typeface="Calibri" panose="020F0502020204030204" pitchFamily="34" charset="0"/>
                <a:cs typeface="Calibri" panose="020F0502020204030204" pitchFamily="34" charset="0"/>
              </a:rPr>
              <a:t>Open educational resources on edusources.nl</a:t>
            </a:r>
          </a:p>
        </p:txBody>
      </p:sp>
      <p:sp>
        <p:nvSpPr>
          <p:cNvPr id="15" name="Tekstvak 14">
            <a:extLst>
              <a:ext uri="{FF2B5EF4-FFF2-40B4-BE49-F238E27FC236}">
                <a16:creationId xmlns:a16="http://schemas.microsoft.com/office/drawing/2014/main" id="{F4AC1D6D-FC0D-A5F7-ACF7-6BCF0839BD23}"/>
              </a:ext>
            </a:extLst>
          </p:cNvPr>
          <p:cNvSpPr txBox="1"/>
          <p:nvPr/>
        </p:nvSpPr>
        <p:spPr>
          <a:xfrm>
            <a:off x="550696" y="1273668"/>
            <a:ext cx="5649050" cy="1077218"/>
          </a:xfrm>
          <a:prstGeom prst="rect">
            <a:avLst/>
          </a:prstGeom>
          <a:noFill/>
        </p:spPr>
        <p:txBody>
          <a:bodyPr wrap="square" rtlCol="0" anchor="ctr">
            <a:spAutoFit/>
          </a:bodyPr>
          <a:lstStyle/>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(Re)use open educational resources</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Search for educational materials</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Share your own materials</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Examples on how to use open resources in practice</a:t>
            </a:r>
          </a:p>
        </p:txBody>
      </p:sp>
    </p:spTree>
    <p:extLst>
      <p:ext uri="{BB962C8B-B14F-4D97-AF65-F5344CB8AC3E}">
        <p14:creationId xmlns:p14="http://schemas.microsoft.com/office/powerpoint/2010/main" val="2169508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AA3C-7F1E-0B72-FE95-3B122EC80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72CAA-E96F-4725-2465-F3D7545EBA42}"/>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18. Encourage student autonomy in their study trajectory</a:t>
            </a:r>
          </a:p>
        </p:txBody>
      </p:sp>
      <p:sp>
        <p:nvSpPr>
          <p:cNvPr id="4" name="Rectangle: Rounded Corners 3">
            <a:extLst>
              <a:ext uri="{FF2B5EF4-FFF2-40B4-BE49-F238E27FC236}">
                <a16:creationId xmlns:a16="http://schemas.microsoft.com/office/drawing/2014/main" id="{A1C86995-DFBA-B38B-0E50-6A91CCBAB38F}"/>
              </a:ext>
            </a:extLst>
          </p:cNvPr>
          <p:cNvSpPr/>
          <p:nvPr/>
        </p:nvSpPr>
        <p:spPr>
          <a:xfrm>
            <a:off x="4480931" y="777356"/>
            <a:ext cx="5117844" cy="580298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5" name="Rectangle: Rounded Corners 4">
            <a:extLst>
              <a:ext uri="{FF2B5EF4-FFF2-40B4-BE49-F238E27FC236}">
                <a16:creationId xmlns:a16="http://schemas.microsoft.com/office/drawing/2014/main" id="{CBF5FE18-D4CF-DDCD-6F9D-571304F34F44}"/>
              </a:ext>
            </a:extLst>
          </p:cNvPr>
          <p:cNvSpPr/>
          <p:nvPr/>
        </p:nvSpPr>
        <p:spPr>
          <a:xfrm>
            <a:off x="229097" y="777355"/>
            <a:ext cx="4009867" cy="281902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7" name="Rectangle: Rounded Corners 6">
            <a:extLst>
              <a:ext uri="{FF2B5EF4-FFF2-40B4-BE49-F238E27FC236}">
                <a16:creationId xmlns:a16="http://schemas.microsoft.com/office/drawing/2014/main" id="{1307C67A-3D4D-6A86-4A61-E9B351B61622}"/>
              </a:ext>
            </a:extLst>
          </p:cNvPr>
          <p:cNvSpPr/>
          <p:nvPr/>
        </p:nvSpPr>
        <p:spPr>
          <a:xfrm>
            <a:off x="229096" y="3831758"/>
            <a:ext cx="4009867"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8" name="Rectangle: Rounded Corners 7">
            <a:extLst>
              <a:ext uri="{FF2B5EF4-FFF2-40B4-BE49-F238E27FC236}">
                <a16:creationId xmlns:a16="http://schemas.microsoft.com/office/drawing/2014/main" id="{8FE23596-8FA9-2B49-27E4-11B8DE40FD76}"/>
              </a:ext>
            </a:extLst>
          </p:cNvPr>
          <p:cNvSpPr/>
          <p:nvPr/>
        </p:nvSpPr>
        <p:spPr>
          <a:xfrm>
            <a:off x="9778386" y="3831758"/>
            <a:ext cx="2156842" cy="2748584"/>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9" name="Rectangle: Rounded Corners 8">
            <a:extLst>
              <a:ext uri="{FF2B5EF4-FFF2-40B4-BE49-F238E27FC236}">
                <a16:creationId xmlns:a16="http://schemas.microsoft.com/office/drawing/2014/main" id="{A0E3F37C-AC9B-F911-6EF8-4D2EE79F920C}"/>
              </a:ext>
            </a:extLst>
          </p:cNvPr>
          <p:cNvSpPr/>
          <p:nvPr/>
        </p:nvSpPr>
        <p:spPr>
          <a:xfrm>
            <a:off x="9840742" y="777946"/>
            <a:ext cx="2156842" cy="281843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Calibri"/>
              <a:ea typeface="Calibri"/>
              <a:cs typeface="Calibri"/>
            </a:endParaRPr>
          </a:p>
        </p:txBody>
      </p:sp>
      <p:sp>
        <p:nvSpPr>
          <p:cNvPr id="10" name="TextBox 9">
            <a:extLst>
              <a:ext uri="{FF2B5EF4-FFF2-40B4-BE49-F238E27FC236}">
                <a16:creationId xmlns:a16="http://schemas.microsoft.com/office/drawing/2014/main" id="{573F0DE1-E9A4-69BF-4328-A51990448D12}"/>
              </a:ext>
            </a:extLst>
          </p:cNvPr>
          <p:cNvSpPr txBox="1"/>
          <p:nvPr/>
        </p:nvSpPr>
        <p:spPr>
          <a:xfrm>
            <a:off x="224888" y="853042"/>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Student autonomy</a:t>
            </a:r>
            <a:endParaRPr lang="en-GB" noProof="0"/>
          </a:p>
        </p:txBody>
      </p:sp>
      <p:sp>
        <p:nvSpPr>
          <p:cNvPr id="11" name="TextBox 10">
            <a:extLst>
              <a:ext uri="{FF2B5EF4-FFF2-40B4-BE49-F238E27FC236}">
                <a16:creationId xmlns:a16="http://schemas.microsoft.com/office/drawing/2014/main" id="{BFBAC81B-4B1E-9B7C-C214-FEBD46D8AAE0}"/>
              </a:ext>
            </a:extLst>
          </p:cNvPr>
          <p:cNvSpPr txBox="1"/>
          <p:nvPr/>
        </p:nvSpPr>
        <p:spPr>
          <a:xfrm>
            <a:off x="224887" y="3917213"/>
            <a:ext cx="4010697"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(Learning) goals</a:t>
            </a:r>
            <a:endParaRPr lang="en-GB" noProof="0"/>
          </a:p>
        </p:txBody>
      </p:sp>
      <p:sp>
        <p:nvSpPr>
          <p:cNvPr id="12" name="TextBox 11">
            <a:extLst>
              <a:ext uri="{FF2B5EF4-FFF2-40B4-BE49-F238E27FC236}">
                <a16:creationId xmlns:a16="http://schemas.microsoft.com/office/drawing/2014/main" id="{07ECE755-730C-C111-A4D4-C40625090E00}"/>
              </a:ext>
            </a:extLst>
          </p:cNvPr>
          <p:cNvSpPr txBox="1"/>
          <p:nvPr/>
        </p:nvSpPr>
        <p:spPr>
          <a:xfrm>
            <a:off x="4301320" y="872100"/>
            <a:ext cx="5477066" cy="3757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How to implement?</a:t>
            </a:r>
            <a:endParaRPr lang="en-GB" noProof="0"/>
          </a:p>
        </p:txBody>
      </p:sp>
      <p:sp>
        <p:nvSpPr>
          <p:cNvPr id="14" name="TextBox 13">
            <a:extLst>
              <a:ext uri="{FF2B5EF4-FFF2-40B4-BE49-F238E27FC236}">
                <a16:creationId xmlns:a16="http://schemas.microsoft.com/office/drawing/2014/main" id="{46665049-0122-69EA-50C2-B04F2C38A111}"/>
              </a:ext>
            </a:extLst>
          </p:cNvPr>
          <p:cNvSpPr txBox="1"/>
          <p:nvPr/>
        </p:nvSpPr>
        <p:spPr>
          <a:xfrm>
            <a:off x="9939737" y="3923616"/>
            <a:ext cx="195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More information</a:t>
            </a:r>
          </a:p>
        </p:txBody>
      </p:sp>
      <p:sp>
        <p:nvSpPr>
          <p:cNvPr id="15" name="TextBox 14">
            <a:extLst>
              <a:ext uri="{FF2B5EF4-FFF2-40B4-BE49-F238E27FC236}">
                <a16:creationId xmlns:a16="http://schemas.microsoft.com/office/drawing/2014/main" id="{5995F0A1-457A-653E-8126-F25D39109B6F}"/>
              </a:ext>
            </a:extLst>
          </p:cNvPr>
          <p:cNvSpPr txBox="1"/>
          <p:nvPr/>
        </p:nvSpPr>
        <p:spPr>
          <a:xfrm>
            <a:off x="10031201" y="840262"/>
            <a:ext cx="17759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noProof="0">
                <a:latin typeface="Calibri"/>
                <a:ea typeface="Calibri"/>
                <a:cs typeface="Calibri"/>
              </a:rPr>
              <a:t>Examples</a:t>
            </a:r>
          </a:p>
        </p:txBody>
      </p:sp>
      <p:pic>
        <p:nvPicPr>
          <p:cNvPr id="22" name="Picture 21">
            <a:extLst>
              <a:ext uri="{FF2B5EF4-FFF2-40B4-BE49-F238E27FC236}">
                <a16:creationId xmlns:a16="http://schemas.microsoft.com/office/drawing/2014/main" id="{859AAF0D-8178-ACE5-2AA0-74D17350AF2A}"/>
              </a:ext>
            </a:extLst>
          </p:cNvPr>
          <p:cNvPicPr>
            <a:picLocks noChangeAspect="1"/>
          </p:cNvPicPr>
          <p:nvPr/>
        </p:nvPicPr>
        <p:blipFill>
          <a:blip r:embed="rId3"/>
          <a:stretch>
            <a:fillRect/>
          </a:stretch>
        </p:blipFill>
        <p:spPr>
          <a:xfrm>
            <a:off x="26821" y="30831"/>
            <a:ext cx="523875" cy="523875"/>
          </a:xfrm>
          <a:prstGeom prst="rect">
            <a:avLst/>
          </a:prstGeom>
        </p:spPr>
      </p:pic>
      <p:sp>
        <p:nvSpPr>
          <p:cNvPr id="6" name="TextBox 15">
            <a:extLst>
              <a:ext uri="{FF2B5EF4-FFF2-40B4-BE49-F238E27FC236}">
                <a16:creationId xmlns:a16="http://schemas.microsoft.com/office/drawing/2014/main" id="{C62B127E-07B5-828A-26A0-B85CEECEBE8A}"/>
              </a:ext>
            </a:extLst>
          </p:cNvPr>
          <p:cNvSpPr txBox="1"/>
          <p:nvPr/>
        </p:nvSpPr>
        <p:spPr>
          <a:xfrm>
            <a:off x="430389" y="1210958"/>
            <a:ext cx="3640666"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rPr>
              <a:t>Allow students freedom in the way they shape their curriculum, within certain set boundaries. </a:t>
            </a:r>
            <a:br>
              <a:rPr lang="en-GB" sz="1600" noProof="0">
                <a:latin typeface="Calibri"/>
                <a:ea typeface="Calibri"/>
                <a:cs typeface="Calibri"/>
              </a:rPr>
            </a:br>
            <a:r>
              <a:rPr lang="en-GB" sz="1600" noProof="0">
                <a:latin typeface="Calibri"/>
                <a:ea typeface="Calibri"/>
                <a:cs typeface="Calibri"/>
              </a:rPr>
              <a:t>For example, supporting Bachelor students to do a minor outside of their study curriculum, or an internship outside of the university, with the purpose of trans-disciplinary or community engagement, or career orientation.</a:t>
            </a:r>
            <a:endParaRPr lang="en-GB" sz="1600" noProof="0">
              <a:latin typeface="Calibri" panose="020F0502020204030204" pitchFamily="34" charset="0"/>
              <a:ea typeface="Calibri" panose="020F0502020204030204" pitchFamily="34" charset="0"/>
              <a:cs typeface="Calibri" panose="020F0502020204030204" pitchFamily="34" charset="0"/>
            </a:endParaRPr>
          </a:p>
        </p:txBody>
      </p:sp>
      <p:sp>
        <p:nvSpPr>
          <p:cNvPr id="17" name="TextBox 15">
            <a:extLst>
              <a:ext uri="{FF2B5EF4-FFF2-40B4-BE49-F238E27FC236}">
                <a16:creationId xmlns:a16="http://schemas.microsoft.com/office/drawing/2014/main" id="{BAEE36C1-E831-4BCE-6A97-D6362DFA4619}"/>
              </a:ext>
            </a:extLst>
          </p:cNvPr>
          <p:cNvSpPr txBox="1"/>
          <p:nvPr/>
        </p:nvSpPr>
        <p:spPr>
          <a:xfrm>
            <a:off x="430388" y="4292452"/>
            <a:ext cx="3640666" cy="206210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panose="020F0502020204030204" pitchFamily="34" charset="0"/>
                <a:ea typeface="Calibri" panose="020F0502020204030204" pitchFamily="34" charset="0"/>
                <a:cs typeface="Calibri" panose="020F0502020204030204" pitchFamily="34" charset="0"/>
              </a:rPr>
              <a:t>Autonomy over student's  study trajectory, has shown to increase their self-authorship: their capacity to take initiative, set one’s own goals, and take responsibility for one’s direction in learning. This is considered an important learning outcome enabling effective citizenship.</a:t>
            </a:r>
            <a:endParaRPr lang="en-GB" noProof="0">
              <a:latin typeface="Calibri" panose="020F0502020204030204" pitchFamily="34" charset="0"/>
              <a:ea typeface="Calibri" panose="020F0502020204030204" pitchFamily="34" charset="0"/>
              <a:cs typeface="Calibri" panose="020F0502020204030204" pitchFamily="34" charset="0"/>
            </a:endParaRPr>
          </a:p>
        </p:txBody>
      </p:sp>
      <p:sp>
        <p:nvSpPr>
          <p:cNvPr id="20" name="TextBox 15">
            <a:extLst>
              <a:ext uri="{FF2B5EF4-FFF2-40B4-BE49-F238E27FC236}">
                <a16:creationId xmlns:a16="http://schemas.microsoft.com/office/drawing/2014/main" id="{FCE9A28A-8995-E975-C840-E8671E8017EB}"/>
              </a:ext>
            </a:extLst>
          </p:cNvPr>
          <p:cNvSpPr txBox="1"/>
          <p:nvPr/>
        </p:nvSpPr>
        <p:spPr>
          <a:xfrm>
            <a:off x="4744853" y="1211107"/>
            <a:ext cx="4590000" cy="477053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AutoNum type="arabicPeriod"/>
            </a:pPr>
            <a:r>
              <a:rPr lang="en-GB" sz="1600" b="1" noProof="0">
                <a:latin typeface="Calibri"/>
                <a:ea typeface="Calibri"/>
                <a:cs typeface="Calibri"/>
              </a:rPr>
              <a:t>Define the graduation criteria </a:t>
            </a:r>
          </a:p>
          <a:p>
            <a:r>
              <a:rPr lang="en-GB" sz="1600" noProof="0">
                <a:latin typeface="Calibri"/>
                <a:ea typeface="Calibri"/>
                <a:cs typeface="Calibri"/>
              </a:rPr>
              <a:t>Clear criteria need to be set for the degree. For instance, the amount of disciplinary versus non-disciplinary credits, the levels of the chosen courses, methodology and expected course load.</a:t>
            </a:r>
          </a:p>
          <a:p>
            <a:endParaRPr lang="en-GB" sz="1600" noProof="0">
              <a:latin typeface="Calibri"/>
              <a:ea typeface="Calibri"/>
              <a:cs typeface="Calibri"/>
            </a:endParaRPr>
          </a:p>
          <a:p>
            <a:r>
              <a:rPr lang="en-GB" sz="1600" b="1" noProof="0">
                <a:latin typeface="Calibri"/>
                <a:ea typeface="Calibri"/>
                <a:cs typeface="Calibri"/>
              </a:rPr>
              <a:t>2. Involved and extensive tutoring</a:t>
            </a:r>
          </a:p>
          <a:p>
            <a:r>
              <a:rPr lang="en-GB" sz="1600" noProof="0">
                <a:latin typeface="Calibri"/>
                <a:ea typeface="Calibri"/>
                <a:cs typeface="Calibri"/>
              </a:rPr>
              <a:t>Close supervision of a personal tutor to help students in their choices, offer options and alternatives and guide them to a sensible and coherent degree that matches both student's personal approach to learning as well as the criteria set for the degree. Planning is important to make sure prerequisites for chosen courses are met on time. </a:t>
            </a:r>
          </a:p>
          <a:p>
            <a:endParaRPr lang="en-GB" sz="1600" noProof="0">
              <a:latin typeface="Calibri"/>
              <a:ea typeface="Calibri"/>
              <a:cs typeface="Calibri"/>
            </a:endParaRPr>
          </a:p>
          <a:p>
            <a:r>
              <a:rPr lang="en-GB" sz="1600" b="1" noProof="0">
                <a:latin typeface="Calibri"/>
                <a:ea typeface="Calibri"/>
                <a:cs typeface="Calibri"/>
              </a:rPr>
              <a:t>3. Scheduling</a:t>
            </a:r>
          </a:p>
          <a:p>
            <a:r>
              <a:rPr lang="en-GB" sz="1600" noProof="0">
                <a:latin typeface="Calibri"/>
                <a:ea typeface="Calibri"/>
                <a:cs typeface="Calibri"/>
              </a:rPr>
              <a:t>Curriculum offerings have to be flexible , to allow students to take courses across their career non-consecutively</a:t>
            </a:r>
          </a:p>
        </p:txBody>
      </p:sp>
      <p:sp>
        <p:nvSpPr>
          <p:cNvPr id="23" name="TextBox 15">
            <a:extLst>
              <a:ext uri="{FF2B5EF4-FFF2-40B4-BE49-F238E27FC236}">
                <a16:creationId xmlns:a16="http://schemas.microsoft.com/office/drawing/2014/main" id="{7E61CAFE-40D0-EAB3-F04B-90E4112EB775}"/>
              </a:ext>
            </a:extLst>
          </p:cNvPr>
          <p:cNvSpPr txBox="1"/>
          <p:nvPr/>
        </p:nvSpPr>
        <p:spPr>
          <a:xfrm>
            <a:off x="9939738" y="1219331"/>
            <a:ext cx="1835054" cy="206210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hlinkClick r:id="rId4">
                  <a:extLst>
                    <a:ext uri="{A12FA001-AC4F-418D-AE19-62706E023703}">
                      <ahyp:hlinkClr xmlns:ahyp="http://schemas.microsoft.com/office/drawing/2018/hyperlinkcolor" val="tx"/>
                    </a:ext>
                  </a:extLst>
                </a:hlinkClick>
              </a:rPr>
              <a:t>University College Utrecht</a:t>
            </a:r>
            <a:r>
              <a:rPr lang="en-GB" sz="1600" noProof="0">
                <a:latin typeface="Calibri"/>
                <a:ea typeface="Calibri"/>
                <a:cs typeface="Calibri"/>
              </a:rPr>
              <a:t> offers students extensive autonomy.</a:t>
            </a:r>
            <a:endParaRPr lang="en-GB" noProof="0"/>
          </a:p>
          <a:p>
            <a:endParaRPr lang="en-GB" sz="1600" noProof="0">
              <a:latin typeface="Calibri"/>
              <a:ea typeface="Calibri"/>
              <a:cs typeface="Calibri"/>
            </a:endParaRPr>
          </a:p>
          <a:p>
            <a:r>
              <a:rPr lang="en-GB" sz="1600" noProof="0">
                <a:latin typeface="Calibri"/>
                <a:ea typeface="Calibri"/>
                <a:cs typeface="Calibri"/>
              </a:rPr>
              <a:t>Similarly </a:t>
            </a:r>
            <a:r>
              <a:rPr lang="en-GB" sz="1600" noProof="0">
                <a:latin typeface="Calibri"/>
                <a:ea typeface="Calibri"/>
                <a:cs typeface="Calibri"/>
                <a:hlinkClick r:id="rId5">
                  <a:extLst>
                    <a:ext uri="{A12FA001-AC4F-418D-AE19-62706E023703}">
                      <ahyp:hlinkClr xmlns:ahyp="http://schemas.microsoft.com/office/drawing/2018/hyperlinkcolor" val="tx"/>
                    </a:ext>
                  </a:extLst>
                </a:hlinkClick>
              </a:rPr>
              <a:t>LAS</a:t>
            </a:r>
            <a:r>
              <a:rPr lang="en-GB" sz="1600" noProof="0">
                <a:latin typeface="Calibri"/>
                <a:ea typeface="Calibri"/>
                <a:cs typeface="Calibri"/>
              </a:rPr>
              <a:t> offers a flexible program for students.</a:t>
            </a:r>
            <a:endParaRPr lang="en-GB" noProof="0"/>
          </a:p>
        </p:txBody>
      </p:sp>
      <p:sp>
        <p:nvSpPr>
          <p:cNvPr id="25" name="TextBox 15">
            <a:extLst>
              <a:ext uri="{FF2B5EF4-FFF2-40B4-BE49-F238E27FC236}">
                <a16:creationId xmlns:a16="http://schemas.microsoft.com/office/drawing/2014/main" id="{BAADAEAB-F173-AB2E-79AF-0A7A8AF20D78}"/>
              </a:ext>
            </a:extLst>
          </p:cNvPr>
          <p:cNvSpPr txBox="1"/>
          <p:nvPr/>
        </p:nvSpPr>
        <p:spPr>
          <a:xfrm>
            <a:off x="9840742" y="4292451"/>
            <a:ext cx="2068400" cy="206210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noProof="0">
                <a:latin typeface="Calibri"/>
                <a:ea typeface="Calibri"/>
                <a:cs typeface="Calibri"/>
                <a:hlinkClick r:id="rId6">
                  <a:extLst>
                    <a:ext uri="{A12FA001-AC4F-418D-AE19-62706E023703}">
                      <ahyp:hlinkClr xmlns:ahyp="http://schemas.microsoft.com/office/drawing/2018/hyperlinkcolor" val="tx"/>
                    </a:ext>
                  </a:extLst>
                </a:hlinkClick>
              </a:rPr>
              <a:t>Paper Ria van der Lecq on self-authorship and interdisciplinary learning.</a:t>
            </a:r>
          </a:p>
          <a:p>
            <a:endParaRPr lang="en-GB" sz="1600" noProof="0">
              <a:latin typeface="Calibri"/>
              <a:ea typeface="Calibri"/>
              <a:cs typeface="Calibri"/>
            </a:endParaRPr>
          </a:p>
          <a:p>
            <a:r>
              <a:rPr lang="en-GB" sz="1600" noProof="0">
                <a:latin typeface="Calibri"/>
                <a:ea typeface="Calibri"/>
                <a:cs typeface="Calibri"/>
                <a:hlinkClick r:id="rId7">
                  <a:extLst>
                    <a:ext uri="{A12FA001-AC4F-418D-AE19-62706E023703}">
                      <ahyp:hlinkClr xmlns:ahyp="http://schemas.microsoft.com/office/drawing/2018/hyperlinkcolor" val="tx"/>
                    </a:ext>
                  </a:extLst>
                </a:hlinkClick>
              </a:rPr>
              <a:t>UCU ARR outlining student degree requirements</a:t>
            </a:r>
          </a:p>
        </p:txBody>
      </p:sp>
      <p:grpSp>
        <p:nvGrpSpPr>
          <p:cNvPr id="3" name="Groep 2">
            <a:extLst>
              <a:ext uri="{FF2B5EF4-FFF2-40B4-BE49-F238E27FC236}">
                <a16:creationId xmlns:a16="http://schemas.microsoft.com/office/drawing/2014/main" id="{A86211AB-ECB9-D276-9297-D49C221468E9}"/>
              </a:ext>
            </a:extLst>
          </p:cNvPr>
          <p:cNvGrpSpPr/>
          <p:nvPr/>
        </p:nvGrpSpPr>
        <p:grpSpPr>
          <a:xfrm>
            <a:off x="11155683" y="108056"/>
            <a:ext cx="814470" cy="370500"/>
            <a:chOff x="11155683" y="108056"/>
            <a:chExt cx="814470" cy="370500"/>
          </a:xfrm>
        </p:grpSpPr>
        <p:pic>
          <p:nvPicPr>
            <p:cNvPr id="13" name="Picture 24">
              <a:extLst>
                <a:ext uri="{FF2B5EF4-FFF2-40B4-BE49-F238E27FC236}">
                  <a16:creationId xmlns:a16="http://schemas.microsoft.com/office/drawing/2014/main" id="{1152EF0E-BDB4-762C-1C04-6FE5C1253AD2}"/>
                </a:ext>
              </a:extLst>
            </p:cNvPr>
            <p:cNvPicPr>
              <a:picLocks noChangeAspect="1"/>
            </p:cNvPicPr>
            <p:nvPr/>
          </p:nvPicPr>
          <p:blipFill>
            <a:blip r:embed="rId8"/>
            <a:stretch>
              <a:fillRect/>
            </a:stretch>
          </p:blipFill>
          <p:spPr>
            <a:xfrm>
              <a:off x="11155683" y="108056"/>
              <a:ext cx="399072" cy="370500"/>
            </a:xfrm>
            <a:prstGeom prst="rect">
              <a:avLst/>
            </a:prstGeom>
          </p:spPr>
        </p:pic>
        <p:pic>
          <p:nvPicPr>
            <p:cNvPr id="16" name="Picture 26">
              <a:extLst>
                <a:ext uri="{FF2B5EF4-FFF2-40B4-BE49-F238E27FC236}">
                  <a16:creationId xmlns:a16="http://schemas.microsoft.com/office/drawing/2014/main" id="{57EB12FB-6E70-7164-8114-4B42E806A785}"/>
                </a:ext>
              </a:extLst>
            </p:cNvPr>
            <p:cNvPicPr>
              <a:picLocks noChangeAspect="1"/>
            </p:cNvPicPr>
            <p:nvPr/>
          </p:nvPicPr>
          <p:blipFill>
            <a:blip r:embed="rId8"/>
            <a:stretch>
              <a:fillRect/>
            </a:stretch>
          </p:blipFill>
          <p:spPr>
            <a:xfrm>
              <a:off x="11571081" y="108056"/>
              <a:ext cx="399072" cy="370500"/>
            </a:xfrm>
            <a:prstGeom prst="rect">
              <a:avLst/>
            </a:prstGeom>
          </p:spPr>
        </p:pic>
      </p:grpSp>
    </p:spTree>
    <p:extLst>
      <p:ext uri="{BB962C8B-B14F-4D97-AF65-F5344CB8AC3E}">
        <p14:creationId xmlns:p14="http://schemas.microsoft.com/office/powerpoint/2010/main" val="2152311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9E31C-9262-6D3E-4CBD-A828D39484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F19DF-0549-7A81-49D0-87E5D394822A}"/>
              </a:ext>
            </a:extLst>
          </p:cNvPr>
          <p:cNvSpPr>
            <a:spLocks noGrp="1"/>
          </p:cNvSpPr>
          <p:nvPr>
            <p:ph type="title"/>
          </p:nvPr>
        </p:nvSpPr>
        <p:spPr>
          <a:xfrm>
            <a:off x="-640" y="133"/>
            <a:ext cx="12193280" cy="576370"/>
          </a:xfrm>
          <a:solidFill>
            <a:srgbClr val="FFCD00"/>
          </a:solidFill>
        </p:spPr>
        <p:txBody>
          <a:bodyPr>
            <a:normAutofit/>
          </a:bodyPr>
          <a:lstStyle/>
          <a:p>
            <a:pPr algn="ctr"/>
            <a:r>
              <a:rPr lang="en-GB" sz="3000" b="1" noProof="0">
                <a:latin typeface="Calibri"/>
                <a:ea typeface="Calibri"/>
                <a:cs typeface="Calibri"/>
              </a:rPr>
              <a:t>Encourage student autonomy in their study trajectory</a:t>
            </a:r>
          </a:p>
        </p:txBody>
      </p:sp>
      <p:pic>
        <p:nvPicPr>
          <p:cNvPr id="22" name="Picture 21">
            <a:extLst>
              <a:ext uri="{FF2B5EF4-FFF2-40B4-BE49-F238E27FC236}">
                <a16:creationId xmlns:a16="http://schemas.microsoft.com/office/drawing/2014/main" id="{B52C9B55-B47E-5DD3-7481-178F99A9350A}"/>
              </a:ext>
            </a:extLst>
          </p:cNvPr>
          <p:cNvPicPr>
            <a:picLocks noChangeAspect="1"/>
          </p:cNvPicPr>
          <p:nvPr/>
        </p:nvPicPr>
        <p:blipFill>
          <a:blip r:embed="rId2"/>
          <a:stretch>
            <a:fillRect/>
          </a:stretch>
        </p:blipFill>
        <p:spPr>
          <a:xfrm>
            <a:off x="26821" y="30831"/>
            <a:ext cx="523875" cy="523875"/>
          </a:xfrm>
          <a:prstGeom prst="rect">
            <a:avLst/>
          </a:prstGeom>
        </p:spPr>
      </p:pic>
      <p:sp>
        <p:nvSpPr>
          <p:cNvPr id="4" name="Tekstvak 3">
            <a:extLst>
              <a:ext uri="{FF2B5EF4-FFF2-40B4-BE49-F238E27FC236}">
                <a16:creationId xmlns:a16="http://schemas.microsoft.com/office/drawing/2014/main" id="{2741759C-2F86-FBBA-489C-DBDA40FA6EC1}"/>
              </a:ext>
            </a:extLst>
          </p:cNvPr>
          <p:cNvSpPr txBox="1"/>
          <p:nvPr/>
        </p:nvSpPr>
        <p:spPr>
          <a:xfrm>
            <a:off x="550696" y="780104"/>
            <a:ext cx="7256795" cy="400110"/>
          </a:xfrm>
          <a:prstGeom prst="rect">
            <a:avLst/>
          </a:prstGeom>
          <a:noFill/>
        </p:spPr>
        <p:txBody>
          <a:bodyPr wrap="none" lIns="91440" tIns="45720" rIns="91440" bIns="45720" rtlCol="0" anchor="t">
            <a:spAutoFit/>
          </a:bodyPr>
          <a:lstStyle/>
          <a:p>
            <a:r>
              <a:rPr lang="en-GB" sz="2000" b="1" i="1" noProof="0">
                <a:latin typeface="Calibri"/>
                <a:ea typeface="Calibri"/>
                <a:cs typeface="Calibri"/>
              </a:rPr>
              <a:t>Liberal Arts and Sciences (LAS) and Interdisciplinary Social Science</a:t>
            </a:r>
          </a:p>
        </p:txBody>
      </p:sp>
      <p:sp>
        <p:nvSpPr>
          <p:cNvPr id="5" name="Tekstvak 4">
            <a:extLst>
              <a:ext uri="{FF2B5EF4-FFF2-40B4-BE49-F238E27FC236}">
                <a16:creationId xmlns:a16="http://schemas.microsoft.com/office/drawing/2014/main" id="{00264E0F-EAF3-B518-FA1B-88390CA4A790}"/>
              </a:ext>
            </a:extLst>
          </p:cNvPr>
          <p:cNvSpPr txBox="1"/>
          <p:nvPr/>
        </p:nvSpPr>
        <p:spPr>
          <a:xfrm>
            <a:off x="550696" y="1273668"/>
            <a:ext cx="5254681" cy="1569660"/>
          </a:xfrm>
          <a:prstGeom prst="rect">
            <a:avLst/>
          </a:prstGeom>
          <a:noFill/>
        </p:spPr>
        <p:txBody>
          <a:bodyPr wrap="square" rtlCol="0" anchor="t">
            <a:spAutoFit/>
          </a:bodyPr>
          <a:lstStyle/>
          <a:p>
            <a:r>
              <a:rPr lang="en-GB" sz="1600" b="1" noProof="0">
                <a:latin typeface="Calibri" panose="020F0502020204030204" pitchFamily="34" charset="0"/>
                <a:ea typeface="Calibri" panose="020F0502020204030204" pitchFamily="34" charset="0"/>
                <a:cs typeface="Calibri" panose="020F0502020204030204" pitchFamily="34" charset="0"/>
              </a:rPr>
              <a:t>Liberal Arts and Sciences (LAS)</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General courses and specialization after first year: create your own study program </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Use of portfolio for reflection and to create coherence between the different parts of the curriculum. </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Tutor guidance </a:t>
            </a:r>
          </a:p>
        </p:txBody>
      </p:sp>
      <p:sp>
        <p:nvSpPr>
          <p:cNvPr id="6" name="Tekstvak 5">
            <a:extLst>
              <a:ext uri="{FF2B5EF4-FFF2-40B4-BE49-F238E27FC236}">
                <a16:creationId xmlns:a16="http://schemas.microsoft.com/office/drawing/2014/main" id="{67AAC87A-D1A8-FAC2-D6D1-D9980A8708FD}"/>
              </a:ext>
            </a:extLst>
          </p:cNvPr>
          <p:cNvSpPr txBox="1"/>
          <p:nvPr/>
        </p:nvSpPr>
        <p:spPr>
          <a:xfrm>
            <a:off x="6096000" y="1273667"/>
            <a:ext cx="5649050" cy="1569660"/>
          </a:xfrm>
          <a:prstGeom prst="rect">
            <a:avLst/>
          </a:prstGeom>
          <a:noFill/>
        </p:spPr>
        <p:txBody>
          <a:bodyPr wrap="square" rtlCol="0" anchor="t">
            <a:spAutoFit/>
          </a:bodyPr>
          <a:lstStyle/>
          <a:p>
            <a:r>
              <a:rPr lang="en-GB" sz="1600" b="1" noProof="0">
                <a:latin typeface="Calibri" panose="020F0502020204030204" pitchFamily="34" charset="0"/>
                <a:ea typeface="Calibri" panose="020F0502020204030204" pitchFamily="34" charset="0"/>
                <a:cs typeface="Calibri" panose="020F0502020204030204" pitchFamily="34" charset="0"/>
              </a:rPr>
              <a:t>Interdisciplinary Social Science</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General courses and specialization after first year</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Students choose one or more study trajectories:</a:t>
            </a:r>
          </a:p>
          <a:p>
            <a:pPr marL="800100" lvl="1" indent="-342900">
              <a:buFont typeface="+mj-lt"/>
              <a:buAutoNum type="arabicPeriod"/>
            </a:pPr>
            <a:r>
              <a:rPr lang="en-GB" sz="1600" noProof="0">
                <a:latin typeface="Calibri" panose="020F0502020204030204" pitchFamily="34" charset="0"/>
                <a:ea typeface="Calibri" panose="020F0502020204030204" pitchFamily="34" charset="0"/>
                <a:cs typeface="Calibri" panose="020F0502020204030204" pitchFamily="34" charset="0"/>
              </a:rPr>
              <a:t>Social Policy and Public Health</a:t>
            </a:r>
          </a:p>
          <a:p>
            <a:pPr marL="800100" lvl="1" indent="-342900">
              <a:buFont typeface="+mj-lt"/>
              <a:buAutoNum type="arabicPeriod"/>
            </a:pPr>
            <a:r>
              <a:rPr lang="en-GB" sz="1600" noProof="0">
                <a:latin typeface="Calibri" panose="020F0502020204030204" pitchFamily="34" charset="0"/>
                <a:ea typeface="Calibri" panose="020F0502020204030204" pitchFamily="34" charset="0"/>
                <a:cs typeface="Calibri" panose="020F0502020204030204" pitchFamily="34" charset="0"/>
              </a:rPr>
              <a:t>Youth Development and Social Change</a:t>
            </a:r>
          </a:p>
          <a:p>
            <a:pPr marL="800100" lvl="1" indent="-342900">
              <a:buFont typeface="+mj-lt"/>
              <a:buAutoNum type="arabicPeriod"/>
            </a:pPr>
            <a:r>
              <a:rPr lang="en-GB" sz="1600" noProof="0">
                <a:latin typeface="Calibri" panose="020F0502020204030204" pitchFamily="34" charset="0"/>
                <a:ea typeface="Calibri" panose="020F0502020204030204" pitchFamily="34" charset="0"/>
                <a:cs typeface="Calibri" panose="020F0502020204030204" pitchFamily="34" charset="0"/>
              </a:rPr>
              <a:t>Migration, Ethnic Relations and Multiculturalism</a:t>
            </a:r>
          </a:p>
        </p:txBody>
      </p:sp>
      <p:pic>
        <p:nvPicPr>
          <p:cNvPr id="3" name="Picture 2">
            <a:extLst>
              <a:ext uri="{FF2B5EF4-FFF2-40B4-BE49-F238E27FC236}">
                <a16:creationId xmlns:a16="http://schemas.microsoft.com/office/drawing/2014/main" id="{D92FD78A-5000-B327-4B31-F473D0D25BAB}"/>
              </a:ext>
            </a:extLst>
          </p:cNvPr>
          <p:cNvPicPr>
            <a:picLocks noChangeAspect="1"/>
          </p:cNvPicPr>
          <p:nvPr/>
        </p:nvPicPr>
        <p:blipFill>
          <a:blip r:embed="rId3"/>
          <a:stretch>
            <a:fillRect/>
          </a:stretch>
        </p:blipFill>
        <p:spPr>
          <a:xfrm>
            <a:off x="4778051" y="3174612"/>
            <a:ext cx="7413949" cy="5166006"/>
          </a:xfrm>
          <a:prstGeom prst="rect">
            <a:avLst/>
          </a:prstGeom>
        </p:spPr>
      </p:pic>
      <p:sp>
        <p:nvSpPr>
          <p:cNvPr id="7" name="Tekstvak 6">
            <a:extLst>
              <a:ext uri="{FF2B5EF4-FFF2-40B4-BE49-F238E27FC236}">
                <a16:creationId xmlns:a16="http://schemas.microsoft.com/office/drawing/2014/main" id="{98D3535C-93A2-BDDC-E7EB-15A9177D3E3F}"/>
              </a:ext>
            </a:extLst>
          </p:cNvPr>
          <p:cNvSpPr txBox="1"/>
          <p:nvPr/>
        </p:nvSpPr>
        <p:spPr>
          <a:xfrm>
            <a:off x="550695" y="3634156"/>
            <a:ext cx="931665" cy="400110"/>
          </a:xfrm>
          <a:prstGeom prst="rect">
            <a:avLst/>
          </a:prstGeom>
          <a:noFill/>
        </p:spPr>
        <p:txBody>
          <a:bodyPr wrap="none" lIns="91440" tIns="45720" rIns="91440" bIns="45720" rtlCol="0" anchor="t">
            <a:spAutoFit/>
          </a:bodyPr>
          <a:lstStyle/>
          <a:p>
            <a:r>
              <a:rPr lang="en-GB" sz="2000" b="1" i="1" noProof="0">
                <a:latin typeface="Calibri"/>
                <a:ea typeface="Calibri"/>
                <a:cs typeface="Calibri"/>
              </a:rPr>
              <a:t>Minors</a:t>
            </a:r>
          </a:p>
        </p:txBody>
      </p:sp>
      <p:sp>
        <p:nvSpPr>
          <p:cNvPr id="8" name="Tekstvak 7">
            <a:extLst>
              <a:ext uri="{FF2B5EF4-FFF2-40B4-BE49-F238E27FC236}">
                <a16:creationId xmlns:a16="http://schemas.microsoft.com/office/drawing/2014/main" id="{C1F54E40-0930-70C3-CDEE-7D34061D88E2}"/>
              </a:ext>
            </a:extLst>
          </p:cNvPr>
          <p:cNvSpPr txBox="1"/>
          <p:nvPr/>
        </p:nvSpPr>
        <p:spPr>
          <a:xfrm>
            <a:off x="550696" y="4034266"/>
            <a:ext cx="3766124" cy="1323439"/>
          </a:xfrm>
          <a:prstGeom prst="rect">
            <a:avLst/>
          </a:prstGeom>
          <a:noFill/>
        </p:spPr>
        <p:txBody>
          <a:bodyPr wrap="square" rtlCol="0" anchor="t">
            <a:spAutoFit/>
          </a:bodyPr>
          <a:lstStyle/>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Projects to encourage students to take a minor outside their own curriculum </a:t>
            </a:r>
          </a:p>
          <a:p>
            <a:pPr marL="285750" indent="-285750">
              <a:buFont typeface="Arial" panose="020B0604020202020204" pitchFamily="34" charset="0"/>
              <a:buChar char="•"/>
            </a:pPr>
            <a:r>
              <a:rPr lang="en-GB" sz="1600" noProof="0">
                <a:latin typeface="Calibri" panose="020F0502020204030204" pitchFamily="34" charset="0"/>
                <a:ea typeface="Calibri" panose="020F0502020204030204" pitchFamily="34" charset="0"/>
                <a:cs typeface="Calibri" panose="020F0502020204030204" pitchFamily="34" charset="0"/>
              </a:rPr>
              <a:t>Students can develop complementary skills while exploring a second area of interest</a:t>
            </a:r>
          </a:p>
        </p:txBody>
      </p:sp>
    </p:spTree>
    <p:extLst>
      <p:ext uri="{BB962C8B-B14F-4D97-AF65-F5344CB8AC3E}">
        <p14:creationId xmlns:p14="http://schemas.microsoft.com/office/powerpoint/2010/main" val="3117806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Universiteit Utrecht">
  <a:themeElements>
    <a:clrScheme name="Utrecht University">
      <a:dk1>
        <a:srgbClr val="000000"/>
      </a:dk1>
      <a:lt1>
        <a:srgbClr val="FFFFFF"/>
      </a:lt1>
      <a:dk2>
        <a:srgbClr val="C00935"/>
      </a:dk2>
      <a:lt2>
        <a:srgbClr val="D9D9D9"/>
      </a:lt2>
      <a:accent1>
        <a:srgbClr val="FFCD00"/>
      </a:accent1>
      <a:accent2>
        <a:srgbClr val="DD9562"/>
      </a:accent2>
      <a:accent3>
        <a:srgbClr val="911D56"/>
      </a:accent3>
      <a:accent4>
        <a:srgbClr val="63A593"/>
      </a:accent4>
      <a:accent5>
        <a:srgbClr val="161D41"/>
      </a:accent5>
      <a:accent6>
        <a:srgbClr val="6686C3"/>
      </a:accent6>
      <a:hlink>
        <a:srgbClr val="52287F"/>
      </a:hlink>
      <a:folHlink>
        <a:srgbClr val="623E2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a:defPPr>
      </a:lstStyle>
    </a:txDef>
  </a:objectDefaults>
  <a:extraClrSchemeLst/>
  <a:extLst>
    <a:ext uri="{05A4C25C-085E-4340-85A3-A5531E510DB2}">
      <thm15:themeFamily xmlns:thm15="http://schemas.microsoft.com/office/thememl/2012/main" name="uu_powerpoint_sjabloon_NL_2019_logofied_Footer fonts embedded" id="{CE269E6F-A5F4-5D4D-A399-A1DBDA65350A}" vid="{55071774-FDAB-E845-B8EF-FF74AE44728B}"/>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4BD4DD5BE3DF4E90757DE70C0E2916" ma:contentTypeVersion="12" ma:contentTypeDescription="Een nieuw document maken." ma:contentTypeScope="" ma:versionID="a3be5e5bc78a2f545b4e5ffb82eda312">
  <xsd:schema xmlns:xsd="http://www.w3.org/2001/XMLSchema" xmlns:xs="http://www.w3.org/2001/XMLSchema" xmlns:p="http://schemas.microsoft.com/office/2006/metadata/properties" xmlns:ns2="06277644-e384-446b-9efd-e79aafc989ed" xmlns:ns3="a6cd4072-dffd-49f3-ac56-9a5a72f21d1a" targetNamespace="http://schemas.microsoft.com/office/2006/metadata/properties" ma:root="true" ma:fieldsID="7a0ddae6f82d9516c2632c3cdace1731" ns2:_="" ns3:_="">
    <xsd:import namespace="06277644-e384-446b-9efd-e79aafc989ed"/>
    <xsd:import namespace="a6cd4072-dffd-49f3-ac56-9a5a72f21d1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277644-e384-446b-9efd-e79aafc989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eb077af7-eccc-41ba-8726-6d08c81cb05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cd4072-dffd-49f3-ac56-9a5a72f21d1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f81c051-602b-4163-8d6a-591f6107fa4d}" ma:internalName="TaxCatchAll" ma:showField="CatchAllData" ma:web="a6cd4072-dffd-49f3-ac56-9a5a72f21d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6cd4072-dffd-49f3-ac56-9a5a72f21d1a" xsi:nil="true"/>
    <lcf76f155ced4ddcb4097134ff3c332f xmlns="06277644-e384-446b-9efd-e79aafc989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49E97AC-E9B1-4DCE-A4C1-66E3063753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277644-e384-446b-9efd-e79aafc989ed"/>
    <ds:schemaRef ds:uri="a6cd4072-dffd-49f3-ac56-9a5a72f21d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A24442-B564-46EB-961F-60FE0A2202A3}">
  <ds:schemaRefs>
    <ds:schemaRef ds:uri="http://schemas.microsoft.com/sharepoint/v3/contenttype/forms"/>
  </ds:schemaRefs>
</ds:datastoreItem>
</file>

<file path=customXml/itemProps3.xml><?xml version="1.0" encoding="utf-8"?>
<ds:datastoreItem xmlns:ds="http://schemas.openxmlformats.org/officeDocument/2006/customXml" ds:itemID="{6D801C21-BA08-470E-A0C0-1C915E6263E7}">
  <ds:schemaRefs>
    <ds:schemaRef ds:uri="http://purl.org/dc/dcmitype/"/>
    <ds:schemaRef ds:uri="http://purl.org/dc/terms/"/>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a6cd4072-dffd-49f3-ac56-9a5a72f21d1a"/>
    <ds:schemaRef ds:uri="06277644-e384-446b-9efd-e79aafc989ed"/>
  </ds:schemaRefs>
</ds:datastoreItem>
</file>

<file path=docProps/app.xml><?xml version="1.0" encoding="utf-8"?>
<Properties xmlns="http://schemas.openxmlformats.org/officeDocument/2006/extended-properties" xmlns:vt="http://schemas.openxmlformats.org/officeDocument/2006/docPropsVTypes">
  <Template>office theme</Template>
  <TotalTime>1</TotalTime>
  <Words>6287</Words>
  <Application>Microsoft Macintosh PowerPoint</Application>
  <PresentationFormat>Widescreen</PresentationFormat>
  <Paragraphs>671</Paragraphs>
  <Slides>38</Slides>
  <Notes>11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38</vt:i4>
      </vt:variant>
    </vt:vector>
  </HeadingPairs>
  <TitlesOfParts>
    <vt:vector size="50" baseType="lpstr">
      <vt:lpstr>Aptos</vt:lpstr>
      <vt:lpstr>Aptos Display</vt:lpstr>
      <vt:lpstr>Arial</vt:lpstr>
      <vt:lpstr>Arial,Sans-Serif</vt:lpstr>
      <vt:lpstr>Calibri</vt:lpstr>
      <vt:lpstr>Merriweather Light</vt:lpstr>
      <vt:lpstr>Merriweather Regular</vt:lpstr>
      <vt:lpstr>Open Sans</vt:lpstr>
      <vt:lpstr>Open Sans Light</vt:lpstr>
      <vt:lpstr>Verdana</vt:lpstr>
      <vt:lpstr>office theme</vt:lpstr>
      <vt:lpstr>Universiteit Utrecht</vt:lpstr>
      <vt:lpstr>Open Education Menu</vt:lpstr>
      <vt:lpstr>PowerPoint Presentation</vt:lpstr>
      <vt:lpstr>1. Set out openness goals at the start of a course</vt:lpstr>
      <vt:lpstr>Set out openness goals at the start of a course</vt:lpstr>
      <vt:lpstr>2. Using open (educational) resources</vt:lpstr>
      <vt:lpstr>Using open (educational) resources – Edusources.nl</vt:lpstr>
      <vt:lpstr>3. Using open textbooks</vt:lpstr>
      <vt:lpstr>Using open textbooks – What do they look like?</vt:lpstr>
      <vt:lpstr>4. Creating open textbooks</vt:lpstr>
      <vt:lpstr>Creating open textbooks – How does that look?</vt:lpstr>
      <vt:lpstr>5. Mindset: Teaching open ways of working</vt:lpstr>
      <vt:lpstr>Mindset: Teaching open ways of working</vt:lpstr>
      <vt:lpstr>6. Mindset: Teaching open and reflexive thinking</vt:lpstr>
      <vt:lpstr>Mindset: Teaching open and reflexive thinking</vt:lpstr>
      <vt:lpstr>7. Skills: Let students practice with reproducibility</vt:lpstr>
      <vt:lpstr>Skills: Let students practice with reproducibility</vt:lpstr>
      <vt:lpstr>8. Skills: Let students work with open data</vt:lpstr>
      <vt:lpstr>Let students work with open data</vt:lpstr>
      <vt:lpstr>9. Skills: Let students work with open source software</vt:lpstr>
      <vt:lpstr>Skills: Let students work with open source software</vt:lpstr>
      <vt:lpstr>10. Include interdisciplinary approaches in your teaching</vt:lpstr>
      <vt:lpstr>Include interdisciplinary approaches in your teaching</vt:lpstr>
      <vt:lpstr>11. Engage in teaching for professionals, beyond academia</vt:lpstr>
      <vt:lpstr>Engage in teaching for professionals, beyond academia</vt:lpstr>
      <vt:lpstr>12. Engage in teaching for non-professional and lay audiences</vt:lpstr>
      <vt:lpstr>Engage in teaching for non-professional and lay audiences</vt:lpstr>
      <vt:lpstr>13. Have students work on projects with and for society</vt:lpstr>
      <vt:lpstr>Have students work on projects with and for society</vt:lpstr>
      <vt:lpstr>14. Involve students in creating a course</vt:lpstr>
      <vt:lpstr>Involve students in creating a course</vt:lpstr>
      <vt:lpstr>15. Optimising open educational resources for reuse</vt:lpstr>
      <vt:lpstr>Optimising open educational resources for reuse</vt:lpstr>
      <vt:lpstr>16. Crediting student work and respecting their copyright</vt:lpstr>
      <vt:lpstr>Crediting student work and respecting their copyright</vt:lpstr>
      <vt:lpstr>17. Openly share teaching materials</vt:lpstr>
      <vt:lpstr>Openly share teaching materials</vt:lpstr>
      <vt:lpstr>18. Encourage student autonomy in their study trajectory</vt:lpstr>
      <vt:lpstr>Encourage student autonomy in their study trajectory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Menukaart (werktitel)</dc:title>
  <dc:creator/>
  <cp:lastModifiedBy>Oberman, H.I. (Hanne)</cp:lastModifiedBy>
  <cp:revision>2</cp:revision>
  <cp:lastPrinted>2026-01-26T14:45:41Z</cp:lastPrinted>
  <dcterms:created xsi:type="dcterms:W3CDTF">2025-12-11T17:32:58Z</dcterms:created>
  <dcterms:modified xsi:type="dcterms:W3CDTF">2026-05-01T14:56:27Z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0x010100984BD4DD5BE3DF4E90757DE70C0E2916</vt:lpwstr>
  </property>
  <property fmtid="{D5CDD505-2E9C-101B-9397-08002B2CF9AE}" pid="3" name="MediaServiceImageTags">
    <vt:lpwstr/>
  </property>
</Properties>
</file>